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png"/><Relationship Id="rId13" Type="http://schemas.openxmlformats.org/officeDocument/2006/relationships/image" Target="../media/image-32-13.png"/><Relationship Id="rId14" Type="http://schemas.openxmlformats.org/officeDocument/2006/relationships/image" Target="../media/image-32-14.png"/><Relationship Id="rId15" Type="http://schemas.openxmlformats.org/officeDocument/2006/relationships/image" Target="../media/image-32-15.png"/><Relationship Id="rId16" Type="http://schemas.openxmlformats.org/officeDocument/2006/relationships/image" Target="../media/image-3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1" b="-201"/>
          <a:stretch/>
        </p:blipFill>
        <p:spPr>
          <a:xfrm>
            <a:off x="228600" y="0"/>
            <a:ext cx="7589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76695" y="1143000"/>
            <a:ext cx="5715000" cy="5715000"/>
          </a:xfrm>
          <a:custGeom>
            <a:avLst/>
            <a:gdLst/>
            <a:ahLst/>
            <a:cxnLst/>
            <a:rect l="l" t="t" r="r" b="b"/>
            <a:pathLst>
              <a:path w="5715000" h="5715000">
                <a:moveTo>
                  <a:pt x="5715000" y="0"/>
                </a:moveTo>
                <a:lnTo>
                  <a:pt x="5715000" y="5715000"/>
                </a:lnTo>
                <a:lnTo>
                  <a:pt x="0" y="5715000"/>
                </a:lnTo>
                <a:close/>
              </a:path>
            </a:pathLst>
          </a:custGeom>
          <a:solidFill>
            <a:srgbClr val="F3F4F6">
              <a:alpha val="50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67105" y="0"/>
            <a:ext cx="10534802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</a:t>
            </a:r>
            <a:pPr algn="l" indent="0" marL="0">
              <a:buNone/>
            </a:pPr>
            <a:endParaRPr lang="en-US" sz="4200" dirty="0"/>
          </a:p>
          <a:p>
            <a:pPr algn="l" indent="0" marL="0">
              <a:buNone/>
            </a:pPr>
            <a:r>
              <a:rPr lang="en-US" sz="4200" b="1" spc="-84" kern="0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コンサルティングのご説明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1067105" y="1508760"/>
            <a:ext cx="38405" cy="428854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34110" y="1508760"/>
            <a:ext cx="102870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何を、なぜ、どのように進めるか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067105" y="5352898"/>
            <a:ext cx="10478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2026年2月16日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67105" y="5753405"/>
            <a:ext cx="28474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株式会社PreSoft / eMu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715207" y="5753405"/>
            <a:ext cx="1092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上田 昌夫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425635" y="457200"/>
            <a:ext cx="261884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72" kern="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Project Kickoff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914400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237744"/>
            <a:ext cx="6430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本日のお話の位置づけ ── これまでとの違い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1500" y="1333195"/>
            <a:ext cx="5333695" cy="3657600"/>
          </a:xfrm>
          <a:prstGeom prst="roundRect">
            <a:avLst>
              <a:gd name="adj" fmla="val 521"/>
            </a:avLst>
          </a:prstGeom>
          <a:solidFill>
            <a:srgbClr val="F9FAFB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333195"/>
            <a:ext cx="5333695" cy="57607"/>
          </a:xfrm>
          <a:prstGeom prst="roundRect">
            <a:avLst>
              <a:gd name="adj" fmla="val 33069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" y="2133295"/>
            <a:ext cx="4762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00607" y="1676095"/>
            <a:ext cx="4506163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これまで（12月・1月） 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7707" y="1733702"/>
            <a:ext cx="228600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57707" y="2467051"/>
            <a:ext cx="75895" cy="7589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7902" y="2371954"/>
            <a:ext cx="246888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現状の構造的課題の可視化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38098" y="2714854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3つの構造的要因を特定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7707" y="3191256"/>
            <a:ext cx="75895" cy="7589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47902" y="3095244"/>
            <a:ext cx="226314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「仕事ナビ」構想の提言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38098" y="34381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3原則と改革の方向性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7707" y="3914546"/>
            <a:ext cx="75895" cy="7589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47902" y="3819449"/>
            <a:ext cx="20574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変革の方向性への合意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86500" y="1333195"/>
            <a:ext cx="5333695" cy="3657600"/>
          </a:xfrm>
          <a:prstGeom prst="roundRect">
            <a:avLst>
              <a:gd name="adj" fmla="val 521"/>
            </a:avLst>
          </a:prstGeom>
          <a:solidFill>
            <a:srgbClr val="F0F9FF"/>
          </a:solidFill>
          <a:ln/>
        </p:spPr>
      </p:sp>
      <p:sp>
        <p:nvSpPr>
          <p:cNvPr id="22" name="Shape 19"/>
          <p:cNvSpPr/>
          <p:nvPr/>
        </p:nvSpPr>
        <p:spPr>
          <a:xfrm>
            <a:off x="6286500" y="1333195"/>
            <a:ext cx="5333695" cy="57607"/>
          </a:xfrm>
          <a:prstGeom prst="roundRect">
            <a:avLst>
              <a:gd name="adj" fmla="val 33069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72707" y="2133295"/>
            <a:ext cx="4762195" cy="9144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914" y="1676095"/>
            <a:ext cx="4562856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6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本日（2月） </a:t>
            </a:r>
            <a:endParaRPr lang="en-US" sz="18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6572707" y="1733702"/>
            <a:ext cx="171907" cy="2286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572707" y="2467051"/>
            <a:ext cx="75895" cy="75895"/>
          </a:xfrm>
          <a:prstGeom prst="ellipse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762902" y="2371954"/>
            <a:ext cx="30385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コンサルティングの進め方の説明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6953098" y="2714854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なぜこの方法なのか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572707" y="3191256"/>
            <a:ext cx="75895" cy="75895"/>
          </a:xfrm>
          <a:prstGeom prst="ellipse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762902" y="3095244"/>
            <a:ext cx="20884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で何をするか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6953098" y="3438144"/>
            <a:ext cx="185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具体的な活動と成果物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572707" y="3914546"/>
            <a:ext cx="75895" cy="75895"/>
          </a:xfrm>
          <a:prstGeom prst="ellipse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762902" y="3819449"/>
            <a:ext cx="226314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皆さまにお願いすること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571500" y="5277002"/>
            <a:ext cx="11048695" cy="724205"/>
          </a:xfrm>
          <a:prstGeom prst="roundRect">
            <a:avLst>
              <a:gd name="adj" fmla="val 13291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33495" y="5524805"/>
            <a:ext cx="228600" cy="22860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4071823" y="5277002"/>
            <a:ext cx="4429354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今日は「何を・どう進めるか」のお話です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3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11286439" y="6524244"/>
            <a:ext cx="419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/ 33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29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099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907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75895"/>
            <a:ext cx="5382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確認：私たちが共有した「現状認識」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1500" y="914400"/>
            <a:ext cx="47549" cy="342900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1754" y="914400"/>
            <a:ext cx="11039551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ヒアリングから、3つの構造的課題が明らかになりました：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1500" y="1543507"/>
            <a:ext cx="11048695" cy="1104595"/>
          </a:xfrm>
          <a:prstGeom prst="roundRect">
            <a:avLst>
              <a:gd name="adj" fmla="val 570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6851" y="1781251"/>
            <a:ext cx="457200" cy="45720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866851" y="1781251"/>
            <a:ext cx="457200" cy="457200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52651" y="1742846"/>
            <a:ext cx="9963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データの「つなぎ目」の分断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-760" r="-760" t="0" b="0"/>
          <a:stretch/>
        </p:blipFill>
        <p:spPr>
          <a:xfrm>
            <a:off x="1552651" y="2219249"/>
            <a:ext cx="152705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819656" y="2162556"/>
            <a:ext cx="42199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多重入力、月次決算が翌月25日まで確定しない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" y="2838298"/>
            <a:ext cx="11048695" cy="1104595"/>
          </a:xfrm>
          <a:prstGeom prst="roundRect">
            <a:avLst>
              <a:gd name="adj" fmla="val 570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6851" y="3076956"/>
            <a:ext cx="457200" cy="457200"/>
          </a:xfrm>
          <a:prstGeom prst="rect">
            <a:avLst/>
          </a:prstGeom>
          <a:noFill/>
          <a:ln/>
        </p:spPr>
      </p:sp>
      <p:sp>
        <p:nvSpPr>
          <p:cNvPr id="18" name="Text 15"/>
          <p:cNvSpPr/>
          <p:nvPr/>
        </p:nvSpPr>
        <p:spPr>
          <a:xfrm>
            <a:off x="866851" y="3076956"/>
            <a:ext cx="457200" cy="457200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552651" y="3038551"/>
            <a:ext cx="9963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ルール・知識の属人化</a:t>
            </a:r>
            <a:endParaRPr lang="en-US" sz="1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1552651" y="3514954"/>
            <a:ext cx="152705" cy="17190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819656" y="3457346"/>
            <a:ext cx="476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按分ルール、手当計算、請求条件が担当者の頭の中に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71500" y="4134002"/>
            <a:ext cx="11048695" cy="1104595"/>
          </a:xfrm>
          <a:prstGeom prst="roundRect">
            <a:avLst>
              <a:gd name="adj" fmla="val 570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66851" y="4371746"/>
            <a:ext cx="457200" cy="457200"/>
          </a:xfrm>
          <a:prstGeom prst="rect">
            <a:avLst/>
          </a:prstGeom>
          <a:noFill/>
          <a:ln/>
        </p:spPr>
      </p:sp>
      <p:sp>
        <p:nvSpPr>
          <p:cNvPr id="24" name="Text 20"/>
          <p:cNvSpPr/>
          <p:nvPr/>
        </p:nvSpPr>
        <p:spPr>
          <a:xfrm>
            <a:off x="866851" y="4371746"/>
            <a:ext cx="457200" cy="457200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552651" y="4334256"/>
            <a:ext cx="9963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業務の不可視と「依頼-実行」関係の不全</a:t>
            </a:r>
            <a:endParaRPr lang="en-US" sz="1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1552651" y="4809744"/>
            <a:ext cx="152705" cy="17190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819656" y="4753051"/>
            <a:ext cx="40297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作業量が見えない、問い合わせが1日30-50件</a:t>
            </a:r>
            <a:endParaRPr lang="en-US" sz="15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-26" r="-26" t="0" b="0"/>
          <a:stretch/>
        </p:blipFill>
        <p:spPr>
          <a:xfrm>
            <a:off x="571500" y="5467198"/>
            <a:ext cx="11048695" cy="6949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238098" y="5658307"/>
            <a:ext cx="1028791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これは「個人の問題」ではなく「仕組みの問題」です（12月報告書にて共有済み） 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4400" y="5710428"/>
            <a:ext cx="209398" cy="20939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0" y="6543446"/>
            <a:ext cx="12191695" cy="3145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5"/>
          <p:cNvSpPr/>
          <p:nvPr/>
        </p:nvSpPr>
        <p:spPr>
          <a:xfrm>
            <a:off x="0" y="654344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71500" y="6605626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11286439" y="6605626"/>
            <a:ext cx="419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/ 33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914400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237744"/>
            <a:ext cx="5077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確認：合意いただいた改革の方向性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1500" y="1333195"/>
            <a:ext cx="5333695" cy="4667098"/>
          </a:xfrm>
          <a:prstGeom prst="roundRect">
            <a:avLst>
              <a:gd name="adj" fmla="val 320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333195"/>
            <a:ext cx="5333695" cy="57607"/>
          </a:xfrm>
          <a:prstGeom prst="roundRect">
            <a:avLst>
              <a:gd name="adj" fmla="val 25915"/>
            </a:avLst>
          </a:prstGeom>
          <a:solidFill>
            <a:srgbClr val="0F2A50"/>
          </a:solidFill>
          <a:ln w="12700">
            <a:solidFill>
              <a:srgbClr val="0F2A5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" y="2133295"/>
            <a:ext cx="4762195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00607" y="1676095"/>
            <a:ext cx="4506163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3つの変革原則 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7707" y="1733702"/>
            <a:ext cx="228600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57707" y="2391156"/>
            <a:ext cx="267005" cy="267005"/>
          </a:xfrm>
          <a:prstGeom prst="rect">
            <a:avLst/>
          </a:prstGeom>
          <a:noFill/>
          <a:ln/>
        </p:spPr>
      </p:sp>
      <p:sp>
        <p:nvSpPr>
          <p:cNvPr id="14" name="Text 11"/>
          <p:cNvSpPr/>
          <p:nvPr/>
        </p:nvSpPr>
        <p:spPr>
          <a:xfrm>
            <a:off x="857707" y="2391156"/>
            <a:ext cx="267005" cy="2670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38098" y="2371954"/>
            <a:ext cx="2407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源流入力による一気通貫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38098" y="2676449"/>
            <a:ext cx="240761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（リアルタイム・一個流し）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57707" y="3181198"/>
            <a:ext cx="267005" cy="267005"/>
          </a:xfrm>
          <a:prstGeom prst="rect">
            <a:avLst/>
          </a:prstGeom>
          <a:noFill/>
          <a:ln/>
        </p:spPr>
      </p:sp>
      <p:sp>
        <p:nvSpPr>
          <p:cNvPr id="18" name="Text 15"/>
          <p:cNvSpPr/>
          <p:nvPr/>
        </p:nvSpPr>
        <p:spPr>
          <a:xfrm>
            <a:off x="857707" y="3181198"/>
            <a:ext cx="267005" cy="2670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38098" y="3161995"/>
            <a:ext cx="24688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「知識」と「作業」の分離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38098" y="3467405"/>
            <a:ext cx="24688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（ナレッジ・セントラル）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57707" y="3972154"/>
            <a:ext cx="267005" cy="267005"/>
          </a:xfrm>
          <a:prstGeom prst="rect">
            <a:avLst/>
          </a:prstGeom>
          <a:noFill/>
          <a:ln/>
        </p:spPr>
      </p:sp>
      <p:sp>
        <p:nvSpPr>
          <p:cNvPr id="22" name="Text 19"/>
          <p:cNvSpPr/>
          <p:nvPr/>
        </p:nvSpPr>
        <p:spPr>
          <a:xfrm>
            <a:off x="857707" y="3972154"/>
            <a:ext cx="267005" cy="2670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38098" y="3952951"/>
            <a:ext cx="2857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計画と実績による業務の可視化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38098" y="4257446"/>
            <a:ext cx="2857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（PDマネジメント）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86500" y="1333195"/>
            <a:ext cx="5333695" cy="4667098"/>
          </a:xfrm>
          <a:prstGeom prst="roundRect">
            <a:avLst>
              <a:gd name="adj" fmla="val 320"/>
            </a:avLst>
          </a:prstGeom>
          <a:solidFill>
            <a:srgbClr val="F0F9FF"/>
          </a:solidFill>
          <a:ln/>
        </p:spPr>
      </p:sp>
      <p:sp>
        <p:nvSpPr>
          <p:cNvPr id="26" name="Shape 23"/>
          <p:cNvSpPr/>
          <p:nvPr/>
        </p:nvSpPr>
        <p:spPr>
          <a:xfrm>
            <a:off x="6286500" y="1333195"/>
            <a:ext cx="5333695" cy="57607"/>
          </a:xfrm>
          <a:prstGeom prst="roundRect">
            <a:avLst>
              <a:gd name="adj" fmla="val 25915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72707" y="2133295"/>
            <a:ext cx="4762195" cy="9144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43954" y="1676095"/>
            <a:ext cx="4477817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6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実現のロードマップ </a:t>
            </a:r>
            <a:endParaRPr lang="en-US" sz="18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6572707" y="1733702"/>
            <a:ext cx="256946" cy="22860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6572707" y="2391156"/>
            <a:ext cx="267005" cy="267005"/>
          </a:xfrm>
          <a:prstGeom prst="rect">
            <a:avLst/>
          </a:prstGeom>
          <a:noFill/>
          <a:ln/>
        </p:spPr>
      </p:sp>
      <p:sp>
        <p:nvSpPr>
          <p:cNvPr id="31" name="Text 27"/>
          <p:cNvSpPr/>
          <p:nvPr/>
        </p:nvSpPr>
        <p:spPr>
          <a:xfrm>
            <a:off x="6572707" y="2391156"/>
            <a:ext cx="267005" cy="267005"/>
          </a:xfrm>
          <a:prstGeom prst="rect">
            <a:avLst/>
          </a:prstGeom>
          <a:solidFill>
            <a:srgbClr val="00A3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953098" y="2371954"/>
            <a:ext cx="3238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0：都市計画の策定（3ヶ月）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953098" y="2676449"/>
            <a:ext cx="33147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2F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← 今日はここの中身です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572707" y="3181198"/>
            <a:ext cx="267005" cy="267005"/>
          </a:xfrm>
          <a:prstGeom prst="rect">
            <a:avLst/>
          </a:prstGeom>
          <a:noFill/>
          <a:ln/>
        </p:spPr>
      </p:sp>
      <p:sp>
        <p:nvSpPr>
          <p:cNvPr id="35" name="Text 31"/>
          <p:cNvSpPr/>
          <p:nvPr/>
        </p:nvSpPr>
        <p:spPr>
          <a:xfrm>
            <a:off x="6572707" y="3181198"/>
            <a:ext cx="267005" cy="267005"/>
          </a:xfrm>
          <a:prstGeom prst="rect">
            <a:avLst/>
          </a:prstGeom>
          <a:solidFill>
            <a:srgbClr val="00A3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6953098" y="3161995"/>
            <a:ext cx="3314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1：業務構造の整理と「止血」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6572707" y="3696005"/>
            <a:ext cx="267005" cy="267005"/>
          </a:xfrm>
          <a:prstGeom prst="rect">
            <a:avLst/>
          </a:prstGeom>
          <a:noFill/>
          <a:ln/>
        </p:spPr>
      </p:sp>
      <p:sp>
        <p:nvSpPr>
          <p:cNvPr id="38" name="Text 34"/>
          <p:cNvSpPr/>
          <p:nvPr/>
        </p:nvSpPr>
        <p:spPr>
          <a:xfrm>
            <a:off x="6572707" y="3696005"/>
            <a:ext cx="267005" cy="267005"/>
          </a:xfrm>
          <a:prstGeom prst="rect">
            <a:avLst/>
          </a:prstGeom>
          <a:solidFill>
            <a:srgbClr val="00A3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6953098" y="3676802"/>
            <a:ext cx="23582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2：パイロット検証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6572707" y="4209898"/>
            <a:ext cx="267005" cy="267005"/>
          </a:xfrm>
          <a:prstGeom prst="rect">
            <a:avLst/>
          </a:prstGeom>
          <a:noFill/>
          <a:ln/>
        </p:spPr>
      </p:sp>
      <p:sp>
        <p:nvSpPr>
          <p:cNvPr id="41" name="Text 37"/>
          <p:cNvSpPr/>
          <p:nvPr/>
        </p:nvSpPr>
        <p:spPr>
          <a:xfrm>
            <a:off x="6572707" y="4209898"/>
            <a:ext cx="267005" cy="267005"/>
          </a:xfrm>
          <a:prstGeom prst="rect">
            <a:avLst/>
          </a:prstGeom>
          <a:solidFill>
            <a:srgbClr val="00A3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6953098" y="4190695"/>
            <a:ext cx="30257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3：全社展開と継続的進化</a:t>
            </a:r>
            <a:endParaRPr lang="en-US" sz="1500" dirty="0"/>
          </a:p>
        </p:txBody>
      </p:sp>
      <p:sp>
        <p:nvSpPr>
          <p:cNvPr id="43" name="Shape 39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0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11286439" y="6524244"/>
            <a:ext cx="419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/ 33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914400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237744"/>
            <a:ext cx="4029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本日ご説明する4つのテーマ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1500" y="1333195"/>
            <a:ext cx="5381244" cy="1742846"/>
          </a:xfrm>
          <a:prstGeom prst="roundRect">
            <a:avLst>
              <a:gd name="adj" fmla="val 229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1333195"/>
            <a:ext cx="57607" cy="1723644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6851" y="1571854"/>
            <a:ext cx="60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A50">
                    <a:alpha val="1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238951" y="1333195"/>
            <a:ext cx="5381244" cy="1742846"/>
          </a:xfrm>
          <a:prstGeom prst="roundRect">
            <a:avLst>
              <a:gd name="adj" fmla="val 229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8951" y="1333195"/>
            <a:ext cx="57607" cy="1723644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4302" y="1571854"/>
            <a:ext cx="60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A3E0">
                    <a:alpha val="2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71500" y="3362249"/>
            <a:ext cx="5381244" cy="1742846"/>
          </a:xfrm>
          <a:prstGeom prst="roundRect">
            <a:avLst>
              <a:gd name="adj" fmla="val 229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" y="3362249"/>
            <a:ext cx="57607" cy="1723644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6851" y="3600907"/>
            <a:ext cx="60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A50">
                    <a:alpha val="1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6238951" y="3362249"/>
            <a:ext cx="5381244" cy="1742846"/>
          </a:xfrm>
          <a:prstGeom prst="roundRect">
            <a:avLst>
              <a:gd name="adj" fmla="val 229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8951" y="3362249"/>
            <a:ext cx="57607" cy="1723644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4302" y="3600907"/>
            <a:ext cx="60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A3E0">
                    <a:alpha val="2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1676095" y="5391302"/>
            <a:ext cx="8839505" cy="609905"/>
          </a:xfrm>
          <a:prstGeom prst="roundRect">
            <a:avLst>
              <a:gd name="adj" fmla="val 11712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75404" y="5581498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756709" y="5391302"/>
            <a:ext cx="31437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ご説明 </a:t>
            </a:r>
            <a:pPr algn="l" indent="0" marL="0">
              <a:buNone/>
            </a:pPr>
            <a:r>
              <a:rPr lang="en-US" sz="15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約40分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＋ 質疑応答 </a:t>
            </a:r>
            <a:pPr algn="l" indent="0" marL="0">
              <a:buNone/>
            </a:pPr>
            <a:r>
              <a:rPr lang="en-US" sz="15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約20分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286439" y="6524244"/>
            <a:ext cx="419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/ 33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603858" y="1647749"/>
            <a:ext cx="4248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なぜこの進め方なのか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603858" y="2066544"/>
            <a:ext cx="19202" cy="2569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813255" y="2066544"/>
            <a:ext cx="40389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コンサルティングの基本的な考え方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271309" y="1647749"/>
            <a:ext cx="4248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何を・何のために行うか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7271309" y="2066544"/>
            <a:ext cx="19202" cy="2569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80706" y="2066544"/>
            <a:ext cx="40389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の具体的な活動内容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603858" y="3676802"/>
            <a:ext cx="4248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何が出来上がるのか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603858" y="4095598"/>
            <a:ext cx="19202" cy="2569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813255" y="4095598"/>
            <a:ext cx="40389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成果物のイメージ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271309" y="3676802"/>
            <a:ext cx="4248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皆さまにお願いすること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7271309" y="4095598"/>
            <a:ext cx="19202" cy="2569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480706" y="4095598"/>
            <a:ext cx="40389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風の村としてのご協力事項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45529" y="809244"/>
            <a:ext cx="6687007" cy="523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1200" b="1" dirty="0">
                <a:solidFill>
                  <a:srgbClr val="FFFFFF">
                    <a:alpha val="4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429207"/>
            <a:ext cx="114300" cy="4000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0" r="0" t="0" b="0"/>
          <a:stretch/>
        </p:blipFill>
        <p:spPr>
          <a:xfrm>
            <a:off x="9525305" y="571500"/>
            <a:ext cx="1904695" cy="190469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29500" y="2095805"/>
            <a:ext cx="4762195" cy="47621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1228954"/>
            <a:ext cx="7353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Section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1143000" y="1228954"/>
            <a:ext cx="571500" cy="19202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43000" y="1800454"/>
            <a:ext cx="952805" cy="9528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143000" y="1800454"/>
            <a:ext cx="952805" cy="952805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1143000" y="1800454"/>
            <a:ext cx="952805" cy="9528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Shape 7"/>
          <p:cNvSpPr/>
          <p:nvPr/>
        </p:nvSpPr>
        <p:spPr>
          <a:xfrm>
            <a:off x="1143000" y="5095951"/>
            <a:ext cx="57607" cy="53309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1580998" y="5095951"/>
            <a:ext cx="725485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コンサルティングの基本的な考え方</a:t>
            </a:r>
            <a:endParaRPr lang="en-US" sz="30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3038551"/>
            <a:ext cx="7411212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なぜこの進め方なのか</a:t>
            </a:r>
            <a:endParaRPr lang="en-US" sz="60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6248095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7200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7998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0"/>
            <a:ext cx="7496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よくある失敗パターン（風の村でも起きていること）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1500" y="761695"/>
            <a:ext cx="5333695" cy="5609844"/>
          </a:xfrm>
          <a:prstGeom prst="roundRect">
            <a:avLst>
              <a:gd name="adj" fmla="val 3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" y="1429207"/>
            <a:ext cx="4858207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809244" y="1152144"/>
            <a:ext cx="190195" cy="91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14654" y="1000354"/>
            <a:ext cx="216529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典型的な失敗サイクル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9244" y="1638605"/>
            <a:ext cx="4858207" cy="437998"/>
          </a:xfrm>
          <a:prstGeom prst="roundRect">
            <a:avLst>
              <a:gd name="adj" fmla="val 363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89711" y="1762049"/>
            <a:ext cx="11832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困った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2021738" y="1788566"/>
            <a:ext cx="85954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063801" y="1762049"/>
            <a:ext cx="11832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3195828" y="1788566"/>
            <a:ext cx="85954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237890" y="1762049"/>
            <a:ext cx="11832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合わない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4369918" y="1788566"/>
            <a:ext cx="85954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11066" y="1762049"/>
            <a:ext cx="11832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手作業残存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809244" y="2300630"/>
            <a:ext cx="4858207" cy="895198"/>
          </a:xfrm>
          <a:prstGeom prst="roundRect">
            <a:avLst>
              <a:gd name="adj" fmla="val 6520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809244" y="2300630"/>
            <a:ext cx="38405" cy="895198"/>
          </a:xfrm>
          <a:prstGeom prst="roundRect">
            <a:avLst>
              <a:gd name="adj" fmla="val 151975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1000354" y="2414930"/>
            <a:ext cx="4705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「ほのぼの」システム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000354" y="2681021"/>
            <a:ext cx="45912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請求書の名寄せに非対応 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紙5,000通の発送作業が残った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09244" y="3347618"/>
            <a:ext cx="4858207" cy="895198"/>
          </a:xfrm>
          <a:prstGeom prst="roundRect">
            <a:avLst>
              <a:gd name="adj" fmla="val 6520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809244" y="3347618"/>
            <a:ext cx="38405" cy="895198"/>
          </a:xfrm>
          <a:prstGeom prst="roundRect">
            <a:avLst>
              <a:gd name="adj" fmla="val 151975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000354" y="3461918"/>
            <a:ext cx="4705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給与システム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000354" y="3728923"/>
            <a:ext cx="45912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特殊手当を計算できず、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手で上書き（強制入力）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09244" y="4395521"/>
            <a:ext cx="4858207" cy="895198"/>
          </a:xfrm>
          <a:prstGeom prst="roundRect">
            <a:avLst>
              <a:gd name="adj" fmla="val 6520"/>
            </a:avLst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809244" y="4395521"/>
            <a:ext cx="38405" cy="895198"/>
          </a:xfrm>
          <a:prstGeom prst="roundRect">
            <a:avLst>
              <a:gd name="adj" fmla="val 151975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000354" y="4509821"/>
            <a:ext cx="4705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按分処理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1000354" y="4776826"/>
            <a:ext cx="45912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「楽々精算」等で対応しきれず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手作業が継続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09244" y="5481828"/>
            <a:ext cx="4858207" cy="647395"/>
          </a:xfrm>
          <a:prstGeom prst="roundRect">
            <a:avLst>
              <a:gd name="adj" fmla="val 1246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33602" y="5719572"/>
            <a:ext cx="171907" cy="171907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218895" y="5481828"/>
            <a:ext cx="44010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ベンダー：「膨大な改修コストがかかるから、今の運用（手作業）のままの方がいいですよ」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286500" y="761695"/>
            <a:ext cx="5333695" cy="5609844"/>
          </a:xfrm>
          <a:prstGeom prst="roundRect">
            <a:avLst>
              <a:gd name="adj" fmla="val 367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524244" y="1429207"/>
            <a:ext cx="4858207" cy="19202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-989999" r="-989999" t="0" b="0"/>
          <a:stretch/>
        </p:blipFill>
        <p:spPr>
          <a:xfrm>
            <a:off x="6524244" y="1152144"/>
            <a:ext cx="190195" cy="91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829654" y="1000354"/>
            <a:ext cx="28126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56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なぜこうなるか（原因分析）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6524244" y="1638605"/>
            <a:ext cx="4858207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63500" dist="38100" dir="16200000">
              <a:srgbClr val="00a3e0">
                <a:alpha val="10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6667805" y="1876349"/>
            <a:ext cx="4572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根本原因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6719926" y="2247595"/>
            <a:ext cx="44677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業務の「設計図」なしに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システムを選んでいるから</a:t>
            </a:r>
            <a:endParaRPr lang="en-US" sz="1800" dirty="0"/>
          </a:p>
        </p:txBody>
      </p:sp>
      <p:sp>
        <p:nvSpPr>
          <p:cNvPr id="42" name="Shape 34"/>
          <p:cNvSpPr/>
          <p:nvPr/>
        </p:nvSpPr>
        <p:spPr>
          <a:xfrm>
            <a:off x="6524244" y="3309214"/>
            <a:ext cx="4858207" cy="2829154"/>
          </a:xfrm>
          <a:prstGeom prst="roundRect">
            <a:avLst>
              <a:gd name="adj" fmla="val 8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6657746" y="3752698"/>
            <a:ext cx="4591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── 例えるなら ──</a:t>
            </a:r>
            <a:endParaRPr lang="en-US" sz="12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>
            <a:alphaModFix amt="60000"/>
          </a:blip>
          <a:srcRect l="-161798" r="-161798" t="0" b="0"/>
          <a:stretch/>
        </p:blipFill>
        <p:spPr>
          <a:xfrm>
            <a:off x="6737299" y="4133088"/>
            <a:ext cx="2018995" cy="38130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698894" y="4628693"/>
            <a:ext cx="2095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>
                    <a:alpha val="6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既製服を買ってから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>
                    <a:alpha val="6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体に合わせて切る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>
                    <a:alpha val="6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（失敗）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8795614" y="4542739"/>
            <a:ext cx="323698" cy="276149"/>
          </a:xfrm>
          <a:prstGeom prst="rect">
            <a:avLst/>
          </a:prstGeom>
          <a:noFill/>
          <a:ln/>
        </p:spPr>
      </p:sp>
      <p:sp>
        <p:nvSpPr>
          <p:cNvPr id="47" name="Text 38"/>
          <p:cNvSpPr/>
          <p:nvPr/>
        </p:nvSpPr>
        <p:spPr>
          <a:xfrm>
            <a:off x="8795614" y="4542739"/>
            <a:ext cx="324612" cy="277063"/>
          </a:xfrm>
          <a:prstGeom prst="rect">
            <a:avLst/>
          </a:prstGeom>
          <a:solidFill>
            <a:srgbClr val="F3F4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10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rcRect l="-214748" r="-214748" t="0" b="0"/>
          <a:stretch/>
        </p:blipFill>
        <p:spPr>
          <a:xfrm>
            <a:off x="9154973" y="4133088"/>
            <a:ext cx="2018995" cy="381305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9117482" y="4628693"/>
            <a:ext cx="2095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まず採寸して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オーダーメイドする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（あるべき姿）</a:t>
            </a:r>
            <a:endParaRPr lang="en-US" sz="1100" dirty="0"/>
          </a:p>
        </p:txBody>
      </p:sp>
      <p:sp>
        <p:nvSpPr>
          <p:cNvPr id="50" name="Text 40"/>
          <p:cNvSpPr txBox="1"/>
          <p:nvPr/>
        </p:nvSpPr>
        <p:spPr>
          <a:xfrm>
            <a:off x="7780630" y="5457139"/>
            <a:ext cx="3602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まず「業務の型」を決めることが先決 </a:t>
            </a:r>
            <a:endParaRPr lang="en-US" sz="120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7535570" y="5504688"/>
            <a:ext cx="133502" cy="152705"/>
          </a:xfrm>
          <a:prstGeom prst="rect">
            <a:avLst/>
          </a:prstGeom>
        </p:spPr>
      </p:pic>
      <p:sp>
        <p:nvSpPr>
          <p:cNvPr id="52" name="Shape 41"/>
          <p:cNvSpPr/>
          <p:nvPr/>
        </p:nvSpPr>
        <p:spPr>
          <a:xfrm>
            <a:off x="0" y="6653174"/>
            <a:ext cx="12191695" cy="2093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42"/>
          <p:cNvSpPr/>
          <p:nvPr/>
        </p:nvSpPr>
        <p:spPr>
          <a:xfrm>
            <a:off x="0" y="6653174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571500" y="6662318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11286439" y="6662318"/>
            <a:ext cx="419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 / 33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665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739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1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92354"/>
            <a:ext cx="8125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私たちの考え方：「ビル建て替え」ではなく「都市計画」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1500" y="947318"/>
            <a:ext cx="5333695" cy="5257800"/>
          </a:xfrm>
          <a:prstGeom prst="roundRect">
            <a:avLst>
              <a:gd name="adj" fmla="val 3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" y="1613916"/>
            <a:ext cx="4858207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809244" y="1337767"/>
            <a:ext cx="142646" cy="91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67105" y="1185062"/>
            <a:ext cx="239389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ビル建て替え（従来型）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9244" y="1823314"/>
            <a:ext cx="4858207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09244" y="1823314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6489" r="-16489" t="0" b="0"/>
          <a:stretch/>
        </p:blipFill>
        <p:spPr>
          <a:xfrm>
            <a:off x="1000354" y="2013509"/>
            <a:ext cx="228600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43254" y="1976018"/>
            <a:ext cx="2362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古いシステムを新しく置き換える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（単純なリプレース）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9244" y="2737714"/>
            <a:ext cx="4858207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09244" y="2737714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16489" r="-16489" t="0" b="0"/>
          <a:stretch/>
        </p:blipFill>
        <p:spPr>
          <a:xfrm>
            <a:off x="1000354" y="2927909"/>
            <a:ext cx="228600" cy="17190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43254" y="2890418"/>
            <a:ext cx="2210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一発勝負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（失敗すると大損害・手戻り不可）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09244" y="3652114"/>
            <a:ext cx="485820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809244" y="3652114"/>
            <a:ext cx="38405" cy="533095"/>
          </a:xfrm>
          <a:prstGeom prst="roundRect">
            <a:avLst>
              <a:gd name="adj" fmla="val 340134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3192" r="-3192" t="0" b="0"/>
          <a:stretch/>
        </p:blipFill>
        <p:spPr>
          <a:xfrm>
            <a:off x="1000354" y="3842309"/>
            <a:ext cx="228600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3804818"/>
            <a:ext cx="21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完成するまで効果が見えない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09244" y="4337914"/>
            <a:ext cx="485820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809244" y="4337914"/>
            <a:ext cx="38405" cy="533095"/>
          </a:xfrm>
          <a:prstGeom prst="roundRect">
            <a:avLst>
              <a:gd name="adj" fmla="val 340134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-38653" r="-38653" t="0" b="0"/>
          <a:stretch/>
        </p:blipFill>
        <p:spPr>
          <a:xfrm>
            <a:off x="1000354" y="4528109"/>
            <a:ext cx="228600" cy="17190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43254" y="4490618"/>
            <a:ext cx="2791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終わったら「次の建て替え」まで放置</a:t>
            </a:r>
            <a:endParaRPr lang="en-US" sz="12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-304023" r="-304023" t="0" b="0"/>
          <a:stretch/>
        </p:blipFill>
        <p:spPr>
          <a:xfrm>
            <a:off x="809244" y="5062118"/>
            <a:ext cx="4858207" cy="6099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14146" y="5767121"/>
            <a:ext cx="5048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スクラップ＆ビルドの繰り返し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286500" y="947318"/>
            <a:ext cx="5333695" cy="5257800"/>
          </a:xfrm>
          <a:prstGeom prst="roundRect">
            <a:avLst>
              <a:gd name="adj" fmla="val 378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524244" y="1613916"/>
            <a:ext cx="4858207" cy="19202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-989999" r="-989999" t="0" b="0"/>
          <a:stretch/>
        </p:blipFill>
        <p:spPr>
          <a:xfrm>
            <a:off x="6524244" y="1337767"/>
            <a:ext cx="237744" cy="914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877202" y="1185062"/>
            <a:ext cx="323149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56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都市計画（私たちのアプローチ）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6524244" y="1823314"/>
            <a:ext cx="4858207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/>
        </p:spPr>
      </p:sp>
      <p:sp>
        <p:nvSpPr>
          <p:cNvPr id="35" name="Shape 26"/>
          <p:cNvSpPr/>
          <p:nvPr/>
        </p:nvSpPr>
        <p:spPr>
          <a:xfrm>
            <a:off x="6524244" y="1823314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-9102" r="-9102" t="0" b="0"/>
          <a:stretch/>
        </p:blipFill>
        <p:spPr>
          <a:xfrm>
            <a:off x="6715354" y="2013509"/>
            <a:ext cx="228600" cy="17190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058254" y="197601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まずマスタープランを描く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（全体の見取り図）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6524244" y="2737714"/>
            <a:ext cx="485820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</p:spPr>
      </p:sp>
      <p:sp>
        <p:nvSpPr>
          <p:cNvPr id="39" name="Shape 29"/>
          <p:cNvSpPr/>
          <p:nvPr/>
        </p:nvSpPr>
        <p:spPr>
          <a:xfrm>
            <a:off x="6524244" y="2737714"/>
            <a:ext cx="38405" cy="533095"/>
          </a:xfrm>
          <a:prstGeom prst="roundRect">
            <a:avLst>
              <a:gd name="adj" fmla="val 340134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-9102" r="-9102" t="0" b="0"/>
          <a:stretch/>
        </p:blipFill>
        <p:spPr>
          <a:xfrm>
            <a:off x="6715354" y="2927909"/>
            <a:ext cx="228600" cy="171907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058254" y="2890418"/>
            <a:ext cx="1821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区画ごとに段階的に整備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6524244" y="3423514"/>
            <a:ext cx="485820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</p:spPr>
      </p:sp>
      <p:sp>
        <p:nvSpPr>
          <p:cNvPr id="43" name="Shape 32"/>
          <p:cNvSpPr/>
          <p:nvPr/>
        </p:nvSpPr>
        <p:spPr>
          <a:xfrm>
            <a:off x="6524244" y="3423514"/>
            <a:ext cx="38405" cy="533095"/>
          </a:xfrm>
          <a:prstGeom prst="roundRect">
            <a:avLst>
              <a:gd name="adj" fmla="val 340134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rcRect l="-25988" r="-25988" t="0" b="0"/>
          <a:stretch/>
        </p:blipFill>
        <p:spPr>
          <a:xfrm>
            <a:off x="6715354" y="3613709"/>
            <a:ext cx="228600" cy="171907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7058254" y="3576218"/>
            <a:ext cx="21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今の建物を使いながら進める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6524244" y="4109314"/>
            <a:ext cx="485820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</p:spPr>
      </p:sp>
      <p:sp>
        <p:nvSpPr>
          <p:cNvPr id="47" name="Shape 35"/>
          <p:cNvSpPr/>
          <p:nvPr/>
        </p:nvSpPr>
        <p:spPr>
          <a:xfrm>
            <a:off x="6524244" y="4109314"/>
            <a:ext cx="38405" cy="533095"/>
          </a:xfrm>
          <a:prstGeom prst="roundRect">
            <a:avLst>
              <a:gd name="adj" fmla="val 340134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rcRect l="-3192" r="-3192" t="0" b="0"/>
          <a:stretch/>
        </p:blipFill>
        <p:spPr>
          <a:xfrm>
            <a:off x="6715354" y="4299509"/>
            <a:ext cx="228600" cy="171907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7058254" y="4262018"/>
            <a:ext cx="21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終わりのない「まちづくり」</a:t>
            </a:r>
            <a:endParaRPr lang="en-US" sz="1200" dirty="0"/>
          </a:p>
        </p:txBody>
      </p:sp>
      <p:sp>
        <p:nvSpPr>
          <p:cNvPr id="50" name="Shape 37"/>
          <p:cNvSpPr/>
          <p:nvPr/>
        </p:nvSpPr>
        <p:spPr>
          <a:xfrm>
            <a:off x="6524244" y="4956962"/>
            <a:ext cx="4858207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 w="25400">
            <a:solidFill>
              <a:srgbClr val="00A3E0"/>
            </a:solidFill>
            <a:prstDash val="solid"/>
          </a:ln>
          <a:effectLst>
            <a:outerShdw sx="100000" sy="100000" kx="0" ky="0" algn="bl" rotWithShape="0" blurRad="63500" dist="38100" dir="16200000">
              <a:srgbClr val="00a3e0">
                <a:alpha val="15000"/>
              </a:srgbClr>
            </a:outerShdw>
          </a:effectLst>
        </p:spPr>
      </p:sp>
      <p:sp>
        <p:nvSpPr>
          <p:cNvPr id="51" name="Shape 38"/>
          <p:cNvSpPr/>
          <p:nvPr/>
        </p:nvSpPr>
        <p:spPr>
          <a:xfrm>
            <a:off x="8399678" y="4861865"/>
            <a:ext cx="1114654" cy="209398"/>
          </a:xfrm>
          <a:prstGeom prst="rect">
            <a:avLst/>
          </a:prstGeom>
          <a:noFill/>
          <a:ln/>
        </p:spPr>
      </p:sp>
      <p:sp>
        <p:nvSpPr>
          <p:cNvPr id="52" name="Text 39"/>
          <p:cNvSpPr/>
          <p:nvPr/>
        </p:nvSpPr>
        <p:spPr>
          <a:xfrm>
            <a:off x="8399678" y="4861865"/>
            <a:ext cx="1114654" cy="210312"/>
          </a:xfrm>
          <a:prstGeom prst="rect">
            <a:avLst/>
          </a:prstGeom>
          <a:solidFill>
            <a:srgbClr val="00A3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の役割</a:t>
            </a:r>
            <a:endParaRPr lang="en-US" sz="900" dirty="0"/>
          </a:p>
        </p:txBody>
      </p:sp>
      <p:sp>
        <p:nvSpPr>
          <p:cNvPr id="53" name="Text 40"/>
          <p:cNvSpPr txBox="1"/>
          <p:nvPr/>
        </p:nvSpPr>
        <p:spPr>
          <a:xfrm>
            <a:off x="6638544" y="5166360"/>
            <a:ext cx="46296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マスタープランの策定</a:t>
            </a:r>
            <a:endParaRPr lang="en-US" sz="1500" dirty="0"/>
          </a:p>
        </p:txBody>
      </p:sp>
      <p:sp>
        <p:nvSpPr>
          <p:cNvPr id="54" name="Text 41"/>
          <p:cNvSpPr txBox="1"/>
          <p:nvPr/>
        </p:nvSpPr>
        <p:spPr>
          <a:xfrm>
            <a:off x="7868412" y="5528462"/>
            <a:ext cx="3495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「設計図なしに工事は始めません」 </a:t>
            </a:r>
            <a:endParaRPr lang="en-US" sz="1200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605065" y="5576011"/>
            <a:ext cx="152705" cy="152705"/>
          </a:xfrm>
          <a:prstGeom prst="rect">
            <a:avLst/>
          </a:prstGeom>
        </p:spPr>
      </p:pic>
      <p:sp>
        <p:nvSpPr>
          <p:cNvPr id="56" name="Shape 42"/>
          <p:cNvSpPr/>
          <p:nvPr/>
        </p:nvSpPr>
        <p:spPr>
          <a:xfrm>
            <a:off x="0" y="6490411"/>
            <a:ext cx="12191695" cy="371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43"/>
          <p:cNvSpPr/>
          <p:nvPr/>
        </p:nvSpPr>
        <p:spPr>
          <a:xfrm>
            <a:off x="0" y="6490411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571500" y="6579108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59" name="Text 45"/>
          <p:cNvSpPr txBox="1"/>
          <p:nvPr/>
        </p:nvSpPr>
        <p:spPr>
          <a:xfrm>
            <a:off x="11286439" y="6579108"/>
            <a:ext cx="419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 / 33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574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38251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0819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86868"/>
            <a:ext cx="4638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業務を「4つの視点」で設計する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33095" y="934517"/>
            <a:ext cx="111255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都市計画が道路・水道・用途地域・建築基準をセットで設計するように、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業務改革も</a:t>
            </a:r>
            <a:pPr algn="ctr" indent="0" marL="0">
              <a:buNone/>
            </a:pPr>
            <a:r>
              <a:rPr lang="en-US" sz="15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4つの視点</a:t>
            </a:r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をセットで設計します 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34617"/>
            <a:ext cx="5410505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9244" y="1973275"/>
            <a:ext cx="571500" cy="57150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9030" y="2125980"/>
            <a:ext cx="333756" cy="2670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71854" y="1973275"/>
            <a:ext cx="43626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業務の流れ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571854" y="2363724"/>
            <a:ext cx="4248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誰が何をどの順番で行うか。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業務プロセスの順序と役割分担。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" y="2973629"/>
            <a:ext cx="5391302" cy="466344"/>
          </a:xfrm>
          <a:prstGeom prst="roundRect">
            <a:avLst>
              <a:gd name="adj" fmla="val 48019"/>
            </a:avLst>
          </a:prstGeom>
          <a:solidFill>
            <a:srgbClr val="F9FAFB"/>
          </a:solidFill>
          <a:ln/>
        </p:spPr>
      </p:sp>
      <p:sp>
        <p:nvSpPr>
          <p:cNvPr id="15" name="Shape 12"/>
          <p:cNvSpPr/>
          <p:nvPr/>
        </p:nvSpPr>
        <p:spPr>
          <a:xfrm>
            <a:off x="580644" y="2973629"/>
            <a:ext cx="5391302" cy="9144"/>
          </a:xfrm>
          <a:prstGeom prst="roundRect">
            <a:avLst>
              <a:gd name="adj" fmla="val 2448980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809244" y="3135478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76249" y="2973629"/>
            <a:ext cx="8001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Metaphor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893722" y="2973629"/>
            <a:ext cx="8577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道路計画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0605" y="1734617"/>
            <a:ext cx="5410505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48349" y="1973275"/>
            <a:ext cx="571500" cy="57150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-881" r="-881" t="0" b="0"/>
          <a:stretch/>
        </p:blipFill>
        <p:spPr>
          <a:xfrm>
            <a:off x="6614770" y="2125980"/>
            <a:ext cx="237744" cy="2670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210044" y="1973275"/>
            <a:ext cx="43626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情報の流れ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210044" y="2363724"/>
            <a:ext cx="4248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どのデータがどこで生まれ、どこに届くか。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データの発生源と連携。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19749" y="2973629"/>
            <a:ext cx="5391302" cy="466344"/>
          </a:xfrm>
          <a:prstGeom prst="roundRect">
            <a:avLst>
              <a:gd name="adj" fmla="val 48019"/>
            </a:avLst>
          </a:prstGeom>
          <a:solidFill>
            <a:srgbClr val="F9FAFB"/>
          </a:solidFill>
          <a:ln/>
        </p:spPr>
      </p:sp>
      <p:sp>
        <p:nvSpPr>
          <p:cNvPr id="25" name="Shape 20"/>
          <p:cNvSpPr/>
          <p:nvPr/>
        </p:nvSpPr>
        <p:spPr>
          <a:xfrm>
            <a:off x="6219749" y="2973629"/>
            <a:ext cx="5391302" cy="9144"/>
          </a:xfrm>
          <a:prstGeom prst="roundRect">
            <a:avLst>
              <a:gd name="adj" fmla="val 2448980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48349" y="3135478"/>
            <a:ext cx="152705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696151" y="2973629"/>
            <a:ext cx="8001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Metaphor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513625" y="2973629"/>
            <a:ext cx="11622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上下水道計画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71500" y="3677717"/>
            <a:ext cx="5410505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09244" y="3916375"/>
            <a:ext cx="571500" cy="57150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9030" y="4069080"/>
            <a:ext cx="333756" cy="2670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571854" y="3916375"/>
            <a:ext cx="43626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道具の配置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1571854" y="4306824"/>
            <a:ext cx="4248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どのシステムがどの仕事を助けるか。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適切なツールの選定と配置。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80644" y="4916729"/>
            <a:ext cx="5391302" cy="466344"/>
          </a:xfrm>
          <a:prstGeom prst="roundRect">
            <a:avLst>
              <a:gd name="adj" fmla="val 48019"/>
            </a:avLst>
          </a:prstGeom>
          <a:solidFill>
            <a:srgbClr val="F9FAFB"/>
          </a:solidFill>
          <a:ln/>
        </p:spPr>
      </p:sp>
      <p:sp>
        <p:nvSpPr>
          <p:cNvPr id="35" name="Shape 28"/>
          <p:cNvSpPr/>
          <p:nvPr/>
        </p:nvSpPr>
        <p:spPr>
          <a:xfrm>
            <a:off x="580644" y="4916729"/>
            <a:ext cx="5391302" cy="9144"/>
          </a:xfrm>
          <a:prstGeom prst="roundRect">
            <a:avLst>
              <a:gd name="adj" fmla="val 2448980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-33" r="-33" t="0" b="0"/>
          <a:stretch/>
        </p:blipFill>
        <p:spPr>
          <a:xfrm>
            <a:off x="809244" y="5078578"/>
            <a:ext cx="171907" cy="15270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76249" y="4916729"/>
            <a:ext cx="8001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Metaphor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893722" y="4916729"/>
            <a:ext cx="11622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用途地域計画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10605" y="3677717"/>
            <a:ext cx="5410505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48349" y="3916375"/>
            <a:ext cx="571500" cy="57150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01054" y="4069080"/>
            <a:ext cx="267005" cy="26700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210044" y="3916375"/>
            <a:ext cx="43626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7210044" y="4306824"/>
            <a:ext cx="4248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全体を支えるインフラ。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セキュリティ、ネットワーク、ID管理。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6219749" y="4916729"/>
            <a:ext cx="5391302" cy="466344"/>
          </a:xfrm>
          <a:prstGeom prst="roundRect">
            <a:avLst>
              <a:gd name="adj" fmla="val 48019"/>
            </a:avLst>
          </a:prstGeom>
          <a:solidFill>
            <a:srgbClr val="F9FAFB"/>
          </a:solidFill>
          <a:ln/>
        </p:spPr>
      </p:sp>
      <p:sp>
        <p:nvSpPr>
          <p:cNvPr id="45" name="Shape 36"/>
          <p:cNvSpPr/>
          <p:nvPr/>
        </p:nvSpPr>
        <p:spPr>
          <a:xfrm>
            <a:off x="6219749" y="4916729"/>
            <a:ext cx="5391302" cy="9144"/>
          </a:xfrm>
          <a:prstGeom prst="roundRect">
            <a:avLst>
              <a:gd name="adj" fmla="val 2448980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448349" y="5078578"/>
            <a:ext cx="152705" cy="15270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6696151" y="4916729"/>
            <a:ext cx="8001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Metaphor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7513625" y="4916729"/>
            <a:ext cx="8577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建築基準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571500" y="5620817"/>
            <a:ext cx="11048695" cy="590702"/>
          </a:xfrm>
          <a:prstGeom prst="roundRect">
            <a:avLst>
              <a:gd name="adj" fmla="val 19974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f2a50">
                <a:alpha val="20000"/>
              </a:srgbClr>
            </a:outerShdw>
          </a:effectLst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rcRect l="-80" r="-80" t="0" b="0"/>
          <a:stretch/>
        </p:blipFill>
        <p:spPr>
          <a:xfrm>
            <a:off x="2115922" y="5801868"/>
            <a:ext cx="286207" cy="228600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2554834" y="5620817"/>
            <a:ext cx="760140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この4つをバラバラに検討すると「つなぎ目」が生まれます。だからセットで設計します</a:t>
            </a:r>
            <a:endParaRPr lang="en-US" sz="1500" dirty="0"/>
          </a:p>
        </p:txBody>
      </p:sp>
      <p:sp>
        <p:nvSpPr>
          <p:cNvPr id="52" name="Shape 41"/>
          <p:cNvSpPr/>
          <p:nvPr/>
        </p:nvSpPr>
        <p:spPr>
          <a:xfrm>
            <a:off x="0" y="6497726"/>
            <a:ext cx="12191695" cy="3621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42"/>
          <p:cNvSpPr/>
          <p:nvPr/>
        </p:nvSpPr>
        <p:spPr>
          <a:xfrm>
            <a:off x="0" y="649772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571500" y="6582766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11286439" y="6582766"/>
            <a:ext cx="419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 / 33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580644" y="1744675"/>
            <a:ext cx="381305" cy="381305"/>
          </a:xfrm>
          <a:prstGeom prst="rect">
            <a:avLst/>
          </a:prstGeom>
          <a:noFill/>
          <a:ln/>
        </p:spPr>
      </p:sp>
      <p:sp>
        <p:nvSpPr>
          <p:cNvPr id="57" name="Text 46"/>
          <p:cNvSpPr/>
          <p:nvPr/>
        </p:nvSpPr>
        <p:spPr>
          <a:xfrm>
            <a:off x="580644" y="1744675"/>
            <a:ext cx="381305" cy="3813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58" name="Shape 47"/>
          <p:cNvSpPr/>
          <p:nvPr/>
        </p:nvSpPr>
        <p:spPr>
          <a:xfrm>
            <a:off x="6219749" y="1744675"/>
            <a:ext cx="381305" cy="381305"/>
          </a:xfrm>
          <a:prstGeom prst="rect">
            <a:avLst/>
          </a:prstGeom>
          <a:noFill/>
          <a:ln/>
        </p:spPr>
      </p:sp>
      <p:sp>
        <p:nvSpPr>
          <p:cNvPr id="59" name="Text 48"/>
          <p:cNvSpPr/>
          <p:nvPr/>
        </p:nvSpPr>
        <p:spPr>
          <a:xfrm>
            <a:off x="6219749" y="1744675"/>
            <a:ext cx="381305" cy="3813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60" name="Shape 49"/>
          <p:cNvSpPr/>
          <p:nvPr/>
        </p:nvSpPr>
        <p:spPr>
          <a:xfrm>
            <a:off x="580644" y="3687775"/>
            <a:ext cx="381305" cy="381305"/>
          </a:xfrm>
          <a:prstGeom prst="rect">
            <a:avLst/>
          </a:prstGeom>
          <a:noFill/>
          <a:ln/>
        </p:spPr>
      </p:sp>
      <p:sp>
        <p:nvSpPr>
          <p:cNvPr id="61" name="Text 50"/>
          <p:cNvSpPr/>
          <p:nvPr/>
        </p:nvSpPr>
        <p:spPr>
          <a:xfrm>
            <a:off x="580644" y="3687775"/>
            <a:ext cx="381305" cy="3813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62" name="Shape 51"/>
          <p:cNvSpPr/>
          <p:nvPr/>
        </p:nvSpPr>
        <p:spPr>
          <a:xfrm>
            <a:off x="6219749" y="3687775"/>
            <a:ext cx="381305" cy="381305"/>
          </a:xfrm>
          <a:prstGeom prst="rect">
            <a:avLst/>
          </a:prstGeom>
          <a:noFill/>
          <a:ln/>
        </p:spPr>
      </p:sp>
      <p:sp>
        <p:nvSpPr>
          <p:cNvPr id="63" name="Text 52"/>
          <p:cNvSpPr/>
          <p:nvPr/>
        </p:nvSpPr>
        <p:spPr>
          <a:xfrm>
            <a:off x="6219749" y="3687775"/>
            <a:ext cx="381305" cy="3813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047902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風の村の活動全体を一つのシステムとして見ると、</a:t>
            </a:r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3つの階層</a:t>
            </a:r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に整理できます 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34195" y="2457907"/>
            <a:ext cx="2286000" cy="2704795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34449" y="2961742"/>
            <a:ext cx="1886407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96958" y="2657246"/>
            <a:ext cx="1961388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各階層の共通要素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34449" y="3133649"/>
            <a:ext cx="1886407" cy="495605"/>
          </a:xfrm>
          <a:prstGeom prst="roundRect">
            <a:avLst>
              <a:gd name="adj" fmla="val 212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29546" y="3228746"/>
            <a:ext cx="304495" cy="304495"/>
          </a:xfrm>
          <a:prstGeom prst="ellipse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00" b="-1100"/>
          <a:stretch/>
        </p:blipFill>
        <p:spPr>
          <a:xfrm>
            <a:off x="9724644" y="3314700"/>
            <a:ext cx="114300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049256" y="3281782"/>
            <a:ext cx="10104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知識（ルール）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534449" y="3743554"/>
            <a:ext cx="1886407" cy="495605"/>
          </a:xfrm>
          <a:prstGeom prst="roundRect">
            <a:avLst>
              <a:gd name="adj" fmla="val 212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29546" y="3838651"/>
            <a:ext cx="304495" cy="304495"/>
          </a:xfrm>
          <a:prstGeom prst="ellipse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5500" y="3924605"/>
            <a:ext cx="133502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049256" y="3890772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計画と実績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534449" y="4352544"/>
            <a:ext cx="1886407" cy="495605"/>
          </a:xfrm>
          <a:prstGeom prst="roundRect">
            <a:avLst>
              <a:gd name="adj" fmla="val 212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29546" y="4448556"/>
            <a:ext cx="304495" cy="304495"/>
          </a:xfrm>
          <a:prstGeom prst="ellipse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9730130" y="4533595"/>
            <a:ext cx="105156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049256" y="4500677"/>
            <a:ext cx="342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報告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5" b="-35"/>
          <a:stretch/>
        </p:blipFill>
        <p:spPr>
          <a:xfrm>
            <a:off x="571500" y="5629046"/>
            <a:ext cx="11048695" cy="562356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57707" y="579638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8098" y="5629046"/>
            <a:ext cx="75822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今、風の村では層と層の「つなぎ目」で情報が途切れています。これが多重入力の根本原因です。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7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1212373" y="6524244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33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286000" y="4310482"/>
            <a:ext cx="7619695" cy="1143000"/>
          </a:xfrm>
          <a:custGeom>
            <a:avLst/>
            <a:gdLst/>
            <a:ahLst/>
            <a:cxnLst/>
            <a:rect l="l" t="t" r="r" b="b"/>
            <a:pathLst>
              <a:path w="7619695" h="1143000">
                <a:moveTo>
                  <a:pt x="1142954" y="0"/>
                </a:moveTo>
                <a:lnTo>
                  <a:pt x="6476741" y="0"/>
                </a:lnTo>
                <a:lnTo>
                  <a:pt x="7619695" y="1143000"/>
                </a:lnTo>
                <a:lnTo>
                  <a:pt x="0" y="1143000"/>
                </a:lnTo>
                <a:close/>
              </a:path>
            </a:pathLst>
          </a:custGeom>
          <a:solidFill>
            <a:srgbClr val="0F2A50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952598" y="4618634"/>
            <a:ext cx="6286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❸ 現場で実行する層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2952598" y="4970678"/>
            <a:ext cx="6286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日々のシフト実行、入金処理、物品発注など実世界との接点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047695" y="3119018"/>
            <a:ext cx="6096305" cy="1047902"/>
          </a:xfrm>
          <a:custGeom>
            <a:avLst/>
            <a:gdLst/>
            <a:ahLst/>
            <a:cxnLst/>
            <a:rect l="l" t="t" r="r" b="b"/>
            <a:pathLst>
              <a:path w="6096305" h="1047902">
                <a:moveTo>
                  <a:pt x="914446" y="0"/>
                </a:moveTo>
                <a:lnTo>
                  <a:pt x="5181859" y="0"/>
                </a:lnTo>
                <a:lnTo>
                  <a:pt x="6096305" y="1047902"/>
                </a:lnTo>
                <a:lnTo>
                  <a:pt x="0" y="1047902"/>
                </a:lnTo>
                <a:close/>
              </a:path>
            </a:pathLst>
          </a:custGeom>
          <a:solidFill>
            <a:srgbClr val="0077C8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3562502" y="3380537"/>
            <a:ext cx="50676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❷ 経営資源を管理する層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3562502" y="3732581"/>
            <a:ext cx="5067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人・モノ・お金・時間の配分と管理（人事給与・経理等）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3810305" y="2024482"/>
            <a:ext cx="4572000" cy="952805"/>
          </a:xfrm>
          <a:custGeom>
            <a:avLst/>
            <a:gdLst/>
            <a:ahLst/>
            <a:cxnLst/>
            <a:rect l="l" t="t" r="r" b="b"/>
            <a:pathLst>
              <a:path w="4572000" h="952805">
                <a:moveTo>
                  <a:pt x="1143000" y="0"/>
                </a:moveTo>
                <a:lnTo>
                  <a:pt x="3429000" y="0"/>
                </a:lnTo>
                <a:lnTo>
                  <a:pt x="4572000" y="952805"/>
                </a:lnTo>
                <a:lnTo>
                  <a:pt x="0" y="952805"/>
                </a:lnTo>
                <a:close/>
              </a:path>
            </a:pathLst>
          </a:custGeom>
          <a:solidFill>
            <a:srgbClr val="4AA8E8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4172407" y="2237537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❶ サービス提供の層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4172407" y="2589581"/>
            <a:ext cx="3848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利用者へのサービス提供、記録、請求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0"/>
          <p:cNvSpPr/>
          <p:nvPr/>
        </p:nvSpPr>
        <p:spPr>
          <a:xfrm>
            <a:off x="0" y="8385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0" y="8193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71500" y="190195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組織を「3つの階層」で捉える</a:t>
            </a:r>
            <a:endParaRPr lang="en-US" sz="2400" dirty="0"/>
          </a:p>
        </p:txBody>
      </p:sp>
      <p:sp>
        <p:nvSpPr>
          <p:cNvPr id="40" name="Shape 33"/>
          <p:cNvSpPr/>
          <p:nvPr/>
        </p:nvSpPr>
        <p:spPr>
          <a:xfrm>
            <a:off x="5152644" y="2900477"/>
            <a:ext cx="1886407" cy="314554"/>
          </a:xfrm>
          <a:prstGeom prst="roundRect">
            <a:avLst>
              <a:gd name="adj" fmla="val 176180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5324551" y="2991002"/>
            <a:ext cx="114300" cy="13350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5533949" y="2900477"/>
            <a:ext cx="1390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情報の分断・多重入力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134356" y="4091026"/>
            <a:ext cx="1923898" cy="314554"/>
          </a:xfrm>
          <a:prstGeom prst="roundRect">
            <a:avLst>
              <a:gd name="adj" fmla="val 176180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5305349" y="4181551"/>
            <a:ext cx="114300" cy="13350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5553151" y="4091026"/>
            <a:ext cx="1390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情報の分断・多重入力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8718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139903"/>
            <a:ext cx="4638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仕事の流れを設計する3つの原則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6402" y="1138428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私たちが業務の流れを設計するとき、以下の</a:t>
            </a:r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3つの原則</a:t>
            </a:r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に基づいて設計します 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09928"/>
            <a:ext cx="3495751" cy="3486607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" y="1719072"/>
            <a:ext cx="3476549" cy="1037844"/>
          </a:xfrm>
          <a:prstGeom prst="roundRect">
            <a:avLst>
              <a:gd name="adj" fmla="val 9700"/>
            </a:avLst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" y="2747772"/>
            <a:ext cx="3476549" cy="9144"/>
          </a:xfrm>
          <a:prstGeom prst="roundRect">
            <a:avLst>
              <a:gd name="adj" fmla="val 1100917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27832" y="1814170"/>
            <a:ext cx="7598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F2A50">
                    <a:alpha val="1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5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" y="2985516"/>
            <a:ext cx="3096158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計画を立て、実績を記録し、差を見て修正する。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計画通りにいかないことが前提。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リアルタイムに状況を把握する。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" y="4113886"/>
            <a:ext cx="3019349" cy="838505"/>
          </a:xfrm>
          <a:prstGeom prst="roundRect">
            <a:avLst>
              <a:gd name="adj" fmla="val 9914"/>
            </a:avLst>
          </a:prstGeom>
          <a:solidFill>
            <a:srgbClr val="F0F9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" y="4113886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0354" y="4228186"/>
            <a:ext cx="27843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Point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00354" y="4437583"/>
            <a:ext cx="27532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「終わってから気づく」のではなく「やりながら修正する」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9801" y="1709928"/>
            <a:ext cx="3495751" cy="3486607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58945" y="1719072"/>
            <a:ext cx="3476549" cy="1037844"/>
          </a:xfrm>
          <a:prstGeom prst="roundRect">
            <a:avLst>
              <a:gd name="adj" fmla="val 9700"/>
            </a:avLst>
          </a:pr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58945" y="2747772"/>
            <a:ext cx="3476549" cy="9144"/>
          </a:xfrm>
          <a:prstGeom prst="roundRect">
            <a:avLst>
              <a:gd name="adj" fmla="val 1100917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06133" y="1814170"/>
            <a:ext cx="7598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F2A50">
                    <a:alpha val="1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500" dirty="0"/>
          </a:p>
        </p:txBody>
      </p:sp>
      <p:sp>
        <p:nvSpPr>
          <p:cNvPr id="22" name="Text 20"/>
          <p:cNvSpPr txBox="1"/>
          <p:nvPr/>
        </p:nvSpPr>
        <p:spPr>
          <a:xfrm>
            <a:off x="4587545" y="2985516"/>
            <a:ext cx="309615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すべての仕事は4ステップ。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「頼む → 引き受ける → やる → 確認する」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曖昧な口頭依頼をなくす。 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87545" y="4113886"/>
            <a:ext cx="3019349" cy="838505"/>
          </a:xfrm>
          <a:prstGeom prst="roundRect">
            <a:avLst>
              <a:gd name="adj" fmla="val 9914"/>
            </a:avLst>
          </a:prstGeom>
          <a:solidFill>
            <a:srgbClr val="F0F9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87545" y="4113886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78654" y="4228186"/>
            <a:ext cx="27843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Metaphor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778654" y="4437583"/>
            <a:ext cx="27532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レストランの注文 </a:t>
            </a:r>
            <a:pPr algn="l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厨房が受ける </a:t>
            </a:r>
            <a:pPr algn="l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調理 </a:t>
            </a:r>
            <a:pPr algn="l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お客様が確認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-2571" r="-2571" t="0" b="0"/>
          <a:stretch/>
        </p:blipFill>
        <p:spPr>
          <a:xfrm>
            <a:off x="5913425" y="4489704"/>
            <a:ext cx="105156" cy="114300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6954012" y="4489704"/>
            <a:ext cx="105156" cy="11430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4816145" y="4689958"/>
            <a:ext cx="105156" cy="1143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8128102" y="1709928"/>
            <a:ext cx="3495751" cy="3486607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137246" y="1719072"/>
            <a:ext cx="3476549" cy="1037844"/>
          </a:xfrm>
          <a:prstGeom prst="roundRect">
            <a:avLst>
              <a:gd name="adj" fmla="val 9700"/>
            </a:avLst>
          </a:prstGeom>
          <a:solidFill>
            <a:srgbClr val="F9FAFB"/>
          </a:solidFill>
          <a:ln/>
        </p:spPr>
      </p:sp>
      <p:sp>
        <p:nvSpPr>
          <p:cNvPr id="32" name="Shape 27"/>
          <p:cNvSpPr/>
          <p:nvPr/>
        </p:nvSpPr>
        <p:spPr>
          <a:xfrm>
            <a:off x="8137246" y="2747772"/>
            <a:ext cx="3476549" cy="9144"/>
          </a:xfrm>
          <a:prstGeom prst="roundRect">
            <a:avLst>
              <a:gd name="adj" fmla="val 1100917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0784434" y="1814170"/>
            <a:ext cx="7598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F2A50">
                    <a:alpha val="1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500" dirty="0"/>
          </a:p>
        </p:txBody>
      </p:sp>
      <p:sp>
        <p:nvSpPr>
          <p:cNvPr id="34" name="Text 29"/>
          <p:cNvSpPr txBox="1"/>
          <p:nvPr/>
        </p:nvSpPr>
        <p:spPr>
          <a:xfrm>
            <a:off x="8365846" y="2985516"/>
            <a:ext cx="309615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月末にまとめて処理するのではなく、発生のたびに完結させる。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「一個流し」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で溜め込まない。 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8365846" y="4113886"/>
            <a:ext cx="3019349" cy="838505"/>
          </a:xfrm>
          <a:prstGeom prst="roundRect">
            <a:avLst>
              <a:gd name="adj" fmla="val 9914"/>
            </a:avLst>
          </a:prstGeom>
          <a:solidFill>
            <a:srgbClr val="F0F9FF"/>
          </a:solidFill>
          <a:ln/>
        </p:spPr>
      </p:sp>
      <p:sp>
        <p:nvSpPr>
          <p:cNvPr id="36" name="Shape 31"/>
          <p:cNvSpPr/>
          <p:nvPr/>
        </p:nvSpPr>
        <p:spPr>
          <a:xfrm>
            <a:off x="8365846" y="4113886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556955" y="4228186"/>
            <a:ext cx="27843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Point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8556955" y="4437583"/>
            <a:ext cx="27532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月末の残業を減らし、記憶が鮮明なうちに記録を確定する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571500" y="5475427"/>
            <a:ext cx="11048695" cy="580644"/>
          </a:xfrm>
          <a:prstGeom prst="roundRect">
            <a:avLst>
              <a:gd name="adj" fmla="val 2065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94583" y="5671109"/>
            <a:ext cx="190195" cy="190195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3599078" y="5475427"/>
            <a:ext cx="538215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この原則がシステムに反映されていないと、途中で情報が途切れます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0" y="6437376"/>
            <a:ext cx="12191695" cy="4288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7"/>
          <p:cNvSpPr/>
          <p:nvPr/>
        </p:nvSpPr>
        <p:spPr>
          <a:xfrm>
            <a:off x="0" y="643737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571500" y="6552590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11212373" y="6552590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33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809244" y="1947672"/>
            <a:ext cx="571500" cy="571500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81151" y="2119579"/>
            <a:ext cx="228600" cy="22860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533449" y="1961388"/>
            <a:ext cx="237469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 → 実行 → 確認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（PDマネジメント）</a:t>
            </a:r>
            <a:endParaRPr lang="en-US" sz="1600" dirty="0"/>
          </a:p>
        </p:txBody>
      </p:sp>
      <p:sp>
        <p:nvSpPr>
          <p:cNvPr id="49" name="Shape 42"/>
          <p:cNvSpPr/>
          <p:nvPr/>
        </p:nvSpPr>
        <p:spPr>
          <a:xfrm>
            <a:off x="4587545" y="1947672"/>
            <a:ext cx="571500" cy="571500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4731106" y="2119579"/>
            <a:ext cx="286207" cy="228600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5311750" y="1961388"/>
            <a:ext cx="237469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 → 約束 →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 → 検収</a:t>
            </a:r>
            <a:endParaRPr lang="en-US" sz="1600" dirty="0"/>
          </a:p>
        </p:txBody>
      </p:sp>
      <p:sp>
        <p:nvSpPr>
          <p:cNvPr id="52" name="Shape 44"/>
          <p:cNvSpPr/>
          <p:nvPr/>
        </p:nvSpPr>
        <p:spPr>
          <a:xfrm>
            <a:off x="8365846" y="1947672"/>
            <a:ext cx="571500" cy="571500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rcRect l="-57" r="-57" t="0" b="0"/>
          <a:stretch/>
        </p:blipFill>
        <p:spPr>
          <a:xfrm>
            <a:off x="8551469" y="2119579"/>
            <a:ext cx="200254" cy="228600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9090050" y="1961388"/>
            <a:ext cx="237469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リアルタイム・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一つずつ確実に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7200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7998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0"/>
            <a:ext cx="537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この原則を当てはめると何が変わるか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1500" y="761695"/>
            <a:ext cx="5429707" cy="5419649"/>
          </a:xfrm>
          <a:prstGeom prst="roundRect">
            <a:avLst>
              <a:gd name="adj" fmla="val 35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" y="1429207"/>
            <a:ext cx="495330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138572" r="-1138572" t="0" b="0"/>
          <a:stretch/>
        </p:blipFill>
        <p:spPr>
          <a:xfrm>
            <a:off x="809244" y="1152144"/>
            <a:ext cx="190195" cy="91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14654" y="1000354"/>
            <a:ext cx="48646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9244" y="1676095"/>
            <a:ext cx="4953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09244" y="1676095"/>
            <a:ext cx="38405" cy="952805"/>
          </a:xfrm>
          <a:prstGeom prst="roundRect">
            <a:avLst>
              <a:gd name="adj" fmla="val 190475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0354" y="1815084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按分処理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00354" y="20391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月末にまとめて按分計算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290572"/>
            <a:ext cx="46579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月末の業務集中と遅延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1000354" y="2323490"/>
            <a:ext cx="85954" cy="13350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09244" y="2781605"/>
            <a:ext cx="4953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809244" y="2781605"/>
            <a:ext cx="38405" cy="952805"/>
          </a:xfrm>
          <a:prstGeom prst="roundRect">
            <a:avLst>
              <a:gd name="adj" fmla="val 190475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00354" y="2919679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請求業務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00354" y="3143707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紙の請求書を手作業で照合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143000" y="3395167"/>
            <a:ext cx="46579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5,000通の紙が毎月発生</a:t>
            </a:r>
            <a:endParaRPr lang="en-US" sz="1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000354" y="3429000"/>
            <a:ext cx="85954" cy="13350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09244" y="3886200"/>
            <a:ext cx="4953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809244" y="3886200"/>
            <a:ext cx="38405" cy="952805"/>
          </a:xfrm>
          <a:prstGeom prst="roundRect">
            <a:avLst>
              <a:gd name="adj" fmla="val 190475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1000354" y="4025189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経営管理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000354" y="424830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シフト確定が25日ギリギリ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143000" y="4499762"/>
            <a:ext cx="46579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人件費の見通しが立たない</a:t>
            </a:r>
            <a:endParaRPr lang="en-US" sz="1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1000354" y="4533595"/>
            <a:ext cx="85954" cy="13350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09244" y="4990795"/>
            <a:ext cx="4953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</p:spPr>
      </p:sp>
      <p:sp>
        <p:nvSpPr>
          <p:cNvPr id="31" name="Shape 25"/>
          <p:cNvSpPr/>
          <p:nvPr/>
        </p:nvSpPr>
        <p:spPr>
          <a:xfrm>
            <a:off x="809244" y="4990795"/>
            <a:ext cx="38405" cy="952805"/>
          </a:xfrm>
          <a:prstGeom prst="roundRect">
            <a:avLst>
              <a:gd name="adj" fmla="val 190475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000354" y="5129784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システム改修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000354" y="53538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ベンダーに「変えられない」と言われる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1143000" y="5605272"/>
            <a:ext cx="46579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業務に合わないシステムを強制</a:t>
            </a:r>
            <a:endParaRPr lang="en-US" sz="10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-1507" r="-1507" t="0" b="0"/>
          <a:stretch/>
        </p:blipFill>
        <p:spPr>
          <a:xfrm>
            <a:off x="1000354" y="5638190"/>
            <a:ext cx="85954" cy="133502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6191402" y="761695"/>
            <a:ext cx="5429707" cy="5419649"/>
          </a:xfrm>
          <a:prstGeom prst="roundRect">
            <a:avLst>
              <a:gd name="adj" fmla="val 35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429146" y="1429207"/>
            <a:ext cx="4953305" cy="19202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-989999" r="-989999" t="0" b="0"/>
          <a:stretch/>
        </p:blipFill>
        <p:spPr>
          <a:xfrm>
            <a:off x="6429146" y="1152144"/>
            <a:ext cx="142646" cy="914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687007" y="1000354"/>
            <a:ext cx="11146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56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原則適用後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6429146" y="1676095"/>
            <a:ext cx="4953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</p:spPr>
      </p:sp>
      <p:sp>
        <p:nvSpPr>
          <p:cNvPr id="41" name="Shape 33"/>
          <p:cNvSpPr/>
          <p:nvPr/>
        </p:nvSpPr>
        <p:spPr>
          <a:xfrm>
            <a:off x="6429146" y="1676095"/>
            <a:ext cx="38405" cy="952805"/>
          </a:xfrm>
          <a:prstGeom prst="roundRect">
            <a:avLst>
              <a:gd name="adj" fmla="val 190475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6620256" y="1815084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按分処理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6620256" y="20391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サービス記録時点で按分が自動連携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6792163" y="2290572"/>
            <a:ext cx="46286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リアルタイムで経営数値を把握</a:t>
            </a:r>
            <a:endParaRPr lang="en-US" sz="10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6620256" y="2323490"/>
            <a:ext cx="114300" cy="133502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6429146" y="2781605"/>
            <a:ext cx="4953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</p:spPr>
      </p:sp>
      <p:sp>
        <p:nvSpPr>
          <p:cNvPr id="47" name="Shape 38"/>
          <p:cNvSpPr/>
          <p:nvPr/>
        </p:nvSpPr>
        <p:spPr>
          <a:xfrm>
            <a:off x="6429146" y="2781605"/>
            <a:ext cx="38405" cy="952805"/>
          </a:xfrm>
          <a:prstGeom prst="roundRect">
            <a:avLst>
              <a:gd name="adj" fmla="val 190475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6620256" y="2919679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請求業務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6620256" y="3143707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請求データが日次で確定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6792163" y="3395167"/>
            <a:ext cx="46286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紙を大幅に削減</a:t>
            </a:r>
            <a:endParaRPr lang="en-US" sz="10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6620256" y="3429000"/>
            <a:ext cx="114300" cy="133502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6429146" y="3886200"/>
            <a:ext cx="4953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</p:spPr>
      </p:sp>
      <p:sp>
        <p:nvSpPr>
          <p:cNvPr id="53" name="Shape 43"/>
          <p:cNvSpPr/>
          <p:nvPr/>
        </p:nvSpPr>
        <p:spPr>
          <a:xfrm>
            <a:off x="6429146" y="3886200"/>
            <a:ext cx="38405" cy="952805"/>
          </a:xfrm>
          <a:prstGeom prst="roundRect">
            <a:avLst>
              <a:gd name="adj" fmla="val 190475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6620256" y="4025189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経営管理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6620256" y="424830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計画と実績の差がリアルタイムで見える</a:t>
            </a:r>
            <a:endParaRPr lang="en-US" sz="1200" dirty="0"/>
          </a:p>
        </p:txBody>
      </p:sp>
      <p:sp>
        <p:nvSpPr>
          <p:cNvPr id="56" name="Text 46"/>
          <p:cNvSpPr txBox="1"/>
          <p:nvPr/>
        </p:nvSpPr>
        <p:spPr>
          <a:xfrm>
            <a:off x="6792163" y="4499762"/>
            <a:ext cx="46286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早期の軌道修正が可能</a:t>
            </a:r>
            <a:endParaRPr lang="en-US" sz="100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6620256" y="4533595"/>
            <a:ext cx="114300" cy="133502"/>
          </a:xfrm>
          <a:prstGeom prst="rect">
            <a:avLst/>
          </a:prstGeom>
        </p:spPr>
      </p:pic>
      <p:sp>
        <p:nvSpPr>
          <p:cNvPr id="58" name="Shape 47"/>
          <p:cNvSpPr/>
          <p:nvPr/>
        </p:nvSpPr>
        <p:spPr>
          <a:xfrm>
            <a:off x="6429146" y="4990795"/>
            <a:ext cx="4953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</p:spPr>
      </p:sp>
      <p:sp>
        <p:nvSpPr>
          <p:cNvPr id="59" name="Shape 48"/>
          <p:cNvSpPr/>
          <p:nvPr/>
        </p:nvSpPr>
        <p:spPr>
          <a:xfrm>
            <a:off x="6429146" y="4990795"/>
            <a:ext cx="38405" cy="952805"/>
          </a:xfrm>
          <a:prstGeom prst="roundRect">
            <a:avLst>
              <a:gd name="adj" fmla="val 190475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6620256" y="5129784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システム改修</a:t>
            </a:r>
            <a:endParaRPr lang="en-US" sz="900" dirty="0"/>
          </a:p>
        </p:txBody>
      </p:sp>
      <p:sp>
        <p:nvSpPr>
          <p:cNvPr id="61" name="Text 50"/>
          <p:cNvSpPr txBox="1"/>
          <p:nvPr/>
        </p:nvSpPr>
        <p:spPr>
          <a:xfrm>
            <a:off x="6620256" y="53538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設計図があるから要望を正確に伝えられる</a:t>
            </a:r>
            <a:endParaRPr lang="en-US" sz="1200" dirty="0"/>
          </a:p>
        </p:txBody>
      </p:sp>
      <p:sp>
        <p:nvSpPr>
          <p:cNvPr id="62" name="Text 51"/>
          <p:cNvSpPr txBox="1"/>
          <p:nvPr/>
        </p:nvSpPr>
        <p:spPr>
          <a:xfrm>
            <a:off x="6792163" y="5605272"/>
            <a:ext cx="46286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要件定義書に基づく発注</a:t>
            </a:r>
            <a:endParaRPr lang="en-US" sz="100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6620256" y="5638190"/>
            <a:ext cx="114300" cy="133502"/>
          </a:xfrm>
          <a:prstGeom prst="rect">
            <a:avLst/>
          </a:prstGeom>
        </p:spPr>
      </p:pic>
      <p:sp>
        <p:nvSpPr>
          <p:cNvPr id="64" name="Shape 52"/>
          <p:cNvSpPr/>
          <p:nvPr/>
        </p:nvSpPr>
        <p:spPr>
          <a:xfrm>
            <a:off x="571500" y="6467551"/>
            <a:ext cx="11048695" cy="562356"/>
          </a:xfrm>
          <a:prstGeom prst="roundRect">
            <a:avLst>
              <a:gd name="adj" fmla="val 22048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790749" y="6662318"/>
            <a:ext cx="171907" cy="171907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3038551" y="6467551"/>
            <a:ext cx="64108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原則に沿って業務を再設計するから、システムが変わった後も仕組みが崩れません</a:t>
            </a:r>
            <a:endParaRPr lang="en-US" sz="1300" dirty="0"/>
          </a:p>
        </p:txBody>
      </p:sp>
      <p:sp>
        <p:nvSpPr>
          <p:cNvPr id="67" name="Shape 54"/>
          <p:cNvSpPr/>
          <p:nvPr/>
        </p:nvSpPr>
        <p:spPr>
          <a:xfrm>
            <a:off x="0" y="7220102"/>
            <a:ext cx="12191695" cy="2093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55"/>
          <p:cNvSpPr/>
          <p:nvPr/>
        </p:nvSpPr>
        <p:spPr>
          <a:xfrm>
            <a:off x="0" y="722010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9" name="Text 56"/>
          <p:cNvSpPr txBox="1"/>
          <p:nvPr/>
        </p:nvSpPr>
        <p:spPr>
          <a:xfrm>
            <a:off x="571500" y="7229246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70" name="Text 57"/>
          <p:cNvSpPr txBox="1"/>
          <p:nvPr/>
        </p:nvSpPr>
        <p:spPr>
          <a:xfrm>
            <a:off x="11212373" y="7229246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/ 33</a:t>
            </a:r>
            <a:endParaRPr lang="en-US" sz="100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943600" y="1752905"/>
            <a:ext cx="304495" cy="304495"/>
          </a:xfrm>
          <a:prstGeom prst="rect">
            <a:avLst/>
          </a:prstGeom>
        </p:spPr>
      </p:pic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3" b="-43"/>
          <a:stretch/>
        </p:blipFill>
        <p:spPr>
          <a:xfrm>
            <a:off x="6029554" y="1828800"/>
            <a:ext cx="133502" cy="152705"/>
          </a:xfrm>
          <a:prstGeom prst="rect">
            <a:avLst/>
          </a:prstGeom>
        </p:spPr>
      </p:pic>
      <p:pic>
        <p:nvPicPr>
          <p:cNvPr id="7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943600" y="2857500"/>
            <a:ext cx="304495" cy="304495"/>
          </a:xfrm>
          <a:prstGeom prst="rect">
            <a:avLst/>
          </a:prstGeom>
        </p:spPr>
      </p:pic>
      <p:pic>
        <p:nvPicPr>
          <p:cNvPr id="7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3" b="-43"/>
          <a:stretch/>
        </p:blipFill>
        <p:spPr>
          <a:xfrm>
            <a:off x="6029554" y="2933395"/>
            <a:ext cx="133502" cy="152705"/>
          </a:xfrm>
          <a:prstGeom prst="rect">
            <a:avLst/>
          </a:prstGeom>
        </p:spPr>
      </p:pic>
      <p:pic>
        <p:nvPicPr>
          <p:cNvPr id="7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5943600" y="3962095"/>
            <a:ext cx="304495" cy="304495"/>
          </a:xfrm>
          <a:prstGeom prst="rect">
            <a:avLst/>
          </a:prstGeom>
        </p:spPr>
      </p:pic>
      <p:pic>
        <p:nvPicPr>
          <p:cNvPr id="76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43" b="-43"/>
          <a:stretch/>
        </p:blipFill>
        <p:spPr>
          <a:xfrm>
            <a:off x="6029554" y="4038905"/>
            <a:ext cx="133502" cy="152705"/>
          </a:xfrm>
          <a:prstGeom prst="rect">
            <a:avLst/>
          </a:prstGeom>
        </p:spPr>
      </p:pic>
      <p:pic>
        <p:nvPicPr>
          <p:cNvPr id="77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5943600" y="5067605"/>
            <a:ext cx="304495" cy="304495"/>
          </a:xfrm>
          <a:prstGeom prst="rect">
            <a:avLst/>
          </a:prstGeom>
        </p:spPr>
      </p:pic>
      <p:pic>
        <p:nvPicPr>
          <p:cNvPr id="78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43" b="-43"/>
          <a:stretch/>
        </p:blipFill>
        <p:spPr>
          <a:xfrm>
            <a:off x="6029554" y="5143500"/>
            <a:ext cx="133502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385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193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190195"/>
            <a:ext cx="7210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ヒアリングの方法：「聴く」から「構造化する」へ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1500" y="1143000"/>
            <a:ext cx="11048695" cy="676656"/>
          </a:xfrm>
          <a:prstGeom prst="roundRect">
            <a:avLst>
              <a:gd name="adj" fmla="val 22840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6851" y="1343254"/>
            <a:ext cx="1495044" cy="276149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866851" y="1343254"/>
            <a:ext cx="1495958" cy="277063"/>
          </a:xfrm>
          <a:prstGeom prst="rect">
            <a:avLst/>
          </a:prstGeom>
          <a:solidFill>
            <a:srgbClr val="9CA3A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一般的なヒアリング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80" r="-80" t="0" b="0"/>
          <a:stretch/>
        </p:blipFill>
        <p:spPr>
          <a:xfrm>
            <a:off x="2723998" y="1367028"/>
            <a:ext cx="2862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124505" y="1352398"/>
            <a:ext cx="22219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「何に困っていますか？」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5528462" y="1404518"/>
            <a:ext cx="133502" cy="152705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17666" y="136702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60566" y="1352398"/>
            <a:ext cx="18516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バラバラの要望リスト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8428939" y="1404518"/>
            <a:ext cx="133502" cy="152705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 l="0" r="0" t="0" b="0"/>
          <a:stretch/>
        </p:blipFill>
        <p:spPr>
          <a:xfrm>
            <a:off x="8918143" y="1367028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261043" y="1352398"/>
            <a:ext cx="203728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構造がない（対症療法）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71500" y="2009851"/>
            <a:ext cx="11048695" cy="3333902"/>
          </a:xfrm>
          <a:prstGeom prst="roundRect">
            <a:avLst>
              <a:gd name="adj" fmla="val 940"/>
            </a:avLst>
          </a:prstGeom>
          <a:solidFill>
            <a:srgbClr val="F0F9FF"/>
          </a:solidFill>
          <a:ln w="25400">
            <a:solidFill>
              <a:srgbClr val="00A3E0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875995" y="2257654"/>
            <a:ext cx="10629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私たちのヒアリング</a:t>
            </a:r>
            <a:pPr algn="l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散らばった声から「共通の型（パターン）」を見つける 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875995" y="2276856"/>
            <a:ext cx="1495044" cy="276149"/>
          </a:xfrm>
          <a:prstGeom prst="rect">
            <a:avLst/>
          </a:prstGeom>
          <a:noFill/>
          <a:ln/>
        </p:spPr>
      </p:sp>
      <p:sp>
        <p:nvSpPr>
          <p:cNvPr id="22" name="Text 15"/>
          <p:cNvSpPr/>
          <p:nvPr/>
        </p:nvSpPr>
        <p:spPr>
          <a:xfrm>
            <a:off x="875995" y="2276856"/>
            <a:ext cx="1495958" cy="277063"/>
          </a:xfrm>
          <a:prstGeom prst="rect">
            <a:avLst/>
          </a:prstGeom>
          <a:solidFill>
            <a:srgbClr val="00A3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私たちのヒアリング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875995" y="2800807"/>
            <a:ext cx="3353105" cy="229514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a3e0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75995" y="2800807"/>
            <a:ext cx="3353105" cy="38405"/>
          </a:xfrm>
          <a:prstGeom prst="roundRect">
            <a:avLst>
              <a:gd name="adj" fmla="val 79035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266798" y="3029407"/>
            <a:ext cx="571500" cy="57150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438705" y="3200400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71270" y="3752698"/>
            <a:ext cx="216987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質的研究手法（M-GTA等）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1651406" y="4086454"/>
            <a:ext cx="180319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一人ひとりの話から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組織全体の「型」を発見する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社会科学的アプローチ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419295" y="2800807"/>
            <a:ext cx="3353105" cy="229514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a3e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419295" y="2800807"/>
            <a:ext cx="3353105" cy="38405"/>
          </a:xfrm>
          <a:prstGeom prst="roundRect">
            <a:avLst>
              <a:gd name="adj" fmla="val 79035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810098" y="3029407"/>
            <a:ext cx="571500" cy="57150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5" b="-45"/>
          <a:stretch/>
        </p:blipFill>
        <p:spPr>
          <a:xfrm>
            <a:off x="5967374" y="3200400"/>
            <a:ext cx="256946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864962" y="3752698"/>
            <a:ext cx="467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KJ法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4992624" y="4086454"/>
            <a:ext cx="2210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バラバラの情報を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グルーピングし、関係性を整理して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構造化する手法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7962595" y="2800807"/>
            <a:ext cx="3353105" cy="229514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a3e0">
                <a:alpha val="10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7962595" y="2800807"/>
            <a:ext cx="3353105" cy="38405"/>
          </a:xfrm>
          <a:prstGeom prst="roundRect">
            <a:avLst>
              <a:gd name="adj" fmla="val 79035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9353398" y="3029407"/>
            <a:ext cx="571500" cy="57150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-80" r="-80" t="0" b="0"/>
          <a:stretch/>
        </p:blipFill>
        <p:spPr>
          <a:xfrm>
            <a:off x="9496044" y="3200400"/>
            <a:ext cx="286207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883396" y="3752698"/>
            <a:ext cx="15124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生成AIによる分析</a:t>
            </a:r>
            <a:endParaRPr lang="en-US" sz="1300" dirty="0"/>
          </a:p>
        </p:txBody>
      </p:sp>
      <p:sp>
        <p:nvSpPr>
          <p:cNvPr id="40" name="Text 30"/>
          <p:cNvSpPr txBox="1"/>
          <p:nvPr/>
        </p:nvSpPr>
        <p:spPr>
          <a:xfrm>
            <a:off x="8809330" y="4086454"/>
            <a:ext cx="166420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大量の聞き取りテキストを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高速に分析し、パターンを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客観的に抽出する道具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71500" y="5533949"/>
            <a:ext cx="11048695" cy="562356"/>
          </a:xfrm>
          <a:prstGeom prst="roundRect">
            <a:avLst>
              <a:gd name="adj" fmla="val 22048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746504" y="5700370"/>
            <a:ext cx="228600" cy="2286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2089404" y="5533949"/>
            <a:ext cx="84399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11月のヒアリングで「個別の愚痴」が「3つの共通構造問題」に集約できたのは、この手法を用いたからです</a:t>
            </a:r>
            <a:endParaRPr lang="en-US" sz="1300" dirty="0"/>
          </a:p>
        </p:txBody>
      </p:sp>
      <p:sp>
        <p:nvSpPr>
          <p:cNvPr id="44" name="Shape 33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4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7" name="Text 36"/>
          <p:cNvSpPr txBox="1"/>
          <p:nvPr/>
        </p:nvSpPr>
        <p:spPr>
          <a:xfrm>
            <a:off x="11212373" y="6524244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 / 33</a:t>
            </a:r>
            <a:endParaRPr lang="en-US" sz="100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905195" y="1723644"/>
            <a:ext cx="381305" cy="381305"/>
          </a:xfrm>
          <a:prstGeom prst="rect">
            <a:avLst/>
          </a:prstGeom>
        </p:spPr>
      </p:pic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00" b="-100"/>
          <a:stretch/>
        </p:blipFill>
        <p:spPr>
          <a:xfrm>
            <a:off x="6038698" y="1837944"/>
            <a:ext cx="114300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385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193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190195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「要件設計」とは何か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571500" y="1143000"/>
            <a:ext cx="11048695" cy="1097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1333195"/>
            <a:ext cx="105064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「要件設計」はシステムの仕様書ではありません。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「風の村の業務が、将来どのように流れるべきか」を描いた設計図です。 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71500" y="2525573"/>
            <a:ext cx="2333549" cy="2409444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500" y="2525573"/>
            <a:ext cx="2314346" cy="57607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922" y="2525573"/>
            <a:ext cx="534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3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087" b="-1087"/>
          <a:stretch/>
        </p:blipFill>
        <p:spPr>
          <a:xfrm>
            <a:off x="3138221" y="3643884"/>
            <a:ext cx="105156" cy="1719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76549" y="2525573"/>
            <a:ext cx="2333549" cy="2409444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76549" y="2525573"/>
            <a:ext cx="2314346" cy="57607"/>
          </a:xfrm>
          <a:prstGeom prst="rect">
            <a:avLst/>
          </a:prstGeom>
          <a:solidFill>
            <a:srgbClr val="0056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255971" y="2525573"/>
            <a:ext cx="534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3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87" b="-1087"/>
          <a:stretch/>
        </p:blipFill>
        <p:spPr>
          <a:xfrm>
            <a:off x="6043270" y="3643884"/>
            <a:ext cx="105156" cy="171907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381598" y="2525573"/>
            <a:ext cx="2333549" cy="2409444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1598" y="2525573"/>
            <a:ext cx="2314346" cy="57607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161020" y="2525573"/>
            <a:ext cx="534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3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87" b="-1087"/>
          <a:stretch/>
        </p:blipFill>
        <p:spPr>
          <a:xfrm>
            <a:off x="8948318" y="3643884"/>
            <a:ext cx="105156" cy="17190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286646" y="2525573"/>
            <a:ext cx="2333549" cy="2409444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286646" y="2525573"/>
            <a:ext cx="2314346" cy="57607"/>
          </a:xfrm>
          <a:prstGeom prst="rect">
            <a:avLst/>
          </a:prstGeom>
          <a:solidFill>
            <a:srgbClr val="4AA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1066069" y="2525573"/>
            <a:ext cx="534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Shape 19"/>
          <p:cNvSpPr/>
          <p:nvPr/>
        </p:nvSpPr>
        <p:spPr>
          <a:xfrm>
            <a:off x="571500" y="5219395"/>
            <a:ext cx="11048695" cy="875995"/>
          </a:xfrm>
          <a:prstGeom prst="roundRect">
            <a:avLst>
              <a:gd name="adj" fmla="val 13615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6851" y="5519318"/>
            <a:ext cx="972007" cy="276149"/>
          </a:xfrm>
          <a:prstGeom prst="rect">
            <a:avLst/>
          </a:prstGeom>
          <a:noFill/>
          <a:ln/>
        </p:spPr>
      </p:sp>
      <p:sp>
        <p:nvSpPr>
          <p:cNvPr id="27" name="Text 21"/>
          <p:cNvSpPr/>
          <p:nvPr/>
        </p:nvSpPr>
        <p:spPr>
          <a:xfrm>
            <a:off x="866851" y="5519318"/>
            <a:ext cx="972007" cy="277063"/>
          </a:xfrm>
          <a:prstGeom prst="rect">
            <a:avLst/>
          </a:prstGeom>
          <a:solidFill>
            <a:srgbClr val="F59E0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Metaphor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065630" y="5419649"/>
            <a:ext cx="476402" cy="476402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5" b="-45"/>
          <a:stretch/>
        </p:blipFill>
        <p:spPr>
          <a:xfrm>
            <a:off x="2174443" y="5544007"/>
            <a:ext cx="256946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693822" y="5419649"/>
            <a:ext cx="2591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施主（皆さま）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2693822" y="5639105"/>
            <a:ext cx="25914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「どう暮らしたいか」を伝える</a:t>
            </a:r>
            <a:endParaRPr lang="en-US" sz="13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21247" y="5481828"/>
            <a:ext cx="190195" cy="19019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282842" y="5715000"/>
            <a:ext cx="314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翻訳</a:t>
            </a:r>
            <a:endParaRPr lang="en-US" sz="9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781544" y="5419649"/>
            <a:ext cx="476402" cy="476402"/>
          </a:xfrm>
          <a:prstGeom prst="rect">
            <a:avLst/>
          </a:prstGeom>
        </p:spPr>
      </p:pic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905902" y="5544007"/>
            <a:ext cx="228600" cy="2286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410651" y="5419649"/>
            <a:ext cx="3105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建築士（私たち）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8410651" y="5639105"/>
            <a:ext cx="31053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「間取り図」と「設備仕様書」を作る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28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11212373" y="6524244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 / 33</a:t>
            </a:r>
            <a:endParaRPr lang="en-US" sz="10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-389600" r="-389600" t="0" b="0"/>
          <a:stretch/>
        </p:blipFill>
        <p:spPr>
          <a:xfrm>
            <a:off x="733349" y="2678278"/>
            <a:ext cx="2009851" cy="2286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733349" y="3021178"/>
            <a:ext cx="21707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業務要件</a:t>
            </a:r>
            <a:endParaRPr 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733349" y="3354934"/>
            <a:ext cx="20866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「こういう仕事の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流れにしたい」</a:t>
            </a:r>
            <a:endParaRPr lang="en-US" sz="110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-301680" r="-301680" t="0" b="0"/>
          <a:stretch/>
        </p:blipFill>
        <p:spPr>
          <a:xfrm>
            <a:off x="3638398" y="2678278"/>
            <a:ext cx="2009851" cy="2286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3638398" y="3021178"/>
            <a:ext cx="21707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運用要件</a:t>
            </a:r>
            <a:endParaRPr lang="en-US" sz="1300" dirty="0"/>
          </a:p>
        </p:txBody>
      </p:sp>
      <p:sp>
        <p:nvSpPr>
          <p:cNvPr id="47" name="Text 34"/>
          <p:cNvSpPr txBox="1"/>
          <p:nvPr/>
        </p:nvSpPr>
        <p:spPr>
          <a:xfrm>
            <a:off x="3638398" y="3354934"/>
            <a:ext cx="20866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「現場では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こう使いたい」</a:t>
            </a:r>
            <a:endParaRPr lang="en-US" sz="11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rcRect l="-389600" r="-389600" t="0" b="0"/>
          <a:stretch/>
        </p:blipFill>
        <p:spPr>
          <a:xfrm>
            <a:off x="6543446" y="2678278"/>
            <a:ext cx="2009851" cy="228600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6543446" y="3021178"/>
            <a:ext cx="21707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機能要件</a:t>
            </a:r>
            <a:endParaRPr lang="en-US" sz="1300" dirty="0"/>
          </a:p>
        </p:txBody>
      </p:sp>
      <p:sp>
        <p:nvSpPr>
          <p:cNvPr id="50" name="Text 36"/>
          <p:cNvSpPr txBox="1"/>
          <p:nvPr/>
        </p:nvSpPr>
        <p:spPr>
          <a:xfrm>
            <a:off x="6543446" y="3354934"/>
            <a:ext cx="20866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「こういうことができる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道具がほしい」</a:t>
            </a:r>
            <a:endParaRPr lang="en-US" sz="110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rcRect l="-389600" r="-389600" t="0" b="0"/>
          <a:stretch/>
        </p:blipFill>
        <p:spPr>
          <a:xfrm>
            <a:off x="9448495" y="2678278"/>
            <a:ext cx="2009851" cy="228600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9448495" y="3021178"/>
            <a:ext cx="21707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システム要件</a:t>
            </a:r>
            <a:endParaRPr lang="en-US" sz="1300" dirty="0"/>
          </a:p>
        </p:txBody>
      </p:sp>
      <p:sp>
        <p:nvSpPr>
          <p:cNvPr id="53" name="Text 38"/>
          <p:cNvSpPr txBox="1"/>
          <p:nvPr/>
        </p:nvSpPr>
        <p:spPr>
          <a:xfrm>
            <a:off x="9448495" y="3354934"/>
            <a:ext cx="20866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「その道具を動かす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ための条件」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28193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08990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85039"/>
            <a:ext cx="28099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私たちの3つの約束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6402" y="102778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このプロジェクトを成功に導くために、私たちは以下の</a:t>
            </a:r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3つを約束</a:t>
            </a:r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します 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599286"/>
            <a:ext cx="3495751" cy="3657600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" y="1609344"/>
            <a:ext cx="3476549" cy="1209751"/>
          </a:xfrm>
          <a:prstGeom prst="roundRect">
            <a:avLst>
              <a:gd name="adj" fmla="val 7142"/>
            </a:avLst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" y="2809951"/>
            <a:ext cx="3476549" cy="9144"/>
          </a:xfrm>
          <a:prstGeom prst="roundRect">
            <a:avLst>
              <a:gd name="adj" fmla="val 944882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27832" y="1704442"/>
            <a:ext cx="7598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F2A50">
                    <a:alpha val="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5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" y="3047695"/>
            <a:ext cx="3096158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部分最適ではなく、</a:t>
            </a:r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全体最適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を設計します。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目の前の問題解決だけでなく、前後の工程を含めた全体の流れを整えます。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" y="4175150"/>
            <a:ext cx="3019349" cy="838505"/>
          </a:xfrm>
          <a:prstGeom prst="roundRect">
            <a:avLst>
              <a:gd name="adj" fmla="val 9914"/>
            </a:avLst>
          </a:prstGeom>
          <a:solidFill>
            <a:srgbClr val="F0F9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" y="4175150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0354" y="4289450"/>
            <a:ext cx="27843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Point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00354" y="4498848"/>
            <a:ext cx="27532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「木を見て森を見ず」にならないように、まず全体図を描きます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9801" y="1599286"/>
            <a:ext cx="3495751" cy="3657600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58945" y="1609344"/>
            <a:ext cx="3476549" cy="1209751"/>
          </a:xfrm>
          <a:prstGeom prst="roundRect">
            <a:avLst>
              <a:gd name="adj" fmla="val 7142"/>
            </a:avLst>
          </a:pr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58945" y="2809951"/>
            <a:ext cx="3476549" cy="9144"/>
          </a:xfrm>
          <a:prstGeom prst="roundRect">
            <a:avLst>
              <a:gd name="adj" fmla="val 944882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06133" y="1704442"/>
            <a:ext cx="7598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F2A50">
                    <a:alpha val="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500" dirty="0"/>
          </a:p>
        </p:txBody>
      </p:sp>
      <p:sp>
        <p:nvSpPr>
          <p:cNvPr id="22" name="Text 20"/>
          <p:cNvSpPr txBox="1"/>
          <p:nvPr/>
        </p:nvSpPr>
        <p:spPr>
          <a:xfrm>
            <a:off x="4587545" y="3047695"/>
            <a:ext cx="3096158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技術の言葉ではなく、</a:t>
            </a:r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業務の視点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から入ります。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「システムで何ができるか」ではなく「仕事で何をしたいか」を優先します。 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87545" y="4175150"/>
            <a:ext cx="3019349" cy="838505"/>
          </a:xfrm>
          <a:prstGeom prst="roundRect">
            <a:avLst>
              <a:gd name="adj" fmla="val 9914"/>
            </a:avLst>
          </a:prstGeom>
          <a:solidFill>
            <a:srgbClr val="F0F9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87545" y="4175150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78654" y="4289450"/>
            <a:ext cx="27843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Point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778654" y="4498848"/>
            <a:ext cx="27532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皆さまはITの専門家である必要はありません。仕事の話をしてください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28102" y="1599286"/>
            <a:ext cx="3495751" cy="3657600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7246" y="1609344"/>
            <a:ext cx="3476549" cy="1209751"/>
          </a:xfrm>
          <a:prstGeom prst="roundRect">
            <a:avLst>
              <a:gd name="adj" fmla="val 7142"/>
            </a:avLst>
          </a:pr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7246" y="2809951"/>
            <a:ext cx="3476549" cy="9144"/>
          </a:xfrm>
          <a:prstGeom prst="roundRect">
            <a:avLst>
              <a:gd name="adj" fmla="val 944882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84434" y="1704442"/>
            <a:ext cx="7598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F2A50">
                    <a:alpha val="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500" dirty="0"/>
          </a:p>
        </p:txBody>
      </p:sp>
      <p:sp>
        <p:nvSpPr>
          <p:cNvPr id="31" name="Text 29"/>
          <p:cNvSpPr txBox="1"/>
          <p:nvPr/>
        </p:nvSpPr>
        <p:spPr>
          <a:xfrm>
            <a:off x="8365846" y="3047695"/>
            <a:ext cx="3096158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いきなり作り始めません。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紙の上で何度もシミュレーションし、</a:t>
            </a:r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合意形成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してから実装に進むことで、手戻りを防ぎます。 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65846" y="4175150"/>
            <a:ext cx="3019349" cy="838505"/>
          </a:xfrm>
          <a:prstGeom prst="roundRect">
            <a:avLst>
              <a:gd name="adj" fmla="val 9914"/>
            </a:avLst>
          </a:prstGeom>
          <a:solidFill>
            <a:srgbClr val="F0F9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5846" y="4175150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56955" y="4289450"/>
            <a:ext cx="27843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Point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556955" y="4498848"/>
            <a:ext cx="27532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「作ってみたけど使えない」という悲劇を回避します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1500" y="5536692"/>
            <a:ext cx="11048695" cy="580644"/>
          </a:xfrm>
          <a:prstGeom prst="roundRect">
            <a:avLst>
              <a:gd name="adj" fmla="val 20653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66644" y="5732374"/>
            <a:ext cx="190195" cy="190195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3172054" y="5536692"/>
            <a:ext cx="6238951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コンサルタントとして、この姿勢を貫くことでプロジェクトの品質を担保します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0" y="6498641"/>
            <a:ext cx="12191695" cy="3621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0" y="6498641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71500" y="6582766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1212373" y="6582766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 / 33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9244" y="1922983"/>
            <a:ext cx="571500" cy="571500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966521" y="2094890"/>
            <a:ext cx="256946" cy="228600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1533449" y="1837944"/>
            <a:ext cx="23719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全体を見てから、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部分を決める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（全体最適）</a:t>
            </a:r>
            <a:endParaRPr lang="en-US" sz="1500" dirty="0"/>
          </a:p>
        </p:txBody>
      </p:sp>
      <p:sp>
        <p:nvSpPr>
          <p:cNvPr id="46" name="Shape 42"/>
          <p:cNvSpPr/>
          <p:nvPr/>
        </p:nvSpPr>
        <p:spPr>
          <a:xfrm>
            <a:off x="4587545" y="1922983"/>
            <a:ext cx="571500" cy="571500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4731106" y="2094890"/>
            <a:ext cx="286207" cy="228600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5311750" y="1837944"/>
            <a:ext cx="23719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現場の言葉を、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設計の言葉に翻訳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（業務起点）</a:t>
            </a:r>
            <a:endParaRPr lang="en-US" sz="1500" dirty="0"/>
          </a:p>
        </p:txBody>
      </p:sp>
      <p:sp>
        <p:nvSpPr>
          <p:cNvPr id="49" name="Shape 44"/>
          <p:cNvSpPr/>
          <p:nvPr/>
        </p:nvSpPr>
        <p:spPr>
          <a:xfrm>
            <a:off x="8365846" y="1922983"/>
            <a:ext cx="571500" cy="571500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37753" y="2094890"/>
            <a:ext cx="228600" cy="228600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9090050" y="1837944"/>
            <a:ext cx="23719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設計図ができてから、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工事を始める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（手戻り最小化）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45529" y="809244"/>
            <a:ext cx="6687007" cy="523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1200" b="1" dirty="0">
                <a:solidFill>
                  <a:srgbClr val="FFFFFF">
                    <a:alpha val="4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429207"/>
            <a:ext cx="114300" cy="4000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0" r="0" t="0" b="0"/>
          <a:stretch/>
        </p:blipFill>
        <p:spPr>
          <a:xfrm>
            <a:off x="7429500" y="2095805"/>
            <a:ext cx="5715000" cy="57150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0" r="0" t="0" b="0"/>
          <a:stretch/>
        </p:blipFill>
        <p:spPr>
          <a:xfrm>
            <a:off x="9525305" y="571500"/>
            <a:ext cx="1904695" cy="190469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143000" y="1228954"/>
            <a:ext cx="571500" cy="19202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904695" y="1228954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Section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43000" y="1800454"/>
            <a:ext cx="952805" cy="95280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92301" y="1933956"/>
            <a:ext cx="333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Shape 6"/>
          <p:cNvSpPr/>
          <p:nvPr/>
        </p:nvSpPr>
        <p:spPr>
          <a:xfrm>
            <a:off x="1143000" y="5095951"/>
            <a:ext cx="57607" cy="53309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580998" y="5095951"/>
            <a:ext cx="757489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0「要件設計」の具体的な進め方</a:t>
            </a:r>
            <a:endParaRPr lang="en-US" sz="30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3038551"/>
            <a:ext cx="7411212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何を・何のために行うか</a:t>
            </a:r>
            <a:endParaRPr lang="en-US" sz="60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6248095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1500" y="1047902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3つの活動を並行して進め、3ヶ月後にマスタープラン等の成果物を策定します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591056"/>
            <a:ext cx="11048695" cy="4505249"/>
          </a:xfrm>
          <a:prstGeom prst="roundRect">
            <a:avLst>
              <a:gd name="adj" fmla="val 51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7949" y="1600200"/>
            <a:ext cx="5886907" cy="98115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247949" y="2572207"/>
            <a:ext cx="58869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0251" y="1986077"/>
            <a:ext cx="9144" cy="20025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8630" y="1986077"/>
            <a:ext cx="204185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1ヶ月目（3月）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75297" y="1986077"/>
            <a:ext cx="9144" cy="20025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73675" y="1986077"/>
            <a:ext cx="204185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2ヶ月目（4月）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139635" y="1986077"/>
            <a:ext cx="20409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3ヶ月目（5月）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7949" y="3743554"/>
            <a:ext cx="58869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0251" y="2581351"/>
            <a:ext cx="9144" cy="1162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1639" y="2581351"/>
            <a:ext cx="9144" cy="1162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7949" y="4914900"/>
            <a:ext cx="58869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0251" y="3752698"/>
            <a:ext cx="9144" cy="1162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1639" y="3752698"/>
            <a:ext cx="9144" cy="1162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0251" y="4924044"/>
            <a:ext cx="9144" cy="1162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1639" y="4924044"/>
            <a:ext cx="9144" cy="1162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12373" y="6524244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 / 33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5906" y="2971800"/>
            <a:ext cx="3715207" cy="381305"/>
          </a:xfrm>
          <a:prstGeom prst="roundRect">
            <a:avLst>
              <a:gd name="adj" fmla="val 35971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17697" y="3062326"/>
            <a:ext cx="1440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全社・現場ヒアリング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773729" y="4358030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第1回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691786" y="4358030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第2回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608930" y="4358030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第3回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526987" y="4358030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第4回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444130" y="4358030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第5回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8362188" y="4358030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第6回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rot="2700000">
            <a:off x="3821278" y="4166921"/>
            <a:ext cx="152705" cy="1527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4738421" y="4166921"/>
            <a:ext cx="152705" cy="1527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5656478" y="4166921"/>
            <a:ext cx="152705" cy="1527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6573622" y="4166921"/>
            <a:ext cx="152705" cy="1527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7491679" y="4166921"/>
            <a:ext cx="152705" cy="1527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8408822" y="4166921"/>
            <a:ext cx="152705" cy="1527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65906" y="5315407"/>
            <a:ext cx="5658307" cy="381305"/>
          </a:xfrm>
          <a:prstGeom prst="roundRect">
            <a:avLst>
              <a:gd name="adj" fmla="val 35971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17697" y="5315407"/>
            <a:ext cx="1790395" cy="381305"/>
          </a:xfrm>
          <a:prstGeom prst="rect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3517697" y="5315407"/>
            <a:ext cx="1791310" cy="381305"/>
          </a:xfrm>
          <a:prstGeom prst="rect">
            <a:avLst/>
          </a:prstGeom>
          <a:solidFill>
            <a:srgbClr val="D1D5D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整理・可視化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264201" y="5315407"/>
            <a:ext cx="1862633" cy="381305"/>
          </a:xfrm>
          <a:prstGeom prst="rect">
            <a:avLst/>
          </a:prstGeom>
          <a:solidFill>
            <a:srgbClr val="9CA3A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構造化・設計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82028" y="5315407"/>
            <a:ext cx="1790395" cy="381305"/>
          </a:xfrm>
          <a:prstGeom prst="rect">
            <a:avLst/>
          </a:prstGeom>
          <a:noFill/>
          <a:ln/>
        </p:spPr>
      </p:sp>
      <p:sp>
        <p:nvSpPr>
          <p:cNvPr id="44" name="Text 42"/>
          <p:cNvSpPr/>
          <p:nvPr/>
        </p:nvSpPr>
        <p:spPr>
          <a:xfrm>
            <a:off x="7082028" y="5315407"/>
            <a:ext cx="1791310" cy="381305"/>
          </a:xfrm>
          <a:prstGeom prst="rect">
            <a:avLst/>
          </a:prstGeom>
          <a:solidFill>
            <a:srgbClr val="4B556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マスタープラン策定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0644" y="1600200"/>
            <a:ext cx="2667305" cy="4486046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3238805" y="1600200"/>
            <a:ext cx="9144" cy="4486046"/>
          </a:xfrm>
          <a:prstGeom prst="roundRect">
            <a:avLst>
              <a:gd name="adj" fmla="val 428571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0644" y="1600200"/>
            <a:ext cx="2657246" cy="476402"/>
          </a:xfrm>
          <a:prstGeom prst="rect">
            <a:avLst/>
          </a:prstGeom>
          <a:noFill/>
          <a:ln/>
        </p:spPr>
      </p:sp>
      <p:sp>
        <p:nvSpPr>
          <p:cNvPr id="48" name="Text 46"/>
          <p:cNvSpPr/>
          <p:nvPr/>
        </p:nvSpPr>
        <p:spPr>
          <a:xfrm>
            <a:off x="580644" y="1600200"/>
            <a:ext cx="2658161" cy="47640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活動内容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0644" y="3410712"/>
            <a:ext cx="26572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1754" y="2589581"/>
            <a:ext cx="304495" cy="304495"/>
          </a:xfrm>
          <a:prstGeom prst="rect">
            <a:avLst/>
          </a:prstGeom>
          <a:noFill/>
          <a:ln/>
        </p:spPr>
      </p:sp>
      <p:sp>
        <p:nvSpPr>
          <p:cNvPr id="51" name="Text 49"/>
          <p:cNvSpPr/>
          <p:nvPr/>
        </p:nvSpPr>
        <p:spPr>
          <a:xfrm>
            <a:off x="771754" y="2589581"/>
            <a:ext cx="305410" cy="305410"/>
          </a:xfrm>
          <a:prstGeom prst="rect">
            <a:avLst/>
          </a:prstGeom>
          <a:solidFill>
            <a:srgbClr val="00A3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190549" y="2531974"/>
            <a:ext cx="121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ヒアリング調査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190549" y="2779776"/>
            <a:ext cx="1200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約2ヶ月間／25～30回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0644" y="4750308"/>
            <a:ext cx="26572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1754" y="3929177"/>
            <a:ext cx="304495" cy="304495"/>
          </a:xfrm>
          <a:prstGeom prst="rect">
            <a:avLst/>
          </a:prstGeom>
          <a:noFill/>
          <a:ln/>
        </p:spPr>
      </p:sp>
      <p:sp>
        <p:nvSpPr>
          <p:cNvPr id="56" name="Text 54"/>
          <p:cNvSpPr/>
          <p:nvPr/>
        </p:nvSpPr>
        <p:spPr>
          <a:xfrm>
            <a:off x="771754" y="3929177"/>
            <a:ext cx="305410" cy="305410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190549" y="3871570"/>
            <a:ext cx="1656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隔週プロジェクト会議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190549" y="4119372"/>
            <a:ext cx="16568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全期間／6回程度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71754" y="5268773"/>
            <a:ext cx="304495" cy="304495"/>
          </a:xfrm>
          <a:prstGeom prst="rect">
            <a:avLst/>
          </a:prstGeom>
          <a:noFill/>
          <a:ln/>
        </p:spPr>
      </p:sp>
      <p:sp>
        <p:nvSpPr>
          <p:cNvPr id="60" name="Text 58"/>
          <p:cNvSpPr/>
          <p:nvPr/>
        </p:nvSpPr>
        <p:spPr>
          <a:xfrm>
            <a:off x="771754" y="5268773"/>
            <a:ext cx="305410" cy="305410"/>
          </a:xfrm>
          <a:prstGeom prst="rect">
            <a:avLst/>
          </a:prstGeom>
          <a:solidFill>
            <a:srgbClr val="6B728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190549" y="5212080"/>
            <a:ext cx="11631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分析・設計作業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190549" y="5458968"/>
            <a:ext cx="116311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コンサルタント作業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134856" y="1600200"/>
            <a:ext cx="2476195" cy="4486046"/>
          </a:xfrm>
          <a:prstGeom prst="roundRect">
            <a:avLst>
              <a:gd name="adj" fmla="val 1704"/>
            </a:avLst>
          </a:prstGeom>
          <a:solidFill>
            <a:srgbClr val="F0F9FF"/>
          </a:solidFill>
          <a:ln/>
        </p:spPr>
      </p:sp>
      <p:sp>
        <p:nvSpPr>
          <p:cNvPr id="64" name="Shape 62"/>
          <p:cNvSpPr/>
          <p:nvPr/>
        </p:nvSpPr>
        <p:spPr>
          <a:xfrm>
            <a:off x="9134856" y="1600200"/>
            <a:ext cx="9144" cy="4486046"/>
          </a:xfrm>
          <a:prstGeom prst="roundRect">
            <a:avLst>
              <a:gd name="adj" fmla="val 461538"/>
            </a:avLst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44000" y="1600200"/>
            <a:ext cx="2467051" cy="428854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2019910"/>
            <a:ext cx="24670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105595" y="1600200"/>
            <a:ext cx="254386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3ヶ月後の成果物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334195" y="2897734"/>
            <a:ext cx="2085746" cy="619049"/>
          </a:xfrm>
          <a:prstGeom prst="roundRect">
            <a:avLst>
              <a:gd name="adj" fmla="val 18180"/>
            </a:avLst>
          </a:prstGeom>
          <a:solidFill>
            <a:srgbClr val="FFFFFF"/>
          </a:solidFill>
          <a:ln w="25400">
            <a:solidFill>
              <a:srgbClr val="0F2A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69" name="Image 0" descr="preencoded.png">    </p:cNvPr>
          <p:cNvPicPr>
            <a:picLocks noChangeAspect="1"/>
          </p:cNvPicPr>
          <p:nvPr/>
        </p:nvPicPr>
        <p:blipFill>
          <a:blip r:embed="rId1"/>
          <a:srcRect l="-3419" r="-3419" t="0" b="0"/>
          <a:stretch/>
        </p:blipFill>
        <p:spPr>
          <a:xfrm>
            <a:off x="9467698" y="3108960"/>
            <a:ext cx="228600" cy="190195"/>
          </a:xfrm>
          <a:prstGeom prst="rect">
            <a:avLst/>
          </a:prstGeom>
        </p:spPr>
      </p:pic>
      <p:sp>
        <p:nvSpPr>
          <p:cNvPr id="70" name="Text 67"/>
          <p:cNvSpPr txBox="1"/>
          <p:nvPr/>
        </p:nvSpPr>
        <p:spPr>
          <a:xfrm>
            <a:off x="9810598" y="2897734"/>
            <a:ext cx="109545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マスタープラン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全体計画・投資概算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9334195" y="3664001"/>
            <a:ext cx="2085746" cy="619049"/>
          </a:xfrm>
          <a:prstGeom prst="roundRect">
            <a:avLst>
              <a:gd name="adj" fmla="val 18180"/>
            </a:avLst>
          </a:prstGeom>
          <a:solidFill>
            <a:srgbClr val="FFFFFF"/>
          </a:solidFill>
          <a:ln w="25400">
            <a:solidFill>
              <a:srgbClr val="0F2A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72" name="Image 1" descr="preencoded.png">    </p:cNvPr>
          <p:cNvPicPr>
            <a:picLocks noChangeAspect="1"/>
          </p:cNvPicPr>
          <p:nvPr/>
        </p:nvPicPr>
        <p:blipFill>
          <a:blip r:embed="rId2"/>
          <a:srcRect l="-30128" r="-30128" t="0" b="0"/>
          <a:stretch/>
        </p:blipFill>
        <p:spPr>
          <a:xfrm>
            <a:off x="9467698" y="3875227"/>
            <a:ext cx="228600" cy="190195"/>
          </a:xfrm>
          <a:prstGeom prst="rect">
            <a:avLst/>
          </a:prstGeom>
        </p:spPr>
      </p:pic>
      <p:sp>
        <p:nvSpPr>
          <p:cNvPr id="73" name="Text 69"/>
          <p:cNvSpPr txBox="1"/>
          <p:nvPr/>
        </p:nvSpPr>
        <p:spPr>
          <a:xfrm>
            <a:off x="9810598" y="3664001"/>
            <a:ext cx="86685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要件定義書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業務・機能要件</a:t>
            </a:r>
            <a:endParaRPr lang="en-US" sz="1000" dirty="0"/>
          </a:p>
        </p:txBody>
      </p:sp>
      <p:sp>
        <p:nvSpPr>
          <p:cNvPr id="74" name="Shape 70"/>
          <p:cNvSpPr/>
          <p:nvPr/>
        </p:nvSpPr>
        <p:spPr>
          <a:xfrm>
            <a:off x="9334195" y="4429354"/>
            <a:ext cx="2085746" cy="790956"/>
          </a:xfrm>
          <a:prstGeom prst="roundRect">
            <a:avLst>
              <a:gd name="adj" fmla="val 11143"/>
            </a:avLst>
          </a:prstGeom>
          <a:solidFill>
            <a:srgbClr val="FFFFFF"/>
          </a:solidFill>
          <a:ln w="25400">
            <a:solidFill>
              <a:srgbClr val="0F2A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75" name="Image 2" descr="preencoded.png">    </p:cNvPr>
          <p:cNvPicPr>
            <a:picLocks noChangeAspect="1"/>
          </p:cNvPicPr>
          <p:nvPr/>
        </p:nvPicPr>
        <p:blipFill>
          <a:blip r:embed="rId3"/>
          <a:srcRect l="-18681" r="-18681" t="0" b="0"/>
          <a:stretch/>
        </p:blipFill>
        <p:spPr>
          <a:xfrm>
            <a:off x="9467698" y="4727448"/>
            <a:ext cx="228600" cy="190195"/>
          </a:xfrm>
          <a:prstGeom prst="rect">
            <a:avLst/>
          </a:prstGeom>
        </p:spPr>
      </p:pic>
      <p:sp>
        <p:nvSpPr>
          <p:cNvPr id="76" name="Text 71"/>
          <p:cNvSpPr txBox="1"/>
          <p:nvPr/>
        </p:nvSpPr>
        <p:spPr>
          <a:xfrm>
            <a:off x="9810598" y="4429354"/>
            <a:ext cx="99121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マスターデータ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構造設計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情報の背骨</a:t>
            </a:r>
            <a:endParaRPr lang="en-US" sz="1000" dirty="0"/>
          </a:p>
        </p:txBody>
      </p:sp>
      <p:sp>
        <p:nvSpPr>
          <p:cNvPr id="77" name="Shape 7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73"/>
          <p:cNvSpPr/>
          <p:nvPr/>
        </p:nvSpPr>
        <p:spPr>
          <a:xfrm>
            <a:off x="0" y="8385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0" y="8193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5"/>
          <p:cNvSpPr txBox="1"/>
          <p:nvPr/>
        </p:nvSpPr>
        <p:spPr>
          <a:xfrm>
            <a:off x="571500" y="190195"/>
            <a:ext cx="5028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の全体像：3ヶ月間の活動</a:t>
            </a:r>
            <a:endParaRPr lang="en-US" sz="2400" dirty="0"/>
          </a:p>
        </p:txBody>
      </p:sp>
      <p:pic>
        <p:nvPicPr>
          <p:cNvPr id="8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53144" y="5391302"/>
            <a:ext cx="114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238098"/>
            <a:ext cx="3619195" cy="1123798"/>
          </a:xfrm>
          <a:prstGeom prst="roundRect">
            <a:avLst>
              <a:gd name="adj" fmla="val 82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1754" y="1438351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1482" y="1571854"/>
            <a:ext cx="237744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0744" y="1438351"/>
            <a:ext cx="2800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規模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380744" y="1676095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 25～30 回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80744" y="1962302"/>
            <a:ext cx="2800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1セッション 90分目安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553005"/>
            <a:ext cx="3619195" cy="1123798"/>
          </a:xfrm>
          <a:prstGeom prst="roundRect">
            <a:avLst>
              <a:gd name="adj" fmla="val 82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1754" y="2752344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914400" y="2885846"/>
            <a:ext cx="171907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80744" y="2752344"/>
            <a:ext cx="2800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ペース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380744" y="2991002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1日2回 × 週2日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380744" y="3276295"/>
            <a:ext cx="2800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期間：約2ヶ月間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71500" y="3866998"/>
            <a:ext cx="3619195" cy="1133856"/>
          </a:xfrm>
          <a:prstGeom prst="roundRect">
            <a:avLst>
              <a:gd name="adj" fmla="val 813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1754" y="4067251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9030" y="4200754"/>
            <a:ext cx="142646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80744" y="4067251"/>
            <a:ext cx="2800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380744" y="4304995"/>
            <a:ext cx="26865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管理本部の各部署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 現場（事業所）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71500" y="5381244"/>
            <a:ext cx="3619195" cy="590702"/>
          </a:xfrm>
          <a:prstGeom prst="roundRect">
            <a:avLst>
              <a:gd name="adj" fmla="val 14981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24205" y="5609844"/>
            <a:ext cx="133502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3602" y="5381244"/>
            <a:ext cx="31821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11月に管理本部5部署で実施したヒアリングを、全部署・現場に広げるイメージです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0" y="1647749"/>
            <a:ext cx="70481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848149" y="1238098"/>
            <a:ext cx="685159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ヒアリングで聞くこと </a:t>
            </a:r>
            <a:endParaRPr lang="en-US" sz="16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-1528" r="-1528" t="0" b="0"/>
          <a:stretch/>
        </p:blipFill>
        <p:spPr>
          <a:xfrm>
            <a:off x="4572000" y="1290218"/>
            <a:ext cx="161849" cy="20939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572000" y="1857146"/>
            <a:ext cx="7048195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667098" y="1990649"/>
            <a:ext cx="190195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009998" y="1952244"/>
            <a:ext cx="4467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今のお仕事の流れを、</a:t>
            </a:r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最初から最後まで</a:t>
            </a:r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教えてください 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4572000" y="2457907"/>
            <a:ext cx="7048195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67098" y="2590495"/>
            <a:ext cx="190195" cy="1901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009998" y="2553005"/>
            <a:ext cx="4114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困っていること</a:t>
            </a:r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、工夫していること、変えたいこと 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4572000" y="3057754"/>
            <a:ext cx="7048195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667098" y="3191256"/>
            <a:ext cx="190195" cy="19019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009998" y="3152851"/>
            <a:ext cx="39630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他の部署や現場との</a:t>
            </a:r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やりとり（情報の受け渡し）</a:t>
            </a:r>
            <a:endParaRPr lang="en-US" sz="13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" b="-1"/>
          <a:stretch/>
        </p:blipFill>
        <p:spPr>
          <a:xfrm>
            <a:off x="4572000" y="4579315"/>
            <a:ext cx="7048195" cy="1420978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4819802" y="4484218"/>
            <a:ext cx="286207" cy="286207"/>
          </a:xfrm>
          <a:prstGeom prst="ellipse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4905756" y="4561027"/>
            <a:ext cx="114300" cy="133502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4871923" y="4807915"/>
            <a:ext cx="65059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「技術の話はしません。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仕事の話を聞かせてください」 </a:t>
            </a:r>
            <a:endParaRPr lang="en-US" sz="1800" dirty="0"/>
          </a:p>
        </p:txBody>
      </p:sp>
      <p:sp>
        <p:nvSpPr>
          <p:cNvPr id="40" name="Text 28"/>
          <p:cNvSpPr txBox="1"/>
          <p:nvPr/>
        </p:nvSpPr>
        <p:spPr>
          <a:xfrm>
            <a:off x="4724705" y="5544007"/>
            <a:ext cx="6611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── 私たちのスタンス</a:t>
            </a:r>
            <a:endParaRPr lang="en-US" sz="1200" dirty="0"/>
          </a:p>
        </p:txBody>
      </p:sp>
      <p:sp>
        <p:nvSpPr>
          <p:cNvPr id="41" name="Shape 29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0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4" name="Text 32"/>
          <p:cNvSpPr txBox="1"/>
          <p:nvPr/>
        </p:nvSpPr>
        <p:spPr>
          <a:xfrm>
            <a:off x="11212373" y="6524244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 / 33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4"/>
          <p:cNvSpPr/>
          <p:nvPr/>
        </p:nvSpPr>
        <p:spPr>
          <a:xfrm>
            <a:off x="0" y="8385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0" y="8193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571500" y="190195"/>
            <a:ext cx="8934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活動① ヒアリング調査 ── 皆さまの「仕事」を丸ごと理解する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238098"/>
            <a:ext cx="3810305" cy="1571854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238098"/>
            <a:ext cx="57607" cy="1548994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6988" y="1476756"/>
            <a:ext cx="32872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頻度・時間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2994" r="-2994" t="0" b="0"/>
          <a:stretch/>
        </p:blipFill>
        <p:spPr>
          <a:xfrm>
            <a:off x="809244" y="1500530"/>
            <a:ext cx="161849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9244" y="1790395"/>
            <a:ext cx="35250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2週間に1回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09244" y="2148840"/>
            <a:ext cx="352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1回あたり 約1時間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9244" y="2491740"/>
            <a:ext cx="286207" cy="75895"/>
          </a:xfrm>
          <a:prstGeom prst="roundRect">
            <a:avLst>
              <a:gd name="adj" fmla="val 602411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33856" y="2491740"/>
            <a:ext cx="286207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57554" y="2491740"/>
            <a:ext cx="286207" cy="75895"/>
          </a:xfrm>
          <a:prstGeom prst="roundRect">
            <a:avLst>
              <a:gd name="adj" fmla="val 602411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81251" y="2491740"/>
            <a:ext cx="286207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04949" y="2491740"/>
            <a:ext cx="286207" cy="75895"/>
          </a:xfrm>
          <a:prstGeom prst="roundRect">
            <a:avLst>
              <a:gd name="adj" fmla="val 602411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1500" y="3034894"/>
            <a:ext cx="3810305" cy="2971800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1500" y="3034894"/>
            <a:ext cx="57607" cy="2947111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85393" y="3272638"/>
            <a:ext cx="3248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参加メンバー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2455" r="-2455" t="0" b="0"/>
          <a:stretch/>
        </p:blipFill>
        <p:spPr>
          <a:xfrm>
            <a:off x="809244" y="3296412"/>
            <a:ext cx="200254" cy="15270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09244" y="3739896"/>
            <a:ext cx="3333902" cy="809244"/>
          </a:xfrm>
          <a:prstGeom prst="roundRect">
            <a:avLst>
              <a:gd name="adj" fmla="val 10635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-9880" r="-9880" t="0" b="0"/>
          <a:stretch/>
        </p:blipFill>
        <p:spPr>
          <a:xfrm>
            <a:off x="961949" y="3922776"/>
            <a:ext cx="228600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04849" y="3891686"/>
            <a:ext cx="12454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風の村側PJ責任者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9880" r="-9880" t="0" b="0"/>
          <a:stretch/>
        </p:blipFill>
        <p:spPr>
          <a:xfrm>
            <a:off x="961949" y="4213555"/>
            <a:ext cx="228600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04849" y="4182466"/>
            <a:ext cx="18626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主要プロジェクトメンバー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2409444" y="4625035"/>
            <a:ext cx="133502" cy="15270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809244" y="5006340"/>
            <a:ext cx="3333902" cy="523951"/>
          </a:xfrm>
          <a:prstGeom prst="roundRect">
            <a:avLst>
              <a:gd name="adj" fmla="val 25385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-24850" r="-24850" t="0" b="0"/>
          <a:stretch/>
        </p:blipFill>
        <p:spPr>
          <a:xfrm>
            <a:off x="961949" y="5189220"/>
            <a:ext cx="228600" cy="152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304849" y="5159045"/>
            <a:ext cx="10908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コンサルタント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858207" y="1637690"/>
            <a:ext cx="6762902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5162702" y="1238098"/>
            <a:ext cx="653521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各回の主な内容 </a:t>
            </a:r>
            <a:endParaRPr lang="en-US" sz="15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858207" y="1285646"/>
            <a:ext cx="190195" cy="19019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858207" y="1886407"/>
            <a:ext cx="6762902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/>
        </p:spPr>
      </p:sp>
      <p:sp>
        <p:nvSpPr>
          <p:cNvPr id="32" name="Shape 23"/>
          <p:cNvSpPr/>
          <p:nvPr/>
        </p:nvSpPr>
        <p:spPr>
          <a:xfrm>
            <a:off x="4858207" y="1886407"/>
            <a:ext cx="38405" cy="800100"/>
          </a:xfrm>
          <a:prstGeom prst="roundRect">
            <a:avLst>
              <a:gd name="adj" fmla="val 226756"/>
            </a:avLst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048402" y="2038198"/>
            <a:ext cx="381305" cy="381305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162702" y="2152498"/>
            <a:ext cx="152705" cy="15270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581498" y="2038198"/>
            <a:ext cx="6077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ヒアリングの中間報告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5581498" y="2333549"/>
            <a:ext cx="6077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聞き取りで見えてきた課題や構造的な発見を、鮮度が高いうちに共有します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4858207" y="2876702"/>
            <a:ext cx="6762902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/>
        </p:spPr>
      </p:sp>
      <p:sp>
        <p:nvSpPr>
          <p:cNvPr id="38" name="Shape 28"/>
          <p:cNvSpPr/>
          <p:nvPr/>
        </p:nvSpPr>
        <p:spPr>
          <a:xfrm>
            <a:off x="4858207" y="2876702"/>
            <a:ext cx="38405" cy="800100"/>
          </a:xfrm>
          <a:prstGeom prst="roundRect">
            <a:avLst>
              <a:gd name="adj" fmla="val 226756"/>
            </a:avLst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5048402" y="3029407"/>
            <a:ext cx="381305" cy="381305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162702" y="3143707"/>
            <a:ext cx="152705" cy="15270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581498" y="3029407"/>
            <a:ext cx="6077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方向性の確認と軌道修正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5581498" y="3323844"/>
            <a:ext cx="6077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分析の方向性が現場の実感とズレていないか確認し、必要に応じて修正します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4858207" y="3866998"/>
            <a:ext cx="6762902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/>
        </p:spPr>
      </p:sp>
      <p:sp>
        <p:nvSpPr>
          <p:cNvPr id="44" name="Shape 33"/>
          <p:cNvSpPr/>
          <p:nvPr/>
        </p:nvSpPr>
        <p:spPr>
          <a:xfrm>
            <a:off x="4858207" y="3866998"/>
            <a:ext cx="38405" cy="800100"/>
          </a:xfrm>
          <a:prstGeom prst="roundRect">
            <a:avLst>
              <a:gd name="adj" fmla="val 226756"/>
            </a:avLst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5048402" y="4019702"/>
            <a:ext cx="381305" cy="381305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5171846" y="4134002"/>
            <a:ext cx="133502" cy="152705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5581498" y="4019702"/>
            <a:ext cx="6077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次の2週間の計画共有</a:t>
            </a:r>
            <a:endParaRPr lang="en-US" sz="1300" dirty="0"/>
          </a:p>
        </p:txBody>
      </p:sp>
      <p:sp>
        <p:nvSpPr>
          <p:cNvPr id="48" name="Text 36"/>
          <p:cNvSpPr txBox="1"/>
          <p:nvPr/>
        </p:nvSpPr>
        <p:spPr>
          <a:xfrm>
            <a:off x="5581498" y="4315054"/>
            <a:ext cx="6077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次にどの部署・どの業務を調査するか、スケジュールと対象を確認します</a:t>
            </a:r>
            <a:endParaRPr lang="en-US" sz="1000" dirty="0"/>
          </a:p>
        </p:txBody>
      </p:sp>
      <p:sp>
        <p:nvSpPr>
          <p:cNvPr id="49" name="Shape 37"/>
          <p:cNvSpPr/>
          <p:nvPr/>
        </p:nvSpPr>
        <p:spPr>
          <a:xfrm>
            <a:off x="4858207" y="4981651"/>
            <a:ext cx="6762902" cy="1019556"/>
          </a:xfrm>
          <a:prstGeom prst="roundRect">
            <a:avLst>
              <a:gd name="adj" fmla="val 10058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rcRect l="-36" r="-36" t="0" b="0"/>
          <a:stretch/>
        </p:blipFill>
        <p:spPr>
          <a:xfrm>
            <a:off x="10477195" y="5333695"/>
            <a:ext cx="952805" cy="761695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39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11212373" y="6524244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 / 33</a:t>
            </a:r>
            <a:endParaRPr lang="en-US" sz="1000" dirty="0"/>
          </a:p>
        </p:txBody>
      </p:sp>
      <p:sp>
        <p:nvSpPr>
          <p:cNvPr id="55" name="Text 42"/>
          <p:cNvSpPr txBox="1"/>
          <p:nvPr/>
        </p:nvSpPr>
        <p:spPr>
          <a:xfrm>
            <a:off x="5420563" y="5210251"/>
            <a:ext cx="61630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「密室で分析するのではなく、進捗を常に共有します」 </a:t>
            </a:r>
            <a:endParaRPr lang="en-US" sz="150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rcRect l="-1282" r="-1282" t="0" b="0"/>
          <a:stretch/>
        </p:blipFill>
        <p:spPr>
          <a:xfrm>
            <a:off x="5086807" y="5257800"/>
            <a:ext cx="219456" cy="190195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5296205" y="5572354"/>
            <a:ext cx="62874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進め方に疑問や懸念があれば、この場でいつでも方向修正できます </a:t>
            </a:r>
            <a:endParaRPr lang="en-US" sz="1000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>
            <a:alphaModFix amt="90000"/>
          </a:blip>
          <a:srcRect l="0" r="0" t="0" b="0"/>
          <a:stretch/>
        </p:blipFill>
        <p:spPr>
          <a:xfrm>
            <a:off x="5086807" y="5605272"/>
            <a:ext cx="133502" cy="133502"/>
          </a:xfrm>
          <a:prstGeom prst="rect">
            <a:avLst/>
          </a:prstGeom>
        </p:spPr>
      </p:pic>
      <p:sp>
        <p:nvSpPr>
          <p:cNvPr id="59" name="Shape 44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45"/>
          <p:cNvSpPr/>
          <p:nvPr/>
        </p:nvSpPr>
        <p:spPr>
          <a:xfrm>
            <a:off x="0" y="8385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1" name="Shape 46"/>
          <p:cNvSpPr/>
          <p:nvPr/>
        </p:nvSpPr>
        <p:spPr>
          <a:xfrm>
            <a:off x="0" y="8193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7"/>
          <p:cNvSpPr txBox="1"/>
          <p:nvPr/>
        </p:nvSpPr>
        <p:spPr>
          <a:xfrm>
            <a:off x="571500" y="190195"/>
            <a:ext cx="8630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活動② 隔週プロジェクト会議 ── 経過の共有と方向性の確認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0" y="796442"/>
            <a:ext cx="12191695" cy="56199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5198" y="1081735"/>
            <a:ext cx="68589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コンサルタント作業プロセス 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647395" y="1117397"/>
            <a:ext cx="171907" cy="13350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-395" r="-395" t="0" b="0"/>
          <a:stretch/>
        </p:blipFill>
        <p:spPr>
          <a:xfrm>
            <a:off x="952805" y="1463040"/>
            <a:ext cx="38405" cy="428670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298534" y="1434694"/>
            <a:ext cx="115214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ヒアリングデータ</a:t>
            </a:r>
            <a:endParaRPr lang="en-US" sz="1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9540850" y="1710842"/>
            <a:ext cx="171907" cy="22860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-133" r="-133" t="0" b="0"/>
          <a:stretch/>
        </p:blipFill>
        <p:spPr>
          <a:xfrm>
            <a:off x="9788652" y="1710842"/>
            <a:ext cx="171907" cy="22860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10036454" y="1710842"/>
            <a:ext cx="171907" cy="22860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9816998" y="2034540"/>
            <a:ext cx="114300" cy="152705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2" b="-12"/>
          <a:stretch/>
        </p:blipFill>
        <p:spPr>
          <a:xfrm>
            <a:off x="8128102" y="2472538"/>
            <a:ext cx="3492094" cy="2257654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rcRect l="-347" r="-347" t="0" b="0"/>
          <a:stretch/>
        </p:blipFill>
        <p:spPr>
          <a:xfrm>
            <a:off x="9549994" y="2815438"/>
            <a:ext cx="647395" cy="571500"/>
          </a:xfrm>
          <a:prstGeom prst="rect">
            <a:avLst/>
          </a:prstGeom>
        </p:spPr>
      </p:pic>
      <p:sp>
        <p:nvSpPr>
          <p:cNvPr id="15" name="Text 4"/>
          <p:cNvSpPr txBox="1"/>
          <p:nvPr/>
        </p:nvSpPr>
        <p:spPr>
          <a:xfrm>
            <a:off x="8318297" y="3577133"/>
            <a:ext cx="31153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設計図の完成</a:t>
            </a:r>
            <a:endParaRPr lang="en-US" sz="1600" dirty="0"/>
          </a:p>
        </p:txBody>
      </p:sp>
      <p:sp>
        <p:nvSpPr>
          <p:cNvPr id="16" name="Text 5"/>
          <p:cNvSpPr txBox="1"/>
          <p:nvPr/>
        </p:nvSpPr>
        <p:spPr>
          <a:xfrm>
            <a:off x="8375904" y="3986784"/>
            <a:ext cx="3001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ヒアリングの合間に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これらの作業を積み重ねます </a:t>
            </a:r>
            <a:endParaRPr lang="en-US" sz="1100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rcRect l="-171" r="-171" t="0" b="0"/>
          <a:stretch/>
        </p:blipFill>
        <p:spPr>
          <a:xfrm>
            <a:off x="8620963" y="5015484"/>
            <a:ext cx="2514600" cy="761695"/>
          </a:xfrm>
          <a:prstGeom prst="rect">
            <a:avLst/>
          </a:prstGeom>
        </p:spPr>
      </p:pic>
      <p:sp>
        <p:nvSpPr>
          <p:cNvPr id="18" name="Shape 6"/>
          <p:cNvSpPr/>
          <p:nvPr/>
        </p:nvSpPr>
        <p:spPr>
          <a:xfrm>
            <a:off x="8620963" y="5015484"/>
            <a:ext cx="2514600" cy="761695"/>
          </a:xfrm>
          <a:prstGeom prst="rect">
            <a:avLst/>
          </a:prstGeom>
          <a:noFill/>
          <a:ln/>
        </p:spPr>
      </p:sp>
      <p:sp>
        <p:nvSpPr>
          <p:cNvPr id="19" name="Text 7"/>
          <p:cNvSpPr/>
          <p:nvPr/>
        </p:nvSpPr>
        <p:spPr>
          <a:xfrm>
            <a:off x="8620963" y="5015484"/>
            <a:ext cx="2514600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1回1回のヒアリングが、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設計図の一部になっていきます </a:t>
            </a:r>
            <a:endParaRPr lang="en-US" sz="1200" dirty="0"/>
          </a:p>
        </p:txBody>
      </p:sp>
      <p:sp>
        <p:nvSpPr>
          <p:cNvPr id="20" name="Shape 8"/>
          <p:cNvSpPr/>
          <p:nvPr/>
        </p:nvSpPr>
        <p:spPr>
          <a:xfrm>
            <a:off x="0" y="6415430"/>
            <a:ext cx="12191695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9"/>
          <p:cNvSpPr/>
          <p:nvPr/>
        </p:nvSpPr>
        <p:spPr>
          <a:xfrm>
            <a:off x="0" y="641543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2" name="Text 10"/>
          <p:cNvSpPr txBox="1"/>
          <p:nvPr/>
        </p:nvSpPr>
        <p:spPr>
          <a:xfrm>
            <a:off x="571500" y="6541618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23" name="Text 11"/>
          <p:cNvSpPr txBox="1"/>
          <p:nvPr/>
        </p:nvSpPr>
        <p:spPr>
          <a:xfrm>
            <a:off x="11212373" y="6541618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 / 33</a:t>
            </a:r>
            <a:endParaRPr lang="en-US" sz="1000" dirty="0"/>
          </a:p>
        </p:txBody>
      </p:sp>
      <p:sp>
        <p:nvSpPr>
          <p:cNvPr id="24" name="Shape 12"/>
          <p:cNvSpPr/>
          <p:nvPr/>
        </p:nvSpPr>
        <p:spPr>
          <a:xfrm>
            <a:off x="571500" y="1424635"/>
            <a:ext cx="6991502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71754" y="1644091"/>
            <a:ext cx="381305" cy="381305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771754" y="1644091"/>
            <a:ext cx="381305" cy="381305"/>
          </a:xfrm>
          <a:prstGeom prst="rect">
            <a:avLst/>
          </a:prstGeom>
          <a:noFill/>
          <a:ln/>
        </p:spPr>
      </p:sp>
      <p:sp>
        <p:nvSpPr>
          <p:cNvPr id="27" name="Text 14"/>
          <p:cNvSpPr/>
          <p:nvPr/>
        </p:nvSpPr>
        <p:spPr>
          <a:xfrm>
            <a:off x="771754" y="1644091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15"/>
          <p:cNvSpPr txBox="1"/>
          <p:nvPr/>
        </p:nvSpPr>
        <p:spPr>
          <a:xfrm>
            <a:off x="1343254" y="1586484"/>
            <a:ext cx="14813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文字起こし・整理</a:t>
            </a:r>
            <a:endParaRPr lang="en-US" sz="1300" dirty="0"/>
          </a:p>
        </p:txBody>
      </p:sp>
      <p:sp>
        <p:nvSpPr>
          <p:cNvPr id="29" name="Shape 16"/>
          <p:cNvSpPr/>
          <p:nvPr/>
        </p:nvSpPr>
        <p:spPr>
          <a:xfrm>
            <a:off x="2809951" y="1608430"/>
            <a:ext cx="657454" cy="219456"/>
          </a:xfrm>
          <a:prstGeom prst="rect">
            <a:avLst/>
          </a:prstGeom>
          <a:noFill/>
          <a:ln/>
        </p:spPr>
      </p:sp>
      <p:sp>
        <p:nvSpPr>
          <p:cNvPr id="30" name="Text 17"/>
          <p:cNvSpPr/>
          <p:nvPr/>
        </p:nvSpPr>
        <p:spPr>
          <a:xfrm>
            <a:off x="3066898" y="1608430"/>
            <a:ext cx="400507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</a:t>
            </a:r>
            <a:endParaRPr lang="en-US" sz="800" dirty="0"/>
          </a:p>
        </p:txBody>
      </p:sp>
      <p:sp>
        <p:nvSpPr>
          <p:cNvPr id="31" name="Text 18"/>
          <p:cNvSpPr txBox="1"/>
          <p:nvPr/>
        </p:nvSpPr>
        <p:spPr>
          <a:xfrm>
            <a:off x="1343254" y="1881835"/>
            <a:ext cx="5915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音声データのテキスト化と情報のタグ付け</a:t>
            </a:r>
            <a:endParaRPr lang="en-US" sz="10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213702" y="1739189"/>
            <a:ext cx="142646" cy="190195"/>
          </a:xfrm>
          <a:prstGeom prst="rect">
            <a:avLst/>
          </a:prstGeom>
        </p:spPr>
      </p:pic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rcRect l="-783" r="-783" t="0" b="0"/>
          <a:stretch/>
        </p:blipFill>
        <p:spPr>
          <a:xfrm>
            <a:off x="2895905" y="1668780"/>
            <a:ext cx="133502" cy="105156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571500" y="2396642"/>
            <a:ext cx="6991502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71754" y="2615184"/>
            <a:ext cx="381305" cy="381305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771754" y="2615184"/>
            <a:ext cx="381305" cy="381305"/>
          </a:xfrm>
          <a:prstGeom prst="rect">
            <a:avLst/>
          </a:prstGeom>
          <a:noFill/>
          <a:ln/>
        </p:spPr>
      </p:sp>
      <p:sp>
        <p:nvSpPr>
          <p:cNvPr id="37" name="Text 21"/>
          <p:cNvSpPr/>
          <p:nvPr/>
        </p:nvSpPr>
        <p:spPr>
          <a:xfrm>
            <a:off x="771754" y="2615184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22"/>
          <p:cNvSpPr txBox="1"/>
          <p:nvPr/>
        </p:nvSpPr>
        <p:spPr>
          <a:xfrm>
            <a:off x="1343254" y="2558491"/>
            <a:ext cx="14813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業務フロー可視化</a:t>
            </a:r>
            <a:endParaRPr lang="en-US" sz="1300" dirty="0"/>
          </a:p>
        </p:txBody>
      </p:sp>
      <p:sp>
        <p:nvSpPr>
          <p:cNvPr id="39" name="Text 23"/>
          <p:cNvSpPr txBox="1"/>
          <p:nvPr/>
        </p:nvSpPr>
        <p:spPr>
          <a:xfrm>
            <a:off x="1343254" y="2853842"/>
            <a:ext cx="5839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誰が・何を・いつ・どのデータで行っているかを図式化</a:t>
            </a:r>
            <a:endParaRPr lang="en-US" sz="10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rcRect l="-1282" r="-1282" t="0" b="0"/>
          <a:stretch/>
        </p:blipFill>
        <p:spPr>
          <a:xfrm>
            <a:off x="7137806" y="2710282"/>
            <a:ext cx="219456" cy="190195"/>
          </a:xfrm>
          <a:prstGeom prst="rect">
            <a:avLst/>
          </a:prstGeom>
        </p:spPr>
      </p:pic>
      <p:sp>
        <p:nvSpPr>
          <p:cNvPr id="41" name="Shape 24"/>
          <p:cNvSpPr/>
          <p:nvPr/>
        </p:nvSpPr>
        <p:spPr>
          <a:xfrm>
            <a:off x="571500" y="3367735"/>
            <a:ext cx="6991502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771754" y="3587191"/>
            <a:ext cx="381305" cy="381305"/>
          </a:xfrm>
          <a:prstGeom prst="rect">
            <a:avLst/>
          </a:prstGeom>
        </p:spPr>
      </p:pic>
      <p:sp>
        <p:nvSpPr>
          <p:cNvPr id="43" name="Shape 25"/>
          <p:cNvSpPr/>
          <p:nvPr/>
        </p:nvSpPr>
        <p:spPr>
          <a:xfrm>
            <a:off x="771754" y="3587191"/>
            <a:ext cx="381305" cy="381305"/>
          </a:xfrm>
          <a:prstGeom prst="rect">
            <a:avLst/>
          </a:prstGeom>
          <a:noFill/>
          <a:ln/>
        </p:spPr>
      </p:sp>
      <p:sp>
        <p:nvSpPr>
          <p:cNvPr id="44" name="Text 26"/>
          <p:cNvSpPr/>
          <p:nvPr/>
        </p:nvSpPr>
        <p:spPr>
          <a:xfrm>
            <a:off x="771754" y="3587191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27"/>
          <p:cNvSpPr txBox="1"/>
          <p:nvPr/>
        </p:nvSpPr>
        <p:spPr>
          <a:xfrm>
            <a:off x="1343254" y="3529584"/>
            <a:ext cx="16669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課題の分類と構造化</a:t>
            </a:r>
            <a:endParaRPr lang="en-US" sz="1300" dirty="0"/>
          </a:p>
        </p:txBody>
      </p:sp>
      <p:sp>
        <p:nvSpPr>
          <p:cNvPr id="46" name="Text 28"/>
          <p:cNvSpPr txBox="1"/>
          <p:nvPr/>
        </p:nvSpPr>
        <p:spPr>
          <a:xfrm>
            <a:off x="1343254" y="3824935"/>
            <a:ext cx="5867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事象（愚痴）から構造的要因（パターン）を抽出</a:t>
            </a:r>
            <a:endParaRPr lang="en-US" sz="100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7166153" y="3682289"/>
            <a:ext cx="190195" cy="190195"/>
          </a:xfrm>
          <a:prstGeom prst="rect">
            <a:avLst/>
          </a:prstGeom>
        </p:spPr>
      </p:pic>
      <p:sp>
        <p:nvSpPr>
          <p:cNvPr id="48" name="Shape 29"/>
          <p:cNvSpPr/>
          <p:nvPr/>
        </p:nvSpPr>
        <p:spPr>
          <a:xfrm>
            <a:off x="571500" y="4339742"/>
            <a:ext cx="6991502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771754" y="4558284"/>
            <a:ext cx="381305" cy="381305"/>
          </a:xfrm>
          <a:prstGeom prst="rect">
            <a:avLst/>
          </a:prstGeom>
        </p:spPr>
      </p:pic>
      <p:sp>
        <p:nvSpPr>
          <p:cNvPr id="50" name="Shape 30"/>
          <p:cNvSpPr/>
          <p:nvPr/>
        </p:nvSpPr>
        <p:spPr>
          <a:xfrm>
            <a:off x="771754" y="4558284"/>
            <a:ext cx="381305" cy="381305"/>
          </a:xfrm>
          <a:prstGeom prst="rect">
            <a:avLst/>
          </a:prstGeom>
          <a:noFill/>
          <a:ln/>
        </p:spPr>
      </p:sp>
      <p:sp>
        <p:nvSpPr>
          <p:cNvPr id="51" name="Text 31"/>
          <p:cNvSpPr/>
          <p:nvPr/>
        </p:nvSpPr>
        <p:spPr>
          <a:xfrm>
            <a:off x="771754" y="4558284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32"/>
          <p:cNvSpPr txBox="1"/>
          <p:nvPr/>
        </p:nvSpPr>
        <p:spPr>
          <a:xfrm>
            <a:off x="1343254" y="4501591"/>
            <a:ext cx="22219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あるべき業務モデルの設計</a:t>
            </a:r>
            <a:endParaRPr lang="en-US" sz="1300" dirty="0"/>
          </a:p>
        </p:txBody>
      </p:sp>
      <p:sp>
        <p:nvSpPr>
          <p:cNvPr id="53" name="Text 33"/>
          <p:cNvSpPr txBox="1"/>
          <p:nvPr/>
        </p:nvSpPr>
        <p:spPr>
          <a:xfrm>
            <a:off x="1343254" y="4796942"/>
            <a:ext cx="5867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「仕事ナビ」構想に基づく将来フローの設計</a:t>
            </a:r>
            <a:endParaRPr lang="en-US" sz="1000" dirty="0"/>
          </a:p>
        </p:txBody>
      </p:sp>
      <p:pic>
        <p:nvPicPr>
          <p:cNvPr id="54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7166153" y="4653382"/>
            <a:ext cx="190195" cy="190195"/>
          </a:xfrm>
          <a:prstGeom prst="rect">
            <a:avLst/>
          </a:prstGeom>
        </p:spPr>
      </p:pic>
      <p:sp>
        <p:nvSpPr>
          <p:cNvPr id="55" name="Shape 34"/>
          <p:cNvSpPr/>
          <p:nvPr/>
        </p:nvSpPr>
        <p:spPr>
          <a:xfrm>
            <a:off x="571500" y="5310835"/>
            <a:ext cx="6991502" cy="819302"/>
          </a:xfrm>
          <a:prstGeom prst="roundRect">
            <a:avLst>
              <a:gd name="adj" fmla="val 10382"/>
            </a:avLst>
          </a:prstGeom>
          <a:solidFill>
            <a:srgbClr val="F0F9FF"/>
          </a:solidFill>
          <a:ln w="12700">
            <a:solidFill>
              <a:srgbClr val="00A3E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56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771754" y="5530291"/>
            <a:ext cx="381305" cy="381305"/>
          </a:xfrm>
          <a:prstGeom prst="rect">
            <a:avLst/>
          </a:prstGeom>
        </p:spPr>
      </p:pic>
      <p:sp>
        <p:nvSpPr>
          <p:cNvPr id="57" name="Shape 35"/>
          <p:cNvSpPr/>
          <p:nvPr/>
        </p:nvSpPr>
        <p:spPr>
          <a:xfrm>
            <a:off x="771754" y="5530291"/>
            <a:ext cx="381305" cy="381305"/>
          </a:xfrm>
          <a:prstGeom prst="rect">
            <a:avLst/>
          </a:prstGeom>
          <a:noFill/>
          <a:ln/>
        </p:spPr>
      </p:sp>
      <p:sp>
        <p:nvSpPr>
          <p:cNvPr id="58" name="Text 36"/>
          <p:cNvSpPr/>
          <p:nvPr/>
        </p:nvSpPr>
        <p:spPr>
          <a:xfrm>
            <a:off x="771754" y="5530291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Text 37"/>
          <p:cNvSpPr txBox="1"/>
          <p:nvPr/>
        </p:nvSpPr>
        <p:spPr>
          <a:xfrm>
            <a:off x="1343254" y="5472684"/>
            <a:ext cx="18516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システム要件への変換</a:t>
            </a:r>
            <a:endParaRPr lang="en-US" sz="1300" dirty="0"/>
          </a:p>
        </p:txBody>
      </p:sp>
      <p:sp>
        <p:nvSpPr>
          <p:cNvPr id="60" name="Text 38"/>
          <p:cNvSpPr txBox="1"/>
          <p:nvPr/>
        </p:nvSpPr>
        <p:spPr>
          <a:xfrm>
            <a:off x="1343254" y="5768035"/>
            <a:ext cx="58201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業務設計をシステム機能要件に落とし込む</a:t>
            </a:r>
            <a:endParaRPr lang="en-US" sz="1000" dirty="0"/>
          </a:p>
        </p:txBody>
      </p:sp>
      <p:pic>
        <p:nvPicPr>
          <p:cNvPr id="61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7118604" y="5625389"/>
            <a:ext cx="237744" cy="190195"/>
          </a:xfrm>
          <a:prstGeom prst="rect">
            <a:avLst/>
          </a:prstGeom>
        </p:spPr>
      </p:pic>
      <p:sp>
        <p:nvSpPr>
          <p:cNvPr id="62" name="Shape 39"/>
          <p:cNvSpPr/>
          <p:nvPr/>
        </p:nvSpPr>
        <p:spPr>
          <a:xfrm>
            <a:off x="0" y="0"/>
            <a:ext cx="12191695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40"/>
          <p:cNvSpPr/>
          <p:nvPr/>
        </p:nvSpPr>
        <p:spPr>
          <a:xfrm>
            <a:off x="0" y="780898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4" name="Shape 41"/>
          <p:cNvSpPr/>
          <p:nvPr/>
        </p:nvSpPr>
        <p:spPr>
          <a:xfrm>
            <a:off x="0" y="758038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42"/>
          <p:cNvSpPr txBox="1"/>
          <p:nvPr/>
        </p:nvSpPr>
        <p:spPr>
          <a:xfrm>
            <a:off x="571500" y="160020"/>
            <a:ext cx="7105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活動③ 分析・設計作業 ── ヒアリングの「裏側」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29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099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907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75895"/>
            <a:ext cx="5791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なぜ25～30回もの聞き取りが必要なのか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1500" y="857707"/>
            <a:ext cx="47549" cy="314554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1754" y="857707"/>
            <a:ext cx="110395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多くの時間をかけて広範なヒアリングを行うには、4つの明確な理由があります：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1362456"/>
            <a:ext cx="110486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" y="1524305"/>
            <a:ext cx="381305" cy="381305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809244" y="1524305"/>
            <a:ext cx="381305" cy="3813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80744" y="1505102"/>
            <a:ext cx="10191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約50拠点の多様な業務を網羅するため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1380744" y="1880921"/>
            <a:ext cx="133502" cy="1527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09344" y="1828800"/>
            <a:ext cx="49917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介護・保育・障害の各事業で業務が異なるため、個別性が高い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1500" y="2361895"/>
            <a:ext cx="110486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9244" y="2523744"/>
            <a:ext cx="381305" cy="381305"/>
          </a:xfrm>
          <a:prstGeom prst="rect">
            <a:avLst/>
          </a:prstGeom>
          <a:noFill/>
          <a:ln/>
        </p:spPr>
      </p:sp>
      <p:sp>
        <p:nvSpPr>
          <p:cNvPr id="18" name="Text 15"/>
          <p:cNvSpPr/>
          <p:nvPr/>
        </p:nvSpPr>
        <p:spPr>
          <a:xfrm>
            <a:off x="809244" y="2523744"/>
            <a:ext cx="381305" cy="3813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80744" y="2505456"/>
            <a:ext cx="10191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部署間の「つなぎ目」を見つけるため</a:t>
            </a:r>
            <a:endParaRPr lang="en-US" sz="15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1380744" y="2881274"/>
            <a:ext cx="133502" cy="1527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609344" y="2829154"/>
            <a:ext cx="55056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構造的な問題は、単独の部署ではなく部署と部署の接点に潜んでいる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71500" y="3362249"/>
            <a:ext cx="110486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09244" y="3524098"/>
            <a:ext cx="381305" cy="381305"/>
          </a:xfrm>
          <a:prstGeom prst="rect">
            <a:avLst/>
          </a:prstGeom>
          <a:noFill/>
          <a:ln/>
        </p:spPr>
      </p:sp>
      <p:sp>
        <p:nvSpPr>
          <p:cNvPr id="24" name="Text 20"/>
          <p:cNvSpPr/>
          <p:nvPr/>
        </p:nvSpPr>
        <p:spPr>
          <a:xfrm>
            <a:off x="809244" y="3524098"/>
            <a:ext cx="381305" cy="3813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380744" y="3504895"/>
            <a:ext cx="10191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十分な事例数で「共通の型」を抽出するため</a:t>
            </a:r>
            <a:endParaRPr lang="en-US" sz="15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1380744" y="3881628"/>
            <a:ext cx="133502" cy="15270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609344" y="3829507"/>
            <a:ext cx="6191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少数の聞き取りでは、例外的な事例に引っ張られ偏った設計図になってしまう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71500" y="4362602"/>
            <a:ext cx="110486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09244" y="4524451"/>
            <a:ext cx="381305" cy="381305"/>
          </a:xfrm>
          <a:prstGeom prst="rect">
            <a:avLst/>
          </a:prstGeom>
          <a:noFill/>
          <a:ln/>
        </p:spPr>
      </p:sp>
      <p:sp>
        <p:nvSpPr>
          <p:cNvPr id="30" name="Text 25"/>
          <p:cNvSpPr/>
          <p:nvPr/>
        </p:nvSpPr>
        <p:spPr>
          <a:xfrm>
            <a:off x="809244" y="4524451"/>
            <a:ext cx="381305" cy="381305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1380744" y="4505249"/>
            <a:ext cx="10191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設計の精度を上げ、後の手戻りを防ぐため</a:t>
            </a:r>
            <a:endParaRPr lang="en-US" sz="15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1380744" y="4881982"/>
            <a:ext cx="133502" cy="15270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609344" y="4828946"/>
            <a:ext cx="56775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設計図が粗いと、工事段階で想定外の問題が起きコストと時間がかかる</a:t>
            </a:r>
            <a:endParaRPr lang="en-US" sz="13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0" b="-20"/>
          <a:stretch/>
        </p:blipFill>
        <p:spPr>
          <a:xfrm>
            <a:off x="571500" y="5419649"/>
            <a:ext cx="11048695" cy="8385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267358" y="5572354"/>
            <a:ext cx="10201961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比喩：健康診断で血液検査1項目だけでは診断できません。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全身をくまなく調べるからこそ、的確な治療方針が立てられるのです。 </a:t>
            </a:r>
            <a:endParaRPr lang="en-US" sz="15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5" b="-45"/>
          <a:stretch/>
        </p:blipFill>
        <p:spPr>
          <a:xfrm>
            <a:off x="857707" y="5724144"/>
            <a:ext cx="256946" cy="22860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0" y="6543446"/>
            <a:ext cx="12191695" cy="3145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0"/>
          <p:cNvSpPr/>
          <p:nvPr/>
        </p:nvSpPr>
        <p:spPr>
          <a:xfrm>
            <a:off x="0" y="654344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571500" y="6605626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1212373" y="6605626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 / 33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7707"/>
            <a:ext cx="12191695" cy="55248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143000"/>
            <a:ext cx="3495751" cy="3724351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" y="1152144"/>
            <a:ext cx="3476549" cy="1524305"/>
          </a:xfrm>
          <a:prstGeom prst="roundRect">
            <a:avLst>
              <a:gd name="adj" fmla="val 4499"/>
            </a:avLst>
          </a:prstGeom>
          <a:solidFill>
            <a:srgbClr val="EEF2FF"/>
          </a:solidFill>
          <a:ln/>
        </p:spPr>
      </p:sp>
      <p:sp>
        <p:nvSpPr>
          <p:cNvPr id="7" name="Shape 5"/>
          <p:cNvSpPr/>
          <p:nvPr/>
        </p:nvSpPr>
        <p:spPr>
          <a:xfrm>
            <a:off x="580644" y="2667305"/>
            <a:ext cx="3476549" cy="9144"/>
          </a:xfrm>
          <a:prstGeom prst="roundRect">
            <a:avLst>
              <a:gd name="adj" fmla="val 750000"/>
            </a:avLst>
          </a:prstGeom>
          <a:solidFill>
            <a:srgbClr val="E0E7FF"/>
          </a:solidFill>
          <a:ln w="12700">
            <a:solidFill>
              <a:srgbClr val="E0E7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1797" y="1343254"/>
            <a:ext cx="571500" cy="381305"/>
          </a:xfrm>
          <a:prstGeom prst="roundRect">
            <a:avLst>
              <a:gd name="adj" fmla="val 1199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2189074" y="1417320"/>
            <a:ext cx="256946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91717" y="1834286"/>
            <a:ext cx="18516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住民への聞き取り調査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733702" y="2129638"/>
            <a:ext cx="11722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今どこに住んで、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どう暮らしているか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3" b="-393"/>
          <a:stretch/>
        </p:blipFill>
        <p:spPr>
          <a:xfrm>
            <a:off x="580644" y="2676449"/>
            <a:ext cx="3473806" cy="192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9052" y="2924251"/>
            <a:ext cx="15197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0 - Activity A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751076" y="3172054"/>
            <a:ext cx="114208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200607" y="3600907"/>
            <a:ext cx="2238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約50拠点の現場職員の声を集め、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現状の業務実態を把握する 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49801" y="1143000"/>
            <a:ext cx="3495751" cy="3724351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58945" y="1152144"/>
            <a:ext cx="3476549" cy="1524305"/>
          </a:xfrm>
          <a:prstGeom prst="roundRect">
            <a:avLst>
              <a:gd name="adj" fmla="val 4499"/>
            </a:avLst>
          </a:prstGeom>
          <a:solidFill>
            <a:srgbClr val="EEF2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358945" y="2667305"/>
            <a:ext cx="3476549" cy="9144"/>
          </a:xfrm>
          <a:prstGeom prst="roundRect">
            <a:avLst>
              <a:gd name="adj" fmla="val 750000"/>
            </a:avLst>
          </a:prstGeom>
          <a:solidFill>
            <a:srgbClr val="E0E7FF"/>
          </a:solidFill>
          <a:ln w="12700">
            <a:solidFill>
              <a:srgbClr val="E0E7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10098" y="1343254"/>
            <a:ext cx="571500" cy="381305"/>
          </a:xfrm>
          <a:prstGeom prst="roundRect">
            <a:avLst>
              <a:gd name="adj" fmla="val 1199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5967374" y="1417320"/>
            <a:ext cx="256946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70018" y="1834286"/>
            <a:ext cx="18516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地質調査・交通量調査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510174" y="2129638"/>
            <a:ext cx="11814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地盤の強さや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人の流れを把握する</a:t>
            </a:r>
            <a:endParaRPr lang="en-US" sz="9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96" b="-396"/>
          <a:stretch/>
        </p:blipFill>
        <p:spPr>
          <a:xfrm>
            <a:off x="4358945" y="2676449"/>
            <a:ext cx="3473806" cy="192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35524" y="2924251"/>
            <a:ext cx="15307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0 - Activity C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639105" y="3172054"/>
            <a:ext cx="9244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業務分析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167274" y="3600907"/>
            <a:ext cx="18626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情報の「地盤（データ）」と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業務の「流れ（フロー）」を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構造的に分析する 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28102" y="1143000"/>
            <a:ext cx="3495751" cy="3724351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137246" y="1152144"/>
            <a:ext cx="3476549" cy="1524305"/>
          </a:xfrm>
          <a:prstGeom prst="roundRect">
            <a:avLst>
              <a:gd name="adj" fmla="val 4499"/>
            </a:avLst>
          </a:prstGeom>
          <a:solidFill>
            <a:srgbClr val="EEF2FF"/>
          </a:solidFill>
          <a:ln/>
        </p:spPr>
      </p:sp>
      <p:sp>
        <p:nvSpPr>
          <p:cNvPr id="29" name="Shape 23"/>
          <p:cNvSpPr/>
          <p:nvPr/>
        </p:nvSpPr>
        <p:spPr>
          <a:xfrm>
            <a:off x="8137246" y="2667305"/>
            <a:ext cx="3476549" cy="9144"/>
          </a:xfrm>
          <a:prstGeom prst="roundRect">
            <a:avLst>
              <a:gd name="adj" fmla="val 750000"/>
            </a:avLst>
          </a:prstGeom>
          <a:solidFill>
            <a:srgbClr val="E0E7FF"/>
          </a:solidFill>
          <a:ln w="12700">
            <a:solidFill>
              <a:srgbClr val="E0E7FF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588398" y="1343254"/>
            <a:ext cx="571500" cy="381305"/>
          </a:xfrm>
          <a:prstGeom prst="roundRect">
            <a:avLst>
              <a:gd name="adj" fmla="val 1199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5" b="-45"/>
          <a:stretch/>
        </p:blipFill>
        <p:spPr>
          <a:xfrm>
            <a:off x="9745675" y="1417320"/>
            <a:ext cx="256946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046159" y="1834286"/>
            <a:ext cx="165689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マスタープラン策定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9164117" y="2129638"/>
            <a:ext cx="14292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ゾーニング、道路計画、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優先整備エリアを決める</a:t>
            </a:r>
            <a:endParaRPr lang="en-US" sz="9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96" b="-396"/>
          <a:stretch/>
        </p:blipFill>
        <p:spPr>
          <a:xfrm>
            <a:off x="8137246" y="2676449"/>
            <a:ext cx="3473806" cy="192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245498" y="2924251"/>
            <a:ext cx="12655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0 - Output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9417406" y="3172054"/>
            <a:ext cx="9244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要件設計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8913571" y="3600907"/>
            <a:ext cx="19220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あるべき姿の全体図を描き、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改革の優先順位を決める 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571500" y="5152644"/>
            <a:ext cx="11048695" cy="942746"/>
          </a:xfrm>
          <a:prstGeom prst="roundRect">
            <a:avLst>
              <a:gd name="adj" fmla="val 7838"/>
            </a:avLst>
          </a:prstGeom>
          <a:solidFill>
            <a:srgbClr val="FFFBEB"/>
          </a:solidFill>
          <a:ln w="25400">
            <a:solidFill>
              <a:srgbClr val="FCD34D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-50" r="-50" t="0" b="0"/>
          <a:stretch/>
        </p:blipFill>
        <p:spPr>
          <a:xfrm>
            <a:off x="780898" y="5490972"/>
            <a:ext cx="342900" cy="30449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352398" y="5362956"/>
            <a:ext cx="102495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では「工事（システム開発・導入）」はしません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1352398" y="5658307"/>
            <a:ext cx="10249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設計図を共有し、合意してから着工します。手戻りを防ぐための期間です。</a:t>
            </a:r>
            <a:endParaRPr lang="en-US" sz="12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>
            <a:alphaModFix amt="20000"/>
          </a:blip>
          <a:srcRect l="0" r="0" t="0" b="0"/>
          <a:stretch/>
        </p:blipFill>
        <p:spPr>
          <a:xfrm>
            <a:off x="10471709" y="5097780"/>
            <a:ext cx="1028700" cy="10287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4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11212373" y="6524244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 / 33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2203704" y="2572207"/>
            <a:ext cx="228600" cy="228600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rcRect l="-133" r="-133" t="0" b="0"/>
          <a:stretch/>
        </p:blipFill>
        <p:spPr>
          <a:xfrm>
            <a:off x="2275027" y="2628900"/>
            <a:ext cx="85954" cy="114300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5982005" y="2572207"/>
            <a:ext cx="228600" cy="228600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-133" r="-133" t="0" b="0"/>
          <a:stretch/>
        </p:blipFill>
        <p:spPr>
          <a:xfrm>
            <a:off x="6053328" y="2628900"/>
            <a:ext cx="85954" cy="114300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9760306" y="2572207"/>
            <a:ext cx="228600" cy="228600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rcRect l="-133" r="-133" t="0" b="0"/>
          <a:stretch/>
        </p:blipFill>
        <p:spPr>
          <a:xfrm>
            <a:off x="9831629" y="2628900"/>
            <a:ext cx="85954" cy="114300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1"/>
          <p:cNvSpPr/>
          <p:nvPr/>
        </p:nvSpPr>
        <p:spPr>
          <a:xfrm>
            <a:off x="0" y="8385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0" y="8193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3"/>
          <p:cNvSpPr txBox="1"/>
          <p:nvPr/>
        </p:nvSpPr>
        <p:spPr>
          <a:xfrm>
            <a:off x="571500" y="190195"/>
            <a:ext cx="6691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都市計画に例えると ── Phase 0 の位置づけ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45529" y="809244"/>
            <a:ext cx="6687007" cy="523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1200" b="1" dirty="0">
                <a:solidFill>
                  <a:srgbClr val="FFFFFF">
                    <a:alpha val="4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429207"/>
            <a:ext cx="114300" cy="4000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0" r="0" t="0" b="0"/>
          <a:stretch/>
        </p:blipFill>
        <p:spPr>
          <a:xfrm>
            <a:off x="9525305" y="571500"/>
            <a:ext cx="1904695" cy="19046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29500" y="2095805"/>
            <a:ext cx="5715000" cy="5715000"/>
          </a:xfrm>
          <a:prstGeom prst="ellipse">
            <a:avLst/>
          </a:prstGeom>
          <a:solidFill>
            <a:srgbClr val="00A3E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43000" y="1647749"/>
            <a:ext cx="6972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Section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143000" y="1647749"/>
            <a:ext cx="571500" cy="19202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43000" y="2219249"/>
            <a:ext cx="952805" cy="9528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43000" y="2219249"/>
            <a:ext cx="952805" cy="952805"/>
          </a:xfrm>
          <a:prstGeom prst="rect">
            <a:avLst/>
          </a:prstGeom>
          <a:noFill/>
          <a:ln/>
        </p:spPr>
      </p:sp>
      <p:sp>
        <p:nvSpPr>
          <p:cNvPr id="12" name="Text 7"/>
          <p:cNvSpPr/>
          <p:nvPr/>
        </p:nvSpPr>
        <p:spPr>
          <a:xfrm>
            <a:off x="1143000" y="2219249"/>
            <a:ext cx="952805" cy="9528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Shape 8"/>
          <p:cNvSpPr/>
          <p:nvPr/>
        </p:nvSpPr>
        <p:spPr>
          <a:xfrm>
            <a:off x="1143000" y="4677156"/>
            <a:ext cx="57607" cy="53309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580998" y="4677156"/>
            <a:ext cx="66111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の成果物</a:t>
            </a:r>
            <a:endParaRPr lang="en-US" sz="30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457346"/>
            <a:ext cx="838413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何が出来上がるのか</a:t>
            </a:r>
            <a:endParaRPr lang="en-US" sz="60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48095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"/>
            <a:ext cx="12191695" cy="6105449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869594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コンサルティングの成果として、以下の3つを作成・納品します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571500" y="1441094"/>
            <a:ext cx="3492094" cy="476402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48" b="-248"/>
          <a:stretch/>
        </p:blipFill>
        <p:spPr>
          <a:xfrm>
            <a:off x="580644" y="1451153"/>
            <a:ext cx="3473806" cy="566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025750" y="1308506"/>
            <a:ext cx="127101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7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" b="-4"/>
          <a:stretch/>
        </p:blipFill>
        <p:spPr>
          <a:xfrm>
            <a:off x="4349801" y="1441094"/>
            <a:ext cx="3492094" cy="4764024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50" b="-250"/>
          <a:stretch/>
        </p:blipFill>
        <p:spPr>
          <a:xfrm>
            <a:off x="4358945" y="1451153"/>
            <a:ext cx="3473806" cy="5669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804050" y="1308506"/>
            <a:ext cx="127101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7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" b="-4"/>
          <a:stretch/>
        </p:blipFill>
        <p:spPr>
          <a:xfrm>
            <a:off x="8128102" y="1441094"/>
            <a:ext cx="3492094" cy="4764024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50" b="-250"/>
          <a:stretch/>
        </p:blipFill>
        <p:spPr>
          <a:xfrm>
            <a:off x="8137246" y="1451153"/>
            <a:ext cx="3473806" cy="56693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0582351" y="1308506"/>
            <a:ext cx="127101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7500" dirty="0"/>
          </a:p>
        </p:txBody>
      </p:sp>
      <p:sp>
        <p:nvSpPr>
          <p:cNvPr id="15" name="Shape 7"/>
          <p:cNvSpPr/>
          <p:nvPr/>
        </p:nvSpPr>
        <p:spPr>
          <a:xfrm>
            <a:off x="0" y="6586423"/>
            <a:ext cx="12191695" cy="2761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8"/>
          <p:cNvSpPr/>
          <p:nvPr/>
        </p:nvSpPr>
        <p:spPr>
          <a:xfrm>
            <a:off x="0" y="6586423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571500" y="6627571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11212373" y="6627571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 / 33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1936699" y="1793138"/>
            <a:ext cx="761695" cy="761695"/>
          </a:xfrm>
          <a:prstGeom prst="ellipse">
            <a:avLst/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-607" r="-607" t="0" b="0"/>
          <a:stretch/>
        </p:blipFill>
        <p:spPr>
          <a:xfrm>
            <a:off x="2122322" y="2002536"/>
            <a:ext cx="390449" cy="3429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532534" y="2783434"/>
            <a:ext cx="157459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マスタープラン</a:t>
            </a:r>
            <a:endParaRPr lang="en-US" sz="1600" dirty="0"/>
          </a:p>
        </p:txBody>
      </p:sp>
      <p:sp>
        <p:nvSpPr>
          <p:cNvPr id="22" name="Text 13"/>
          <p:cNvSpPr txBox="1"/>
          <p:nvPr/>
        </p:nvSpPr>
        <p:spPr>
          <a:xfrm>
            <a:off x="1083564" y="3170225"/>
            <a:ext cx="2477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「どこから・どう変えるか」の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全体計画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-445" r="-445" t="0" b="0"/>
          <a:stretch/>
        </p:blipFill>
        <p:spPr>
          <a:xfrm>
            <a:off x="2126894" y="3760927"/>
            <a:ext cx="381305" cy="28346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828446" y="3980383"/>
            <a:ext cx="2981858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現状とあるべき姿のギャップを埋めるためのロードマップ。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経営判断の材料となる投資対効果やスケジュールを含みます。 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866851" y="5358384"/>
            <a:ext cx="2905049" cy="552298"/>
          </a:xfrm>
          <a:prstGeom prst="roundRect">
            <a:avLst>
              <a:gd name="adj" fmla="val 22836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1326794" y="5510174"/>
            <a:ext cx="619049" cy="247802"/>
          </a:xfrm>
          <a:prstGeom prst="rect">
            <a:avLst/>
          </a:prstGeom>
          <a:noFill/>
          <a:ln/>
        </p:spPr>
      </p:sp>
      <p:sp>
        <p:nvSpPr>
          <p:cNvPr id="27" name="Text 17"/>
          <p:cNvSpPr/>
          <p:nvPr/>
        </p:nvSpPr>
        <p:spPr>
          <a:xfrm>
            <a:off x="1326794" y="5510174"/>
            <a:ext cx="619963" cy="247802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基本計画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2012594" y="5510174"/>
            <a:ext cx="619049" cy="247802"/>
          </a:xfrm>
          <a:prstGeom prst="rect">
            <a:avLst/>
          </a:prstGeom>
          <a:noFill/>
          <a:ln/>
        </p:spPr>
      </p:sp>
      <p:sp>
        <p:nvSpPr>
          <p:cNvPr id="29" name="Text 19"/>
          <p:cNvSpPr/>
          <p:nvPr/>
        </p:nvSpPr>
        <p:spPr>
          <a:xfrm>
            <a:off x="2012594" y="5510174"/>
            <a:ext cx="619963" cy="247802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実施計画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2698394" y="5510174"/>
            <a:ext cx="619049" cy="247802"/>
          </a:xfrm>
          <a:prstGeom prst="rect">
            <a:avLst/>
          </a:prstGeom>
          <a:noFill/>
          <a:ln/>
        </p:spPr>
      </p:sp>
      <p:sp>
        <p:nvSpPr>
          <p:cNvPr id="31" name="Text 21"/>
          <p:cNvSpPr/>
          <p:nvPr/>
        </p:nvSpPr>
        <p:spPr>
          <a:xfrm>
            <a:off x="2698394" y="5510174"/>
            <a:ext cx="619963" cy="247802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投資概算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5715000" y="1793138"/>
            <a:ext cx="761695" cy="761695"/>
          </a:xfrm>
          <a:prstGeom prst="ellipse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5" b="-45"/>
          <a:stretch/>
        </p:blipFill>
        <p:spPr>
          <a:xfrm>
            <a:off x="5967374" y="2002536"/>
            <a:ext cx="256946" cy="3429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529377" y="2783434"/>
            <a:ext cx="11420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要件定義書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4790542" y="3170225"/>
            <a:ext cx="26106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「仕事ナビ」に何が必要かの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仕様・設計図</a:t>
            </a:r>
            <a:endParaRPr lang="en-US" sz="10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rcRect l="-445" r="-445" t="0" b="0"/>
          <a:stretch/>
        </p:blipFill>
        <p:spPr>
          <a:xfrm>
            <a:off x="5905195" y="3760927"/>
            <a:ext cx="381305" cy="28346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4606747" y="3980383"/>
            <a:ext cx="2981858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ベンダーに正確な見積もりと開発を依頼するための技術文書。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業務、運用、機能、システムの4階層で記述します。 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4645152" y="5358384"/>
            <a:ext cx="2905049" cy="552298"/>
          </a:xfrm>
          <a:prstGeom prst="roundRect">
            <a:avLst>
              <a:gd name="adj" fmla="val 22836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4990795" y="5510174"/>
            <a:ext cx="733349" cy="247802"/>
          </a:xfrm>
          <a:prstGeom prst="rect">
            <a:avLst/>
          </a:prstGeom>
          <a:noFill/>
          <a:ln/>
        </p:spPr>
      </p:sp>
      <p:sp>
        <p:nvSpPr>
          <p:cNvPr id="40" name="Text 28"/>
          <p:cNvSpPr/>
          <p:nvPr/>
        </p:nvSpPr>
        <p:spPr>
          <a:xfrm>
            <a:off x="4990795" y="5510174"/>
            <a:ext cx="734263" cy="247802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業務フロー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5790895" y="5510174"/>
            <a:ext cx="619049" cy="247802"/>
          </a:xfrm>
          <a:prstGeom prst="rect">
            <a:avLst/>
          </a:prstGeom>
          <a:noFill/>
          <a:ln/>
        </p:spPr>
      </p:sp>
      <p:sp>
        <p:nvSpPr>
          <p:cNvPr id="42" name="Text 30"/>
          <p:cNvSpPr/>
          <p:nvPr/>
        </p:nvSpPr>
        <p:spPr>
          <a:xfrm>
            <a:off x="5790895" y="5510174"/>
            <a:ext cx="619963" cy="247802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機能一覧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6476695" y="5510174"/>
            <a:ext cx="733349" cy="247802"/>
          </a:xfrm>
          <a:prstGeom prst="rect">
            <a:avLst/>
          </a:prstGeom>
          <a:noFill/>
          <a:ln/>
        </p:spPr>
      </p:sp>
      <p:sp>
        <p:nvSpPr>
          <p:cNvPr id="44" name="Text 32"/>
          <p:cNvSpPr/>
          <p:nvPr/>
        </p:nvSpPr>
        <p:spPr>
          <a:xfrm>
            <a:off x="6476695" y="5510174"/>
            <a:ext cx="734263" cy="247802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非機能要件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9493301" y="1793138"/>
            <a:ext cx="761695" cy="7616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-743" r="-743" t="0" b="0"/>
          <a:stretch/>
        </p:blipFill>
        <p:spPr>
          <a:xfrm>
            <a:off x="9721901" y="2002536"/>
            <a:ext cx="304495" cy="342900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9111082" y="2783434"/>
            <a:ext cx="153619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マスターデータ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構造設計</a:t>
            </a:r>
            <a:endParaRPr lang="en-US" sz="1600" dirty="0"/>
          </a:p>
        </p:txBody>
      </p:sp>
      <p:sp>
        <p:nvSpPr>
          <p:cNvPr id="48" name="Text 35"/>
          <p:cNvSpPr txBox="1"/>
          <p:nvPr/>
        </p:nvSpPr>
        <p:spPr>
          <a:xfrm>
            <a:off x="8571586" y="3442716"/>
            <a:ext cx="26106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「情報の背骨」となる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共通データの設計図</a:t>
            </a:r>
            <a:endParaRPr lang="en-US" sz="100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rcRect l="-445" r="-445" t="0" b="0"/>
          <a:stretch/>
        </p:blipFill>
        <p:spPr>
          <a:xfrm>
            <a:off x="9683496" y="4033418"/>
            <a:ext cx="381305" cy="28346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8385048" y="4252874"/>
            <a:ext cx="2981858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バラバラになっている職員コードや事業所コードを統一するための設計。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「One Fact, One Place」を実現する基盤です。 </a:t>
            </a:r>
            <a:endParaRPr lang="en-US" sz="1100" dirty="0"/>
          </a:p>
        </p:txBody>
      </p:sp>
      <p:sp>
        <p:nvSpPr>
          <p:cNvPr id="51" name="Shape 37"/>
          <p:cNvSpPr/>
          <p:nvPr/>
        </p:nvSpPr>
        <p:spPr>
          <a:xfrm>
            <a:off x="8423453" y="5358384"/>
            <a:ext cx="2905049" cy="552298"/>
          </a:xfrm>
          <a:prstGeom prst="roundRect">
            <a:avLst>
              <a:gd name="adj" fmla="val 22836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38"/>
          <p:cNvSpPr/>
          <p:nvPr/>
        </p:nvSpPr>
        <p:spPr>
          <a:xfrm>
            <a:off x="8870594" y="5510174"/>
            <a:ext cx="733349" cy="247802"/>
          </a:xfrm>
          <a:prstGeom prst="rect">
            <a:avLst/>
          </a:prstGeom>
          <a:noFill/>
          <a:ln/>
        </p:spPr>
      </p:sp>
      <p:sp>
        <p:nvSpPr>
          <p:cNvPr id="53" name="Text 39"/>
          <p:cNvSpPr/>
          <p:nvPr/>
        </p:nvSpPr>
        <p:spPr>
          <a:xfrm>
            <a:off x="8870594" y="5510174"/>
            <a:ext cx="734263" cy="247802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コード統一</a:t>
            </a:r>
            <a:endParaRPr lang="en-US" sz="900" dirty="0"/>
          </a:p>
        </p:txBody>
      </p:sp>
      <p:sp>
        <p:nvSpPr>
          <p:cNvPr id="54" name="Shape 40"/>
          <p:cNvSpPr/>
          <p:nvPr/>
        </p:nvSpPr>
        <p:spPr>
          <a:xfrm>
            <a:off x="9670694" y="5510174"/>
            <a:ext cx="733349" cy="247802"/>
          </a:xfrm>
          <a:prstGeom prst="rect">
            <a:avLst/>
          </a:prstGeom>
          <a:noFill/>
          <a:ln/>
        </p:spPr>
      </p:sp>
      <p:sp>
        <p:nvSpPr>
          <p:cNvPr id="55" name="Text 41"/>
          <p:cNvSpPr/>
          <p:nvPr/>
        </p:nvSpPr>
        <p:spPr>
          <a:xfrm>
            <a:off x="9670694" y="5510174"/>
            <a:ext cx="734263" cy="247802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データ辞書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10470794" y="5510174"/>
            <a:ext cx="409651" cy="247802"/>
          </a:xfrm>
          <a:prstGeom prst="rect">
            <a:avLst/>
          </a:prstGeom>
          <a:noFill/>
          <a:ln/>
        </p:spPr>
      </p:sp>
      <p:sp>
        <p:nvSpPr>
          <p:cNvPr id="57" name="Text 43"/>
          <p:cNvSpPr/>
          <p:nvPr/>
        </p:nvSpPr>
        <p:spPr>
          <a:xfrm>
            <a:off x="10470794" y="5510174"/>
            <a:ext cx="409651" cy="247802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ER図</a:t>
            </a:r>
            <a:endParaRPr lang="en-US" sz="900" dirty="0"/>
          </a:p>
        </p:txBody>
      </p:sp>
      <p:sp>
        <p:nvSpPr>
          <p:cNvPr id="58" name="Shape 44"/>
          <p:cNvSpPr/>
          <p:nvPr/>
        </p:nvSpPr>
        <p:spPr>
          <a:xfrm>
            <a:off x="0" y="0"/>
            <a:ext cx="12191695" cy="495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45"/>
          <p:cNvSpPr/>
          <p:nvPr/>
        </p:nvSpPr>
        <p:spPr>
          <a:xfrm>
            <a:off x="0" y="4764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0" y="450799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47"/>
          <p:cNvSpPr txBox="1"/>
          <p:nvPr/>
        </p:nvSpPr>
        <p:spPr>
          <a:xfrm>
            <a:off x="571500" y="6401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で皆さまにお渡しするもの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8096"/>
            <a:ext cx="12191695" cy="5667451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149401"/>
            <a:ext cx="5333695" cy="3933749"/>
          </a:xfrm>
          <a:prstGeom prst="roundRect">
            <a:avLst>
              <a:gd name="adj" fmla="val 6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" y="1159459"/>
            <a:ext cx="5315407" cy="886054"/>
          </a:xfrm>
          <a:prstGeom prst="roundRect">
            <a:avLst>
              <a:gd name="adj" fmla="val 13316"/>
            </a:avLst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80644" y="2036369"/>
            <a:ext cx="5315407" cy="9144"/>
          </a:xfrm>
          <a:prstGeom prst="roundRect">
            <a:avLst>
              <a:gd name="adj" fmla="val 129032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" y="1366114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929030" y="1499616"/>
            <a:ext cx="219456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9149" y="1349654"/>
            <a:ext cx="44394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基本計画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19149" y="1654150"/>
            <a:ext cx="4362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BASIC PLAN - WHAT &amp; WHERE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66851" y="2421331"/>
            <a:ext cx="75895" cy="75895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5451" y="2621585"/>
            <a:ext cx="18864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5451" y="2326234"/>
            <a:ext cx="2037283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現状の業務構造の全体像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95451" y="2706624"/>
            <a:ext cx="47055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可視化された業務フロー図。どこで何が起きているかを俯瞰します。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6851" y="3245206"/>
            <a:ext cx="75895" cy="75895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5451" y="3445459"/>
            <a:ext cx="1371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5451" y="3150108"/>
            <a:ext cx="1481328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あるべき姿の設計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95451" y="3530498"/>
            <a:ext cx="47055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「仕事ナビ」構想に基づく、将来の理想的な業務モデル。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6851" y="4069080"/>
            <a:ext cx="75895" cy="75895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95451" y="4269334"/>
            <a:ext cx="10287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5451" y="3973982"/>
            <a:ext cx="1110996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ギャップ分析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95451" y="4354373"/>
            <a:ext cx="45912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現状とあるべき姿の差分（ギャップ）の一覧。何を解決すべきかを明確化します。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86500" y="1149401"/>
            <a:ext cx="5333695" cy="3933749"/>
          </a:xfrm>
          <a:prstGeom prst="roundRect">
            <a:avLst>
              <a:gd name="adj" fmla="val 6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95644" y="1159459"/>
            <a:ext cx="5315407" cy="886054"/>
          </a:xfrm>
          <a:prstGeom prst="roundRect">
            <a:avLst>
              <a:gd name="adj" fmla="val 13316"/>
            </a:avLst>
          </a:prstGeom>
          <a:solidFill>
            <a:srgbClr val="F8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6295644" y="2036369"/>
            <a:ext cx="5315407" cy="9144"/>
          </a:xfrm>
          <a:prstGeom prst="roundRect">
            <a:avLst>
              <a:gd name="adj" fmla="val 129032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24244" y="1366114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6667805" y="1499616"/>
            <a:ext cx="171907" cy="19019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134149" y="1349654"/>
            <a:ext cx="44394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実施計画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7134149" y="1654150"/>
            <a:ext cx="4362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IMPLEMENTATION PLAN - HOW &amp; WHEN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581851" y="2421331"/>
            <a:ext cx="75895" cy="75895"/>
          </a:xfrm>
          <a:prstGeom prst="ellipse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810451" y="2621585"/>
            <a:ext cx="12006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810451" y="2326234"/>
            <a:ext cx="1296619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優先順位の提案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6810451" y="2706624"/>
            <a:ext cx="47055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効果が大きく、実現可能性が高いエリアから着手するための提案。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581851" y="3245206"/>
            <a:ext cx="75895" cy="75895"/>
          </a:xfrm>
          <a:prstGeom prst="ellipse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810451" y="3445459"/>
            <a:ext cx="25530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810451" y="3150108"/>
            <a:ext cx="274320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フェーズ分けと概算スケジュール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6810451" y="3530498"/>
            <a:ext cx="47055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「止血」→「検証」→「展開」の具体的な工程表。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581851" y="4069080"/>
            <a:ext cx="75895" cy="75895"/>
          </a:xfrm>
          <a:prstGeom prst="ellipse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810451" y="4269334"/>
            <a:ext cx="25722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810451" y="3973982"/>
            <a:ext cx="27624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必要なリソースと投資規模の概算</a:t>
            </a:r>
            <a:endParaRPr lang="en-US" sz="1300" dirty="0"/>
          </a:p>
        </p:txBody>
      </p:sp>
      <p:sp>
        <p:nvSpPr>
          <p:cNvPr id="42" name="Text 38"/>
          <p:cNvSpPr txBox="1"/>
          <p:nvPr/>
        </p:nvSpPr>
        <p:spPr>
          <a:xfrm>
            <a:off x="6810451" y="4354373"/>
            <a:ext cx="47055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システム開発費だけでなく、教育や体制変更にかかるコストの試算。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571500" y="5364785"/>
            <a:ext cx="11048695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571500" y="5364785"/>
            <a:ext cx="57607" cy="685800"/>
          </a:xfrm>
          <a:prstGeom prst="roundRect">
            <a:avLst>
              <a:gd name="adj" fmla="val 17636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4400" y="5554980"/>
            <a:ext cx="304495" cy="304495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1447495" y="5564124"/>
            <a:ext cx="10077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「なんとなく」ではなく、「数値と根拠」を持って経営判断できる材料を作ります</a:t>
            </a:r>
            <a:endParaRPr lang="en-US" sz="1500" dirty="0"/>
          </a:p>
        </p:txBody>
      </p:sp>
      <p:sp>
        <p:nvSpPr>
          <p:cNvPr id="47" name="Shape 42"/>
          <p:cNvSpPr/>
          <p:nvPr/>
        </p:nvSpPr>
        <p:spPr>
          <a:xfrm>
            <a:off x="0" y="6430975"/>
            <a:ext cx="12191695" cy="4288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3"/>
          <p:cNvSpPr/>
          <p:nvPr/>
        </p:nvSpPr>
        <p:spPr>
          <a:xfrm>
            <a:off x="0" y="643097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571500" y="6548933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11212373" y="6548933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 / 33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0" y="0"/>
            <a:ext cx="12191695" cy="7717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7"/>
          <p:cNvSpPr/>
          <p:nvPr/>
        </p:nvSpPr>
        <p:spPr>
          <a:xfrm>
            <a:off x="0" y="752551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0" y="730606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571500" y="146304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マスタープラン ── 「どこから・どう変えるか」の全体計画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6402"/>
            <a:ext cx="12191695" cy="6191402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857707"/>
            <a:ext cx="5333695" cy="4276649"/>
          </a:xfrm>
          <a:prstGeom prst="roundRect">
            <a:avLst>
              <a:gd name="adj" fmla="val 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" y="866851"/>
            <a:ext cx="5315407" cy="886054"/>
          </a:xfrm>
          <a:prstGeom prst="roundRect">
            <a:avLst>
              <a:gd name="adj" fmla="val 13316"/>
            </a:avLst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80644" y="1743761"/>
            <a:ext cx="5315407" cy="9144"/>
          </a:xfrm>
          <a:prstGeom prst="roundRect">
            <a:avLst>
              <a:gd name="adj" fmla="val 129032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" y="1073506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972" y="1207008"/>
            <a:ext cx="237744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9149" y="1057046"/>
            <a:ext cx="44394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業務・運用要件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19149" y="1362456"/>
            <a:ext cx="4362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BUSINESS &amp; OPERATION - HUMAN SIDE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66851" y="2033626"/>
            <a:ext cx="228600" cy="228600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866851" y="2033626"/>
            <a:ext cx="228600" cy="228600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248156" y="2358238"/>
            <a:ext cx="76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48156" y="2033626"/>
            <a:ext cx="8385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業務要件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48156" y="2481682"/>
            <a:ext cx="4439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新しい業務の流れの定義。「誰が・いつ・どう動くか」を描きます。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6851" y="3588106"/>
            <a:ext cx="228600" cy="228600"/>
          </a:xfrm>
          <a:prstGeom prst="rect">
            <a:avLst/>
          </a:prstGeom>
          <a:noFill/>
          <a:ln/>
        </p:spPr>
      </p:sp>
      <p:sp>
        <p:nvSpPr>
          <p:cNvPr id="18" name="Text 15"/>
          <p:cNvSpPr/>
          <p:nvPr/>
        </p:nvSpPr>
        <p:spPr>
          <a:xfrm>
            <a:off x="866851" y="3588106"/>
            <a:ext cx="228600" cy="228600"/>
          </a:xfrm>
          <a:prstGeom prst="rect">
            <a:avLst/>
          </a:prstGeom>
          <a:solidFill>
            <a:srgbClr val="0F2A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248156" y="3912718"/>
            <a:ext cx="76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48156" y="3588106"/>
            <a:ext cx="8385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運用要件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48156" y="4035247"/>
            <a:ext cx="4439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日常の運用ルールや例外処理の定義。現場での使い勝手を定めます。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86500" y="857707"/>
            <a:ext cx="5333695" cy="4276649"/>
          </a:xfrm>
          <a:prstGeom prst="roundRect">
            <a:avLst>
              <a:gd name="adj" fmla="val 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95644" y="866851"/>
            <a:ext cx="5315407" cy="886054"/>
          </a:xfrm>
          <a:prstGeom prst="roundRect">
            <a:avLst>
              <a:gd name="adj" fmla="val 13316"/>
            </a:avLst>
          </a:prstGeom>
          <a:solidFill>
            <a:srgbClr val="F8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295644" y="1743761"/>
            <a:ext cx="5315407" cy="9144"/>
          </a:xfrm>
          <a:prstGeom prst="roundRect">
            <a:avLst>
              <a:gd name="adj" fmla="val 129032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24244" y="1073506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33972" y="1207008"/>
            <a:ext cx="237744" cy="19019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134149" y="1057046"/>
            <a:ext cx="44394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機能・システム要件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134149" y="1362456"/>
            <a:ext cx="4362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FUNCTION &amp; SYSTEM - TECHNICAL SIDE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581851" y="2033626"/>
            <a:ext cx="228600" cy="228600"/>
          </a:xfrm>
          <a:prstGeom prst="rect">
            <a:avLst/>
          </a:prstGeom>
          <a:noFill/>
          <a:ln/>
        </p:spPr>
      </p:sp>
      <p:sp>
        <p:nvSpPr>
          <p:cNvPr id="30" name="Text 26"/>
          <p:cNvSpPr/>
          <p:nvPr/>
        </p:nvSpPr>
        <p:spPr>
          <a:xfrm>
            <a:off x="6581851" y="2033626"/>
            <a:ext cx="228600" cy="228600"/>
          </a:xfrm>
          <a:prstGeom prst="rect">
            <a:avLst/>
          </a:prstGeom>
          <a:solidFill>
            <a:srgbClr val="00A3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963156" y="2358238"/>
            <a:ext cx="76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963156" y="2033626"/>
            <a:ext cx="8385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機能要件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963156" y="2481682"/>
            <a:ext cx="4439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システムに必要な具体的な機能の一覧。「道具」としての能力です。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581851" y="3588106"/>
            <a:ext cx="228600" cy="228600"/>
          </a:xfrm>
          <a:prstGeom prst="rect">
            <a:avLst/>
          </a:prstGeom>
          <a:noFill/>
          <a:ln/>
        </p:spPr>
      </p:sp>
      <p:sp>
        <p:nvSpPr>
          <p:cNvPr id="35" name="Text 31"/>
          <p:cNvSpPr/>
          <p:nvPr/>
        </p:nvSpPr>
        <p:spPr>
          <a:xfrm>
            <a:off x="6581851" y="3588106"/>
            <a:ext cx="228600" cy="228600"/>
          </a:xfrm>
          <a:prstGeom prst="rect">
            <a:avLst/>
          </a:prstGeom>
          <a:solidFill>
            <a:srgbClr val="00A3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963156" y="3912718"/>
            <a:ext cx="1143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963156" y="3588106"/>
            <a:ext cx="123444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システム要件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963156" y="4035247"/>
            <a:ext cx="4439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技術的な条件や制約。セキュリティ、性能、連携インターフェース等。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71500" y="5418734"/>
            <a:ext cx="11048695" cy="866851"/>
          </a:xfrm>
          <a:prstGeom prst="roundRect">
            <a:avLst>
              <a:gd name="adj" fmla="val 9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571500" y="5418734"/>
            <a:ext cx="57607" cy="866851"/>
          </a:xfrm>
          <a:prstGeom prst="roundRect">
            <a:avLst>
              <a:gd name="adj" fmla="val 13954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rcRect l="-50" r="-50" t="0" b="0"/>
          <a:stretch/>
        </p:blipFill>
        <p:spPr>
          <a:xfrm>
            <a:off x="914400" y="5696712"/>
            <a:ext cx="342900" cy="304495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1485900" y="5608930"/>
            <a:ext cx="99258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比喩：注文住宅の「間取り図」と「設備仕様書」に相当します。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これがあれば、ベンダーに「やりたいこと」を正しく伝え、見積もりのブレを防げます。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0" y="6660490"/>
            <a:ext cx="12191695" cy="2093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9"/>
          <p:cNvSpPr/>
          <p:nvPr/>
        </p:nvSpPr>
        <p:spPr>
          <a:xfrm>
            <a:off x="0" y="666049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571500" y="6670548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1212373" y="6670548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 / 33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0" y="0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3"/>
          <p:cNvSpPr/>
          <p:nvPr/>
        </p:nvSpPr>
        <p:spPr>
          <a:xfrm>
            <a:off x="0" y="457200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0" y="437998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571500" y="0"/>
            <a:ext cx="649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要件定義書 ── 「仕事ナビ」に必要な仕様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2862"/>
            <a:ext cx="12191695" cy="60963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874166"/>
            <a:ext cx="5333695" cy="43626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" y="883310"/>
            <a:ext cx="5315407" cy="886054"/>
          </a:xfrm>
          <a:prstGeom prst="roundRect">
            <a:avLst>
              <a:gd name="adj" fmla="val 13316"/>
            </a:avLst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80644" y="1760220"/>
            <a:ext cx="5315407" cy="9144"/>
          </a:xfrm>
          <a:prstGeom prst="roundRect">
            <a:avLst>
              <a:gd name="adj" fmla="val 129032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" y="109087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972" y="1224382"/>
            <a:ext cx="237744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9149" y="1074420"/>
            <a:ext cx="44394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現状（バラバラ）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19149" y="1378915"/>
            <a:ext cx="4362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9" kern="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AS-IS: FRAGMENTED DATA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66851" y="2146097"/>
            <a:ext cx="75895" cy="7589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5451" y="2346350"/>
            <a:ext cx="2057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5451" y="2050999"/>
            <a:ext cx="222199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複数のシステムが独立稼働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95451" y="2431390"/>
            <a:ext cx="45912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ほのぼの、MJS、弥生、勤怠システム等が連携せず個別に存在しており、それぞれにデータ入力が必要です。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6851" y="3183941"/>
            <a:ext cx="75895" cy="7589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5451" y="3384194"/>
            <a:ext cx="1714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5451" y="3088843"/>
            <a:ext cx="185166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マスタの重複と不整合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95451" y="3470148"/>
            <a:ext cx="45912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同じ職員がシステムごとに別のIDで登録。事業所名称も「風の村」「風の村本部」など表記ゆれが発生しています。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6851" y="4222699"/>
            <a:ext cx="75895" cy="75895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95451" y="4422038"/>
            <a:ext cx="18864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5451" y="4126687"/>
            <a:ext cx="2037283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結果：多重入力と手作業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95451" y="4507992"/>
            <a:ext cx="45912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これがデータ転記ミスや、月次決算が遅れる（手作業での名寄せが必要なため）根本原因です。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86500" y="874166"/>
            <a:ext cx="5333695" cy="43626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95644" y="883310"/>
            <a:ext cx="5315407" cy="886054"/>
          </a:xfrm>
          <a:prstGeom prst="roundRect">
            <a:avLst>
              <a:gd name="adj" fmla="val 13316"/>
            </a:avLst>
          </a:prstGeom>
          <a:solidFill>
            <a:srgbClr val="F8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6295644" y="1760220"/>
            <a:ext cx="5315407" cy="9144"/>
          </a:xfrm>
          <a:prstGeom prst="roundRect">
            <a:avLst>
              <a:gd name="adj" fmla="val 129032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24244" y="109087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6667805" y="1224382"/>
            <a:ext cx="171907" cy="19019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134149" y="1074420"/>
            <a:ext cx="44394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あるべき姿（統一）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7134149" y="1378915"/>
            <a:ext cx="4362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9" kern="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TO-BE: UNIFIED STRUCTURE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581851" y="2146097"/>
            <a:ext cx="75895" cy="75895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810451" y="2346350"/>
            <a:ext cx="1714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810451" y="2050999"/>
            <a:ext cx="185166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「情報の背骨」の構築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6810451" y="2431390"/>
            <a:ext cx="45912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全システム共通の職員マスタ、事業所マスタ、サービスマスタ等を設計し、データの定義を統一します。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581851" y="3183941"/>
            <a:ext cx="75895" cy="75895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810451" y="3384194"/>
            <a:ext cx="16669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810451" y="3088843"/>
            <a:ext cx="1984248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One Fact, One Place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6810451" y="3470148"/>
            <a:ext cx="45912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「一箇所で直せば、全てに反映される」仕組み。情報の発生源で一度だけ入力すれば済むようにします。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581851" y="4222699"/>
            <a:ext cx="75895" cy="75895"/>
          </a:xfrm>
          <a:prstGeom prst="ellipse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810451" y="4422038"/>
            <a:ext cx="1371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810451" y="4126687"/>
            <a:ext cx="1481328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データ連携の基盤</a:t>
            </a:r>
            <a:endParaRPr lang="en-US" sz="1300" dirty="0"/>
          </a:p>
        </p:txBody>
      </p:sp>
      <p:sp>
        <p:nvSpPr>
          <p:cNvPr id="42" name="Text 38"/>
          <p:cNvSpPr txBox="1"/>
          <p:nvPr/>
        </p:nvSpPr>
        <p:spPr>
          <a:xfrm>
            <a:off x="6810451" y="4507992"/>
            <a:ext cx="45912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共通ID（コード）により、異なるシステム間でもデータが自動的に流れ、集計が可能になります。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571500" y="5517490"/>
            <a:ext cx="11048695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571500" y="5517490"/>
            <a:ext cx="57607" cy="685800"/>
          </a:xfrm>
          <a:prstGeom prst="roundRect">
            <a:avLst>
              <a:gd name="adj" fmla="val 17636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rcRect l="-50" r="-50" t="0" b="0"/>
          <a:stretch/>
        </p:blipFill>
        <p:spPr>
          <a:xfrm>
            <a:off x="914400" y="5708599"/>
            <a:ext cx="342900" cy="304495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1485900" y="5717743"/>
            <a:ext cx="100401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比喩：住所体系の統一。番地がバラバラでは郵便も荷物も届きません</a:t>
            </a:r>
            <a:endParaRPr lang="en-US" sz="1500" dirty="0"/>
          </a:p>
        </p:txBody>
      </p:sp>
      <p:sp>
        <p:nvSpPr>
          <p:cNvPr id="47" name="Shape 42"/>
          <p:cNvSpPr/>
          <p:nvPr/>
        </p:nvSpPr>
        <p:spPr>
          <a:xfrm>
            <a:off x="0" y="6584594"/>
            <a:ext cx="12191695" cy="2761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3"/>
          <p:cNvSpPr/>
          <p:nvPr/>
        </p:nvSpPr>
        <p:spPr>
          <a:xfrm>
            <a:off x="0" y="6584594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571500" y="6625742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11212373" y="6625742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 / 33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0" y="0"/>
            <a:ext cx="12191695" cy="495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7"/>
          <p:cNvSpPr/>
          <p:nvPr/>
        </p:nvSpPr>
        <p:spPr>
          <a:xfrm>
            <a:off x="0" y="4764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0" y="455371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571500" y="8230"/>
            <a:ext cx="7411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マスターデータ構造設計 ── 情報の背骨の設計図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45529" y="809244"/>
            <a:ext cx="6687007" cy="523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1200" b="1" dirty="0">
                <a:solidFill>
                  <a:srgbClr val="FFFFFF">
                    <a:alpha val="4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4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429207"/>
            <a:ext cx="114300" cy="4000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29500" y="2095805"/>
            <a:ext cx="5715000" cy="5715000"/>
          </a:xfrm>
          <a:prstGeom prst="ellipse">
            <a:avLst/>
          </a:prstGeom>
          <a:solidFill>
            <a:srgbClr val="00A3E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1707" y="571500"/>
            <a:ext cx="1429207" cy="1429207"/>
          </a:xfrm>
          <a:prstGeom prst="ellipse">
            <a:avLst/>
          </a:prstGeom>
          <a:noFill/>
          <a:ln w="254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6" b="-16"/>
          <a:stretch/>
        </p:blipFill>
        <p:spPr>
          <a:xfrm>
            <a:off x="10358323" y="1000354"/>
            <a:ext cx="714146" cy="5715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228954"/>
            <a:ext cx="7353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Section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143000" y="1228954"/>
            <a:ext cx="571500" cy="19202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43000" y="1800454"/>
            <a:ext cx="952805" cy="95280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43000" y="1800454"/>
            <a:ext cx="952805" cy="952805"/>
          </a:xfrm>
          <a:prstGeom prst="rect">
            <a:avLst/>
          </a:prstGeom>
          <a:noFill/>
          <a:ln/>
        </p:spPr>
      </p:sp>
      <p:sp>
        <p:nvSpPr>
          <p:cNvPr id="13" name="Text 8"/>
          <p:cNvSpPr/>
          <p:nvPr/>
        </p:nvSpPr>
        <p:spPr>
          <a:xfrm>
            <a:off x="1143000" y="1800454"/>
            <a:ext cx="952805" cy="9528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Shape 9"/>
          <p:cNvSpPr/>
          <p:nvPr/>
        </p:nvSpPr>
        <p:spPr>
          <a:xfrm>
            <a:off x="1143000" y="5095951"/>
            <a:ext cx="57607" cy="53309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580998" y="5095951"/>
            <a:ext cx="710580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風の村としてのご協力事項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3038551"/>
            <a:ext cx="7411212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皆さまにお願いすること</a:t>
            </a:r>
            <a:endParaRPr lang="en-US" sz="60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6248095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7707"/>
            <a:ext cx="12191695" cy="55248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95321" y="1238098"/>
            <a:ext cx="901598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プロジェクトを円滑に進めるため、以下の4点についてご協力をお願いいたします 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38705" y="1290218"/>
            <a:ext cx="237744" cy="190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809598"/>
            <a:ext cx="5381244" cy="1952244"/>
          </a:xfrm>
          <a:prstGeom prst="roundRect">
            <a:avLst>
              <a:gd name="adj" fmla="val 2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390" r="-390" t="0" b="0"/>
          <a:stretch/>
        </p:blipFill>
        <p:spPr>
          <a:xfrm>
            <a:off x="580644" y="1819656"/>
            <a:ext cx="57607" cy="19339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9244" y="2048256"/>
            <a:ext cx="457200" cy="457200"/>
          </a:xfrm>
          <a:prstGeom prst="rect">
            <a:avLst/>
          </a:prstGeom>
          <a:noFill/>
          <a:ln/>
        </p:spPr>
      </p:sp>
      <p:sp>
        <p:nvSpPr>
          <p:cNvPr id="10" name="Text 6"/>
          <p:cNvSpPr/>
          <p:nvPr/>
        </p:nvSpPr>
        <p:spPr>
          <a:xfrm>
            <a:off x="809244" y="2048256"/>
            <a:ext cx="4572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24805" y="2009851"/>
            <a:ext cx="228600" cy="2286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l="0" r="0" t="-3584" b="-3584"/>
          <a:stretch/>
        </p:blipFill>
        <p:spPr>
          <a:xfrm>
            <a:off x="4705502" y="2704795"/>
            <a:ext cx="1333195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238951" y="1809598"/>
            <a:ext cx="5381244" cy="1952244"/>
          </a:xfrm>
          <a:prstGeom prst="roundRect">
            <a:avLst>
              <a:gd name="adj" fmla="val 2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-390" r="-390" t="0" b="0"/>
          <a:stretch/>
        </p:blipFill>
        <p:spPr>
          <a:xfrm>
            <a:off x="6248095" y="1819656"/>
            <a:ext cx="57607" cy="193395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476695" y="2048256"/>
            <a:ext cx="457200" cy="457200"/>
          </a:xfrm>
          <a:prstGeom prst="rect">
            <a:avLst/>
          </a:prstGeom>
          <a:noFill/>
          <a:ln/>
        </p:spPr>
      </p:sp>
      <p:sp>
        <p:nvSpPr>
          <p:cNvPr id="16" name="Text 9"/>
          <p:cNvSpPr/>
          <p:nvPr/>
        </p:nvSpPr>
        <p:spPr>
          <a:xfrm>
            <a:off x="6476695" y="2048256"/>
            <a:ext cx="4572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192256" y="2009851"/>
            <a:ext cx="228600" cy="22860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>
            <a:alphaModFix amt="50000"/>
          </a:blip>
          <a:srcRect l="-4156" r="-4156" t="0" b="0"/>
          <a:stretch/>
        </p:blipFill>
        <p:spPr>
          <a:xfrm>
            <a:off x="10839298" y="2781605"/>
            <a:ext cx="866851" cy="1067105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571500" y="4048049"/>
            <a:ext cx="5381244" cy="1952244"/>
          </a:xfrm>
          <a:prstGeom prst="roundRect">
            <a:avLst>
              <a:gd name="adj" fmla="val 2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-390" r="-390" t="0" b="0"/>
          <a:stretch/>
        </p:blipFill>
        <p:spPr>
          <a:xfrm>
            <a:off x="580644" y="4058107"/>
            <a:ext cx="57607" cy="1933956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809244" y="4286707"/>
            <a:ext cx="457200" cy="457200"/>
          </a:xfrm>
          <a:prstGeom prst="rect">
            <a:avLst/>
          </a:prstGeom>
          <a:noFill/>
          <a:ln/>
        </p:spPr>
      </p:sp>
      <p:sp>
        <p:nvSpPr>
          <p:cNvPr id="22" name="Text 12"/>
          <p:cNvSpPr/>
          <p:nvPr/>
        </p:nvSpPr>
        <p:spPr>
          <a:xfrm>
            <a:off x="809244" y="4286707"/>
            <a:ext cx="4572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524805" y="4248302"/>
            <a:ext cx="228600" cy="228600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>
            <a:alphaModFix amt="50000"/>
          </a:blip>
          <a:srcRect l="-2092" r="-2092" t="0" b="0"/>
          <a:stretch/>
        </p:blipFill>
        <p:spPr>
          <a:xfrm>
            <a:off x="5048402" y="5000854"/>
            <a:ext cx="990295" cy="1086307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6238951" y="4048049"/>
            <a:ext cx="5381244" cy="1952244"/>
          </a:xfrm>
          <a:prstGeom prst="roundRect">
            <a:avLst>
              <a:gd name="adj" fmla="val 2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rcRect l="-390" r="-390" t="0" b="0"/>
          <a:stretch/>
        </p:blipFill>
        <p:spPr>
          <a:xfrm>
            <a:off x="6248095" y="4058107"/>
            <a:ext cx="57607" cy="1933956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6476695" y="4286707"/>
            <a:ext cx="457200" cy="457200"/>
          </a:xfrm>
          <a:prstGeom prst="rect">
            <a:avLst/>
          </a:prstGeom>
          <a:noFill/>
          <a:ln/>
        </p:spPr>
      </p:sp>
      <p:sp>
        <p:nvSpPr>
          <p:cNvPr id="28" name="Text 15"/>
          <p:cNvSpPr/>
          <p:nvPr/>
        </p:nvSpPr>
        <p:spPr>
          <a:xfrm>
            <a:off x="6476695" y="4286707"/>
            <a:ext cx="4572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1192256" y="4248302"/>
            <a:ext cx="228600" cy="228600"/>
          </a:xfrm>
          <a:prstGeom prst="rect">
            <a:avLst/>
          </a:prstGeom>
        </p:spPr>
      </p:pic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>
            <a:alphaModFix amt="50000"/>
          </a:blip>
          <a:srcRect l="0" r="0" t="-3584" b="-3584"/>
          <a:stretch/>
        </p:blipFill>
        <p:spPr>
          <a:xfrm>
            <a:off x="10372954" y="4943246"/>
            <a:ext cx="1333195" cy="1143000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17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3" name="Text 18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34" name="Text 19"/>
          <p:cNvSpPr txBox="1"/>
          <p:nvPr/>
        </p:nvSpPr>
        <p:spPr>
          <a:xfrm>
            <a:off x="11212373" y="6524244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29 / 33</a:t>
            </a:r>
            <a:endParaRPr lang="en-US" sz="1000" dirty="0"/>
          </a:p>
        </p:txBody>
      </p:sp>
      <p:sp>
        <p:nvSpPr>
          <p:cNvPr id="35" name="Text 20"/>
          <p:cNvSpPr txBox="1"/>
          <p:nvPr/>
        </p:nvSpPr>
        <p:spPr>
          <a:xfrm>
            <a:off x="1457554" y="2048256"/>
            <a:ext cx="2362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ヒアリング対象者の選定と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日程調整</a:t>
            </a:r>
            <a:endParaRPr lang="en-US" sz="1500" dirty="0"/>
          </a:p>
        </p:txBody>
      </p:sp>
      <p:sp>
        <p:nvSpPr>
          <p:cNvPr id="36" name="Text 21"/>
          <p:cNvSpPr txBox="1"/>
          <p:nvPr/>
        </p:nvSpPr>
        <p:spPr>
          <a:xfrm>
            <a:off x="1457554" y="2657246"/>
            <a:ext cx="43342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各部署・事業所から、実務の詳細を把握している担当者をご指名ください。</a:t>
            </a:r>
            <a:endParaRPr lang="en-US" sz="1200" dirty="0"/>
          </a:p>
        </p:txBody>
      </p:sp>
      <p:sp>
        <p:nvSpPr>
          <p:cNvPr id="37" name="Text 22"/>
          <p:cNvSpPr txBox="1"/>
          <p:nvPr/>
        </p:nvSpPr>
        <p:spPr>
          <a:xfrm>
            <a:off x="7125005" y="2048256"/>
            <a:ext cx="2362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既存資料・システム情報の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ご提供</a:t>
            </a:r>
            <a:endParaRPr lang="en-US" sz="1500" dirty="0"/>
          </a:p>
        </p:txBody>
      </p:sp>
      <p:sp>
        <p:nvSpPr>
          <p:cNvPr id="38" name="Text 23"/>
          <p:cNvSpPr txBox="1"/>
          <p:nvPr/>
        </p:nvSpPr>
        <p:spPr>
          <a:xfrm>
            <a:off x="7125005" y="2657246"/>
            <a:ext cx="43342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マニュアル、帳票、システム仕様書等をご提供ください。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※整理されていなくても、あるもので構いません</a:t>
            </a:r>
            <a:endParaRPr lang="en-US" sz="1200" dirty="0"/>
          </a:p>
        </p:txBody>
      </p:sp>
      <p:sp>
        <p:nvSpPr>
          <p:cNvPr id="39" name="Text 24"/>
          <p:cNvSpPr txBox="1"/>
          <p:nvPr/>
        </p:nvSpPr>
        <p:spPr>
          <a:xfrm>
            <a:off x="1457554" y="4286707"/>
            <a:ext cx="2362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隔週プロジェクト会議への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</a:t>
            </a:r>
            <a:endParaRPr lang="en-US" sz="1500" dirty="0"/>
          </a:p>
        </p:txBody>
      </p:sp>
      <p:sp>
        <p:nvSpPr>
          <p:cNvPr id="40" name="Text 25"/>
          <p:cNvSpPr txBox="1"/>
          <p:nvPr/>
        </p:nvSpPr>
        <p:spPr>
          <a:xfrm>
            <a:off x="1457554" y="4895698"/>
            <a:ext cx="43342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2週間に1回、約1時間の進捗共有会議へご参加ください。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方向性の確認と意思決定を行います。 </a:t>
            </a:r>
            <a:endParaRPr lang="en-US" sz="1200" dirty="0"/>
          </a:p>
        </p:txBody>
      </p:sp>
      <p:sp>
        <p:nvSpPr>
          <p:cNvPr id="41" name="Text 26"/>
          <p:cNvSpPr txBox="1"/>
          <p:nvPr/>
        </p:nvSpPr>
        <p:spPr>
          <a:xfrm>
            <a:off x="7125005" y="4286707"/>
            <a:ext cx="19815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プロジェクト責任者・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連絡窓口のご決定</a:t>
            </a:r>
            <a:endParaRPr lang="en-US" sz="1500" dirty="0"/>
          </a:p>
        </p:txBody>
      </p:sp>
      <p:sp>
        <p:nvSpPr>
          <p:cNvPr id="42" name="Text 27"/>
          <p:cNvSpPr txBox="1"/>
          <p:nvPr/>
        </p:nvSpPr>
        <p:spPr>
          <a:xfrm>
            <a:off x="7125005" y="4895698"/>
            <a:ext cx="433425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意思決定を行う「責任者」と、日程調整などを行う「実務窓口」を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それぞれ1名ずつご指名ください。 </a:t>
            </a:r>
            <a:endParaRPr lang="en-US" sz="1200" dirty="0"/>
          </a:p>
        </p:txBody>
      </p:sp>
      <p:sp>
        <p:nvSpPr>
          <p:cNvPr id="43" name="Shape 28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29"/>
          <p:cNvSpPr/>
          <p:nvPr/>
        </p:nvSpPr>
        <p:spPr>
          <a:xfrm>
            <a:off x="0" y="8385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0" y="8193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1"/>
          <p:cNvSpPr txBox="1"/>
          <p:nvPr/>
        </p:nvSpPr>
        <p:spPr>
          <a:xfrm>
            <a:off x="571500" y="190195"/>
            <a:ext cx="6124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を成功させるための4つのお願い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385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193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190195"/>
            <a:ext cx="5992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なぜ「お任せ」ではなく「一緒に」なのか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7" r="-7" t="0" b="0"/>
          <a:stretch/>
        </p:blipFill>
        <p:spPr>
          <a:xfrm>
            <a:off x="571500" y="1143000"/>
            <a:ext cx="11048695" cy="10341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1333195"/>
            <a:ext cx="106116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設計図は、使う人と一緒に描かなければ、使える設計図になりません。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730045"/>
            <a:ext cx="106116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コンサルタントは「設計」のプロですが、風の村の「業務」のプロは皆さまです。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1500" y="2463394"/>
            <a:ext cx="2333549" cy="2572207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1500" y="2463394"/>
            <a:ext cx="2314346" cy="57607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50922" y="2463394"/>
            <a:ext cx="534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3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3114446" y="3660343"/>
            <a:ext cx="152705" cy="17190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76549" y="2463394"/>
            <a:ext cx="2333549" cy="2572207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76549" y="2463394"/>
            <a:ext cx="2314346" cy="57607"/>
          </a:xfrm>
          <a:prstGeom prst="rect">
            <a:avLst/>
          </a:prstGeom>
          <a:solidFill>
            <a:srgbClr val="0056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55971" y="2463394"/>
            <a:ext cx="534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3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6019495" y="3660343"/>
            <a:ext cx="152705" cy="17190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381598" y="2463394"/>
            <a:ext cx="2333549" cy="2572207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81598" y="2463394"/>
            <a:ext cx="2314346" cy="57607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161020" y="2463394"/>
            <a:ext cx="534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3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8924544" y="3660343"/>
            <a:ext cx="152705" cy="171907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286646" y="2463394"/>
            <a:ext cx="2333549" cy="2572207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286646" y="2463394"/>
            <a:ext cx="2314346" cy="57607"/>
          </a:xfrm>
          <a:prstGeom prst="rect">
            <a:avLst/>
          </a:prstGeom>
          <a:solidFill>
            <a:srgbClr val="4AA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1066069" y="2463394"/>
            <a:ext cx="534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Shape 20"/>
          <p:cNvSpPr/>
          <p:nvPr/>
        </p:nvSpPr>
        <p:spPr>
          <a:xfrm>
            <a:off x="571500" y="5315407"/>
            <a:ext cx="11048695" cy="780898"/>
          </a:xfrm>
          <a:prstGeom prst="roundRect">
            <a:avLst>
              <a:gd name="adj" fmla="val 1713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66851" y="5567782"/>
            <a:ext cx="972007" cy="276149"/>
          </a:xfrm>
          <a:prstGeom prst="rect">
            <a:avLst/>
          </a:prstGeom>
          <a:noFill/>
          <a:ln/>
        </p:spPr>
      </p:sp>
      <p:sp>
        <p:nvSpPr>
          <p:cNvPr id="28" name="Text 22"/>
          <p:cNvSpPr/>
          <p:nvPr/>
        </p:nvSpPr>
        <p:spPr>
          <a:xfrm>
            <a:off x="866851" y="5567782"/>
            <a:ext cx="972007" cy="277063"/>
          </a:xfrm>
          <a:prstGeom prst="rect">
            <a:avLst/>
          </a:prstGeom>
          <a:solidFill>
            <a:srgbClr val="F59E0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Metaphor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065630" y="5514746"/>
            <a:ext cx="381305" cy="381305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-1282" r="-1282" t="0" b="0"/>
          <a:stretch/>
        </p:blipFill>
        <p:spPr>
          <a:xfrm>
            <a:off x="2146097" y="5609844"/>
            <a:ext cx="219456" cy="1901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598725" y="5576926"/>
            <a:ext cx="51627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注文住宅は、打ち合わせに参加した人ほど完成後の満足度が高い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5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1212373" y="6524244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 / 33</a:t>
            </a:r>
            <a:endParaRPr lang="en-US" sz="10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-380137" r="-380137" t="0" b="0"/>
          <a:stretch/>
        </p:blipFill>
        <p:spPr>
          <a:xfrm>
            <a:off x="733349" y="2615184"/>
            <a:ext cx="2009851" cy="2670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33349" y="2996489"/>
            <a:ext cx="21707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コンサルタント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733349" y="3330245"/>
            <a:ext cx="20866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業務設計の専門家。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全体最適の視点と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設計手法を提供。</a:t>
            </a:r>
            <a:endParaRPr lang="en-US" sz="11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-251096" r="-251096" t="0" b="0"/>
          <a:stretch/>
        </p:blipFill>
        <p:spPr>
          <a:xfrm>
            <a:off x="3638398" y="2615184"/>
            <a:ext cx="2009851" cy="2670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3638398" y="2996489"/>
            <a:ext cx="21707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風の村の皆さま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3638398" y="3330245"/>
            <a:ext cx="20866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業務（実務）の専門家。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現場の実情と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想いを提供。</a:t>
            </a:r>
            <a:endParaRPr lang="en-US" sz="11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-251096" r="-251096" t="0" b="0"/>
          <a:stretch/>
        </p:blipFill>
        <p:spPr>
          <a:xfrm>
            <a:off x="6543446" y="2615184"/>
            <a:ext cx="2009851" cy="26700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543446" y="2996489"/>
            <a:ext cx="21707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共創プロセス</a:t>
            </a:r>
            <a:endParaRPr lang="en-US" sz="1300" dirty="0"/>
          </a:p>
        </p:txBody>
      </p:sp>
      <p:sp>
        <p:nvSpPr>
          <p:cNvPr id="44" name="Text 33"/>
          <p:cNvSpPr txBox="1"/>
          <p:nvPr/>
        </p:nvSpPr>
        <p:spPr>
          <a:xfrm>
            <a:off x="6543446" y="3330245"/>
            <a:ext cx="20866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大きな体制は不要。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少人数で機動的に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設計図を描く。</a:t>
            </a:r>
            <a:endParaRPr lang="en-US" sz="11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-284551" r="-284551" t="0" b="0"/>
          <a:stretch/>
        </p:blipFill>
        <p:spPr>
          <a:xfrm>
            <a:off x="9448495" y="2615184"/>
            <a:ext cx="2009851" cy="26700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9448495" y="2996489"/>
            <a:ext cx="21707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実行段階</a:t>
            </a:r>
            <a:endParaRPr lang="en-US" sz="1300" dirty="0"/>
          </a:p>
        </p:txBody>
      </p:sp>
      <p:sp>
        <p:nvSpPr>
          <p:cNvPr id="47" name="Text 35"/>
          <p:cNvSpPr txBox="1"/>
          <p:nvPr/>
        </p:nvSpPr>
        <p:spPr>
          <a:xfrm>
            <a:off x="9448495" y="3330245"/>
            <a:ext cx="20866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一緒に作るからこそ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「自分たちのもの」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として実行できる。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6402"/>
            <a:ext cx="12191695" cy="6981444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10598" y="952805"/>
            <a:ext cx="1904695" cy="1904695"/>
          </a:xfrm>
          <a:prstGeom prst="ellipse">
            <a:avLst/>
          </a:prstGeom>
          <a:solidFill>
            <a:srgbClr val="DBEA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402" y="5076749"/>
            <a:ext cx="1429207" cy="1429207"/>
          </a:xfrm>
          <a:prstGeom prst="ellipse">
            <a:avLst/>
          </a:prstGeom>
          <a:solidFill>
            <a:srgbClr val="FEF3C7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1809598" y="857707"/>
            <a:ext cx="8572500" cy="443849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38594" r="-38594" t="0" b="0"/>
          <a:stretch/>
        </p:blipFill>
        <p:spPr>
          <a:xfrm>
            <a:off x="2190902" y="647395"/>
            <a:ext cx="886054" cy="571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0" y="2000707"/>
            <a:ext cx="7619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235708" y="1410005"/>
            <a:ext cx="7720279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正解を答える場ではありません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2247595" y="2247595"/>
            <a:ext cx="76965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日頃の仕事を、そのまま教えてください。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困っていること、工夫していること、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「なんでこうなってるんだろう」と感じていること。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何を言っても大丈夫です。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590495" y="4343400"/>
            <a:ext cx="1752905" cy="476402"/>
          </a:xfrm>
          <a:prstGeom prst="roundRect">
            <a:avLst>
              <a:gd name="adj" fmla="val 19193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28239" y="4486046"/>
            <a:ext cx="237744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181198" y="4343400"/>
            <a:ext cx="98115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匿名性の保証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19549" y="4343400"/>
            <a:ext cx="2962656" cy="476402"/>
          </a:xfrm>
          <a:prstGeom prst="roundRect">
            <a:avLst>
              <a:gd name="adj" fmla="val 19193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57293" y="4486046"/>
            <a:ext cx="237744" cy="1901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210251" y="4343400"/>
            <a:ext cx="22101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個人の発言として報告しません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858354" y="4343400"/>
            <a:ext cx="1752905" cy="476402"/>
          </a:xfrm>
          <a:prstGeom prst="roundRect">
            <a:avLst>
              <a:gd name="adj" fmla="val 19193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6098" y="4486046"/>
            <a:ext cx="237744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449056" y="4343400"/>
            <a:ext cx="98115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愚痴も大歓迎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1809598" y="5676595"/>
            <a:ext cx="8572500" cy="1399946"/>
          </a:xfrm>
          <a:prstGeom prst="roundRect">
            <a:avLst>
              <a:gd name="adj" fmla="val 5332"/>
            </a:avLst>
          </a:prstGeom>
          <a:solidFill>
            <a:srgbClr val="FFF7ED"/>
          </a:solidFill>
          <a:ln w="25400">
            <a:solidFill>
              <a:srgbClr val="FED7AA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2115007" y="6090818"/>
            <a:ext cx="571500" cy="5715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266798" y="6243523"/>
            <a:ext cx="267005" cy="2670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915107" y="5886907"/>
            <a:ext cx="7353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部長の皆さまにお願いします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2915107" y="6181344"/>
            <a:ext cx="7239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現場の方への事前の声掛けをお願いします。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「自由に話していい」「正直に話したほうが仕事が楽になる」という安心感がヒアリングの質を決めます。 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0" y="0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19"/>
          <p:cNvSpPr/>
          <p:nvPr/>
        </p:nvSpPr>
        <p:spPr>
          <a:xfrm>
            <a:off x="0" y="457200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0" y="437998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571500" y="0"/>
            <a:ext cx="537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ヒアリングを受ける方へのメッセージ</a:t>
            </a:r>
            <a:endParaRPr lang="en-US" sz="2400" dirty="0"/>
          </a:p>
        </p:txBody>
      </p:sp>
      <p:sp>
        <p:nvSpPr>
          <p:cNvPr id="30" name="Shape 22"/>
          <p:cNvSpPr/>
          <p:nvPr/>
        </p:nvSpPr>
        <p:spPr>
          <a:xfrm>
            <a:off x="0" y="7457846"/>
            <a:ext cx="12191695" cy="2093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3"/>
          <p:cNvSpPr/>
          <p:nvPr/>
        </p:nvSpPr>
        <p:spPr>
          <a:xfrm>
            <a:off x="0" y="745784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571500" y="7467905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11212373" y="7467905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31 / 33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6402"/>
            <a:ext cx="12191695" cy="66294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761695"/>
            <a:ext cx="5410505" cy="2915107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761695"/>
            <a:ext cx="5410505" cy="57607"/>
          </a:xfrm>
          <a:prstGeom prst="roundRect">
            <a:avLst>
              <a:gd name="adj" fmla="val 62247"/>
            </a:avLst>
          </a:prstGeom>
          <a:solidFill>
            <a:srgbClr val="0F2A50"/>
          </a:solidFill>
          <a:ln w="12700">
            <a:solidFill>
              <a:srgbClr val="0F2A5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77994" y="3000146"/>
            <a:ext cx="1017727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3F4F6">
                    <a:alpha val="6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809244" y="1638605"/>
            <a:ext cx="49341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" y="104790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961949" y="1171346"/>
            <a:ext cx="171907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38351" y="1068934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考え方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438351" y="1316736"/>
            <a:ext cx="4420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9" kern="0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CONCEPT &amp; APPROACH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" y="1886407"/>
            <a:ext cx="114300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66444" y="1837944"/>
            <a:ext cx="2438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都市計画アプローチ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全体最適のためのマスタープラン策定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2457907"/>
            <a:ext cx="114300" cy="1143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6444" y="2409444"/>
            <a:ext cx="2600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4つの視点 × 3つの階層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業務・情報・道具・基盤をセットで設計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3029407"/>
            <a:ext cx="114300" cy="1143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66444" y="2980944"/>
            <a:ext cx="2943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3つの原則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PDマネジメント・リアルタイム・発生源入力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210605" y="761695"/>
            <a:ext cx="5410505" cy="2915107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210605" y="761695"/>
            <a:ext cx="5410505" cy="57607"/>
          </a:xfrm>
          <a:prstGeom prst="roundRect">
            <a:avLst>
              <a:gd name="adj" fmla="val 62247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616184" y="3000146"/>
            <a:ext cx="1017727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3F4F6">
                    <a:alpha val="6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6000" dirty="0"/>
          </a:p>
        </p:txBody>
      </p:sp>
      <p:sp>
        <p:nvSpPr>
          <p:cNvPr id="22" name="Shape 16"/>
          <p:cNvSpPr/>
          <p:nvPr/>
        </p:nvSpPr>
        <p:spPr>
          <a:xfrm>
            <a:off x="6448349" y="1638605"/>
            <a:ext cx="49341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48349" y="104790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6586423" y="1171346"/>
            <a:ext cx="200254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77456" y="1068934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活動内容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077456" y="1316736"/>
            <a:ext cx="4420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9" kern="0" dirty="0">
                <a:solidFill>
                  <a:srgbClr val="00A3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ACTIVITIES (3 MONTHS)</a:t>
            </a:r>
            <a:endParaRPr lang="en-US" sz="9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6448349" y="1886407"/>
            <a:ext cx="85954" cy="1143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877202" y="1837944"/>
            <a:ext cx="2448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ヒアリング調査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（25〜30回）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全部署・現場の業務実態と課題を把握</a:t>
            </a:r>
            <a:endParaRPr lang="en-US" sz="12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6448349" y="2457907"/>
            <a:ext cx="85954" cy="1143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877202" y="2409444"/>
            <a:ext cx="2067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隔週プロジェクト会議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（全6回）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進捗共有と方向性のすり合わせ</a:t>
            </a:r>
            <a:endParaRPr lang="en-US" sz="12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6448349" y="3029407"/>
            <a:ext cx="85954" cy="1143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877202" y="2980944"/>
            <a:ext cx="1991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分析・設計作業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構造化、モデル設計、要件定義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571500" y="3905402"/>
            <a:ext cx="5410505" cy="2915107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571500" y="3905402"/>
            <a:ext cx="5410505" cy="57607"/>
          </a:xfrm>
          <a:prstGeom prst="roundRect">
            <a:avLst>
              <a:gd name="adj" fmla="val 62247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4977994" y="6143854"/>
            <a:ext cx="1017727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3F4F6">
                    <a:alpha val="6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6000" dirty="0"/>
          </a:p>
        </p:txBody>
      </p:sp>
      <p:sp>
        <p:nvSpPr>
          <p:cNvPr id="36" name="Shape 26"/>
          <p:cNvSpPr/>
          <p:nvPr/>
        </p:nvSpPr>
        <p:spPr>
          <a:xfrm>
            <a:off x="809244" y="4781398"/>
            <a:ext cx="49341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09244" y="419069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33602" y="4315054"/>
            <a:ext cx="228600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438351" y="4212641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</a:t>
            </a:r>
            <a:endParaRPr lang="en-US" sz="1500" dirty="0"/>
          </a:p>
        </p:txBody>
      </p:sp>
      <p:sp>
        <p:nvSpPr>
          <p:cNvPr id="40" name="Text 29"/>
          <p:cNvSpPr txBox="1"/>
          <p:nvPr/>
        </p:nvSpPr>
        <p:spPr>
          <a:xfrm>
            <a:off x="1438351" y="4460443"/>
            <a:ext cx="4420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9" kern="0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DELIVERABLES</a:t>
            </a:r>
            <a:endParaRPr lang="en-US" sz="9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809244" y="5029200"/>
            <a:ext cx="105156" cy="11430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1257300" y="4981651"/>
            <a:ext cx="1991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マスタープラン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基本計画・実施計画・投資概算</a:t>
            </a:r>
            <a:endParaRPr lang="en-US" sz="12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809244" y="5600700"/>
            <a:ext cx="105156" cy="11430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257300" y="5553151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要件定義書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業務要件・機能要件・システム要件</a:t>
            </a:r>
            <a:endParaRPr lang="en-US" sz="12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809244" y="6172200"/>
            <a:ext cx="105156" cy="114300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1257300" y="6124651"/>
            <a:ext cx="2134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マスターデータ構造設計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情報の背骨となる共通データ定義</a:t>
            </a:r>
            <a:endParaRPr lang="en-US" sz="1200" dirty="0"/>
          </a:p>
        </p:txBody>
      </p:sp>
      <p:sp>
        <p:nvSpPr>
          <p:cNvPr id="47" name="Shape 33"/>
          <p:cNvSpPr/>
          <p:nvPr/>
        </p:nvSpPr>
        <p:spPr>
          <a:xfrm>
            <a:off x="6210605" y="3905402"/>
            <a:ext cx="5410505" cy="2915107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6210605" y="3905402"/>
            <a:ext cx="5410505" cy="57607"/>
          </a:xfrm>
          <a:prstGeom prst="roundRect">
            <a:avLst>
              <a:gd name="adj" fmla="val 6224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9" name="Text 35"/>
          <p:cNvSpPr txBox="1"/>
          <p:nvPr/>
        </p:nvSpPr>
        <p:spPr>
          <a:xfrm>
            <a:off x="10616184" y="6143854"/>
            <a:ext cx="1017727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3F4F6">
                    <a:alpha val="6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6000" dirty="0"/>
          </a:p>
        </p:txBody>
      </p:sp>
      <p:sp>
        <p:nvSpPr>
          <p:cNvPr id="50" name="Shape 36"/>
          <p:cNvSpPr/>
          <p:nvPr/>
        </p:nvSpPr>
        <p:spPr>
          <a:xfrm>
            <a:off x="6448349" y="4781398"/>
            <a:ext cx="49341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>
            <a:off x="6448349" y="419069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rcRect l="-80" r="-80" t="0" b="0"/>
          <a:stretch/>
        </p:blipFill>
        <p:spPr>
          <a:xfrm>
            <a:off x="6543446" y="4315054"/>
            <a:ext cx="286207" cy="228600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7077456" y="4212641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endParaRPr lang="en-US" sz="1500" dirty="0"/>
          </a:p>
        </p:txBody>
      </p:sp>
      <p:sp>
        <p:nvSpPr>
          <p:cNvPr id="54" name="Text 39"/>
          <p:cNvSpPr txBox="1"/>
          <p:nvPr/>
        </p:nvSpPr>
        <p:spPr>
          <a:xfrm>
            <a:off x="7077456" y="4460443"/>
            <a:ext cx="4420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9" kern="0" dirty="0">
                <a:solidFill>
                  <a:srgbClr val="D9770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REQUESTS</a:t>
            </a:r>
            <a:endParaRPr lang="en-US" sz="900" dirty="0"/>
          </a:p>
        </p:txBody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rcRect l="-1911" r="-1911" t="0" b="0"/>
          <a:stretch/>
        </p:blipFill>
        <p:spPr>
          <a:xfrm>
            <a:off x="6448349" y="5029200"/>
            <a:ext cx="133502" cy="114300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6924751" y="4981651"/>
            <a:ext cx="1991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ヒアリング対象者の選定・調整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実務を知る担当者のご指名</a:t>
            </a:r>
            <a:endParaRPr lang="en-US" sz="120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rcRect l="-1911" r="-1911" t="0" b="0"/>
          <a:stretch/>
        </p:blipFill>
        <p:spPr>
          <a:xfrm>
            <a:off x="6448349" y="5600700"/>
            <a:ext cx="133502" cy="114300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6924751" y="5553151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既存資料・情報の提供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マニュアル、帳票、仕様書等</a:t>
            </a:r>
            <a:endParaRPr lang="en-US" sz="120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rcRect l="-1911" r="-1911" t="0" b="0"/>
          <a:stretch/>
        </p:blipFill>
        <p:spPr>
          <a:xfrm>
            <a:off x="6448349" y="6172200"/>
            <a:ext cx="133502" cy="114300"/>
          </a:xfrm>
          <a:prstGeom prst="rect">
            <a:avLst/>
          </a:prstGeom>
        </p:spPr>
      </p:pic>
      <p:sp>
        <p:nvSpPr>
          <p:cNvPr id="60" name="Text 42"/>
          <p:cNvSpPr txBox="1"/>
          <p:nvPr/>
        </p:nvSpPr>
        <p:spPr>
          <a:xfrm>
            <a:off x="6924751" y="6124651"/>
            <a:ext cx="2600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会議参加・体制決定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責任者と窓口の決定、隔週会議への参加</a:t>
            </a:r>
            <a:endParaRPr lang="en-US" sz="1200" dirty="0"/>
          </a:p>
        </p:txBody>
      </p:sp>
      <p:sp>
        <p:nvSpPr>
          <p:cNvPr id="61" name="Shape 43"/>
          <p:cNvSpPr/>
          <p:nvPr/>
        </p:nvSpPr>
        <p:spPr>
          <a:xfrm>
            <a:off x="0" y="0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44"/>
          <p:cNvSpPr/>
          <p:nvPr/>
        </p:nvSpPr>
        <p:spPr>
          <a:xfrm>
            <a:off x="0" y="457200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3" name="Shape 45"/>
          <p:cNvSpPr/>
          <p:nvPr/>
        </p:nvSpPr>
        <p:spPr>
          <a:xfrm>
            <a:off x="0" y="437998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46"/>
          <p:cNvSpPr txBox="1"/>
          <p:nvPr/>
        </p:nvSpPr>
        <p:spPr>
          <a:xfrm>
            <a:off x="571500" y="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まとめ：Phase 0 で実現すること</a:t>
            </a:r>
            <a:endParaRPr lang="en-US" sz="2400" dirty="0"/>
          </a:p>
        </p:txBody>
      </p:sp>
      <p:sp>
        <p:nvSpPr>
          <p:cNvPr id="65" name="Shape 47"/>
          <p:cNvSpPr/>
          <p:nvPr/>
        </p:nvSpPr>
        <p:spPr>
          <a:xfrm>
            <a:off x="0" y="7105802"/>
            <a:ext cx="12191695" cy="2093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48"/>
          <p:cNvSpPr/>
          <p:nvPr/>
        </p:nvSpPr>
        <p:spPr>
          <a:xfrm>
            <a:off x="0" y="710580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7" name="Text 49"/>
          <p:cNvSpPr txBox="1"/>
          <p:nvPr/>
        </p:nvSpPr>
        <p:spPr>
          <a:xfrm>
            <a:off x="571500" y="7114946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68" name="Text 50"/>
          <p:cNvSpPr txBox="1"/>
          <p:nvPr/>
        </p:nvSpPr>
        <p:spPr>
          <a:xfrm>
            <a:off x="11212373" y="7114946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 / 33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7707"/>
            <a:ext cx="12191695" cy="55248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0898" y="1238098"/>
            <a:ext cx="63825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アクションアイテム 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290218"/>
            <a:ext cx="209398" cy="20939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742846"/>
            <a:ext cx="6400800" cy="4257446"/>
          </a:xfrm>
          <a:prstGeom prst="roundRect">
            <a:avLst>
              <a:gd name="adj" fmla="val 5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" y="2882189"/>
            <a:ext cx="6381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6851" y="2424074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24051" y="2428646"/>
            <a:ext cx="5544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本日の内容に関するご質問・ご意見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（この場で）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0644" y="3538728"/>
            <a:ext cx="6381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6851" y="308152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24051" y="3086100"/>
            <a:ext cx="5544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プロジェクト責任者・連絡窓口のご指名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0644" y="4196182"/>
            <a:ext cx="6381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6851" y="373898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24051" y="3743554"/>
            <a:ext cx="5544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ヒアリング対象部署・対象者リストの作成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80644" y="4853635"/>
            <a:ext cx="6381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6851" y="4395521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324051" y="4401007"/>
            <a:ext cx="5544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契約手続きの確認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6851" y="5052974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324051" y="5057546"/>
            <a:ext cx="5544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キックオフ会議の日程調整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534656" y="1238098"/>
            <a:ext cx="427664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スケジュール案 </a:t>
            </a:r>
            <a:endParaRPr lang="en-US" sz="16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600" b="-600"/>
          <a:stretch/>
        </p:blipFill>
        <p:spPr>
          <a:xfrm>
            <a:off x="7353605" y="1290218"/>
            <a:ext cx="181051" cy="20939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353605" y="1742846"/>
            <a:ext cx="4267505" cy="4257446"/>
          </a:xfrm>
          <a:prstGeom prst="roundRect">
            <a:avLst>
              <a:gd name="adj" fmla="val 577"/>
            </a:avLst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353751" y="4733849"/>
            <a:ext cx="1076249" cy="1076249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638898" y="2457907"/>
            <a:ext cx="36960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601407" y="2029054"/>
            <a:ext cx="3771900" cy="2871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今後の流れ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7705649" y="2895905"/>
            <a:ext cx="19202" cy="2676449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115300" y="2894990"/>
            <a:ext cx="3333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3月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8115300" y="3133649"/>
            <a:ext cx="34107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キックオフ会議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8115300" y="3411626"/>
            <a:ext cx="3410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プロジェクト体制の確定と計画詳細の合意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8115300" y="3882542"/>
            <a:ext cx="3333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4月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8115300" y="4121201"/>
            <a:ext cx="34107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ヒアリング本格実施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8115300" y="4399178"/>
            <a:ext cx="3410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各部署・現場へのインタビュー調査（約1ヶ月）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8115300" y="4870094"/>
            <a:ext cx="3333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5月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8115300" y="5107838"/>
            <a:ext cx="34107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分析・設計・最終報告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8115300" y="5386730"/>
            <a:ext cx="3410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マスタープランの提示と次フェーズへの移行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7830007" y="2952598"/>
            <a:ext cx="152705" cy="152705"/>
          </a:xfrm>
          <a:prstGeom prst="ellipse">
            <a:avLst/>
          </a:prstGeom>
          <a:solidFill>
            <a:srgbClr val="00A3E0"/>
          </a:solidFill>
          <a:ln w="38100">
            <a:solidFill>
              <a:srgbClr val="0F2A50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830007" y="3940150"/>
            <a:ext cx="152705" cy="152705"/>
          </a:xfrm>
          <a:prstGeom prst="ellipse">
            <a:avLst/>
          </a:prstGeom>
          <a:solidFill>
            <a:srgbClr val="00A3E0"/>
          </a:solidFill>
          <a:ln w="38100">
            <a:solidFill>
              <a:srgbClr val="0F2A5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830007" y="4927702"/>
            <a:ext cx="152705" cy="152705"/>
          </a:xfrm>
          <a:prstGeom prst="ellipse">
            <a:avLst/>
          </a:prstGeom>
          <a:solidFill>
            <a:srgbClr val="00A3E0"/>
          </a:solidFill>
          <a:ln w="38100">
            <a:solidFill>
              <a:srgbClr val="0F2A5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7"/>
          <p:cNvSpPr/>
          <p:nvPr/>
        </p:nvSpPr>
        <p:spPr>
          <a:xfrm>
            <a:off x="0" y="838505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0" y="819302"/>
            <a:ext cx="1904695" cy="38405"/>
          </a:xfrm>
          <a:prstGeom prst="rect">
            <a:avLst/>
          </a:prstGeom>
          <a:solidFill>
            <a:srgbClr val="0F2A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571500" y="190195"/>
            <a:ext cx="19860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A5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次のステップ</a:t>
            </a:r>
            <a:endParaRPr lang="en-US" sz="2400" dirty="0"/>
          </a:p>
        </p:txBody>
      </p:sp>
      <p:sp>
        <p:nvSpPr>
          <p:cNvPr id="45" name="Shape 40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571500" y="6524244"/>
            <a:ext cx="2934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0「要件設計」コンサルティング説明会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11212373" y="6524244"/>
            <a:ext cx="488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33 / 33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2026-02-11T11:47:19Z</dcterms:created>
  <dcterms:modified xsi:type="dcterms:W3CDTF">2026-02-11T11:47:19Z</dcterms:modified>
</cp:coreProperties>
</file>