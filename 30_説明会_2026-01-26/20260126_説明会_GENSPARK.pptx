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slideLayout" Target="../slideLayouts/slideLayout1.xml"/><Relationship Id="rId1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slideLayout" Target="../slideLayouts/slideLayout1.xml"/><Relationship Id="rId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slideLayout" Target="../slideLayouts/slideLayout1.xml"/><Relationship Id="rId1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slideLayout" Target="../slideLayouts/slideLayout1.xml"/><Relationship Id="rId1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pic>
        <p:nvPicPr>
          <p:cNvPr id="3" name="Image 0" descr="preencoded.png">    </p:cNvPr>
          <p:cNvPicPr>
            <a:picLocks noChangeAspect="1"/>
          </p:cNvPicPr>
          <p:nvPr/>
        </p:nvPicPr>
        <p:blipFill>
          <a:blip r:embed="rId1"/>
          <a:srcRect l="0" r="0" t="-1" b="-1"/>
          <a:stretch/>
        </p:blipFill>
        <p:spPr>
          <a:xfrm>
            <a:off x="0" y="0"/>
            <a:ext cx="12191695" cy="6858000"/>
          </a:xfrm>
          <a:prstGeom prst="rect">
            <a:avLst/>
          </a:prstGeom>
        </p:spPr>
      </p:pic>
      <p:pic>
        <p:nvPicPr>
          <p:cNvPr id="4" name="Image 1" descr="preencoded.png">    </p:cNvPr>
          <p:cNvPicPr>
            <a:picLocks noChangeAspect="1"/>
          </p:cNvPicPr>
          <p:nvPr/>
        </p:nvPicPr>
        <p:blipFill>
          <a:blip r:embed="rId2"/>
          <a:srcRect l="0" r="0" t="0" b="0"/>
          <a:stretch/>
        </p:blipFill>
        <p:spPr>
          <a:xfrm>
            <a:off x="0" y="0"/>
            <a:ext cx="114300" cy="6858000"/>
          </a:xfrm>
          <a:prstGeom prst="rect">
            <a:avLst/>
          </a:prstGeom>
        </p:spPr>
      </p:pic>
      <p:pic>
        <p:nvPicPr>
          <p:cNvPr id="5" name="Image 2" descr="preencoded.png">    </p:cNvPr>
          <p:cNvPicPr>
            <a:picLocks noChangeAspect="1"/>
          </p:cNvPicPr>
          <p:nvPr/>
        </p:nvPicPr>
        <p:blipFill>
          <a:blip r:embed="rId3"/>
          <a:srcRect l="0" r="0" t="0" b="0"/>
          <a:stretch/>
        </p:blipFill>
        <p:spPr>
          <a:xfrm>
            <a:off x="8382305" y="3047695"/>
            <a:ext cx="3810305" cy="3810305"/>
          </a:xfrm>
          <a:prstGeom prst="rect">
            <a:avLst/>
          </a:prstGeom>
        </p:spPr>
      </p:pic>
      <p:sp>
        <p:nvSpPr>
          <p:cNvPr id="6" name="Text 1"/>
          <p:cNvSpPr txBox="1"/>
          <p:nvPr/>
        </p:nvSpPr>
        <p:spPr>
          <a:xfrm>
            <a:off x="952805" y="1260043"/>
            <a:ext cx="10668305" cy="342900"/>
          </a:xfrm>
          <a:prstGeom prst="rect">
            <a:avLst/>
          </a:prstGeom>
          <a:noFill/>
          <a:ln/>
        </p:spPr>
        <p:txBody>
          <a:bodyPr wrap="square" lIns="0" tIns="0" rIns="0" bIns="0" rtlCol="0" anchor="ctr"/>
          <a:lstStyle/>
          <a:p>
            <a:pPr algn="l" indent="0" marL="0">
              <a:buNone/>
            </a:pPr>
            <a:r>
              <a:rPr lang="en-US" sz="1800" spc="90" kern="0" dirty="0">
                <a:solidFill>
                  <a:srgbClr val="2563EB"/>
                </a:solidFill>
                <a:latin typeface="Noto Sans JP" pitchFamily="34" charset="0"/>
                <a:ea typeface="Noto Sans JP" pitchFamily="34" charset="-122"/>
                <a:cs typeface="Noto Sans JP" pitchFamily="34" charset="-120"/>
              </a:rPr>
              <a:t>AI導入による業務効率化 報告書への補足説明</a:t>
            </a:r>
            <a:endParaRPr lang="en-US" sz="1800" dirty="0"/>
          </a:p>
        </p:txBody>
      </p:sp>
      <p:sp>
        <p:nvSpPr>
          <p:cNvPr id="7" name="Text 2"/>
          <p:cNvSpPr txBox="1"/>
          <p:nvPr/>
        </p:nvSpPr>
        <p:spPr>
          <a:xfrm>
            <a:off x="952805" y="1755648"/>
            <a:ext cx="10649102" cy="1286561"/>
          </a:xfrm>
          <a:prstGeom prst="rect">
            <a:avLst/>
          </a:prstGeom>
          <a:noFill/>
          <a:ln/>
        </p:spPr>
        <p:txBody>
          <a:bodyPr wrap="square" lIns="0" tIns="0" rIns="0" bIns="0" rtlCol="0" anchor="t"/>
          <a:lstStyle/>
          <a:p>
            <a:pPr algn="l" indent="0" marL="0">
              <a:buNone/>
            </a:pPr>
            <a:r>
              <a:rPr lang="en-US" sz="4200" b="1" spc="-84" kern="0" dirty="0">
                <a:solidFill>
                  <a:srgbClr val="111827"/>
                </a:solidFill>
                <a:latin typeface="Noto Sans JP" pitchFamily="34" charset="0"/>
                <a:ea typeface="Noto Sans JP" pitchFamily="34" charset="-122"/>
                <a:cs typeface="Noto Sans JP" pitchFamily="34" charset="-120"/>
              </a:rPr>
              <a:t>業務構造の可視化と</a:t>
            </a:r>
            <a:pPr algn="l" indent="0" marL="0">
              <a:buNone/>
            </a:pPr>
            <a:endParaRPr lang="en-US" sz="4200" dirty="0"/>
          </a:p>
          <a:p>
            <a:pPr algn="l" indent="0" marL="0">
              <a:buNone/>
            </a:pPr>
            <a:r>
              <a:rPr lang="en-US" sz="4200" b="1" spc="-84" kern="0" dirty="0">
                <a:solidFill>
                  <a:srgbClr val="111827"/>
                </a:solidFill>
                <a:latin typeface="Noto Sans JP" pitchFamily="34" charset="0"/>
                <a:ea typeface="Noto Sans JP" pitchFamily="34" charset="-122"/>
                <a:cs typeface="Noto Sans JP" pitchFamily="34" charset="-120"/>
              </a:rPr>
              <a:t>次世代業務モデルへの提言</a:t>
            </a:r>
            <a:endParaRPr lang="en-US" sz="4200" dirty="0"/>
          </a:p>
        </p:txBody>
      </p:sp>
      <p:pic>
        <p:nvPicPr>
          <p:cNvPr id="8" name="Image 3" descr="preencoded.png">    </p:cNvPr>
          <p:cNvPicPr>
            <a:picLocks noChangeAspect="1"/>
          </p:cNvPicPr>
          <p:nvPr/>
        </p:nvPicPr>
        <p:blipFill>
          <a:blip r:embed="rId4"/>
          <a:srcRect l="0" r="0" t="-384" b="-384"/>
          <a:stretch/>
        </p:blipFill>
        <p:spPr>
          <a:xfrm>
            <a:off x="952805" y="3264408"/>
            <a:ext cx="952805" cy="38405"/>
          </a:xfrm>
          <a:prstGeom prst="rect">
            <a:avLst/>
          </a:prstGeom>
        </p:spPr>
      </p:pic>
      <p:sp>
        <p:nvSpPr>
          <p:cNvPr id="9" name="Text 3"/>
          <p:cNvSpPr txBox="1"/>
          <p:nvPr/>
        </p:nvSpPr>
        <p:spPr>
          <a:xfrm>
            <a:off x="952805" y="3683203"/>
            <a:ext cx="10668305" cy="305410"/>
          </a:xfrm>
          <a:prstGeom prst="rect">
            <a:avLst/>
          </a:prstGeom>
          <a:noFill/>
          <a:ln/>
        </p:spPr>
        <p:txBody>
          <a:bodyPr wrap="square" lIns="0" tIns="0" rIns="0" bIns="0" rtlCol="0" anchor="ctr"/>
          <a:lstStyle/>
          <a:p>
            <a:pPr algn="l" indent="0" marL="0">
              <a:buNone/>
            </a:pPr>
            <a:r>
              <a:rPr lang="en-US" sz="1500" dirty="0">
                <a:solidFill>
                  <a:srgbClr val="4B5563"/>
                </a:solidFill>
                <a:latin typeface="Noto Sans JP" pitchFamily="34" charset="0"/>
                <a:ea typeface="Noto Sans JP" pitchFamily="34" charset="-122"/>
                <a:cs typeface="Noto Sans JP" pitchFamily="34" charset="-120"/>
              </a:rPr>
              <a:t>社会福祉法人 生活クラブ風の村様</a:t>
            </a:r>
            <a:endParaRPr lang="en-US" sz="1500" dirty="0"/>
          </a:p>
        </p:txBody>
      </p:sp>
      <p:sp>
        <p:nvSpPr>
          <p:cNvPr id="10" name="Text 4"/>
          <p:cNvSpPr txBox="1"/>
          <p:nvPr/>
        </p:nvSpPr>
        <p:spPr>
          <a:xfrm>
            <a:off x="952805" y="3987698"/>
            <a:ext cx="10668305" cy="305410"/>
          </a:xfrm>
          <a:prstGeom prst="rect">
            <a:avLst/>
          </a:prstGeom>
          <a:noFill/>
          <a:ln/>
        </p:spPr>
        <p:txBody>
          <a:bodyPr wrap="square" lIns="0" tIns="0" rIns="0" bIns="0" rtlCol="0" anchor="ctr"/>
          <a:lstStyle/>
          <a:p>
            <a:pPr algn="l" indent="0" marL="0">
              <a:buNone/>
            </a:pPr>
            <a:r>
              <a:rPr lang="en-US" sz="1500" dirty="0">
                <a:solidFill>
                  <a:srgbClr val="4B5563"/>
                </a:solidFill>
                <a:latin typeface="Noto Sans JP" pitchFamily="34" charset="0"/>
                <a:ea typeface="Noto Sans JP" pitchFamily="34" charset="-122"/>
                <a:cs typeface="Noto Sans JP" pitchFamily="34" charset="-120"/>
              </a:rPr>
              <a:t>〜「何ができるか」から「どうあるべきか」へ〜</a:t>
            </a:r>
            <a:endParaRPr lang="en-US" sz="1500" dirty="0"/>
          </a:p>
        </p:txBody>
      </p:sp>
      <p:sp>
        <p:nvSpPr>
          <p:cNvPr id="11" name="Shape 5"/>
          <p:cNvSpPr/>
          <p:nvPr/>
        </p:nvSpPr>
        <p:spPr>
          <a:xfrm>
            <a:off x="952805" y="4750308"/>
            <a:ext cx="10477195" cy="9144"/>
          </a:xfrm>
          <a:prstGeom prst="rect">
            <a:avLst/>
          </a:prstGeom>
          <a:solidFill>
            <a:srgbClr val="E5E7EB"/>
          </a:solidFill>
          <a:ln w="12700">
            <a:solidFill>
              <a:srgbClr val="E5E7EB">
                <a:alpha val="0"/>
              </a:srgbClr>
            </a:solidFill>
            <a:prstDash val="solid"/>
          </a:ln>
        </p:spPr>
      </p:sp>
      <p:sp>
        <p:nvSpPr>
          <p:cNvPr id="12" name="Text 6"/>
          <p:cNvSpPr txBox="1"/>
          <p:nvPr/>
        </p:nvSpPr>
        <p:spPr>
          <a:xfrm>
            <a:off x="952805" y="4988052"/>
            <a:ext cx="1571854"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株式会社PreSoft</a:t>
            </a:r>
            <a:endParaRPr lang="en-US" sz="1200" dirty="0"/>
          </a:p>
        </p:txBody>
      </p:sp>
      <p:sp>
        <p:nvSpPr>
          <p:cNvPr id="13" name="Text 7"/>
          <p:cNvSpPr txBox="1"/>
          <p:nvPr/>
        </p:nvSpPr>
        <p:spPr>
          <a:xfrm>
            <a:off x="952805" y="5255057"/>
            <a:ext cx="1676095" cy="342900"/>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eMu 上田 昌夫</a:t>
            </a:r>
            <a:endParaRPr lang="en-US" sz="1800" dirty="0"/>
          </a:p>
        </p:txBody>
      </p:sp>
      <p:sp>
        <p:nvSpPr>
          <p:cNvPr id="14" name="Text 8"/>
          <p:cNvSpPr txBox="1"/>
          <p:nvPr/>
        </p:nvSpPr>
        <p:spPr>
          <a:xfrm>
            <a:off x="10133381" y="5341010"/>
            <a:ext cx="1381658" cy="257861"/>
          </a:xfrm>
          <a:prstGeom prst="rect">
            <a:avLst/>
          </a:prstGeom>
          <a:noFill/>
          <a:ln/>
        </p:spPr>
        <p:txBody>
          <a:bodyPr wrap="square" lIns="0" tIns="0" rIns="0" bIns="0" rtlCol="0" anchor="ctr"/>
          <a:lstStyle/>
          <a:p>
            <a:pPr algn="l" indent="0" marL="0">
              <a:buNone/>
            </a:pPr>
            <a:r>
              <a:rPr lang="en-US" sz="1300" dirty="0">
                <a:solidFill>
                  <a:srgbClr val="6B7280"/>
                </a:solidFill>
                <a:latin typeface="Noto Sans JP" pitchFamily="34" charset="0"/>
                <a:ea typeface="Noto Sans JP" pitchFamily="34" charset="-122"/>
                <a:cs typeface="Noto Sans JP" pitchFamily="34" charset="-120"/>
              </a:rPr>
              <a:t>2026年01月26日</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952805"/>
          </a:xfrm>
          <a:prstGeom prst="rect">
            <a:avLst/>
          </a:prstGeom>
          <a:solidFill>
            <a:srgbClr val="1E3A8A"/>
          </a:solidFill>
          <a:ln w="12700">
            <a:solidFill>
              <a:srgbClr val="FFFFFF">
                <a:alpha val="0"/>
              </a:srgbClr>
            </a:solidFill>
            <a:prstDash val="solid"/>
          </a:ln>
        </p:spPr>
      </p:sp>
      <p:sp>
        <p:nvSpPr>
          <p:cNvPr id="5" name="Text 3"/>
          <p:cNvSpPr txBox="1"/>
          <p:nvPr/>
        </p:nvSpPr>
        <p:spPr>
          <a:xfrm>
            <a:off x="875995" y="219456"/>
            <a:ext cx="1583741" cy="514807"/>
          </a:xfrm>
          <a:prstGeom prst="rect">
            <a:avLst/>
          </a:prstGeom>
          <a:noFill/>
          <a:ln/>
        </p:spPr>
        <p:txBody>
          <a:bodyPr wrap="square" lIns="0" tIns="0" rIns="0" bIns="0" rtlCol="0" anchor="ctr"/>
          <a:lstStyle/>
          <a:p>
            <a:pPr algn="l" indent="0" marL="0">
              <a:buNone/>
            </a:pPr>
            <a:r>
              <a:rPr lang="en-US" sz="2700" b="1" dirty="0">
                <a:solidFill>
                  <a:srgbClr val="FFFFFF"/>
                </a:solidFill>
                <a:latin typeface="Noto Sans JP" pitchFamily="34" charset="0"/>
                <a:ea typeface="Noto Sans JP" pitchFamily="34" charset="-122"/>
                <a:cs typeface="Noto Sans JP" pitchFamily="34" charset="-120"/>
              </a:rPr>
              <a:t>自己紹介</a:t>
            </a:r>
            <a:endParaRPr lang="en-US" sz="2700" dirty="0"/>
          </a:p>
        </p:txBody>
      </p:sp>
      <p:pic>
        <p:nvPicPr>
          <p:cNvPr id="6" name="Image 0" descr="preencoded.png">    </p:cNvPr>
          <p:cNvPicPr>
            <a:picLocks noChangeAspect="1"/>
          </p:cNvPicPr>
          <p:nvPr/>
        </p:nvPicPr>
        <p:blipFill>
          <a:blip r:embed="rId1"/>
          <a:srcRect l="-743" r="-743" t="0" b="0"/>
          <a:stretch/>
        </p:blipFill>
        <p:spPr>
          <a:xfrm>
            <a:off x="571500" y="304495"/>
            <a:ext cx="304495" cy="342900"/>
          </a:xfrm>
          <a:prstGeom prst="rect">
            <a:avLst/>
          </a:prstGeom>
        </p:spPr>
      </p:pic>
      <p:sp>
        <p:nvSpPr>
          <p:cNvPr id="7" name="Text 4"/>
          <p:cNvSpPr txBox="1"/>
          <p:nvPr/>
        </p:nvSpPr>
        <p:spPr>
          <a:xfrm>
            <a:off x="571500" y="1333195"/>
            <a:ext cx="1314907" cy="400507"/>
          </a:xfrm>
          <a:prstGeom prst="rect">
            <a:avLst/>
          </a:prstGeom>
          <a:noFill/>
          <a:ln/>
        </p:spPr>
        <p:txBody>
          <a:bodyPr wrap="square" lIns="0" tIns="0" rIns="0" bIns="0" rtlCol="0" anchor="ctr"/>
          <a:lstStyle/>
          <a:p>
            <a:pPr algn="l" indent="0" marL="0">
              <a:buNone/>
            </a:pPr>
            <a:r>
              <a:rPr lang="en-US" sz="2100" b="1" dirty="0">
                <a:solidFill>
                  <a:srgbClr val="1F2937"/>
                </a:solidFill>
                <a:latin typeface="Noto Sans JP" pitchFamily="34" charset="0"/>
                <a:ea typeface="Noto Sans JP" pitchFamily="34" charset="-122"/>
                <a:cs typeface="Noto Sans JP" pitchFamily="34" charset="-120"/>
              </a:rPr>
              <a:t>上田 昌夫</a:t>
            </a:r>
            <a:endParaRPr lang="en-US" sz="2100" dirty="0"/>
          </a:p>
        </p:txBody>
      </p:sp>
      <p:sp>
        <p:nvSpPr>
          <p:cNvPr id="8" name="Shape 5"/>
          <p:cNvSpPr/>
          <p:nvPr/>
        </p:nvSpPr>
        <p:spPr>
          <a:xfrm>
            <a:off x="1851660" y="1380744"/>
            <a:ext cx="2133295" cy="304495"/>
          </a:xfrm>
          <a:prstGeom prst="roundRect">
            <a:avLst>
              <a:gd name="adj" fmla="val 37538"/>
            </a:avLst>
          </a:prstGeom>
          <a:solidFill>
            <a:srgbClr val="F3F4F6"/>
          </a:solidFill>
          <a:ln w="12700">
            <a:solidFill>
              <a:srgbClr val="FFFFFF">
                <a:alpha val="0"/>
              </a:srgbClr>
            </a:solidFill>
            <a:prstDash val="solid"/>
          </a:ln>
        </p:spPr>
      </p:sp>
      <p:sp>
        <p:nvSpPr>
          <p:cNvPr id="9" name="Text 6"/>
          <p:cNvSpPr txBox="1"/>
          <p:nvPr/>
        </p:nvSpPr>
        <p:spPr>
          <a:xfrm>
            <a:off x="1851660" y="1380744"/>
            <a:ext cx="2243938" cy="3054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株式会社PreSoft / eMu 代表</a:t>
            </a:r>
            <a:endParaRPr lang="en-US" sz="1200" dirty="0"/>
          </a:p>
        </p:txBody>
      </p:sp>
      <p:sp>
        <p:nvSpPr>
          <p:cNvPr id="10" name="Shape 7"/>
          <p:cNvSpPr/>
          <p:nvPr/>
        </p:nvSpPr>
        <p:spPr>
          <a:xfrm>
            <a:off x="571500" y="1962302"/>
            <a:ext cx="19202" cy="752551"/>
          </a:xfrm>
          <a:prstGeom prst="rect">
            <a:avLst/>
          </a:prstGeom>
          <a:solidFill>
            <a:srgbClr val="E5E7EB"/>
          </a:solidFill>
          <a:ln w="12700">
            <a:solidFill>
              <a:srgbClr val="E5E7EB">
                <a:alpha val="0"/>
              </a:srgbClr>
            </a:solidFill>
            <a:prstDash val="solid"/>
          </a:ln>
        </p:spPr>
      </p:sp>
      <p:pic>
        <p:nvPicPr>
          <p:cNvPr id="11" name="Image 1" descr="preencoded.png">    </p:cNvPr>
          <p:cNvPicPr>
            <a:picLocks noChangeAspect="1"/>
          </p:cNvPicPr>
          <p:nvPr/>
        </p:nvPicPr>
        <p:blipFill>
          <a:blip r:embed="rId2"/>
          <a:srcRect l="0" r="0" t="0" b="0"/>
          <a:stretch/>
        </p:blipFill>
        <p:spPr>
          <a:xfrm>
            <a:off x="504749" y="2018995"/>
            <a:ext cx="152705" cy="152705"/>
          </a:xfrm>
          <a:prstGeom prst="rect">
            <a:avLst/>
          </a:prstGeom>
        </p:spPr>
      </p:pic>
      <p:sp>
        <p:nvSpPr>
          <p:cNvPr id="12" name="Text 8"/>
          <p:cNvSpPr txBox="1"/>
          <p:nvPr/>
        </p:nvSpPr>
        <p:spPr>
          <a:xfrm>
            <a:off x="895198" y="1962302"/>
            <a:ext cx="5162702" cy="200254"/>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1986 - 1991</a:t>
            </a:r>
            <a:endParaRPr lang="en-US" sz="1000" dirty="0"/>
          </a:p>
        </p:txBody>
      </p:sp>
      <p:sp>
        <p:nvSpPr>
          <p:cNvPr id="13" name="Text 9"/>
          <p:cNvSpPr txBox="1"/>
          <p:nvPr/>
        </p:nvSpPr>
        <p:spPr>
          <a:xfrm>
            <a:off x="895198" y="2200046"/>
            <a:ext cx="523951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日立製作所（SE）</a:t>
            </a:r>
            <a:endParaRPr lang="en-US" sz="1300" dirty="0"/>
          </a:p>
        </p:txBody>
      </p:sp>
      <p:sp>
        <p:nvSpPr>
          <p:cNvPr id="14" name="Text 10"/>
          <p:cNvSpPr txBox="1"/>
          <p:nvPr/>
        </p:nvSpPr>
        <p:spPr>
          <a:xfrm>
            <a:off x="895198" y="2495398"/>
            <a:ext cx="5239512" cy="219456"/>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グループ統合NW構築、AI、生産管理システムの開発に従事</a:t>
            </a:r>
            <a:endParaRPr lang="en-US" sz="1100" dirty="0"/>
          </a:p>
        </p:txBody>
      </p:sp>
      <p:sp>
        <p:nvSpPr>
          <p:cNvPr id="15" name="Shape 11"/>
          <p:cNvSpPr/>
          <p:nvPr/>
        </p:nvSpPr>
        <p:spPr>
          <a:xfrm>
            <a:off x="571500" y="2938882"/>
            <a:ext cx="19202" cy="752551"/>
          </a:xfrm>
          <a:prstGeom prst="rect">
            <a:avLst/>
          </a:prstGeom>
          <a:solidFill>
            <a:srgbClr val="E5E7EB"/>
          </a:solidFill>
          <a:ln w="12700">
            <a:solidFill>
              <a:srgbClr val="E5E7EB">
                <a:alpha val="0"/>
              </a:srgbClr>
            </a:solidFill>
            <a:prstDash val="solid"/>
          </a:ln>
        </p:spPr>
      </p:sp>
      <p:pic>
        <p:nvPicPr>
          <p:cNvPr id="16" name="Image 2" descr="preencoded.png">    </p:cNvPr>
          <p:cNvPicPr>
            <a:picLocks noChangeAspect="1"/>
          </p:cNvPicPr>
          <p:nvPr/>
        </p:nvPicPr>
        <p:blipFill>
          <a:blip r:embed="rId3"/>
          <a:srcRect l="0" r="0" t="0" b="0"/>
          <a:stretch/>
        </p:blipFill>
        <p:spPr>
          <a:xfrm>
            <a:off x="504749" y="2995574"/>
            <a:ext cx="152705" cy="152705"/>
          </a:xfrm>
          <a:prstGeom prst="rect">
            <a:avLst/>
          </a:prstGeom>
        </p:spPr>
      </p:pic>
      <p:sp>
        <p:nvSpPr>
          <p:cNvPr id="17" name="Text 12"/>
          <p:cNvSpPr txBox="1"/>
          <p:nvPr/>
        </p:nvSpPr>
        <p:spPr>
          <a:xfrm>
            <a:off x="895198" y="2938882"/>
            <a:ext cx="5162702" cy="200254"/>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1991 - 1998</a:t>
            </a:r>
            <a:endParaRPr lang="en-US" sz="1000" dirty="0"/>
          </a:p>
        </p:txBody>
      </p:sp>
      <p:sp>
        <p:nvSpPr>
          <p:cNvPr id="18" name="Text 13"/>
          <p:cNvSpPr txBox="1"/>
          <p:nvPr/>
        </p:nvSpPr>
        <p:spPr>
          <a:xfrm>
            <a:off x="895198" y="3176626"/>
            <a:ext cx="523951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三井物産 情報通信システム部</a:t>
            </a:r>
            <a:endParaRPr lang="en-US" sz="1300" dirty="0"/>
          </a:p>
        </p:txBody>
      </p:sp>
      <p:sp>
        <p:nvSpPr>
          <p:cNvPr id="19" name="Text 14"/>
          <p:cNvSpPr txBox="1"/>
          <p:nvPr/>
        </p:nvSpPr>
        <p:spPr>
          <a:xfrm>
            <a:off x="895198" y="3471977"/>
            <a:ext cx="5239512" cy="219456"/>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部門独立採算制導入、基幹システム再構築、EA推進</a:t>
            </a:r>
            <a:endParaRPr lang="en-US" sz="1100" dirty="0"/>
          </a:p>
        </p:txBody>
      </p:sp>
      <p:sp>
        <p:nvSpPr>
          <p:cNvPr id="20" name="Shape 15"/>
          <p:cNvSpPr/>
          <p:nvPr/>
        </p:nvSpPr>
        <p:spPr>
          <a:xfrm>
            <a:off x="571500" y="3914546"/>
            <a:ext cx="19202" cy="752551"/>
          </a:xfrm>
          <a:prstGeom prst="rect">
            <a:avLst/>
          </a:prstGeom>
          <a:solidFill>
            <a:srgbClr val="E5E7EB"/>
          </a:solidFill>
          <a:ln w="12700">
            <a:solidFill>
              <a:srgbClr val="E5E7EB">
                <a:alpha val="0"/>
              </a:srgbClr>
            </a:solidFill>
            <a:prstDash val="solid"/>
          </a:ln>
        </p:spPr>
      </p:sp>
      <p:pic>
        <p:nvPicPr>
          <p:cNvPr id="21" name="Image 3" descr="preencoded.png">    </p:cNvPr>
          <p:cNvPicPr>
            <a:picLocks noChangeAspect="1"/>
          </p:cNvPicPr>
          <p:nvPr/>
        </p:nvPicPr>
        <p:blipFill>
          <a:blip r:embed="rId4"/>
          <a:srcRect l="0" r="0" t="0" b="0"/>
          <a:stretch/>
        </p:blipFill>
        <p:spPr>
          <a:xfrm>
            <a:off x="504749" y="3972154"/>
            <a:ext cx="152705" cy="152705"/>
          </a:xfrm>
          <a:prstGeom prst="rect">
            <a:avLst/>
          </a:prstGeom>
        </p:spPr>
      </p:pic>
      <p:sp>
        <p:nvSpPr>
          <p:cNvPr id="22" name="Text 16"/>
          <p:cNvSpPr txBox="1"/>
          <p:nvPr/>
        </p:nvSpPr>
        <p:spPr>
          <a:xfrm>
            <a:off x="895198" y="3914546"/>
            <a:ext cx="5162702" cy="200254"/>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1998 - 2006</a:t>
            </a:r>
            <a:endParaRPr lang="en-US" sz="1000" dirty="0"/>
          </a:p>
        </p:txBody>
      </p:sp>
      <p:sp>
        <p:nvSpPr>
          <p:cNvPr id="23" name="Text 17"/>
          <p:cNvSpPr txBox="1"/>
          <p:nvPr/>
        </p:nvSpPr>
        <p:spPr>
          <a:xfrm>
            <a:off x="895198" y="4153205"/>
            <a:ext cx="523951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テレビ朝日 情報システム局</a:t>
            </a:r>
            <a:endParaRPr lang="en-US" sz="1300" dirty="0"/>
          </a:p>
        </p:txBody>
      </p:sp>
      <p:sp>
        <p:nvSpPr>
          <p:cNvPr id="24" name="Text 18"/>
          <p:cNvSpPr txBox="1"/>
          <p:nvPr/>
        </p:nvSpPr>
        <p:spPr>
          <a:xfrm>
            <a:off x="895198" y="4448556"/>
            <a:ext cx="5239512" cy="219456"/>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デジタル放送対応に伴う業務構造改革、システム開発方法論策定</a:t>
            </a:r>
            <a:endParaRPr lang="en-US" sz="1100" dirty="0"/>
          </a:p>
        </p:txBody>
      </p:sp>
      <p:sp>
        <p:nvSpPr>
          <p:cNvPr id="25" name="Shape 19"/>
          <p:cNvSpPr/>
          <p:nvPr/>
        </p:nvSpPr>
        <p:spPr>
          <a:xfrm>
            <a:off x="571500" y="4891126"/>
            <a:ext cx="19202" cy="752551"/>
          </a:xfrm>
          <a:prstGeom prst="rect">
            <a:avLst/>
          </a:prstGeom>
          <a:solidFill>
            <a:srgbClr val="E5E7EB"/>
          </a:solidFill>
          <a:ln w="12700">
            <a:solidFill>
              <a:srgbClr val="E5E7EB">
                <a:alpha val="0"/>
              </a:srgbClr>
            </a:solidFill>
            <a:prstDash val="solid"/>
          </a:ln>
        </p:spPr>
      </p:sp>
      <p:pic>
        <p:nvPicPr>
          <p:cNvPr id="26" name="Image 4" descr="preencoded.png">    </p:cNvPr>
          <p:cNvPicPr>
            <a:picLocks noChangeAspect="1"/>
          </p:cNvPicPr>
          <p:nvPr/>
        </p:nvPicPr>
        <p:blipFill>
          <a:blip r:embed="rId5"/>
          <a:srcRect l="0" r="0" t="0" b="0"/>
          <a:stretch/>
        </p:blipFill>
        <p:spPr>
          <a:xfrm>
            <a:off x="504749" y="4947818"/>
            <a:ext cx="152705" cy="152705"/>
          </a:xfrm>
          <a:prstGeom prst="rect">
            <a:avLst/>
          </a:prstGeom>
        </p:spPr>
      </p:pic>
      <p:sp>
        <p:nvSpPr>
          <p:cNvPr id="27" name="Text 20"/>
          <p:cNvSpPr txBox="1"/>
          <p:nvPr/>
        </p:nvSpPr>
        <p:spPr>
          <a:xfrm>
            <a:off x="895198" y="4891126"/>
            <a:ext cx="5162702" cy="200254"/>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2007 - 2015</a:t>
            </a:r>
            <a:endParaRPr lang="en-US" sz="1000" dirty="0"/>
          </a:p>
        </p:txBody>
      </p:sp>
      <p:sp>
        <p:nvSpPr>
          <p:cNvPr id="28" name="Text 21"/>
          <p:cNvSpPr txBox="1"/>
          <p:nvPr/>
        </p:nvSpPr>
        <p:spPr>
          <a:xfrm>
            <a:off x="895198" y="5128870"/>
            <a:ext cx="51627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みらかHD / SRL（IT担当取締役）</a:t>
            </a:r>
            <a:endParaRPr lang="en-US" sz="1300" dirty="0"/>
          </a:p>
        </p:txBody>
      </p:sp>
      <p:sp>
        <p:nvSpPr>
          <p:cNvPr id="29" name="Text 22"/>
          <p:cNvSpPr txBox="1"/>
          <p:nvPr/>
        </p:nvSpPr>
        <p:spPr>
          <a:xfrm>
            <a:off x="895198" y="5424221"/>
            <a:ext cx="5239512" cy="219456"/>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グループ全社統合、システム体制変革、アジャイル開発導入</a:t>
            </a:r>
            <a:endParaRPr lang="en-US" sz="1100" dirty="0"/>
          </a:p>
        </p:txBody>
      </p:sp>
      <p:sp>
        <p:nvSpPr>
          <p:cNvPr id="30" name="Shape 23"/>
          <p:cNvSpPr/>
          <p:nvPr/>
        </p:nvSpPr>
        <p:spPr>
          <a:xfrm>
            <a:off x="571500" y="5867705"/>
            <a:ext cx="19202" cy="752551"/>
          </a:xfrm>
          <a:prstGeom prst="rect">
            <a:avLst/>
          </a:prstGeom>
          <a:solidFill>
            <a:srgbClr val="000000">
              <a:alpha val="0"/>
            </a:srgbClr>
          </a:solidFill>
          <a:ln w="12700">
            <a:solidFill>
              <a:srgbClr val="000000">
                <a:alpha val="0"/>
              </a:srgbClr>
            </a:solidFill>
            <a:prstDash val="solid"/>
          </a:ln>
        </p:spPr>
      </p:sp>
      <p:pic>
        <p:nvPicPr>
          <p:cNvPr id="31" name="Image 5" descr="preencoded.png">    </p:cNvPr>
          <p:cNvPicPr>
            <a:picLocks noChangeAspect="1"/>
          </p:cNvPicPr>
          <p:nvPr/>
        </p:nvPicPr>
        <p:blipFill>
          <a:blip r:embed="rId6"/>
          <a:srcRect l="0" r="0" t="0" b="0"/>
          <a:stretch/>
        </p:blipFill>
        <p:spPr>
          <a:xfrm>
            <a:off x="504749" y="5924398"/>
            <a:ext cx="152705" cy="152705"/>
          </a:xfrm>
          <a:prstGeom prst="rect">
            <a:avLst/>
          </a:prstGeom>
        </p:spPr>
      </p:pic>
      <p:sp>
        <p:nvSpPr>
          <p:cNvPr id="32" name="Text 24"/>
          <p:cNvSpPr txBox="1"/>
          <p:nvPr/>
        </p:nvSpPr>
        <p:spPr>
          <a:xfrm>
            <a:off x="895198" y="5867705"/>
            <a:ext cx="5162702" cy="200254"/>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2016 - 現在</a:t>
            </a:r>
            <a:endParaRPr lang="en-US" sz="1000" dirty="0"/>
          </a:p>
        </p:txBody>
      </p:sp>
      <p:sp>
        <p:nvSpPr>
          <p:cNvPr id="33" name="Text 25"/>
          <p:cNvSpPr txBox="1"/>
          <p:nvPr/>
        </p:nvSpPr>
        <p:spPr>
          <a:xfrm>
            <a:off x="895198" y="6105449"/>
            <a:ext cx="51627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eMu設立</a:t>
            </a:r>
            <a:endParaRPr lang="en-US" sz="1300" dirty="0"/>
          </a:p>
        </p:txBody>
      </p:sp>
      <p:sp>
        <p:nvSpPr>
          <p:cNvPr id="34" name="Text 26"/>
          <p:cNvSpPr txBox="1"/>
          <p:nvPr/>
        </p:nvSpPr>
        <p:spPr>
          <a:xfrm>
            <a:off x="895198" y="6400800"/>
            <a:ext cx="5239512" cy="219456"/>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「企業情報システムの新しい創り方」提唱、DX戦略立案・実行支援</a:t>
            </a:r>
            <a:endParaRPr lang="en-US" sz="1100" dirty="0"/>
          </a:p>
        </p:txBody>
      </p:sp>
      <p:sp>
        <p:nvSpPr>
          <p:cNvPr id="35" name="Shape 27"/>
          <p:cNvSpPr/>
          <p:nvPr/>
        </p:nvSpPr>
        <p:spPr>
          <a:xfrm>
            <a:off x="6515100" y="1333195"/>
            <a:ext cx="5105095" cy="5286146"/>
          </a:xfrm>
          <a:prstGeom prst="roundRect">
            <a:avLst>
              <a:gd name="adj" fmla="val 401"/>
            </a:avLst>
          </a:prstGeom>
          <a:solidFill>
            <a:srgbClr val="F8FAFC"/>
          </a:solidFill>
          <a:ln w="12700">
            <a:solidFill>
              <a:srgbClr val="E2E8F0"/>
            </a:solidFill>
            <a:prstDash val="solid"/>
          </a:ln>
        </p:spPr>
      </p:sp>
      <p:sp>
        <p:nvSpPr>
          <p:cNvPr id="36" name="Shape 28"/>
          <p:cNvSpPr/>
          <p:nvPr/>
        </p:nvSpPr>
        <p:spPr>
          <a:xfrm>
            <a:off x="6829654" y="2047342"/>
            <a:ext cx="4476902" cy="19202"/>
          </a:xfrm>
          <a:prstGeom prst="rect">
            <a:avLst/>
          </a:prstGeom>
          <a:solidFill>
            <a:srgbClr val="E2E8F0"/>
          </a:solidFill>
          <a:ln w="12700">
            <a:solidFill>
              <a:srgbClr val="E2E8F0">
                <a:alpha val="0"/>
              </a:srgbClr>
            </a:solidFill>
            <a:prstDash val="solid"/>
          </a:ln>
        </p:spPr>
      </p:sp>
      <p:sp>
        <p:nvSpPr>
          <p:cNvPr id="37" name="Text 29"/>
          <p:cNvSpPr txBox="1"/>
          <p:nvPr/>
        </p:nvSpPr>
        <p:spPr>
          <a:xfrm>
            <a:off x="7049110" y="1647749"/>
            <a:ext cx="4334256" cy="286207"/>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1E3A8A"/>
                </a:solidFill>
                <a:latin typeface="Noto Sans JP" pitchFamily="34" charset="0"/>
                <a:ea typeface="Noto Sans JP" pitchFamily="34" charset="-122"/>
                <a:cs typeface="Noto Sans JP" pitchFamily="34" charset="-120"/>
              </a:rPr>
              <a:t>専門領域</a:t>
            </a:r>
            <a:endParaRPr lang="en-US" sz="1500" dirty="0"/>
          </a:p>
        </p:txBody>
      </p:sp>
      <p:pic>
        <p:nvPicPr>
          <p:cNvPr id="38" name="Image 6" descr="preencoded.png">    </p:cNvPr>
          <p:cNvPicPr>
            <a:picLocks noChangeAspect="1"/>
          </p:cNvPicPr>
          <p:nvPr/>
        </p:nvPicPr>
        <p:blipFill>
          <a:blip r:embed="rId7"/>
          <a:srcRect l="-1282" r="-1282" t="0" b="0"/>
          <a:stretch/>
        </p:blipFill>
        <p:spPr>
          <a:xfrm>
            <a:off x="6829654" y="1695298"/>
            <a:ext cx="219456" cy="190195"/>
          </a:xfrm>
          <a:prstGeom prst="rect">
            <a:avLst/>
          </a:prstGeom>
        </p:spPr>
      </p:pic>
      <p:sp>
        <p:nvSpPr>
          <p:cNvPr id="39" name="Text 30"/>
          <p:cNvSpPr txBox="1"/>
          <p:nvPr/>
        </p:nvSpPr>
        <p:spPr>
          <a:xfrm>
            <a:off x="6829654" y="2257654"/>
            <a:ext cx="1143000" cy="333756"/>
          </a:xfrm>
          <a:prstGeom prst="rect">
            <a:avLst/>
          </a:prstGeom>
          <a:solidFill>
            <a:srgbClr val="EFF6FF"/>
          </a:solidFill>
          <a:ln w="12700">
            <a:solidFill>
              <a:srgbClr val="BFDBFE"/>
            </a:solidFill>
          </a:ln>
        </p:spPr>
        <p:txBody>
          <a:bodyPr wrap="square" lIns="0" tIns="0" rIns="0" bIns="0" rtlCol="0" anchor="t"/>
          <a:lstStyle/>
          <a:p>
            <a:pPr algn="l" indent="0" marL="0">
              <a:buNone/>
            </a:pPr>
            <a:r>
              <a:rPr lang="en-US" sz="1000" dirty="0">
                <a:solidFill>
                  <a:srgbClr val="1D4ED8"/>
                </a:solidFill>
                <a:latin typeface="Noto Sans JP" pitchFamily="34" charset="0"/>
                <a:ea typeface="Noto Sans JP" pitchFamily="34" charset="-122"/>
                <a:cs typeface="Noto Sans JP" pitchFamily="34" charset="-120"/>
              </a:rPr>
              <a:t>業務構造改革</a:t>
            </a:r>
            <a:endParaRPr lang="en-US" sz="1000" dirty="0"/>
          </a:p>
        </p:txBody>
      </p:sp>
      <p:sp>
        <p:nvSpPr>
          <p:cNvPr id="40" name="Text 31"/>
          <p:cNvSpPr txBox="1"/>
          <p:nvPr/>
        </p:nvSpPr>
        <p:spPr>
          <a:xfrm>
            <a:off x="8010144" y="2257654"/>
            <a:ext cx="2477110" cy="333756"/>
          </a:xfrm>
          <a:prstGeom prst="rect">
            <a:avLst/>
          </a:prstGeom>
          <a:solidFill>
            <a:srgbClr val="EFF6FF"/>
          </a:solidFill>
          <a:ln w="12700">
            <a:solidFill>
              <a:srgbClr val="BFDBFE"/>
            </a:solidFill>
          </a:ln>
        </p:spPr>
        <p:txBody>
          <a:bodyPr wrap="square" lIns="0" tIns="0" rIns="0" bIns="0" rtlCol="0" anchor="t"/>
          <a:lstStyle/>
          <a:p>
            <a:pPr algn="l" indent="0" marL="0">
              <a:buNone/>
            </a:pPr>
            <a:r>
              <a:rPr lang="en-US" sz="1000" dirty="0">
                <a:solidFill>
                  <a:srgbClr val="1D4ED8"/>
                </a:solidFill>
                <a:latin typeface="Noto Sans JP" pitchFamily="34" charset="0"/>
                <a:ea typeface="Noto Sans JP" pitchFamily="34" charset="-122"/>
                <a:cs typeface="Noto Sans JP" pitchFamily="34" charset="-120"/>
              </a:rPr>
              <a:t>エンタープライズ・アーキテクチャ</a:t>
            </a:r>
            <a:endParaRPr lang="en-US" sz="1000" dirty="0"/>
          </a:p>
        </p:txBody>
      </p:sp>
      <p:sp>
        <p:nvSpPr>
          <p:cNvPr id="41" name="Text 32"/>
          <p:cNvSpPr txBox="1"/>
          <p:nvPr/>
        </p:nvSpPr>
        <p:spPr>
          <a:xfrm>
            <a:off x="6829654" y="2686507"/>
            <a:ext cx="1010412" cy="333756"/>
          </a:xfrm>
          <a:prstGeom prst="rect">
            <a:avLst/>
          </a:prstGeom>
          <a:solidFill>
            <a:srgbClr val="EFF6FF"/>
          </a:solidFill>
          <a:ln w="12700">
            <a:solidFill>
              <a:srgbClr val="BFDBFE"/>
            </a:solidFill>
          </a:ln>
        </p:spPr>
        <p:txBody>
          <a:bodyPr wrap="square" lIns="0" tIns="0" rIns="0" bIns="0" rtlCol="0" anchor="t"/>
          <a:lstStyle/>
          <a:p>
            <a:pPr algn="l" indent="0" marL="0">
              <a:buNone/>
            </a:pPr>
            <a:r>
              <a:rPr lang="en-US" sz="1000" dirty="0">
                <a:solidFill>
                  <a:srgbClr val="1D4ED8"/>
                </a:solidFill>
                <a:latin typeface="Noto Sans JP" pitchFamily="34" charset="0"/>
                <a:ea typeface="Noto Sans JP" pitchFamily="34" charset="-122"/>
                <a:cs typeface="Noto Sans JP" pitchFamily="34" charset="-120"/>
              </a:rPr>
              <a:t>モデリング</a:t>
            </a:r>
            <a:endParaRPr lang="en-US" sz="1000" dirty="0"/>
          </a:p>
        </p:txBody>
      </p:sp>
      <p:sp>
        <p:nvSpPr>
          <p:cNvPr id="42" name="Text 33"/>
          <p:cNvSpPr txBox="1"/>
          <p:nvPr/>
        </p:nvSpPr>
        <p:spPr>
          <a:xfrm>
            <a:off x="7877556" y="2686507"/>
            <a:ext cx="1536192" cy="333756"/>
          </a:xfrm>
          <a:prstGeom prst="rect">
            <a:avLst/>
          </a:prstGeom>
          <a:solidFill>
            <a:srgbClr val="EFF6FF"/>
          </a:solidFill>
          <a:ln w="12700">
            <a:solidFill>
              <a:srgbClr val="BFDBFE"/>
            </a:solidFill>
          </a:ln>
        </p:spPr>
        <p:txBody>
          <a:bodyPr wrap="square" lIns="0" tIns="0" rIns="0" bIns="0" rtlCol="0" anchor="t"/>
          <a:lstStyle/>
          <a:p>
            <a:pPr algn="l" indent="0" marL="0">
              <a:buNone/>
            </a:pPr>
            <a:r>
              <a:rPr lang="en-US" sz="1000" dirty="0">
                <a:solidFill>
                  <a:srgbClr val="1D4ED8"/>
                </a:solidFill>
                <a:latin typeface="Noto Sans JP" pitchFamily="34" charset="0"/>
                <a:ea typeface="Noto Sans JP" pitchFamily="34" charset="-122"/>
                <a:cs typeface="Noto Sans JP" pitchFamily="34" charset="-120"/>
              </a:rPr>
              <a:t>アジャイル開発導入</a:t>
            </a:r>
            <a:endParaRPr lang="en-US" sz="1000" dirty="0"/>
          </a:p>
        </p:txBody>
      </p:sp>
      <p:sp>
        <p:nvSpPr>
          <p:cNvPr id="43" name="Text 34"/>
          <p:cNvSpPr txBox="1"/>
          <p:nvPr/>
        </p:nvSpPr>
        <p:spPr>
          <a:xfrm>
            <a:off x="9446666" y="2686507"/>
            <a:ext cx="1047902" cy="333756"/>
          </a:xfrm>
          <a:prstGeom prst="rect">
            <a:avLst/>
          </a:prstGeom>
          <a:solidFill>
            <a:srgbClr val="EFF6FF"/>
          </a:solidFill>
          <a:ln w="12700">
            <a:solidFill>
              <a:srgbClr val="BFDBFE"/>
            </a:solidFill>
          </a:ln>
        </p:spPr>
        <p:txBody>
          <a:bodyPr wrap="square" lIns="0" tIns="0" rIns="0" bIns="0" rtlCol="0" anchor="t"/>
          <a:lstStyle/>
          <a:p>
            <a:pPr algn="l" indent="0" marL="0">
              <a:buNone/>
            </a:pPr>
            <a:r>
              <a:rPr lang="en-US" sz="1000" dirty="0">
                <a:solidFill>
                  <a:srgbClr val="1D4ED8"/>
                </a:solidFill>
                <a:latin typeface="Noto Sans JP" pitchFamily="34" charset="0"/>
                <a:ea typeface="Noto Sans JP" pitchFamily="34" charset="-122"/>
                <a:cs typeface="Noto Sans JP" pitchFamily="34" charset="-120"/>
              </a:rPr>
              <a:t>DX戦略立案</a:t>
            </a:r>
            <a:endParaRPr lang="en-US" sz="1000" dirty="0"/>
          </a:p>
        </p:txBody>
      </p:sp>
      <p:sp>
        <p:nvSpPr>
          <p:cNvPr id="44" name="Shape 35"/>
          <p:cNvSpPr/>
          <p:nvPr/>
        </p:nvSpPr>
        <p:spPr>
          <a:xfrm>
            <a:off x="6829654" y="3647542"/>
            <a:ext cx="4476902" cy="19202"/>
          </a:xfrm>
          <a:prstGeom prst="rect">
            <a:avLst/>
          </a:prstGeom>
          <a:solidFill>
            <a:srgbClr val="E2E8F0"/>
          </a:solidFill>
          <a:ln w="12700">
            <a:solidFill>
              <a:srgbClr val="E2E8F0">
                <a:alpha val="0"/>
              </a:srgbClr>
            </a:solidFill>
            <a:prstDash val="solid"/>
          </a:ln>
        </p:spPr>
      </p:sp>
      <p:sp>
        <p:nvSpPr>
          <p:cNvPr id="45" name="Text 36"/>
          <p:cNvSpPr txBox="1"/>
          <p:nvPr/>
        </p:nvSpPr>
        <p:spPr>
          <a:xfrm>
            <a:off x="7019849" y="3247949"/>
            <a:ext cx="4363517" cy="286207"/>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1E3A8A"/>
                </a:solidFill>
                <a:latin typeface="Noto Sans JP" pitchFamily="34" charset="0"/>
                <a:ea typeface="Noto Sans JP" pitchFamily="34" charset="-122"/>
                <a:cs typeface="Noto Sans JP" pitchFamily="34" charset="-120"/>
              </a:rPr>
              <a:t>主な支援実績</a:t>
            </a:r>
            <a:endParaRPr lang="en-US" sz="1500" dirty="0"/>
          </a:p>
        </p:txBody>
      </p:sp>
      <p:pic>
        <p:nvPicPr>
          <p:cNvPr id="46" name="Image 7" descr="preencoded.png">    </p:cNvPr>
          <p:cNvPicPr>
            <a:picLocks noChangeAspect="1"/>
          </p:cNvPicPr>
          <p:nvPr/>
        </p:nvPicPr>
        <p:blipFill>
          <a:blip r:embed="rId8"/>
          <a:srcRect l="0" r="0" t="0" b="0"/>
          <a:stretch/>
        </p:blipFill>
        <p:spPr>
          <a:xfrm>
            <a:off x="6829654" y="3295498"/>
            <a:ext cx="190195" cy="190195"/>
          </a:xfrm>
          <a:prstGeom prst="rect">
            <a:avLst/>
          </a:prstGeom>
        </p:spPr>
      </p:pic>
      <p:pic>
        <p:nvPicPr>
          <p:cNvPr id="47" name="Image 8" descr="preencoded.png">    </p:cNvPr>
          <p:cNvPicPr>
            <a:picLocks noChangeAspect="1"/>
          </p:cNvPicPr>
          <p:nvPr/>
        </p:nvPicPr>
        <p:blipFill>
          <a:blip r:embed="rId9"/>
          <a:srcRect l="0" r="0" t="0" b="0"/>
          <a:stretch/>
        </p:blipFill>
        <p:spPr>
          <a:xfrm>
            <a:off x="6829654" y="3857854"/>
            <a:ext cx="133502" cy="133502"/>
          </a:xfrm>
          <a:prstGeom prst="rect">
            <a:avLst/>
          </a:prstGeom>
        </p:spPr>
      </p:pic>
      <p:sp>
        <p:nvSpPr>
          <p:cNvPr id="48" name="Text 37"/>
          <p:cNvSpPr txBox="1"/>
          <p:nvPr/>
        </p:nvSpPr>
        <p:spPr>
          <a:xfrm>
            <a:off x="6963156" y="3857854"/>
            <a:ext cx="2924251" cy="219456"/>
          </a:xfrm>
          <a:prstGeom prst="rect">
            <a:avLst/>
          </a:prstGeom>
          <a:noFill/>
          <a:ln/>
        </p:spPr>
        <p:txBody>
          <a:bodyPr wrap="square" lIns="0" tIns="0" rIns="0" bIns="0" rtlCol="0" anchor="ctr"/>
          <a:lstStyle/>
          <a:p>
            <a:pPr algn="l" indent="0" marL="0">
              <a:buNone/>
            </a:pPr>
            <a:r>
              <a:rPr lang="en-US" sz="1100" dirty="0">
                <a:solidFill>
                  <a:srgbClr val="374151"/>
                </a:solidFill>
                <a:latin typeface="Noto Sans JP" pitchFamily="34" charset="0"/>
                <a:ea typeface="Noto Sans JP" pitchFamily="34" charset="-122"/>
                <a:cs typeface="Noto Sans JP" pitchFamily="34" charset="-120"/>
              </a:rPr>
              <a:t>東証一部上場EPC企業（売上3500億規模）</a:t>
            </a:r>
            <a:endParaRPr lang="en-US" sz="1100" dirty="0"/>
          </a:p>
        </p:txBody>
      </p:sp>
      <p:pic>
        <p:nvPicPr>
          <p:cNvPr id="49" name="Image 9" descr="preencoded.png">    </p:cNvPr>
          <p:cNvPicPr>
            <a:picLocks noChangeAspect="1"/>
          </p:cNvPicPr>
          <p:nvPr/>
        </p:nvPicPr>
        <p:blipFill>
          <a:blip r:embed="rId10"/>
          <a:srcRect l="0" r="0" t="0" b="0"/>
          <a:stretch/>
        </p:blipFill>
        <p:spPr>
          <a:xfrm>
            <a:off x="6829654" y="4186123"/>
            <a:ext cx="133502" cy="133502"/>
          </a:xfrm>
          <a:prstGeom prst="rect">
            <a:avLst/>
          </a:prstGeom>
        </p:spPr>
      </p:pic>
      <p:sp>
        <p:nvSpPr>
          <p:cNvPr id="50" name="Text 38"/>
          <p:cNvSpPr txBox="1"/>
          <p:nvPr/>
        </p:nvSpPr>
        <p:spPr>
          <a:xfrm>
            <a:off x="6963156" y="4186123"/>
            <a:ext cx="3001061" cy="219456"/>
          </a:xfrm>
          <a:prstGeom prst="rect">
            <a:avLst/>
          </a:prstGeom>
          <a:noFill/>
          <a:ln/>
        </p:spPr>
        <p:txBody>
          <a:bodyPr wrap="square" lIns="0" tIns="0" rIns="0" bIns="0" rtlCol="0" anchor="ctr"/>
          <a:lstStyle/>
          <a:p>
            <a:pPr algn="l" indent="0" marL="0">
              <a:buNone/>
            </a:pPr>
            <a:r>
              <a:rPr lang="en-US" sz="1100" dirty="0">
                <a:solidFill>
                  <a:srgbClr val="374151"/>
                </a:solidFill>
                <a:latin typeface="Noto Sans JP" pitchFamily="34" charset="0"/>
                <a:ea typeface="Noto Sans JP" pitchFamily="34" charset="-122"/>
                <a:cs typeface="Noto Sans JP" pitchFamily="34" charset="-120"/>
              </a:rPr>
              <a:t>家庭用品製造・販売企業（売上300億規模）</a:t>
            </a:r>
            <a:endParaRPr lang="en-US" sz="1100" dirty="0"/>
          </a:p>
        </p:txBody>
      </p:sp>
      <p:pic>
        <p:nvPicPr>
          <p:cNvPr id="51" name="Image 10" descr="preencoded.png">    </p:cNvPr>
          <p:cNvPicPr>
            <a:picLocks noChangeAspect="1"/>
          </p:cNvPicPr>
          <p:nvPr/>
        </p:nvPicPr>
        <p:blipFill>
          <a:blip r:embed="rId11"/>
          <a:srcRect l="0" r="0" t="0" b="0"/>
          <a:stretch/>
        </p:blipFill>
        <p:spPr>
          <a:xfrm>
            <a:off x="6829654" y="4515307"/>
            <a:ext cx="133502" cy="133502"/>
          </a:xfrm>
          <a:prstGeom prst="rect">
            <a:avLst/>
          </a:prstGeom>
        </p:spPr>
      </p:pic>
      <p:sp>
        <p:nvSpPr>
          <p:cNvPr id="52" name="Text 39"/>
          <p:cNvSpPr txBox="1"/>
          <p:nvPr/>
        </p:nvSpPr>
        <p:spPr>
          <a:xfrm>
            <a:off x="6963156" y="4515307"/>
            <a:ext cx="1872691" cy="219456"/>
          </a:xfrm>
          <a:prstGeom prst="rect">
            <a:avLst/>
          </a:prstGeom>
          <a:noFill/>
          <a:ln/>
        </p:spPr>
        <p:txBody>
          <a:bodyPr wrap="square" lIns="0" tIns="0" rIns="0" bIns="0" rtlCol="0" anchor="ctr"/>
          <a:lstStyle/>
          <a:p>
            <a:pPr algn="l" indent="0" marL="0">
              <a:buNone/>
            </a:pPr>
            <a:r>
              <a:rPr lang="en-US" sz="1100" dirty="0">
                <a:solidFill>
                  <a:srgbClr val="374151"/>
                </a:solidFill>
                <a:latin typeface="Noto Sans JP" pitchFamily="34" charset="0"/>
                <a:ea typeface="Noto Sans JP" pitchFamily="34" charset="-122"/>
                <a:cs typeface="Noto Sans JP" pitchFamily="34" charset="-120"/>
              </a:rPr>
              <a:t>検査会社（売上30億規模）</a:t>
            </a:r>
            <a:endParaRPr lang="en-US" sz="1100" dirty="0"/>
          </a:p>
        </p:txBody>
      </p:sp>
      <p:pic>
        <p:nvPicPr>
          <p:cNvPr id="53" name="Image 11" descr="preencoded.png">    </p:cNvPr>
          <p:cNvPicPr>
            <a:picLocks noChangeAspect="1"/>
          </p:cNvPicPr>
          <p:nvPr/>
        </p:nvPicPr>
        <p:blipFill>
          <a:blip r:embed="rId12"/>
          <a:srcRect l="0" r="0" t="0" b="0"/>
          <a:stretch/>
        </p:blipFill>
        <p:spPr>
          <a:xfrm>
            <a:off x="6829654" y="4843577"/>
            <a:ext cx="133502" cy="133502"/>
          </a:xfrm>
          <a:prstGeom prst="rect">
            <a:avLst/>
          </a:prstGeom>
        </p:spPr>
      </p:pic>
      <p:sp>
        <p:nvSpPr>
          <p:cNvPr id="54" name="Text 40"/>
          <p:cNvSpPr txBox="1"/>
          <p:nvPr/>
        </p:nvSpPr>
        <p:spPr>
          <a:xfrm>
            <a:off x="6963156" y="4843577"/>
            <a:ext cx="2181758" cy="219456"/>
          </a:xfrm>
          <a:prstGeom prst="rect">
            <a:avLst/>
          </a:prstGeom>
          <a:noFill/>
          <a:ln/>
        </p:spPr>
        <p:txBody>
          <a:bodyPr wrap="square" lIns="0" tIns="0" rIns="0" bIns="0" rtlCol="0" anchor="ctr"/>
          <a:lstStyle/>
          <a:p>
            <a:pPr algn="l" indent="0" marL="0">
              <a:buNone/>
            </a:pPr>
            <a:r>
              <a:rPr lang="en-US" sz="1100" dirty="0">
                <a:solidFill>
                  <a:srgbClr val="374151"/>
                </a:solidFill>
                <a:latin typeface="Noto Sans JP" pitchFamily="34" charset="0"/>
                <a:ea typeface="Noto Sans JP" pitchFamily="34" charset="-122"/>
                <a:cs typeface="Noto Sans JP" pitchFamily="34" charset="-120"/>
              </a:rPr>
              <a:t>家具メーカー（売上40億規模）</a:t>
            </a:r>
            <a:endParaRPr lang="en-US" sz="1100" dirty="0"/>
          </a:p>
        </p:txBody>
      </p:sp>
      <p:pic>
        <p:nvPicPr>
          <p:cNvPr id="55" name="Image 12" descr="preencoded.png">    </p:cNvPr>
          <p:cNvPicPr>
            <a:picLocks noChangeAspect="1"/>
          </p:cNvPicPr>
          <p:nvPr/>
        </p:nvPicPr>
        <p:blipFill>
          <a:blip r:embed="rId13"/>
          <a:srcRect l="0" r="0" t="0" b="0"/>
          <a:stretch/>
        </p:blipFill>
        <p:spPr>
          <a:xfrm>
            <a:off x="6829654" y="5171846"/>
            <a:ext cx="133502" cy="133502"/>
          </a:xfrm>
          <a:prstGeom prst="rect">
            <a:avLst/>
          </a:prstGeom>
        </p:spPr>
      </p:pic>
      <p:sp>
        <p:nvSpPr>
          <p:cNvPr id="56" name="Text 41"/>
          <p:cNvSpPr txBox="1"/>
          <p:nvPr/>
        </p:nvSpPr>
        <p:spPr>
          <a:xfrm>
            <a:off x="6963156" y="5171846"/>
            <a:ext cx="3943807" cy="219456"/>
          </a:xfrm>
          <a:prstGeom prst="rect">
            <a:avLst/>
          </a:prstGeom>
          <a:noFill/>
          <a:ln/>
        </p:spPr>
        <p:txBody>
          <a:bodyPr wrap="square" lIns="0" tIns="0" rIns="0" bIns="0" rtlCol="0" anchor="ctr"/>
          <a:lstStyle/>
          <a:p>
            <a:pPr algn="l" indent="0" marL="0">
              <a:buNone/>
            </a:pPr>
            <a:r>
              <a:rPr lang="en-US" sz="1100" dirty="0">
                <a:solidFill>
                  <a:srgbClr val="374151"/>
                </a:solidFill>
                <a:latin typeface="Noto Sans JP" pitchFamily="34" charset="0"/>
                <a:ea typeface="Noto Sans JP" pitchFamily="34" charset="-122"/>
                <a:cs typeface="Noto Sans JP" pitchFamily="34" charset="-120"/>
              </a:rPr>
              <a:t>大手自動車部品メーカー、半導体検査装置メーカー 他多数</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1104595"/>
          </a:xfrm>
          <a:prstGeom prst="rect">
            <a:avLst/>
          </a:prstGeom>
          <a:solidFill>
            <a:srgbClr val="FFFFFF"/>
          </a:solidFill>
          <a:ln/>
        </p:spPr>
      </p:sp>
      <p:sp>
        <p:nvSpPr>
          <p:cNvPr id="5" name="Shape 3"/>
          <p:cNvSpPr/>
          <p:nvPr/>
        </p:nvSpPr>
        <p:spPr>
          <a:xfrm>
            <a:off x="0" y="1085393"/>
            <a:ext cx="12191695" cy="19202"/>
          </a:xfrm>
          <a:prstGeom prst="rect">
            <a:avLst/>
          </a:prstGeom>
          <a:solidFill>
            <a:srgbClr val="E5E7EB"/>
          </a:solidFill>
          <a:ln w="12700">
            <a:solidFill>
              <a:srgbClr val="E5E7EB">
                <a:alpha val="0"/>
              </a:srgbClr>
            </a:solidFill>
            <a:prstDash val="solid"/>
          </a:ln>
        </p:spPr>
      </p:sp>
      <p:sp>
        <p:nvSpPr>
          <p:cNvPr id="6" name="Text 4"/>
          <p:cNvSpPr txBox="1"/>
          <p:nvPr/>
        </p:nvSpPr>
        <p:spPr>
          <a:xfrm>
            <a:off x="571500" y="381305"/>
            <a:ext cx="3536899"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本日の目的と内容</a:t>
            </a:r>
            <a:endParaRPr lang="en-US" sz="2700" dirty="0"/>
          </a:p>
        </p:txBody>
      </p:sp>
      <p:sp>
        <p:nvSpPr>
          <p:cNvPr id="7" name="Shape 5"/>
          <p:cNvSpPr/>
          <p:nvPr/>
        </p:nvSpPr>
        <p:spPr>
          <a:xfrm>
            <a:off x="571500" y="381305"/>
            <a:ext cx="75895" cy="342900"/>
          </a:xfrm>
          <a:prstGeom prst="rect">
            <a:avLst/>
          </a:prstGeom>
          <a:solidFill>
            <a:srgbClr val="2563EB"/>
          </a:solidFill>
          <a:ln w="12700">
            <a:solidFill>
              <a:srgbClr val="FFFFFF">
                <a:alpha val="0"/>
              </a:srgbClr>
            </a:solidFill>
            <a:prstDash val="solid"/>
          </a:ln>
        </p:spPr>
      </p:sp>
      <p:sp>
        <p:nvSpPr>
          <p:cNvPr id="8" name="Shape 6"/>
          <p:cNvSpPr/>
          <p:nvPr/>
        </p:nvSpPr>
        <p:spPr>
          <a:xfrm>
            <a:off x="571500" y="1485900"/>
            <a:ext cx="5333695" cy="4990795"/>
          </a:xfrm>
          <a:prstGeom prst="roundRect">
            <a:avLst>
              <a:gd name="adj" fmla="val 559"/>
            </a:avLst>
          </a:prstGeom>
          <a:solidFill>
            <a:srgbClr val="F8FAFC"/>
          </a:solidFill>
          <a:ln w="12700">
            <a:solidFill>
              <a:srgbClr val="E2E8F0"/>
            </a:solidFill>
            <a:prstDash val="solid"/>
          </a:ln>
          <a:effectLst>
            <a:outerShdw sx="100000" sy="100000" kx="0" ky="0" algn="bl" rotWithShape="0" blurRad="63500" dist="38100" dir="16200000">
              <a:srgbClr val="000000">
                <a:alpha val="5000"/>
              </a:srgbClr>
            </a:outerShdw>
          </a:effectLst>
        </p:spPr>
      </p:sp>
      <p:sp>
        <p:nvSpPr>
          <p:cNvPr id="9" name="Shape 7"/>
          <p:cNvSpPr/>
          <p:nvPr/>
        </p:nvSpPr>
        <p:spPr>
          <a:xfrm>
            <a:off x="961949" y="2676449"/>
            <a:ext cx="4552798" cy="19202"/>
          </a:xfrm>
          <a:prstGeom prst="rect">
            <a:avLst/>
          </a:prstGeom>
          <a:solidFill>
            <a:srgbClr val="E5E7EB"/>
          </a:solidFill>
          <a:ln w="12700">
            <a:solidFill>
              <a:srgbClr val="E5E7EB">
                <a:alpha val="0"/>
              </a:srgbClr>
            </a:solidFill>
            <a:prstDash val="solid"/>
          </a:ln>
        </p:spPr>
      </p:sp>
      <p:sp>
        <p:nvSpPr>
          <p:cNvPr id="10" name="Shape 8"/>
          <p:cNvSpPr/>
          <p:nvPr/>
        </p:nvSpPr>
        <p:spPr>
          <a:xfrm>
            <a:off x="961949" y="1876349"/>
            <a:ext cx="609905" cy="609905"/>
          </a:xfrm>
          <a:prstGeom prst="roundRect">
            <a:avLst>
              <a:gd name="adj" fmla="val 28111"/>
            </a:avLst>
          </a:prstGeom>
          <a:solidFill>
            <a:srgbClr val="EFF6FF"/>
          </a:solidFill>
          <a:ln w="12700">
            <a:solidFill>
              <a:srgbClr val="FFFFFF">
                <a:alpha val="0"/>
              </a:srgbClr>
            </a:solidFill>
            <a:prstDash val="solid"/>
          </a:ln>
        </p:spPr>
      </p:sp>
      <p:pic>
        <p:nvPicPr>
          <p:cNvPr id="11" name="Image 0" descr="preencoded.png">    </p:cNvPr>
          <p:cNvPicPr>
            <a:picLocks noChangeAspect="1"/>
          </p:cNvPicPr>
          <p:nvPr/>
        </p:nvPicPr>
        <p:blipFill>
          <a:blip r:embed="rId1"/>
          <a:srcRect l="0" r="0" t="0" b="0"/>
          <a:stretch/>
        </p:blipFill>
        <p:spPr>
          <a:xfrm>
            <a:off x="1133856" y="2048256"/>
            <a:ext cx="267005" cy="267005"/>
          </a:xfrm>
          <a:prstGeom prst="rect">
            <a:avLst/>
          </a:prstGeom>
        </p:spPr>
      </p:pic>
      <p:sp>
        <p:nvSpPr>
          <p:cNvPr id="12" name="Text 9"/>
          <p:cNvSpPr txBox="1"/>
          <p:nvPr/>
        </p:nvSpPr>
        <p:spPr>
          <a:xfrm>
            <a:off x="1762049" y="1981505"/>
            <a:ext cx="1451153" cy="400507"/>
          </a:xfrm>
          <a:prstGeom prst="rect">
            <a:avLst/>
          </a:prstGeom>
          <a:noFill/>
          <a:ln/>
        </p:spPr>
        <p:txBody>
          <a:bodyPr wrap="square" lIns="0" tIns="0" rIns="0" bIns="0" rtlCol="0" anchor="ctr"/>
          <a:lstStyle/>
          <a:p>
            <a:pPr algn="l" indent="0" marL="0">
              <a:buNone/>
            </a:pPr>
            <a:r>
              <a:rPr lang="en-US" sz="2100" b="1" dirty="0">
                <a:solidFill>
                  <a:srgbClr val="1F2937"/>
                </a:solidFill>
                <a:latin typeface="Noto Sans JP" pitchFamily="34" charset="0"/>
                <a:ea typeface="Noto Sans JP" pitchFamily="34" charset="-122"/>
                <a:cs typeface="Noto Sans JP" pitchFamily="34" charset="-120"/>
              </a:rPr>
              <a:t>本日の目的</a:t>
            </a:r>
            <a:endParaRPr lang="en-US" sz="2100" dirty="0"/>
          </a:p>
        </p:txBody>
      </p:sp>
      <p:sp>
        <p:nvSpPr>
          <p:cNvPr id="13" name="Text 10"/>
          <p:cNvSpPr txBox="1"/>
          <p:nvPr/>
        </p:nvSpPr>
        <p:spPr>
          <a:xfrm>
            <a:off x="1304849" y="3519526"/>
            <a:ext cx="4401007" cy="314554"/>
          </a:xfrm>
          <a:prstGeom prst="rect">
            <a:avLst/>
          </a:prstGeom>
          <a:noFill/>
          <a:ln/>
        </p:spPr>
        <p:txBody>
          <a:bodyPr wrap="square" lIns="0" tIns="0" rIns="0" bIns="0" rtlCol="0" anchor="ctr"/>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報告書の提言の</a:t>
            </a:r>
            <a:pPr algn="l" indent="0" marL="0">
              <a:buNone/>
            </a:pPr>
            <a:r>
              <a:rPr lang="en-US" sz="1600" b="1" dirty="0">
                <a:solidFill>
                  <a:srgbClr val="374151"/>
                </a:solidFill>
                <a:latin typeface="Noto Sans JP" pitchFamily="34" charset="0"/>
                <a:ea typeface="Noto Sans JP" pitchFamily="34" charset="-122"/>
                <a:cs typeface="Noto Sans JP" pitchFamily="34" charset="-120"/>
              </a:rPr>
              <a:t>背景と考え方</a:t>
            </a:r>
            <a:pPr algn="l" indent="0" marL="0">
              <a:buNone/>
            </a:pPr>
            <a:r>
              <a:rPr lang="en-US" sz="1600" dirty="0">
                <a:solidFill>
                  <a:srgbClr val="374151"/>
                </a:solidFill>
                <a:latin typeface="Noto Sans JP" pitchFamily="34" charset="0"/>
                <a:ea typeface="Noto Sans JP" pitchFamily="34" charset="-122"/>
                <a:cs typeface="Noto Sans JP" pitchFamily="34" charset="-120"/>
              </a:rPr>
              <a:t>を共有する</a:t>
            </a:r>
            <a:endParaRPr lang="en-US" sz="1600" dirty="0"/>
          </a:p>
        </p:txBody>
      </p:sp>
      <p:sp>
        <p:nvSpPr>
          <p:cNvPr id="14" name="Text 11"/>
          <p:cNvSpPr txBox="1"/>
          <p:nvPr/>
        </p:nvSpPr>
        <p:spPr>
          <a:xfrm>
            <a:off x="1304849" y="4062679"/>
            <a:ext cx="4289450" cy="629107"/>
          </a:xfrm>
          <a:prstGeom prst="rect">
            <a:avLst/>
          </a:prstGeom>
          <a:noFill/>
          <a:ln/>
        </p:spPr>
        <p:txBody>
          <a:bodyPr wrap="square" lIns="0" tIns="0" rIns="0" bIns="0" rtlCol="0" anchor="t"/>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理事長の懸念</a:t>
            </a:r>
            <a:pPr algn="l" indent="0" marL="0">
              <a:buNone/>
            </a:pPr>
            <a:r>
              <a:rPr lang="en-US" sz="1600" b="1" dirty="0">
                <a:solidFill>
                  <a:srgbClr val="374151"/>
                </a:solidFill>
                <a:latin typeface="Noto Sans JP" pitchFamily="34" charset="0"/>
                <a:ea typeface="Noto Sans JP" pitchFamily="34" charset="-122"/>
                <a:cs typeface="Noto Sans JP" pitchFamily="34" charset="-120"/>
              </a:rPr>
              <a:t>「何ができるか」</a:t>
            </a:r>
            <a:pPr algn="l" indent="0" marL="0">
              <a:buNone/>
            </a:pPr>
            <a:r>
              <a:rPr lang="en-US" sz="1600" dirty="0">
                <a:solidFill>
                  <a:srgbClr val="374151"/>
                </a:solidFill>
                <a:latin typeface="Noto Sans JP" pitchFamily="34" charset="0"/>
                <a:ea typeface="Noto Sans JP" pitchFamily="34" charset="-122"/>
                <a:cs typeface="Noto Sans JP" pitchFamily="34" charset="-120"/>
              </a:rPr>
              <a:t>に具体的に応える</a:t>
            </a:r>
            <a:endParaRPr lang="en-US" sz="1600" dirty="0"/>
          </a:p>
        </p:txBody>
      </p:sp>
      <p:sp>
        <p:nvSpPr>
          <p:cNvPr id="15" name="Text 12"/>
          <p:cNvSpPr txBox="1"/>
          <p:nvPr/>
        </p:nvSpPr>
        <p:spPr>
          <a:xfrm>
            <a:off x="1304849" y="4919472"/>
            <a:ext cx="4289450" cy="629107"/>
          </a:xfrm>
          <a:prstGeom prst="rect">
            <a:avLst/>
          </a:prstGeom>
          <a:noFill/>
          <a:ln/>
        </p:spPr>
        <p:txBody>
          <a:bodyPr wrap="square" lIns="0" tIns="0" rIns="0" bIns="0" rtlCol="0" anchor="t"/>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改革への</a:t>
            </a:r>
            <a:pPr algn="l" indent="0" marL="0">
              <a:buNone/>
            </a:pPr>
            <a:r>
              <a:rPr lang="en-US" sz="1600" b="1" dirty="0">
                <a:solidFill>
                  <a:srgbClr val="374151"/>
                </a:solidFill>
                <a:latin typeface="Noto Sans JP" pitchFamily="34" charset="0"/>
                <a:ea typeface="Noto Sans JP" pitchFamily="34" charset="-122"/>
                <a:cs typeface="Noto Sans JP" pitchFamily="34" charset="-120"/>
              </a:rPr>
              <a:t>最初の一歩（Phase0）</a:t>
            </a:r>
            <a:pPr algn="l" indent="0" marL="0">
              <a:buNone/>
            </a:pPr>
            <a:r>
              <a:rPr lang="en-US" sz="1600" dirty="0">
                <a:solidFill>
                  <a:srgbClr val="374151"/>
                </a:solidFill>
                <a:latin typeface="Noto Sans JP" pitchFamily="34" charset="0"/>
                <a:ea typeface="Noto Sans JP" pitchFamily="34" charset="-122"/>
                <a:cs typeface="Noto Sans JP" pitchFamily="34" charset="-120"/>
              </a:rPr>
              <a:t>について合意形成を図る</a:t>
            </a:r>
            <a:endParaRPr lang="en-US" sz="1600" dirty="0"/>
          </a:p>
        </p:txBody>
      </p:sp>
      <p:sp>
        <p:nvSpPr>
          <p:cNvPr id="16" name="Shape 13"/>
          <p:cNvSpPr/>
          <p:nvPr/>
        </p:nvSpPr>
        <p:spPr>
          <a:xfrm>
            <a:off x="6286500" y="1485900"/>
            <a:ext cx="5333695" cy="4990795"/>
          </a:xfrm>
          <a:prstGeom prst="roundRect">
            <a:avLst>
              <a:gd name="adj" fmla="val 559"/>
            </a:avLst>
          </a:prstGeom>
          <a:solidFill>
            <a:srgbClr val="F8FAFC"/>
          </a:solidFill>
          <a:ln w="12700">
            <a:solidFill>
              <a:srgbClr val="E2E8F0"/>
            </a:solidFill>
            <a:prstDash val="solid"/>
          </a:ln>
          <a:effectLst>
            <a:outerShdw sx="100000" sy="100000" kx="0" ky="0" algn="bl" rotWithShape="0" blurRad="63500" dist="38100" dir="16200000">
              <a:srgbClr val="000000">
                <a:alpha val="5000"/>
              </a:srgbClr>
            </a:outerShdw>
          </a:effectLst>
        </p:spPr>
      </p:sp>
      <p:sp>
        <p:nvSpPr>
          <p:cNvPr id="17" name="Shape 14"/>
          <p:cNvSpPr/>
          <p:nvPr/>
        </p:nvSpPr>
        <p:spPr>
          <a:xfrm>
            <a:off x="6676949" y="2676449"/>
            <a:ext cx="4552798" cy="19202"/>
          </a:xfrm>
          <a:prstGeom prst="rect">
            <a:avLst/>
          </a:prstGeom>
          <a:solidFill>
            <a:srgbClr val="E5E7EB"/>
          </a:solidFill>
          <a:ln w="12700">
            <a:solidFill>
              <a:srgbClr val="E5E7EB">
                <a:alpha val="0"/>
              </a:srgbClr>
            </a:solidFill>
            <a:prstDash val="solid"/>
          </a:ln>
        </p:spPr>
      </p:sp>
      <p:sp>
        <p:nvSpPr>
          <p:cNvPr id="18" name="Shape 15"/>
          <p:cNvSpPr/>
          <p:nvPr/>
        </p:nvSpPr>
        <p:spPr>
          <a:xfrm>
            <a:off x="6676949" y="1876349"/>
            <a:ext cx="609905" cy="609905"/>
          </a:xfrm>
          <a:prstGeom prst="roundRect">
            <a:avLst>
              <a:gd name="adj" fmla="val 28111"/>
            </a:avLst>
          </a:prstGeom>
          <a:solidFill>
            <a:srgbClr val="ECFDF5"/>
          </a:solidFill>
          <a:ln w="12700">
            <a:solidFill>
              <a:srgbClr val="FFFFFF">
                <a:alpha val="0"/>
              </a:srgbClr>
            </a:solidFill>
            <a:prstDash val="solid"/>
          </a:ln>
        </p:spPr>
      </p:sp>
      <p:pic>
        <p:nvPicPr>
          <p:cNvPr id="19" name="Image 1" descr="preencoded.png">    </p:cNvPr>
          <p:cNvPicPr>
            <a:picLocks noChangeAspect="1"/>
          </p:cNvPicPr>
          <p:nvPr/>
        </p:nvPicPr>
        <p:blipFill>
          <a:blip r:embed="rId2"/>
          <a:srcRect l="0" r="0" t="0" b="0"/>
          <a:stretch/>
        </p:blipFill>
        <p:spPr>
          <a:xfrm>
            <a:off x="6848856" y="2048256"/>
            <a:ext cx="267005" cy="267005"/>
          </a:xfrm>
          <a:prstGeom prst="rect">
            <a:avLst/>
          </a:prstGeom>
        </p:spPr>
      </p:pic>
      <p:sp>
        <p:nvSpPr>
          <p:cNvPr id="20" name="Text 16"/>
          <p:cNvSpPr txBox="1"/>
          <p:nvPr/>
        </p:nvSpPr>
        <p:spPr>
          <a:xfrm>
            <a:off x="7477049" y="1981505"/>
            <a:ext cx="1163117" cy="400507"/>
          </a:xfrm>
          <a:prstGeom prst="rect">
            <a:avLst/>
          </a:prstGeom>
          <a:noFill/>
          <a:ln/>
        </p:spPr>
        <p:txBody>
          <a:bodyPr wrap="square" lIns="0" tIns="0" rIns="0" bIns="0" rtlCol="0" anchor="ctr"/>
          <a:lstStyle/>
          <a:p>
            <a:pPr algn="l" indent="0" marL="0">
              <a:buNone/>
            </a:pPr>
            <a:r>
              <a:rPr lang="en-US" sz="2100" b="1" dirty="0">
                <a:solidFill>
                  <a:srgbClr val="1F2937"/>
                </a:solidFill>
                <a:latin typeface="Noto Sans JP" pitchFamily="34" charset="0"/>
                <a:ea typeface="Noto Sans JP" pitchFamily="34" charset="-122"/>
                <a:cs typeface="Noto Sans JP" pitchFamily="34" charset="-120"/>
              </a:rPr>
              <a:t>説明内容</a:t>
            </a:r>
            <a:endParaRPr lang="en-US" sz="2100" dirty="0"/>
          </a:p>
        </p:txBody>
      </p:sp>
      <p:sp>
        <p:nvSpPr>
          <p:cNvPr id="21" name="Text 17"/>
          <p:cNvSpPr txBox="1"/>
          <p:nvPr/>
        </p:nvSpPr>
        <p:spPr>
          <a:xfrm>
            <a:off x="7019849" y="3247949"/>
            <a:ext cx="4401007" cy="314554"/>
          </a:xfrm>
          <a:prstGeom prst="rect">
            <a:avLst/>
          </a:prstGeom>
          <a:noFill/>
          <a:ln/>
        </p:spPr>
        <p:txBody>
          <a:bodyPr wrap="square" lIns="0" tIns="0" rIns="0" bIns="0" rtlCol="0" anchor="ctr"/>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ヒアリングから見えた</a:t>
            </a:r>
            <a:pPr algn="l" indent="0" marL="0">
              <a:buNone/>
            </a:pPr>
            <a:r>
              <a:rPr lang="en-US" sz="1600" b="1" dirty="0">
                <a:solidFill>
                  <a:srgbClr val="374151"/>
                </a:solidFill>
                <a:latin typeface="Noto Sans JP" pitchFamily="34" charset="0"/>
                <a:ea typeface="Noto Sans JP" pitchFamily="34" charset="-122"/>
                <a:cs typeface="Noto Sans JP" pitchFamily="34" charset="-120"/>
              </a:rPr>
              <a:t>現状と構造的課題</a:t>
            </a:r>
            <a:endParaRPr lang="en-US" sz="1600" dirty="0"/>
          </a:p>
        </p:txBody>
      </p:sp>
      <p:sp>
        <p:nvSpPr>
          <p:cNvPr id="22" name="Text 18"/>
          <p:cNvSpPr txBox="1"/>
          <p:nvPr/>
        </p:nvSpPr>
        <p:spPr>
          <a:xfrm>
            <a:off x="7019849" y="3791102"/>
            <a:ext cx="4289450" cy="629107"/>
          </a:xfrm>
          <a:prstGeom prst="rect">
            <a:avLst/>
          </a:prstGeom>
          <a:noFill/>
          <a:ln/>
        </p:spPr>
        <p:txBody>
          <a:bodyPr wrap="square" lIns="0" tIns="0" rIns="0" bIns="0" rtlCol="0" anchor="t"/>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改革の方向性：3つの原則と</a:t>
            </a:r>
            <a:pPr algn="l" indent="0" marL="0">
              <a:buNone/>
            </a:pPr>
            <a:r>
              <a:rPr lang="en-US" sz="1600" b="1" dirty="0">
                <a:solidFill>
                  <a:srgbClr val="374151"/>
                </a:solidFill>
                <a:latin typeface="Noto Sans JP" pitchFamily="34" charset="0"/>
                <a:ea typeface="Noto Sans JP" pitchFamily="34" charset="-122"/>
                <a:cs typeface="Noto Sans JP" pitchFamily="34" charset="-120"/>
              </a:rPr>
              <a:t>「仕事ナビ」</a:t>
            </a:r>
            <a:pPr algn="l" indent="0" marL="0">
              <a:buNone/>
            </a:pPr>
            <a:r>
              <a:rPr lang="en-US" sz="1600" dirty="0">
                <a:solidFill>
                  <a:srgbClr val="374151"/>
                </a:solidFill>
                <a:latin typeface="Noto Sans JP" pitchFamily="34" charset="0"/>
                <a:ea typeface="Noto Sans JP" pitchFamily="34" charset="-122"/>
                <a:cs typeface="Noto Sans JP" pitchFamily="34" charset="-120"/>
              </a:rPr>
              <a:t>構想</a:t>
            </a:r>
            <a:endParaRPr lang="en-US" sz="1600" dirty="0"/>
          </a:p>
        </p:txBody>
      </p:sp>
      <p:sp>
        <p:nvSpPr>
          <p:cNvPr id="23" name="Text 19"/>
          <p:cNvSpPr txBox="1"/>
          <p:nvPr/>
        </p:nvSpPr>
        <p:spPr>
          <a:xfrm>
            <a:off x="7019849" y="4647895"/>
            <a:ext cx="4289450" cy="629107"/>
          </a:xfrm>
          <a:prstGeom prst="rect">
            <a:avLst/>
          </a:prstGeom>
          <a:noFill/>
          <a:ln/>
        </p:spPr>
        <p:txBody>
          <a:bodyPr wrap="square" lIns="0" tIns="0" rIns="0" bIns="0" rtlCol="0" anchor="t"/>
          <a:lstStyle/>
          <a:p>
            <a:pPr algn="l" indent="0" marL="0">
              <a:buNone/>
            </a:pPr>
            <a:r>
              <a:rPr lang="en-US" sz="1600" b="1" dirty="0">
                <a:solidFill>
                  <a:srgbClr val="111827"/>
                </a:solidFill>
                <a:latin typeface="Noto Sans JP" pitchFamily="34" charset="0"/>
                <a:ea typeface="Noto Sans JP" pitchFamily="34" charset="-122"/>
                <a:cs typeface="Noto Sans JP" pitchFamily="34" charset="-120"/>
              </a:rPr>
              <a:t>「機能」と「マネジメント」の違い</a:t>
            </a:r>
            <a:pPr algn="l" indent="0" marL="0">
              <a:buNone/>
            </a:pPr>
            <a:r>
              <a:rPr lang="en-US" sz="1600" dirty="0">
                <a:solidFill>
                  <a:srgbClr val="374151"/>
                </a:solidFill>
                <a:latin typeface="Noto Sans JP" pitchFamily="34" charset="0"/>
                <a:ea typeface="Noto Sans JP" pitchFamily="34" charset="-122"/>
                <a:cs typeface="Noto Sans JP" pitchFamily="34" charset="-120"/>
              </a:rPr>
              <a:t>と二階層の「できること」</a:t>
            </a:r>
            <a:endParaRPr lang="en-US" sz="1600" dirty="0"/>
          </a:p>
        </p:txBody>
      </p:sp>
      <p:sp>
        <p:nvSpPr>
          <p:cNvPr id="24" name="Text 20"/>
          <p:cNvSpPr txBox="1"/>
          <p:nvPr/>
        </p:nvSpPr>
        <p:spPr>
          <a:xfrm>
            <a:off x="7019849" y="5505602"/>
            <a:ext cx="4415638" cy="314554"/>
          </a:xfrm>
          <a:prstGeom prst="rect">
            <a:avLst/>
          </a:prstGeom>
          <a:noFill/>
          <a:ln/>
        </p:spPr>
        <p:txBody>
          <a:bodyPr wrap="square" lIns="0" tIns="0" rIns="0" bIns="0" rtlCol="0" anchor="ctr"/>
          <a:lstStyle/>
          <a:p>
            <a:pPr algn="l" indent="0" marL="0">
              <a:buNone/>
            </a:pPr>
            <a:r>
              <a:rPr lang="en-US" sz="1600" dirty="0">
                <a:solidFill>
                  <a:srgbClr val="374151"/>
                </a:solidFill>
                <a:latin typeface="Noto Sans JP" pitchFamily="34" charset="0"/>
                <a:ea typeface="Noto Sans JP" pitchFamily="34" charset="-122"/>
                <a:cs typeface="Noto Sans JP" pitchFamily="34" charset="-120"/>
              </a:rPr>
              <a:t>具体的な導入効果と</a:t>
            </a:r>
            <a:pPr algn="l" indent="0" marL="0">
              <a:buNone/>
            </a:pPr>
            <a:r>
              <a:rPr lang="en-US" sz="1600" b="1" dirty="0">
                <a:solidFill>
                  <a:srgbClr val="374151"/>
                </a:solidFill>
                <a:latin typeface="Noto Sans JP" pitchFamily="34" charset="0"/>
                <a:ea typeface="Noto Sans JP" pitchFamily="34" charset="-122"/>
                <a:cs typeface="Noto Sans JP" pitchFamily="34" charset="-120"/>
              </a:rPr>
              <a:t>Phase0実行計画</a:t>
            </a:r>
            <a:pPr algn="l" indent="0" marL="0">
              <a:buNone/>
            </a:pPr>
            <a:r>
              <a:rPr lang="en-US" sz="1600" dirty="0">
                <a:solidFill>
                  <a:srgbClr val="374151"/>
                </a:solidFill>
                <a:latin typeface="Noto Sans JP" pitchFamily="34" charset="0"/>
                <a:ea typeface="Noto Sans JP" pitchFamily="34" charset="-122"/>
                <a:cs typeface="Noto Sans JP" pitchFamily="34" charset="-120"/>
              </a:rPr>
              <a:t>の提案</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1085393"/>
            <a:ext cx="12191695" cy="19202"/>
          </a:xfrm>
          <a:prstGeom prst="rect">
            <a:avLst/>
          </a:prstGeom>
          <a:solidFill>
            <a:srgbClr val="E5E7EB"/>
          </a:solidFill>
          <a:ln w="12700">
            <a:solidFill>
              <a:srgbClr val="E5E7EB">
                <a:alpha val="0"/>
              </a:srgbClr>
            </a:solidFill>
            <a:prstDash val="solid"/>
          </a:ln>
        </p:spPr>
      </p:sp>
      <p:sp>
        <p:nvSpPr>
          <p:cNvPr id="5" name="Text 3"/>
          <p:cNvSpPr txBox="1"/>
          <p:nvPr/>
        </p:nvSpPr>
        <p:spPr>
          <a:xfrm>
            <a:off x="571500" y="381305"/>
            <a:ext cx="8001000"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なぜ「何ができるか」という質問になるのか</a:t>
            </a:r>
            <a:endParaRPr lang="en-US" sz="2700" dirty="0"/>
          </a:p>
        </p:txBody>
      </p:sp>
      <p:sp>
        <p:nvSpPr>
          <p:cNvPr id="6" name="Shape 4"/>
          <p:cNvSpPr/>
          <p:nvPr/>
        </p:nvSpPr>
        <p:spPr>
          <a:xfrm>
            <a:off x="571500" y="381305"/>
            <a:ext cx="75895" cy="342900"/>
          </a:xfrm>
          <a:prstGeom prst="rect">
            <a:avLst/>
          </a:prstGeom>
          <a:solidFill>
            <a:srgbClr val="2563EB"/>
          </a:solidFill>
          <a:ln w="12700">
            <a:solidFill>
              <a:srgbClr val="FFFFFF">
                <a:alpha val="0"/>
              </a:srgbClr>
            </a:solidFill>
            <a:prstDash val="solid"/>
          </a:ln>
        </p:spPr>
      </p:sp>
      <p:sp>
        <p:nvSpPr>
          <p:cNvPr id="7" name="Shape 5"/>
          <p:cNvSpPr/>
          <p:nvPr/>
        </p:nvSpPr>
        <p:spPr>
          <a:xfrm>
            <a:off x="571500" y="1485900"/>
            <a:ext cx="5333695" cy="3991356"/>
          </a:xfrm>
          <a:prstGeom prst="roundRect">
            <a:avLst>
              <a:gd name="adj" fmla="val 875"/>
            </a:avLst>
          </a:prstGeom>
          <a:solidFill>
            <a:srgbClr val="F0F9FF"/>
          </a:solidFill>
          <a:ln w="12700">
            <a:solidFill>
              <a:srgbClr val="BAE6FD"/>
            </a:solidFill>
            <a:prstDash val="solid"/>
          </a:ln>
          <a:effectLst>
            <a:outerShdw sx="100000" sy="100000" kx="0" ky="0" algn="bl" rotWithShape="0" blurRad="101600" dist="38100" dir="16200000">
              <a:srgbClr val="000000">
                <a:alpha val="5000"/>
              </a:srgbClr>
            </a:outerShdw>
          </a:effectLst>
        </p:spPr>
      </p:sp>
      <p:sp>
        <p:nvSpPr>
          <p:cNvPr id="8" name="Shape 6"/>
          <p:cNvSpPr/>
          <p:nvPr/>
        </p:nvSpPr>
        <p:spPr>
          <a:xfrm>
            <a:off x="580644" y="1495044"/>
            <a:ext cx="5315407" cy="780898"/>
          </a:xfrm>
          <a:prstGeom prst="roundRect">
            <a:avLst>
              <a:gd name="adj" fmla="val 22848"/>
            </a:avLst>
          </a:prstGeom>
          <a:solidFill>
            <a:srgbClr val="0EA5E9"/>
          </a:solidFill>
          <a:ln w="12700">
            <a:solidFill>
              <a:srgbClr val="FFFFFF">
                <a:alpha val="0"/>
              </a:srgbClr>
            </a:solidFill>
            <a:prstDash val="solid"/>
          </a:ln>
        </p:spPr>
      </p:sp>
      <p:sp>
        <p:nvSpPr>
          <p:cNvPr id="9" name="Text 7"/>
          <p:cNvSpPr txBox="1"/>
          <p:nvPr/>
        </p:nvSpPr>
        <p:spPr>
          <a:xfrm>
            <a:off x="2467051" y="1686154"/>
            <a:ext cx="2057400" cy="400507"/>
          </a:xfrm>
          <a:prstGeom prst="rect">
            <a:avLst/>
          </a:prstGeom>
          <a:noFill/>
          <a:ln/>
        </p:spPr>
        <p:txBody>
          <a:bodyPr wrap="square" lIns="0" tIns="0" rIns="0" bIns="0" rtlCol="0" anchor="ctr"/>
          <a:lstStyle/>
          <a:p>
            <a:pPr algn="l" indent="0" marL="0">
              <a:buNone/>
            </a:pPr>
            <a:r>
              <a:rPr lang="en-US" sz="2100" b="1" dirty="0">
                <a:solidFill>
                  <a:srgbClr val="FFFFFF"/>
                </a:solidFill>
                <a:latin typeface="Noto Sans JP" pitchFamily="34" charset="0"/>
                <a:ea typeface="Noto Sans JP" pitchFamily="34" charset="-122"/>
                <a:cs typeface="Noto Sans JP" pitchFamily="34" charset="-120"/>
              </a:rPr>
              <a:t> 機能 (Function)</a:t>
            </a:r>
            <a:endParaRPr lang="en-US" sz="2100" dirty="0"/>
          </a:p>
        </p:txBody>
      </p:sp>
      <p:pic>
        <p:nvPicPr>
          <p:cNvPr id="10" name="Image 0" descr="preencoded.png">    </p:cNvPr>
          <p:cNvPicPr>
            <a:picLocks noChangeAspect="1"/>
          </p:cNvPicPr>
          <p:nvPr/>
        </p:nvPicPr>
        <p:blipFill>
          <a:blip r:embed="rId1"/>
          <a:srcRect l="0" r="0" t="0" b="0"/>
          <a:stretch/>
        </p:blipFill>
        <p:spPr>
          <a:xfrm>
            <a:off x="2057400" y="1752905"/>
            <a:ext cx="267005" cy="267005"/>
          </a:xfrm>
          <a:prstGeom prst="rect">
            <a:avLst/>
          </a:prstGeom>
        </p:spPr>
      </p:pic>
      <p:sp>
        <p:nvSpPr>
          <p:cNvPr id="11" name="Shape 8"/>
          <p:cNvSpPr/>
          <p:nvPr/>
        </p:nvSpPr>
        <p:spPr>
          <a:xfrm>
            <a:off x="866851" y="2562149"/>
            <a:ext cx="4743907" cy="571500"/>
          </a:xfrm>
          <a:prstGeom prst="roundRect">
            <a:avLst>
              <a:gd name="adj" fmla="val 21333"/>
            </a:avLst>
          </a:prstGeom>
          <a:solidFill>
            <a:srgbClr val="FFFFFF">
              <a:alpha val="70000"/>
            </a:srgbClr>
          </a:solidFill>
          <a:ln w="12700">
            <a:solidFill>
              <a:srgbClr val="FFFFFF">
                <a:alpha val="0"/>
              </a:srgbClr>
            </a:solidFill>
            <a:prstDash val="solid"/>
          </a:ln>
        </p:spPr>
      </p:sp>
      <p:sp>
        <p:nvSpPr>
          <p:cNvPr id="12" name="Text 9"/>
          <p:cNvSpPr txBox="1"/>
          <p:nvPr/>
        </p:nvSpPr>
        <p:spPr>
          <a:xfrm>
            <a:off x="914400" y="2704795"/>
            <a:ext cx="4648810" cy="286207"/>
          </a:xfrm>
          <a:prstGeom prst="rect">
            <a:avLst/>
          </a:prstGeom>
          <a:noFill/>
          <a:ln/>
        </p:spPr>
        <p:txBody>
          <a:bodyPr wrap="square" lIns="0" tIns="0" rIns="0" bIns="0" rtlCol="0" anchor="ctr"/>
          <a:lstStyle/>
          <a:p>
            <a:pPr algn="ctr" indent="0" marL="0">
              <a:buNone/>
            </a:pPr>
            <a:r>
              <a:rPr lang="en-US" sz="1500" b="1" dirty="0">
                <a:solidFill>
                  <a:srgbClr val="374151"/>
                </a:solidFill>
                <a:latin typeface="Noto Sans JP" pitchFamily="34" charset="0"/>
                <a:ea typeface="Noto Sans JP" pitchFamily="34" charset="-122"/>
                <a:cs typeface="Noto Sans JP" pitchFamily="34" charset="-120"/>
              </a:rPr>
              <a:t>個人の作業を効率化する「道具」</a:t>
            </a:r>
            <a:endParaRPr lang="en-US" sz="1500" dirty="0"/>
          </a:p>
        </p:txBody>
      </p:sp>
      <p:pic>
        <p:nvPicPr>
          <p:cNvPr id="13" name="Image 1" descr="preencoded.png">    </p:cNvPr>
          <p:cNvPicPr>
            <a:picLocks noChangeAspect="1"/>
          </p:cNvPicPr>
          <p:nvPr/>
        </p:nvPicPr>
        <p:blipFill>
          <a:blip r:embed="rId2"/>
          <a:srcRect l="0" r="0" t="0" b="0"/>
          <a:stretch/>
        </p:blipFill>
        <p:spPr>
          <a:xfrm>
            <a:off x="866851" y="3323844"/>
            <a:ext cx="171907" cy="171907"/>
          </a:xfrm>
          <a:prstGeom prst="rect">
            <a:avLst/>
          </a:prstGeom>
        </p:spPr>
      </p:pic>
      <p:sp>
        <p:nvSpPr>
          <p:cNvPr id="14" name="Text 10"/>
          <p:cNvSpPr txBox="1"/>
          <p:nvPr/>
        </p:nvSpPr>
        <p:spPr>
          <a:xfrm>
            <a:off x="1037844" y="3323844"/>
            <a:ext cx="2407615"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作業者が使うアプリやツール</a:t>
            </a:r>
            <a:endParaRPr lang="en-US" sz="1300" dirty="0"/>
          </a:p>
        </p:txBody>
      </p:sp>
      <p:pic>
        <p:nvPicPr>
          <p:cNvPr id="15" name="Image 2" descr="preencoded.png">    </p:cNvPr>
          <p:cNvPicPr>
            <a:picLocks noChangeAspect="1"/>
          </p:cNvPicPr>
          <p:nvPr/>
        </p:nvPicPr>
        <p:blipFill>
          <a:blip r:embed="rId3"/>
          <a:srcRect l="0" r="0" t="0" b="0"/>
          <a:stretch/>
        </p:blipFill>
        <p:spPr>
          <a:xfrm>
            <a:off x="866851" y="3733495"/>
            <a:ext cx="171907" cy="171907"/>
          </a:xfrm>
          <a:prstGeom prst="rect">
            <a:avLst/>
          </a:prstGeom>
        </p:spPr>
      </p:pic>
      <p:sp>
        <p:nvSpPr>
          <p:cNvPr id="16" name="Text 11"/>
          <p:cNvSpPr txBox="1"/>
          <p:nvPr/>
        </p:nvSpPr>
        <p:spPr>
          <a:xfrm>
            <a:off x="1037844" y="3733495"/>
            <a:ext cx="3191256"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「速く」「正確に」処理するための手段</a:t>
            </a:r>
            <a:endParaRPr lang="en-US" sz="1300" dirty="0"/>
          </a:p>
        </p:txBody>
      </p:sp>
      <p:pic>
        <p:nvPicPr>
          <p:cNvPr id="17" name="Image 3" descr="preencoded.png">    </p:cNvPr>
          <p:cNvPicPr>
            <a:picLocks noChangeAspect="1"/>
          </p:cNvPicPr>
          <p:nvPr/>
        </p:nvPicPr>
        <p:blipFill>
          <a:blip r:embed="rId4"/>
          <a:srcRect l="0" r="0" t="0" b="0"/>
          <a:stretch/>
        </p:blipFill>
        <p:spPr>
          <a:xfrm>
            <a:off x="866851" y="4143146"/>
            <a:ext cx="171907" cy="171907"/>
          </a:xfrm>
          <a:prstGeom prst="rect">
            <a:avLst/>
          </a:prstGeom>
        </p:spPr>
      </p:pic>
      <p:sp>
        <p:nvSpPr>
          <p:cNvPr id="18" name="Text 12"/>
          <p:cNvSpPr txBox="1"/>
          <p:nvPr/>
        </p:nvSpPr>
        <p:spPr>
          <a:xfrm>
            <a:off x="1037844" y="4143146"/>
            <a:ext cx="2943454"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市場に製品が溢れ、容易に調達可能</a:t>
            </a:r>
            <a:endParaRPr lang="en-US" sz="1300" dirty="0"/>
          </a:p>
        </p:txBody>
      </p:sp>
      <p:pic>
        <p:nvPicPr>
          <p:cNvPr id="19" name="Image 4" descr="preencoded.png">    </p:cNvPr>
          <p:cNvPicPr>
            <a:picLocks noChangeAspect="1"/>
          </p:cNvPicPr>
          <p:nvPr/>
        </p:nvPicPr>
        <p:blipFill>
          <a:blip r:embed="rId5"/>
          <a:srcRect l="0" r="0" t="0" b="0"/>
          <a:stretch/>
        </p:blipFill>
        <p:spPr>
          <a:xfrm>
            <a:off x="866851" y="4552798"/>
            <a:ext cx="171907" cy="171907"/>
          </a:xfrm>
          <a:prstGeom prst="rect">
            <a:avLst/>
          </a:prstGeom>
        </p:spPr>
      </p:pic>
      <p:sp>
        <p:nvSpPr>
          <p:cNvPr id="20" name="Text 13"/>
          <p:cNvSpPr txBox="1"/>
          <p:nvPr/>
        </p:nvSpPr>
        <p:spPr>
          <a:xfrm>
            <a:off x="1037844" y="4552798"/>
            <a:ext cx="3620110"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個別最適にはなるが、全体最適とは限らない</a:t>
            </a:r>
            <a:endParaRPr lang="en-US" sz="1300" dirty="0"/>
          </a:p>
        </p:txBody>
      </p:sp>
      <p:sp>
        <p:nvSpPr>
          <p:cNvPr id="21" name="Shape 14"/>
          <p:cNvSpPr/>
          <p:nvPr/>
        </p:nvSpPr>
        <p:spPr>
          <a:xfrm>
            <a:off x="6286500" y="1485900"/>
            <a:ext cx="5333695" cy="3991356"/>
          </a:xfrm>
          <a:prstGeom prst="roundRect">
            <a:avLst>
              <a:gd name="adj" fmla="val 875"/>
            </a:avLst>
          </a:prstGeom>
          <a:solidFill>
            <a:srgbClr val="FFF7ED"/>
          </a:solidFill>
          <a:ln w="12700">
            <a:solidFill>
              <a:srgbClr val="FED7AA"/>
            </a:solidFill>
            <a:prstDash val="solid"/>
          </a:ln>
          <a:effectLst>
            <a:outerShdw sx="100000" sy="100000" kx="0" ky="0" algn="bl" rotWithShape="0" blurRad="101600" dist="38100" dir="16200000">
              <a:srgbClr val="000000">
                <a:alpha val="5000"/>
              </a:srgbClr>
            </a:outerShdw>
          </a:effectLst>
        </p:spPr>
      </p:sp>
      <p:sp>
        <p:nvSpPr>
          <p:cNvPr id="22" name="Shape 15"/>
          <p:cNvSpPr/>
          <p:nvPr/>
        </p:nvSpPr>
        <p:spPr>
          <a:xfrm>
            <a:off x="6295644" y="1495044"/>
            <a:ext cx="5315407" cy="780898"/>
          </a:xfrm>
          <a:prstGeom prst="roundRect">
            <a:avLst>
              <a:gd name="adj" fmla="val 22848"/>
            </a:avLst>
          </a:prstGeom>
          <a:solidFill>
            <a:srgbClr val="F97316"/>
          </a:solidFill>
          <a:ln w="12700">
            <a:solidFill>
              <a:srgbClr val="FFFFFF">
                <a:alpha val="0"/>
              </a:srgbClr>
            </a:solidFill>
            <a:prstDash val="solid"/>
          </a:ln>
        </p:spPr>
      </p:sp>
      <p:sp>
        <p:nvSpPr>
          <p:cNvPr id="23" name="Text 16"/>
          <p:cNvSpPr txBox="1"/>
          <p:nvPr/>
        </p:nvSpPr>
        <p:spPr>
          <a:xfrm>
            <a:off x="7388352" y="1686154"/>
            <a:ext cx="3696005" cy="400507"/>
          </a:xfrm>
          <a:prstGeom prst="rect">
            <a:avLst/>
          </a:prstGeom>
          <a:noFill/>
          <a:ln/>
        </p:spPr>
        <p:txBody>
          <a:bodyPr wrap="square" lIns="0" tIns="0" rIns="0" bIns="0" rtlCol="0" anchor="ctr"/>
          <a:lstStyle/>
          <a:p>
            <a:pPr algn="l" indent="0" marL="0">
              <a:buNone/>
            </a:pPr>
            <a:r>
              <a:rPr lang="en-US" sz="2100" b="1" dirty="0">
                <a:solidFill>
                  <a:srgbClr val="FFFFFF"/>
                </a:solidFill>
                <a:latin typeface="Noto Sans JP" pitchFamily="34" charset="0"/>
                <a:ea typeface="Noto Sans JP" pitchFamily="34" charset="-122"/>
                <a:cs typeface="Noto Sans JP" pitchFamily="34" charset="-120"/>
              </a:rPr>
              <a:t> マネジメント (Management)</a:t>
            </a:r>
            <a:endParaRPr lang="en-US" sz="2100" dirty="0"/>
          </a:p>
        </p:txBody>
      </p:sp>
      <p:pic>
        <p:nvPicPr>
          <p:cNvPr id="24" name="Image 5" descr="preencoded.png">    </p:cNvPr>
          <p:cNvPicPr>
            <a:picLocks noChangeAspect="1"/>
          </p:cNvPicPr>
          <p:nvPr/>
        </p:nvPicPr>
        <p:blipFill>
          <a:blip r:embed="rId6"/>
          <a:srcRect l="-685" r="-685" t="0" b="0"/>
          <a:stretch/>
        </p:blipFill>
        <p:spPr>
          <a:xfrm>
            <a:off x="6940296" y="1752905"/>
            <a:ext cx="304495" cy="267005"/>
          </a:xfrm>
          <a:prstGeom prst="rect">
            <a:avLst/>
          </a:prstGeom>
        </p:spPr>
      </p:pic>
      <p:sp>
        <p:nvSpPr>
          <p:cNvPr id="25" name="Shape 17"/>
          <p:cNvSpPr/>
          <p:nvPr/>
        </p:nvSpPr>
        <p:spPr>
          <a:xfrm>
            <a:off x="6581851" y="2562149"/>
            <a:ext cx="4743907" cy="571500"/>
          </a:xfrm>
          <a:prstGeom prst="roundRect">
            <a:avLst>
              <a:gd name="adj" fmla="val 21333"/>
            </a:avLst>
          </a:prstGeom>
          <a:solidFill>
            <a:srgbClr val="FFFFFF">
              <a:alpha val="70000"/>
            </a:srgbClr>
          </a:solidFill>
          <a:ln w="12700">
            <a:solidFill>
              <a:srgbClr val="FFFFFF">
                <a:alpha val="0"/>
              </a:srgbClr>
            </a:solidFill>
            <a:prstDash val="solid"/>
          </a:ln>
        </p:spPr>
      </p:sp>
      <p:sp>
        <p:nvSpPr>
          <p:cNvPr id="26" name="Text 18"/>
          <p:cNvSpPr txBox="1"/>
          <p:nvPr/>
        </p:nvSpPr>
        <p:spPr>
          <a:xfrm>
            <a:off x="6629400" y="2704795"/>
            <a:ext cx="4648810" cy="286207"/>
          </a:xfrm>
          <a:prstGeom prst="rect">
            <a:avLst/>
          </a:prstGeom>
          <a:noFill/>
          <a:ln/>
        </p:spPr>
        <p:txBody>
          <a:bodyPr wrap="square" lIns="0" tIns="0" rIns="0" bIns="0" rtlCol="0" anchor="ctr"/>
          <a:lstStyle/>
          <a:p>
            <a:pPr algn="ctr" indent="0" marL="0">
              <a:buNone/>
            </a:pPr>
            <a:r>
              <a:rPr lang="en-US" sz="1500" b="1" dirty="0">
                <a:solidFill>
                  <a:srgbClr val="374151"/>
                </a:solidFill>
                <a:latin typeface="Noto Sans JP" pitchFamily="34" charset="0"/>
                <a:ea typeface="Noto Sans JP" pitchFamily="34" charset="-122"/>
                <a:cs typeface="Noto Sans JP" pitchFamily="34" charset="-120"/>
              </a:rPr>
              <a:t>仕事をつなぎ全体を動かす「仕組み」</a:t>
            </a:r>
            <a:endParaRPr lang="en-US" sz="1500" dirty="0"/>
          </a:p>
        </p:txBody>
      </p:sp>
      <p:pic>
        <p:nvPicPr>
          <p:cNvPr id="27" name="Image 6" descr="preencoded.png">    </p:cNvPr>
          <p:cNvPicPr>
            <a:picLocks noChangeAspect="1"/>
          </p:cNvPicPr>
          <p:nvPr/>
        </p:nvPicPr>
        <p:blipFill>
          <a:blip r:embed="rId7"/>
          <a:srcRect l="0" r="0" t="0" b="0"/>
          <a:stretch/>
        </p:blipFill>
        <p:spPr>
          <a:xfrm>
            <a:off x="6581851" y="3323844"/>
            <a:ext cx="171907" cy="171907"/>
          </a:xfrm>
          <a:prstGeom prst="rect">
            <a:avLst/>
          </a:prstGeom>
        </p:spPr>
      </p:pic>
      <p:sp>
        <p:nvSpPr>
          <p:cNvPr id="28" name="Text 19"/>
          <p:cNvSpPr txBox="1"/>
          <p:nvPr/>
        </p:nvSpPr>
        <p:spPr>
          <a:xfrm>
            <a:off x="6752844" y="3323844"/>
            <a:ext cx="2591410"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組織全体での仕事の流れを制御</a:t>
            </a:r>
            <a:endParaRPr lang="en-US" sz="1300" dirty="0"/>
          </a:p>
        </p:txBody>
      </p:sp>
      <p:pic>
        <p:nvPicPr>
          <p:cNvPr id="29" name="Image 7" descr="preencoded.png">    </p:cNvPr>
          <p:cNvPicPr>
            <a:picLocks noChangeAspect="1"/>
          </p:cNvPicPr>
          <p:nvPr/>
        </p:nvPicPr>
        <p:blipFill>
          <a:blip r:embed="rId8"/>
          <a:srcRect l="0" r="0" t="0" b="0"/>
          <a:stretch/>
        </p:blipFill>
        <p:spPr>
          <a:xfrm>
            <a:off x="6581851" y="3733495"/>
            <a:ext cx="171907" cy="171907"/>
          </a:xfrm>
          <a:prstGeom prst="rect">
            <a:avLst/>
          </a:prstGeom>
        </p:spPr>
      </p:pic>
      <p:sp>
        <p:nvSpPr>
          <p:cNvPr id="30" name="Text 20"/>
          <p:cNvSpPr txBox="1"/>
          <p:nvPr/>
        </p:nvSpPr>
        <p:spPr>
          <a:xfrm>
            <a:off x="6752844" y="3733495"/>
            <a:ext cx="3963010"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「統制」と「同期」によるオーケストレーション</a:t>
            </a:r>
            <a:endParaRPr lang="en-US" sz="1300" dirty="0"/>
          </a:p>
        </p:txBody>
      </p:sp>
      <p:pic>
        <p:nvPicPr>
          <p:cNvPr id="31" name="Image 8" descr="preencoded.png">    </p:cNvPr>
          <p:cNvPicPr>
            <a:picLocks noChangeAspect="1"/>
          </p:cNvPicPr>
          <p:nvPr/>
        </p:nvPicPr>
        <p:blipFill>
          <a:blip r:embed="rId9"/>
          <a:srcRect l="0" r="0" t="0" b="0"/>
          <a:stretch/>
        </p:blipFill>
        <p:spPr>
          <a:xfrm>
            <a:off x="6581851" y="4143146"/>
            <a:ext cx="171907" cy="171907"/>
          </a:xfrm>
          <a:prstGeom prst="rect">
            <a:avLst/>
          </a:prstGeom>
        </p:spPr>
      </p:pic>
      <p:sp>
        <p:nvSpPr>
          <p:cNvPr id="32" name="Text 21"/>
          <p:cNvSpPr txBox="1"/>
          <p:nvPr/>
        </p:nvSpPr>
        <p:spPr>
          <a:xfrm>
            <a:off x="6752844" y="4143146"/>
            <a:ext cx="3448202"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企業ごとの独自性（文化・戦略）そのもの</a:t>
            </a:r>
            <a:endParaRPr lang="en-US" sz="1300" dirty="0"/>
          </a:p>
        </p:txBody>
      </p:sp>
      <p:pic>
        <p:nvPicPr>
          <p:cNvPr id="33" name="Image 9" descr="preencoded.png">    </p:cNvPr>
          <p:cNvPicPr>
            <a:picLocks noChangeAspect="1"/>
          </p:cNvPicPr>
          <p:nvPr/>
        </p:nvPicPr>
        <p:blipFill>
          <a:blip r:embed="rId10"/>
          <a:srcRect l="0" r="0" t="-842" b="-842"/>
          <a:stretch/>
        </p:blipFill>
        <p:spPr>
          <a:xfrm>
            <a:off x="6581851" y="4552798"/>
            <a:ext cx="190195" cy="171907"/>
          </a:xfrm>
          <a:prstGeom prst="rect">
            <a:avLst/>
          </a:prstGeom>
        </p:spPr>
      </p:pic>
      <p:sp>
        <p:nvSpPr>
          <p:cNvPr id="34" name="Text 22"/>
          <p:cNvSpPr txBox="1"/>
          <p:nvPr/>
        </p:nvSpPr>
        <p:spPr>
          <a:xfrm>
            <a:off x="6772046" y="4552798"/>
            <a:ext cx="2762402" cy="257861"/>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全体最適を実現するバックボーン</a:t>
            </a:r>
            <a:endParaRPr lang="en-US" sz="1300" dirty="0"/>
          </a:p>
        </p:txBody>
      </p:sp>
      <p:sp>
        <p:nvSpPr>
          <p:cNvPr id="35" name="Shape 23"/>
          <p:cNvSpPr/>
          <p:nvPr/>
        </p:nvSpPr>
        <p:spPr>
          <a:xfrm>
            <a:off x="0" y="5852160"/>
            <a:ext cx="12191695" cy="1009498"/>
          </a:xfrm>
          <a:prstGeom prst="rect">
            <a:avLst/>
          </a:prstGeom>
          <a:solidFill>
            <a:srgbClr val="FFFFFF"/>
          </a:solidFill>
          <a:ln/>
          <a:effectLst>
            <a:outerShdw sx="100000" sy="100000" kx="0" ky="0" algn="bl" rotWithShape="0" blurRad="63500" dist="38100" dir="5400000">
              <a:srgbClr val="000000">
                <a:alpha val="5000"/>
              </a:srgbClr>
            </a:outerShdw>
          </a:effectLst>
        </p:spPr>
      </p:sp>
      <p:sp>
        <p:nvSpPr>
          <p:cNvPr id="36" name="Shape 24"/>
          <p:cNvSpPr/>
          <p:nvPr/>
        </p:nvSpPr>
        <p:spPr>
          <a:xfrm>
            <a:off x="0" y="5852160"/>
            <a:ext cx="12191695" cy="38405"/>
          </a:xfrm>
          <a:prstGeom prst="rect">
            <a:avLst/>
          </a:prstGeom>
          <a:solidFill>
            <a:srgbClr val="4B5563"/>
          </a:solidFill>
          <a:ln w="12700">
            <a:solidFill>
              <a:srgbClr val="4B5563">
                <a:alpha val="0"/>
              </a:srgbClr>
            </a:solidFill>
            <a:prstDash val="solid"/>
          </a:ln>
        </p:spPr>
      </p:sp>
      <p:pic>
        <p:nvPicPr>
          <p:cNvPr id="37" name="Image 10" descr="preencoded.png">    </p:cNvPr>
          <p:cNvPicPr>
            <a:picLocks noChangeAspect="1"/>
          </p:cNvPicPr>
          <p:nvPr/>
        </p:nvPicPr>
        <p:blipFill>
          <a:blip r:embed="rId11"/>
          <a:srcRect l="-50" r="-50" t="0" b="0"/>
          <a:stretch/>
        </p:blipFill>
        <p:spPr>
          <a:xfrm>
            <a:off x="2638044" y="6221578"/>
            <a:ext cx="228600" cy="304495"/>
          </a:xfrm>
          <a:prstGeom prst="rect">
            <a:avLst/>
          </a:prstGeom>
        </p:spPr>
      </p:pic>
      <p:sp>
        <p:nvSpPr>
          <p:cNvPr id="38" name="Text 25"/>
          <p:cNvSpPr txBox="1"/>
          <p:nvPr/>
        </p:nvSpPr>
        <p:spPr>
          <a:xfrm>
            <a:off x="3018434" y="5852160"/>
            <a:ext cx="6584594" cy="1010412"/>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 まず「どうありたいか」「仕事の進め方（マネジメント）」を設計し、</a:t>
            </a:r>
            <a:pPr algn="ctr" indent="0" marL="0">
              <a:buNone/>
            </a:pPr>
            <a:endParaRPr lang="en-US" sz="1600" dirty="0"/>
          </a:p>
          <a:p>
            <a:pPr algn="ctr" indent="0" marL="0">
              <a:buNone/>
            </a:pPr>
            <a:r>
              <a:rPr lang="en-US" sz="1600" b="1" dirty="0">
                <a:solidFill>
                  <a:srgbClr val="1F2937"/>
                </a:solidFill>
                <a:latin typeface="Noto Sans JP" pitchFamily="34" charset="0"/>
                <a:ea typeface="Noto Sans JP" pitchFamily="34" charset="-122"/>
                <a:cs typeface="Noto Sans JP" pitchFamily="34" charset="-120"/>
              </a:rPr>
              <a:t> その上で必要な「機能」を最小限・適材適所に配置すべきです。 </a:t>
            </a:r>
            <a:endParaRPr lang="en-US" sz="1600" dirty="0"/>
          </a:p>
        </p:txBody>
      </p:sp>
      <p:sp>
        <p:nvSpPr>
          <p:cNvPr id="39" name="Text 26"/>
          <p:cNvSpPr txBox="1"/>
          <p:nvPr/>
        </p:nvSpPr>
        <p:spPr>
          <a:xfrm>
            <a:off x="5686654" y="3097987"/>
            <a:ext cx="819302" cy="762610"/>
          </a:xfrm>
          <a:prstGeom prst="rect">
            <a:avLst/>
          </a:prstGeom>
          <a:solidFill>
            <a:srgbClr val="EF4444"/>
          </a:solidFill>
          <a:ln w="50800">
            <a:solidFill>
              <a:srgbClr val="FFFFFF"/>
            </a:solid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VS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90295"/>
            <a:ext cx="12191695" cy="19202"/>
          </a:xfrm>
          <a:prstGeom prst="rect">
            <a:avLst/>
          </a:prstGeom>
          <a:solidFill>
            <a:srgbClr val="E5E7EB"/>
          </a:solidFill>
          <a:ln w="12700">
            <a:solidFill>
              <a:srgbClr val="E5E7EB">
                <a:alpha val="0"/>
              </a:srgbClr>
            </a:solidFill>
            <a:prstDash val="solid"/>
          </a:ln>
        </p:spPr>
      </p:sp>
      <p:sp>
        <p:nvSpPr>
          <p:cNvPr id="5" name="Text 3"/>
          <p:cNvSpPr txBox="1"/>
          <p:nvPr/>
        </p:nvSpPr>
        <p:spPr>
          <a:xfrm>
            <a:off x="571500" y="286207"/>
            <a:ext cx="6024067"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「機能」・「業務」・「仕事」の関係</a:t>
            </a:r>
            <a:endParaRPr lang="en-US" sz="2700" dirty="0"/>
          </a:p>
        </p:txBody>
      </p:sp>
      <p:sp>
        <p:nvSpPr>
          <p:cNvPr id="6" name="Shape 4"/>
          <p:cNvSpPr/>
          <p:nvPr/>
        </p:nvSpPr>
        <p:spPr>
          <a:xfrm>
            <a:off x="571500" y="286207"/>
            <a:ext cx="75895" cy="342900"/>
          </a:xfrm>
          <a:prstGeom prst="rect">
            <a:avLst/>
          </a:prstGeom>
          <a:solidFill>
            <a:srgbClr val="2563EB"/>
          </a:solidFill>
          <a:ln w="12700">
            <a:solidFill>
              <a:srgbClr val="FFFFFF">
                <a:alpha val="0"/>
              </a:srgbClr>
            </a:solidFill>
            <a:prstDash val="solid"/>
          </a:ln>
        </p:spPr>
      </p:sp>
      <p:pic>
        <p:nvPicPr>
          <p:cNvPr id="7" name="Image 0" descr="preencoded.png">    </p:cNvPr>
          <p:cNvPicPr>
            <a:picLocks noChangeAspect="1"/>
          </p:cNvPicPr>
          <p:nvPr/>
        </p:nvPicPr>
        <p:blipFill>
          <a:blip r:embed="rId1"/>
          <a:srcRect l="0" r="0" t="0" b="0"/>
          <a:stretch/>
        </p:blipFill>
        <p:spPr>
          <a:xfrm>
            <a:off x="3629254" y="2505456"/>
            <a:ext cx="228600" cy="228600"/>
          </a:xfrm>
          <a:prstGeom prst="rect">
            <a:avLst/>
          </a:prstGeom>
        </p:spPr>
      </p:pic>
      <p:pic>
        <p:nvPicPr>
          <p:cNvPr id="8" name="Image 1" descr="preencoded.png">    </p:cNvPr>
          <p:cNvPicPr>
            <a:picLocks noChangeAspect="1"/>
          </p:cNvPicPr>
          <p:nvPr/>
        </p:nvPicPr>
        <p:blipFill>
          <a:blip r:embed="rId2"/>
          <a:srcRect l="0" r="0" t="0" b="0"/>
          <a:stretch/>
        </p:blipFill>
        <p:spPr>
          <a:xfrm>
            <a:off x="3629254" y="3648456"/>
            <a:ext cx="228600" cy="228600"/>
          </a:xfrm>
          <a:prstGeom prst="rect">
            <a:avLst/>
          </a:prstGeom>
        </p:spPr>
      </p:pic>
      <p:pic>
        <p:nvPicPr>
          <p:cNvPr id="9" name="Image 2" descr="preencoded.png">    </p:cNvPr>
          <p:cNvPicPr>
            <a:picLocks noChangeAspect="1"/>
          </p:cNvPicPr>
          <p:nvPr/>
        </p:nvPicPr>
        <p:blipFill>
          <a:blip r:embed="rId3"/>
          <a:srcRect l="-17" r="-17" t="0" b="0"/>
          <a:stretch/>
        </p:blipFill>
        <p:spPr>
          <a:xfrm>
            <a:off x="7391095" y="1780337"/>
            <a:ext cx="4229100" cy="1201522"/>
          </a:xfrm>
          <a:prstGeom prst="rect">
            <a:avLst/>
          </a:prstGeom>
        </p:spPr>
      </p:pic>
      <p:sp>
        <p:nvSpPr>
          <p:cNvPr id="10" name="Text 5"/>
          <p:cNvSpPr txBox="1"/>
          <p:nvPr/>
        </p:nvSpPr>
        <p:spPr>
          <a:xfrm>
            <a:off x="7886700" y="1970532"/>
            <a:ext cx="3733495" cy="257861"/>
          </a:xfrm>
          <a:prstGeom prst="rect">
            <a:avLst/>
          </a:prstGeom>
          <a:noFill/>
          <a:ln/>
        </p:spPr>
        <p:txBody>
          <a:bodyPr wrap="square" lIns="0" tIns="0" rIns="0" bIns="0" rtlCol="0" anchor="ctr"/>
          <a:lstStyle/>
          <a:p>
            <a:pPr algn="l" indent="0" marL="0">
              <a:buNone/>
            </a:pPr>
            <a:r>
              <a:rPr lang="en-US" sz="1300" b="1" dirty="0">
                <a:solidFill>
                  <a:srgbClr val="334155"/>
                </a:solidFill>
                <a:latin typeface="Noto Sans JP" pitchFamily="34" charset="0"/>
                <a:ea typeface="Noto Sans JP" pitchFamily="34" charset="-122"/>
                <a:cs typeface="Noto Sans JP" pitchFamily="34" charset="-120"/>
              </a:rPr>
              <a:t>差別化の源泉</a:t>
            </a:r>
            <a:endParaRPr lang="en-US" sz="1300" dirty="0"/>
          </a:p>
        </p:txBody>
      </p:sp>
      <p:pic>
        <p:nvPicPr>
          <p:cNvPr id="11" name="Image 3" descr="preencoded.png">    </p:cNvPr>
          <p:cNvPicPr>
            <a:picLocks noChangeAspect="1"/>
          </p:cNvPicPr>
          <p:nvPr/>
        </p:nvPicPr>
        <p:blipFill>
          <a:blip r:embed="rId4"/>
          <a:srcRect l="0" r="0" t="-842" b="-842"/>
          <a:stretch/>
        </p:blipFill>
        <p:spPr>
          <a:xfrm>
            <a:off x="7619695" y="2013509"/>
            <a:ext cx="190195" cy="171907"/>
          </a:xfrm>
          <a:prstGeom prst="rect">
            <a:avLst/>
          </a:prstGeom>
        </p:spPr>
      </p:pic>
      <p:sp>
        <p:nvSpPr>
          <p:cNvPr id="12" name="Text 6"/>
          <p:cNvSpPr txBox="1"/>
          <p:nvPr/>
        </p:nvSpPr>
        <p:spPr>
          <a:xfrm>
            <a:off x="7619695" y="2304288"/>
            <a:ext cx="3886200" cy="495605"/>
          </a:xfrm>
          <a:prstGeom prst="rect">
            <a:avLst/>
          </a:prstGeom>
          <a:noFill/>
          <a:ln/>
        </p:spPr>
        <p:txBody>
          <a:bodyPr wrap="square" lIns="0" tIns="0" rIns="0" bIns="0" rtlCol="0" anchor="t"/>
          <a:lstStyle/>
          <a:p>
            <a:pPr algn="l" indent="0" marL="0">
              <a:buNone/>
            </a:pPr>
            <a:r>
              <a:rPr lang="en-US" sz="1200" dirty="0">
                <a:solidFill>
                  <a:srgbClr val="475569"/>
                </a:solidFill>
                <a:latin typeface="Noto Sans JP" pitchFamily="34" charset="0"/>
                <a:ea typeface="Noto Sans JP" pitchFamily="34" charset="-122"/>
                <a:cs typeface="Noto Sans JP" pitchFamily="34" charset="-120"/>
              </a:rPr>
              <a:t>企業は「業務のあり方」や「仕事の進め方」で他社と差別化します。ここがマネジメントの領域です。</a:t>
            </a:r>
            <a:endParaRPr lang="en-US" sz="1200" dirty="0"/>
          </a:p>
        </p:txBody>
      </p:sp>
      <p:pic>
        <p:nvPicPr>
          <p:cNvPr id="13" name="Image 4" descr="preencoded.png">    </p:cNvPr>
          <p:cNvPicPr>
            <a:picLocks noChangeAspect="1"/>
          </p:cNvPicPr>
          <p:nvPr/>
        </p:nvPicPr>
        <p:blipFill>
          <a:blip r:embed="rId5"/>
          <a:srcRect l="-17" r="-17" t="0" b="0"/>
          <a:stretch/>
        </p:blipFill>
        <p:spPr>
          <a:xfrm>
            <a:off x="7391095" y="3211373"/>
            <a:ext cx="4229100" cy="1201522"/>
          </a:xfrm>
          <a:prstGeom prst="rect">
            <a:avLst/>
          </a:prstGeom>
        </p:spPr>
      </p:pic>
      <p:sp>
        <p:nvSpPr>
          <p:cNvPr id="14" name="Text 7"/>
          <p:cNvSpPr txBox="1"/>
          <p:nvPr/>
        </p:nvSpPr>
        <p:spPr>
          <a:xfrm>
            <a:off x="7915046" y="3401568"/>
            <a:ext cx="3705149" cy="257861"/>
          </a:xfrm>
          <a:prstGeom prst="rect">
            <a:avLst/>
          </a:prstGeom>
          <a:noFill/>
          <a:ln/>
        </p:spPr>
        <p:txBody>
          <a:bodyPr wrap="square" lIns="0" tIns="0" rIns="0" bIns="0" rtlCol="0" anchor="ctr"/>
          <a:lstStyle/>
          <a:p>
            <a:pPr algn="l" indent="0" marL="0">
              <a:buNone/>
            </a:pPr>
            <a:r>
              <a:rPr lang="en-US" sz="1300" b="1" dirty="0">
                <a:solidFill>
                  <a:srgbClr val="334155"/>
                </a:solidFill>
                <a:latin typeface="Noto Sans JP" pitchFamily="34" charset="0"/>
                <a:ea typeface="Noto Sans JP" pitchFamily="34" charset="-122"/>
                <a:cs typeface="Noto Sans JP" pitchFamily="34" charset="-120"/>
              </a:rPr>
              <a:t>人の役割</a:t>
            </a:r>
            <a:endParaRPr lang="en-US" sz="1300" dirty="0"/>
          </a:p>
        </p:txBody>
      </p:sp>
      <p:pic>
        <p:nvPicPr>
          <p:cNvPr id="15" name="Image 5" descr="preencoded.png">    </p:cNvPr>
          <p:cNvPicPr>
            <a:picLocks noChangeAspect="1"/>
          </p:cNvPicPr>
          <p:nvPr/>
        </p:nvPicPr>
        <p:blipFill>
          <a:blip r:embed="rId6"/>
          <a:srcRect l="-1064" r="-1064" t="0" b="0"/>
          <a:stretch/>
        </p:blipFill>
        <p:spPr>
          <a:xfrm>
            <a:off x="7619695" y="3444545"/>
            <a:ext cx="219456" cy="171907"/>
          </a:xfrm>
          <a:prstGeom prst="rect">
            <a:avLst/>
          </a:prstGeom>
        </p:spPr>
      </p:pic>
      <p:sp>
        <p:nvSpPr>
          <p:cNvPr id="16" name="Text 8"/>
          <p:cNvSpPr txBox="1"/>
          <p:nvPr/>
        </p:nvSpPr>
        <p:spPr>
          <a:xfrm>
            <a:off x="7619695" y="3734410"/>
            <a:ext cx="3886200" cy="495605"/>
          </a:xfrm>
          <a:prstGeom prst="rect">
            <a:avLst/>
          </a:prstGeom>
          <a:noFill/>
          <a:ln/>
        </p:spPr>
        <p:txBody>
          <a:bodyPr wrap="square" lIns="0" tIns="0" rIns="0" bIns="0" rtlCol="0" anchor="t"/>
          <a:lstStyle/>
          <a:p>
            <a:pPr algn="l" indent="0" marL="0">
              <a:buNone/>
            </a:pPr>
            <a:r>
              <a:rPr lang="en-US" sz="1200" dirty="0">
                <a:solidFill>
                  <a:srgbClr val="475569"/>
                </a:solidFill>
                <a:latin typeface="Noto Sans JP" pitchFamily="34" charset="0"/>
                <a:ea typeface="Noto Sans JP" pitchFamily="34" charset="-122"/>
                <a:cs typeface="Noto Sans JP" pitchFamily="34" charset="-120"/>
              </a:rPr>
              <a:t>業務プロセスという枠組みの中で、人が「仕事」として具体的な活動を遂行します。</a:t>
            </a:r>
            <a:endParaRPr lang="en-US" sz="1200" dirty="0"/>
          </a:p>
        </p:txBody>
      </p:sp>
      <p:pic>
        <p:nvPicPr>
          <p:cNvPr id="17" name="Image 6" descr="preencoded.png">    </p:cNvPr>
          <p:cNvPicPr>
            <a:picLocks noChangeAspect="1"/>
          </p:cNvPicPr>
          <p:nvPr/>
        </p:nvPicPr>
        <p:blipFill>
          <a:blip r:embed="rId7"/>
          <a:srcRect l="-2" r="-2" t="0" b="0"/>
          <a:stretch/>
        </p:blipFill>
        <p:spPr>
          <a:xfrm>
            <a:off x="7391095" y="4641494"/>
            <a:ext cx="4229100" cy="1445666"/>
          </a:xfrm>
          <a:prstGeom prst="rect">
            <a:avLst/>
          </a:prstGeom>
        </p:spPr>
      </p:pic>
      <p:sp>
        <p:nvSpPr>
          <p:cNvPr id="18" name="Text 9"/>
          <p:cNvSpPr txBox="1"/>
          <p:nvPr/>
        </p:nvSpPr>
        <p:spPr>
          <a:xfrm>
            <a:off x="7915046" y="4831690"/>
            <a:ext cx="3705149" cy="257861"/>
          </a:xfrm>
          <a:prstGeom prst="rect">
            <a:avLst/>
          </a:prstGeom>
          <a:noFill/>
          <a:ln/>
        </p:spPr>
        <p:txBody>
          <a:bodyPr wrap="square" lIns="0" tIns="0" rIns="0" bIns="0" rtlCol="0" anchor="ctr"/>
          <a:lstStyle/>
          <a:p>
            <a:pPr algn="l" indent="0" marL="0">
              <a:buNone/>
            </a:pPr>
            <a:r>
              <a:rPr lang="en-US" sz="1300" b="1" dirty="0">
                <a:solidFill>
                  <a:srgbClr val="334155"/>
                </a:solidFill>
                <a:latin typeface="Noto Sans JP" pitchFamily="34" charset="0"/>
                <a:ea typeface="Noto Sans JP" pitchFamily="34" charset="-122"/>
                <a:cs typeface="Noto Sans JP" pitchFamily="34" charset="-120"/>
              </a:rPr>
              <a:t>道具の位置づけ</a:t>
            </a:r>
            <a:endParaRPr lang="en-US" sz="1300" dirty="0"/>
          </a:p>
        </p:txBody>
      </p:sp>
      <p:pic>
        <p:nvPicPr>
          <p:cNvPr id="19" name="Image 7" descr="preencoded.png">    </p:cNvPr>
          <p:cNvPicPr>
            <a:picLocks noChangeAspect="1"/>
          </p:cNvPicPr>
          <p:nvPr/>
        </p:nvPicPr>
        <p:blipFill>
          <a:blip r:embed="rId8"/>
          <a:srcRect l="-1064" r="-1064" t="0" b="0"/>
          <a:stretch/>
        </p:blipFill>
        <p:spPr>
          <a:xfrm>
            <a:off x="7619695" y="4874666"/>
            <a:ext cx="219456" cy="171907"/>
          </a:xfrm>
          <a:prstGeom prst="rect">
            <a:avLst/>
          </a:prstGeom>
        </p:spPr>
      </p:pic>
      <p:sp>
        <p:nvSpPr>
          <p:cNvPr id="20" name="Text 10"/>
          <p:cNvSpPr txBox="1"/>
          <p:nvPr/>
        </p:nvSpPr>
        <p:spPr>
          <a:xfrm>
            <a:off x="7619695" y="5165446"/>
            <a:ext cx="3886200" cy="734263"/>
          </a:xfrm>
          <a:prstGeom prst="rect">
            <a:avLst/>
          </a:prstGeom>
          <a:noFill/>
          <a:ln/>
        </p:spPr>
        <p:txBody>
          <a:bodyPr wrap="square" lIns="0" tIns="0" rIns="0" bIns="0" rtlCol="0" anchor="t"/>
          <a:lstStyle/>
          <a:p>
            <a:pPr algn="l" indent="0" marL="0">
              <a:buNone/>
            </a:pPr>
            <a:r>
              <a:rPr lang="en-US" sz="1200" dirty="0">
                <a:solidFill>
                  <a:srgbClr val="475569"/>
                </a:solidFill>
                <a:latin typeface="Noto Sans JP" pitchFamily="34" charset="0"/>
                <a:ea typeface="Noto Sans JP" pitchFamily="34" charset="-122"/>
                <a:cs typeface="Noto Sans JP" pitchFamily="34" charset="-120"/>
              </a:rPr>
              <a:t>機能はあくまで「仕事」を遂行するための手段。仕事ナビは、機能ではなく「業務と仕事」を設計するものです。</a:t>
            </a:r>
            <a:endParaRPr lang="en-US" sz="1200" dirty="0"/>
          </a:p>
        </p:txBody>
      </p:sp>
      <p:sp>
        <p:nvSpPr>
          <p:cNvPr id="21" name="Shape 11"/>
          <p:cNvSpPr/>
          <p:nvPr/>
        </p:nvSpPr>
        <p:spPr>
          <a:xfrm>
            <a:off x="1206094" y="4600346"/>
            <a:ext cx="5076749" cy="857707"/>
          </a:xfrm>
          <a:prstGeom prst="roundRect">
            <a:avLst>
              <a:gd name="adj" fmla="val 14215"/>
            </a:avLst>
          </a:prstGeom>
          <a:solidFill>
            <a:srgbClr val="FFF7ED"/>
          </a:solidFill>
          <a:ln w="25400">
            <a:solidFill>
              <a:srgbClr val="F97316"/>
            </a:solidFill>
            <a:prstDash val="solid"/>
          </a:ln>
          <a:effectLst>
            <a:outerShdw sx="100000" sy="100000" kx="0" ky="0" algn="bl" rotWithShape="0" blurRad="63500" dist="38100" dir="16200000">
              <a:srgbClr val="000000">
                <a:alpha val="5000"/>
              </a:srgbClr>
            </a:outerShdw>
          </a:effectLst>
        </p:spPr>
      </p:sp>
      <p:sp>
        <p:nvSpPr>
          <p:cNvPr id="22" name="Text 12"/>
          <p:cNvSpPr txBox="1"/>
          <p:nvPr/>
        </p:nvSpPr>
        <p:spPr>
          <a:xfrm>
            <a:off x="2319833" y="4732020"/>
            <a:ext cx="3771900" cy="342900"/>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機能 (Function)</a:t>
            </a:r>
            <a:endParaRPr lang="en-US" sz="1800" dirty="0"/>
          </a:p>
        </p:txBody>
      </p:sp>
      <p:sp>
        <p:nvSpPr>
          <p:cNvPr id="23" name="Text 13"/>
          <p:cNvSpPr txBox="1"/>
          <p:nvPr/>
        </p:nvSpPr>
        <p:spPr>
          <a:xfrm>
            <a:off x="2319833" y="5113325"/>
            <a:ext cx="3848710" cy="219456"/>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仕事を助ける「道具・アプリ・仕掛け」</a:t>
            </a:r>
            <a:endParaRPr lang="en-US" sz="1200" dirty="0"/>
          </a:p>
        </p:txBody>
      </p:sp>
      <p:pic>
        <p:nvPicPr>
          <p:cNvPr id="24" name="Image 8" descr="preencoded.png">    </p:cNvPr>
          <p:cNvPicPr>
            <a:picLocks noChangeAspect="1"/>
          </p:cNvPicPr>
          <p:nvPr/>
        </p:nvPicPr>
        <p:blipFill>
          <a:blip r:embed="rId9"/>
          <a:srcRect l="0" r="0" t="0" b="0"/>
          <a:stretch/>
        </p:blipFill>
        <p:spPr>
          <a:xfrm>
            <a:off x="1605686" y="4858207"/>
            <a:ext cx="381305" cy="381305"/>
          </a:xfrm>
          <a:prstGeom prst="rect">
            <a:avLst/>
          </a:prstGeom>
        </p:spPr>
      </p:pic>
      <p:sp>
        <p:nvSpPr>
          <p:cNvPr id="25" name="Shape 14"/>
          <p:cNvSpPr/>
          <p:nvPr/>
        </p:nvSpPr>
        <p:spPr>
          <a:xfrm>
            <a:off x="888797" y="3457346"/>
            <a:ext cx="5715000" cy="952805"/>
          </a:xfrm>
          <a:prstGeom prst="roundRect">
            <a:avLst>
              <a:gd name="adj" fmla="val 11516"/>
            </a:avLst>
          </a:prstGeom>
          <a:solidFill>
            <a:srgbClr val="F0FDF4"/>
          </a:solidFill>
          <a:ln w="25400">
            <a:solidFill>
              <a:srgbClr val="22C55E"/>
            </a:solidFill>
            <a:prstDash val="solid"/>
          </a:ln>
          <a:effectLst>
            <a:outerShdw sx="100000" sy="100000" kx="0" ky="0" algn="bl" rotWithShape="0" blurRad="63500" dist="38100" dir="16200000">
              <a:srgbClr val="000000">
                <a:alpha val="5000"/>
              </a:srgbClr>
            </a:outerShdw>
          </a:effectLst>
        </p:spPr>
      </p:sp>
      <p:sp>
        <p:nvSpPr>
          <p:cNvPr id="26" name="Text 15"/>
          <p:cNvSpPr txBox="1"/>
          <p:nvPr/>
        </p:nvSpPr>
        <p:spPr>
          <a:xfrm>
            <a:off x="2003450" y="3636569"/>
            <a:ext cx="4410151" cy="342900"/>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仕事 (Task / Activity)</a:t>
            </a:r>
            <a:endParaRPr lang="en-US" sz="1800" dirty="0"/>
          </a:p>
        </p:txBody>
      </p:sp>
      <p:sp>
        <p:nvSpPr>
          <p:cNvPr id="27" name="Text 16"/>
          <p:cNvSpPr txBox="1"/>
          <p:nvPr/>
        </p:nvSpPr>
        <p:spPr>
          <a:xfrm>
            <a:off x="2003450" y="4017874"/>
            <a:ext cx="4486961" cy="219456"/>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人が依頼された業務を遂行する「具体的行為」</a:t>
            </a:r>
            <a:endParaRPr lang="en-US" sz="1200" dirty="0"/>
          </a:p>
        </p:txBody>
      </p:sp>
      <p:pic>
        <p:nvPicPr>
          <p:cNvPr id="28" name="Image 9" descr="preencoded.png">    </p:cNvPr>
          <p:cNvPicPr>
            <a:picLocks noChangeAspect="1"/>
          </p:cNvPicPr>
          <p:nvPr/>
        </p:nvPicPr>
        <p:blipFill>
          <a:blip r:embed="rId10"/>
          <a:srcRect l="0" r="0" t="0" b="0"/>
          <a:stretch/>
        </p:blipFill>
        <p:spPr>
          <a:xfrm>
            <a:off x="1288390" y="3762756"/>
            <a:ext cx="381305" cy="381305"/>
          </a:xfrm>
          <a:prstGeom prst="rect">
            <a:avLst/>
          </a:prstGeom>
        </p:spPr>
      </p:pic>
      <p:sp>
        <p:nvSpPr>
          <p:cNvPr id="29" name="Shape 17"/>
          <p:cNvSpPr/>
          <p:nvPr/>
        </p:nvSpPr>
        <p:spPr>
          <a:xfrm>
            <a:off x="571500" y="2219249"/>
            <a:ext cx="6344107" cy="1047902"/>
          </a:xfrm>
          <a:prstGeom prst="roundRect">
            <a:avLst>
              <a:gd name="adj" fmla="val 9519"/>
            </a:avLst>
          </a:prstGeom>
          <a:solidFill>
            <a:srgbClr val="EFF6FF"/>
          </a:solidFill>
          <a:ln w="25400">
            <a:solidFill>
              <a:srgbClr val="3B82F6"/>
            </a:solidFill>
            <a:prstDash val="solid"/>
          </a:ln>
          <a:effectLst>
            <a:outerShdw sx="100000" sy="100000" kx="0" ky="0" algn="bl" rotWithShape="0" blurRad="63500" dist="38100" dir="16200000">
              <a:srgbClr val="000000">
                <a:alpha val="5000"/>
              </a:srgbClr>
            </a:outerShdw>
          </a:effectLst>
        </p:spPr>
      </p:sp>
      <p:sp>
        <p:nvSpPr>
          <p:cNvPr id="30" name="Text 18"/>
          <p:cNvSpPr txBox="1"/>
          <p:nvPr/>
        </p:nvSpPr>
        <p:spPr>
          <a:xfrm>
            <a:off x="1686154" y="2446020"/>
            <a:ext cx="5039258" cy="342900"/>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業務 (Business Process)</a:t>
            </a:r>
            <a:endParaRPr lang="en-US" sz="1800" dirty="0"/>
          </a:p>
        </p:txBody>
      </p:sp>
      <p:sp>
        <p:nvSpPr>
          <p:cNvPr id="31" name="Text 19"/>
          <p:cNvSpPr txBox="1"/>
          <p:nvPr/>
        </p:nvSpPr>
        <p:spPr>
          <a:xfrm>
            <a:off x="1686154" y="2827325"/>
            <a:ext cx="5115154" cy="219456"/>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企業目的を達成するための「活動の連鎖」</a:t>
            </a:r>
            <a:endParaRPr lang="en-US" sz="1200" dirty="0"/>
          </a:p>
        </p:txBody>
      </p:sp>
      <p:pic>
        <p:nvPicPr>
          <p:cNvPr id="32" name="Image 10" descr="preencoded.png">    </p:cNvPr>
          <p:cNvPicPr>
            <a:picLocks noChangeAspect="1"/>
          </p:cNvPicPr>
          <p:nvPr/>
        </p:nvPicPr>
        <p:blipFill>
          <a:blip r:embed="rId11"/>
          <a:srcRect l="-40" r="-40" t="0" b="0"/>
          <a:stretch/>
        </p:blipFill>
        <p:spPr>
          <a:xfrm>
            <a:off x="1019556" y="2572207"/>
            <a:ext cx="286207" cy="3813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1085393"/>
            <a:ext cx="12191695" cy="19202"/>
          </a:xfrm>
          <a:prstGeom prst="rect">
            <a:avLst/>
          </a:prstGeom>
          <a:solidFill>
            <a:srgbClr val="E5E7EB"/>
          </a:solidFill>
          <a:ln w="12700">
            <a:solidFill>
              <a:srgbClr val="E5E7EB">
                <a:alpha val="0"/>
              </a:srgbClr>
            </a:solidFill>
            <a:prstDash val="solid"/>
          </a:ln>
        </p:spPr>
      </p:sp>
      <p:sp>
        <p:nvSpPr>
          <p:cNvPr id="5" name="Text 3"/>
          <p:cNvSpPr txBox="1"/>
          <p:nvPr/>
        </p:nvSpPr>
        <p:spPr>
          <a:xfrm>
            <a:off x="571500" y="381305"/>
            <a:ext cx="5577840"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二階層の「できること」概念図</a:t>
            </a:r>
            <a:endParaRPr lang="en-US" sz="2700" dirty="0"/>
          </a:p>
        </p:txBody>
      </p:sp>
      <p:sp>
        <p:nvSpPr>
          <p:cNvPr id="6" name="Shape 4"/>
          <p:cNvSpPr/>
          <p:nvPr/>
        </p:nvSpPr>
        <p:spPr>
          <a:xfrm>
            <a:off x="571500" y="381305"/>
            <a:ext cx="75895" cy="342900"/>
          </a:xfrm>
          <a:prstGeom prst="rect">
            <a:avLst/>
          </a:prstGeom>
          <a:solidFill>
            <a:srgbClr val="2563EB"/>
          </a:solidFill>
          <a:ln w="12700">
            <a:solidFill>
              <a:srgbClr val="FFFFFF">
                <a:alpha val="0"/>
              </a:srgbClr>
            </a:solidFill>
            <a:prstDash val="solid"/>
          </a:ln>
        </p:spPr>
      </p:sp>
      <p:sp>
        <p:nvSpPr>
          <p:cNvPr id="7" name="Shape 5"/>
          <p:cNvSpPr/>
          <p:nvPr/>
        </p:nvSpPr>
        <p:spPr>
          <a:xfrm>
            <a:off x="571500" y="1485900"/>
            <a:ext cx="5333695" cy="4134002"/>
          </a:xfrm>
          <a:prstGeom prst="roundRect">
            <a:avLst>
              <a:gd name="adj" fmla="val 815"/>
            </a:avLst>
          </a:prstGeom>
          <a:solidFill>
            <a:srgbClr val="F3F4F6"/>
          </a:solidFill>
          <a:ln w="12700">
            <a:solidFill>
              <a:srgbClr val="D1D5DB"/>
            </a:solidFill>
            <a:prstDash val="solid"/>
          </a:ln>
          <a:effectLst>
            <a:outerShdw sx="100000" sy="100000" kx="0" ky="0" algn="bl" rotWithShape="0" blurRad="101600" dist="38100" dir="16200000">
              <a:srgbClr val="000000">
                <a:alpha val="5000"/>
              </a:srgbClr>
            </a:outerShdw>
          </a:effectLst>
        </p:spPr>
      </p:sp>
      <p:sp>
        <p:nvSpPr>
          <p:cNvPr id="8" name="Shape 6"/>
          <p:cNvSpPr/>
          <p:nvPr/>
        </p:nvSpPr>
        <p:spPr>
          <a:xfrm>
            <a:off x="580644" y="1495044"/>
            <a:ext cx="5315407" cy="972007"/>
          </a:xfrm>
          <a:prstGeom prst="roundRect">
            <a:avLst>
              <a:gd name="adj" fmla="val 14757"/>
            </a:avLst>
          </a:prstGeom>
          <a:solidFill>
            <a:srgbClr val="6B7280"/>
          </a:solidFill>
          <a:ln w="12700">
            <a:solidFill>
              <a:srgbClr val="FFFFFF">
                <a:alpha val="0"/>
              </a:srgbClr>
            </a:solidFill>
            <a:prstDash val="solid"/>
          </a:ln>
        </p:spPr>
      </p:sp>
      <p:sp>
        <p:nvSpPr>
          <p:cNvPr id="9" name="Text 7"/>
          <p:cNvSpPr txBox="1"/>
          <p:nvPr/>
        </p:nvSpPr>
        <p:spPr>
          <a:xfrm>
            <a:off x="2357323" y="1686154"/>
            <a:ext cx="2245766" cy="34290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 個人・部署のレベル</a:t>
            </a:r>
            <a:endParaRPr lang="en-US" sz="1800" dirty="0"/>
          </a:p>
        </p:txBody>
      </p:sp>
      <p:pic>
        <p:nvPicPr>
          <p:cNvPr id="10" name="Image 0" descr="preencoded.png">    </p:cNvPr>
          <p:cNvPicPr>
            <a:picLocks noChangeAspect="1"/>
          </p:cNvPicPr>
          <p:nvPr/>
        </p:nvPicPr>
        <p:blipFill>
          <a:blip r:embed="rId1"/>
          <a:srcRect l="-57" r="-57" t="0" b="0"/>
          <a:stretch/>
        </p:blipFill>
        <p:spPr>
          <a:xfrm>
            <a:off x="2061972" y="1742846"/>
            <a:ext cx="200254" cy="228600"/>
          </a:xfrm>
          <a:prstGeom prst="rect">
            <a:avLst/>
          </a:prstGeom>
        </p:spPr>
      </p:pic>
      <p:sp>
        <p:nvSpPr>
          <p:cNvPr id="11" name="Text 8"/>
          <p:cNvSpPr txBox="1"/>
          <p:nvPr/>
        </p:nvSpPr>
        <p:spPr>
          <a:xfrm>
            <a:off x="2771546" y="2076602"/>
            <a:ext cx="1010412" cy="200254"/>
          </a:xfrm>
          <a:prstGeom prst="rect">
            <a:avLst/>
          </a:prstGeom>
          <a:noFill/>
          <a:ln/>
        </p:spPr>
        <p:txBody>
          <a:bodyPr wrap="square" lIns="0" tIns="0" rIns="0" bIns="0" rtlCol="0" anchor="ctr"/>
          <a:lstStyle/>
          <a:p>
            <a:pPr algn="l" indent="0" marL="0">
              <a:buNone/>
            </a:pPr>
            <a:r>
              <a:rPr lang="en-US" sz="1000" dirty="0">
                <a:solidFill>
                  <a:srgbClr val="FFFFFF">
                    <a:alpha val="90000"/>
                  </a:srgbClr>
                </a:solidFill>
                <a:latin typeface="Noto Sans JP" pitchFamily="34" charset="0"/>
                <a:ea typeface="Noto Sans JP" pitchFamily="34" charset="-122"/>
                <a:cs typeface="Noto Sans JP" pitchFamily="34" charset="-120"/>
              </a:rPr>
              <a:t>（機能の導入）</a:t>
            </a:r>
            <a:endParaRPr lang="en-US" sz="1000" dirty="0"/>
          </a:p>
        </p:txBody>
      </p:sp>
      <p:sp>
        <p:nvSpPr>
          <p:cNvPr id="12" name="Shape 9"/>
          <p:cNvSpPr/>
          <p:nvPr/>
        </p:nvSpPr>
        <p:spPr>
          <a:xfrm>
            <a:off x="866851" y="2704795"/>
            <a:ext cx="4743907" cy="790956"/>
          </a:xfrm>
          <a:prstGeom prst="roundRect">
            <a:avLst>
              <a:gd name="adj" fmla="val 11143"/>
            </a:avLst>
          </a:prstGeom>
          <a:solidFill>
            <a:srgbClr val="FFFFFF">
              <a:alpha val="80000"/>
            </a:srgbClr>
          </a:solidFill>
          <a:ln/>
        </p:spPr>
      </p:sp>
      <p:sp>
        <p:nvSpPr>
          <p:cNvPr id="13" name="Shape 10"/>
          <p:cNvSpPr/>
          <p:nvPr/>
        </p:nvSpPr>
        <p:spPr>
          <a:xfrm>
            <a:off x="866851" y="2704795"/>
            <a:ext cx="38405" cy="790956"/>
          </a:xfrm>
          <a:prstGeom prst="roundRect">
            <a:avLst>
              <a:gd name="adj" fmla="val 229488"/>
            </a:avLst>
          </a:prstGeom>
          <a:solidFill>
            <a:srgbClr val="6B7280"/>
          </a:solidFill>
          <a:ln w="12700">
            <a:solidFill>
              <a:srgbClr val="6B7280">
                <a:alpha val="0"/>
              </a:srgbClr>
            </a:solidFill>
            <a:prstDash val="solid"/>
          </a:ln>
        </p:spPr>
      </p:sp>
      <p:sp>
        <p:nvSpPr>
          <p:cNvPr id="14" name="Text 11"/>
          <p:cNvSpPr txBox="1"/>
          <p:nvPr/>
        </p:nvSpPr>
        <p:spPr>
          <a:xfrm>
            <a:off x="1047902" y="2848356"/>
            <a:ext cx="4610405"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具体例：</a:t>
            </a:r>
            <a:endParaRPr lang="en-US" sz="1200" dirty="0"/>
          </a:p>
        </p:txBody>
      </p:sp>
      <p:sp>
        <p:nvSpPr>
          <p:cNvPr id="15" name="Text 12"/>
          <p:cNvSpPr txBox="1"/>
          <p:nvPr/>
        </p:nvSpPr>
        <p:spPr>
          <a:xfrm>
            <a:off x="1047902" y="3152851"/>
            <a:ext cx="4610405"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AIチャットボット、申請ワークフロー、RPA、生成AI支援ツールなど</a:t>
            </a:r>
            <a:endParaRPr lang="en-US" sz="1000" dirty="0"/>
          </a:p>
        </p:txBody>
      </p:sp>
      <p:pic>
        <p:nvPicPr>
          <p:cNvPr id="16" name="Image 1" descr="preencoded.png">    </p:cNvPr>
          <p:cNvPicPr>
            <a:picLocks noChangeAspect="1"/>
          </p:cNvPicPr>
          <p:nvPr/>
        </p:nvPicPr>
        <p:blipFill>
          <a:blip r:embed="rId2"/>
          <a:srcRect l="0" r="0" t="-43" b="-43"/>
          <a:stretch/>
        </p:blipFill>
        <p:spPr>
          <a:xfrm>
            <a:off x="866851" y="3685946"/>
            <a:ext cx="133502" cy="152705"/>
          </a:xfrm>
          <a:prstGeom prst="rect">
            <a:avLst/>
          </a:prstGeom>
        </p:spPr>
      </p:pic>
      <p:sp>
        <p:nvSpPr>
          <p:cNvPr id="17" name="Text 13"/>
          <p:cNvSpPr txBox="1"/>
          <p:nvPr/>
        </p:nvSpPr>
        <p:spPr>
          <a:xfrm>
            <a:off x="1000354" y="3685946"/>
            <a:ext cx="182148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個人の作業効率は上がる</a:t>
            </a:r>
            <a:endParaRPr lang="en-US" sz="1200" dirty="0"/>
          </a:p>
        </p:txBody>
      </p:sp>
      <p:pic>
        <p:nvPicPr>
          <p:cNvPr id="18" name="Image 2" descr="preencoded.png">    </p:cNvPr>
          <p:cNvPicPr>
            <a:picLocks noChangeAspect="1"/>
          </p:cNvPicPr>
          <p:nvPr/>
        </p:nvPicPr>
        <p:blipFill>
          <a:blip r:embed="rId3"/>
          <a:srcRect l="0" r="0" t="-43" b="-43"/>
          <a:stretch/>
        </p:blipFill>
        <p:spPr>
          <a:xfrm>
            <a:off x="866851" y="4028846"/>
            <a:ext cx="133502" cy="152705"/>
          </a:xfrm>
          <a:prstGeom prst="rect">
            <a:avLst/>
          </a:prstGeom>
        </p:spPr>
      </p:pic>
      <p:sp>
        <p:nvSpPr>
          <p:cNvPr id="19" name="Text 14"/>
          <p:cNvSpPr txBox="1"/>
          <p:nvPr/>
        </p:nvSpPr>
        <p:spPr>
          <a:xfrm>
            <a:off x="1000354" y="4028846"/>
            <a:ext cx="3086100"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便利になるが、仕事のやり方は変わらない</a:t>
            </a:r>
            <a:endParaRPr lang="en-US" sz="1200" dirty="0"/>
          </a:p>
        </p:txBody>
      </p:sp>
      <p:pic>
        <p:nvPicPr>
          <p:cNvPr id="20" name="Image 3" descr="preencoded.png">    </p:cNvPr>
          <p:cNvPicPr>
            <a:picLocks noChangeAspect="1"/>
          </p:cNvPicPr>
          <p:nvPr/>
        </p:nvPicPr>
        <p:blipFill>
          <a:blip r:embed="rId4"/>
          <a:srcRect l="0" r="0" t="0" b="0"/>
          <a:stretch/>
        </p:blipFill>
        <p:spPr>
          <a:xfrm>
            <a:off x="866851" y="4371746"/>
            <a:ext cx="152705" cy="152705"/>
          </a:xfrm>
          <a:prstGeom prst="rect">
            <a:avLst/>
          </a:prstGeom>
        </p:spPr>
      </p:pic>
      <p:sp>
        <p:nvSpPr>
          <p:cNvPr id="21" name="Text 15"/>
          <p:cNvSpPr txBox="1"/>
          <p:nvPr/>
        </p:nvSpPr>
        <p:spPr>
          <a:xfrm>
            <a:off x="1019556" y="4371746"/>
            <a:ext cx="2468880"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他部署との連携課題は解決しない</a:t>
            </a:r>
            <a:endParaRPr lang="en-US" sz="1200" dirty="0"/>
          </a:p>
        </p:txBody>
      </p:sp>
      <p:sp>
        <p:nvSpPr>
          <p:cNvPr id="22" name="Shape 16"/>
          <p:cNvSpPr/>
          <p:nvPr/>
        </p:nvSpPr>
        <p:spPr>
          <a:xfrm>
            <a:off x="866851" y="4828946"/>
            <a:ext cx="4743907" cy="543154"/>
          </a:xfrm>
          <a:prstGeom prst="roundRect">
            <a:avLst>
              <a:gd name="adj" fmla="val 23628"/>
            </a:avLst>
          </a:prstGeom>
          <a:solidFill>
            <a:srgbClr val="E5E7EB"/>
          </a:solidFill>
          <a:ln w="12700">
            <a:solidFill>
              <a:srgbClr val="FFFFFF">
                <a:alpha val="0"/>
              </a:srgbClr>
            </a:solidFill>
            <a:prstDash val="solid"/>
          </a:ln>
        </p:spPr>
      </p:sp>
      <p:sp>
        <p:nvSpPr>
          <p:cNvPr id="23" name="Text 17"/>
          <p:cNvSpPr txBox="1"/>
          <p:nvPr/>
        </p:nvSpPr>
        <p:spPr>
          <a:xfrm>
            <a:off x="914400" y="4972507"/>
            <a:ext cx="4648810" cy="257861"/>
          </a:xfrm>
          <a:prstGeom prst="rect">
            <a:avLst/>
          </a:prstGeom>
          <a:noFill/>
          <a:ln/>
        </p:spPr>
        <p:txBody>
          <a:bodyPr wrap="square" lIns="0" tIns="0" rIns="0" bIns="0" rtlCol="0" anchor="ctr"/>
          <a:lstStyle/>
          <a:p>
            <a:pPr algn="ctr" indent="0" marL="0">
              <a:buNone/>
            </a:pPr>
            <a:r>
              <a:rPr lang="en-US" sz="1300" b="1" dirty="0">
                <a:solidFill>
                  <a:srgbClr val="4B5563"/>
                </a:solidFill>
                <a:latin typeface="Noto Sans JP" pitchFamily="34" charset="0"/>
                <a:ea typeface="Noto Sans JP" pitchFamily="34" charset="-122"/>
                <a:cs typeface="Noto Sans JP" pitchFamily="34" charset="-120"/>
              </a:rPr>
              <a:t>部分最適にとどまる</a:t>
            </a:r>
            <a:endParaRPr lang="en-US" sz="1300" dirty="0"/>
          </a:p>
        </p:txBody>
      </p:sp>
      <p:sp>
        <p:nvSpPr>
          <p:cNvPr id="24" name="Shape 18"/>
          <p:cNvSpPr/>
          <p:nvPr/>
        </p:nvSpPr>
        <p:spPr>
          <a:xfrm>
            <a:off x="6286500" y="1485900"/>
            <a:ext cx="5333695" cy="4134002"/>
          </a:xfrm>
          <a:prstGeom prst="roundRect">
            <a:avLst>
              <a:gd name="adj" fmla="val 815"/>
            </a:avLst>
          </a:prstGeom>
          <a:solidFill>
            <a:srgbClr val="ECFDF5"/>
          </a:solidFill>
          <a:ln w="12700">
            <a:solidFill>
              <a:srgbClr val="6EE7B7"/>
            </a:solidFill>
            <a:prstDash val="solid"/>
          </a:ln>
          <a:effectLst>
            <a:outerShdw sx="100000" sy="100000" kx="0" ky="0" algn="bl" rotWithShape="0" blurRad="101600" dist="38100" dir="16200000">
              <a:srgbClr val="000000">
                <a:alpha val="5000"/>
              </a:srgbClr>
            </a:outerShdw>
          </a:effectLst>
        </p:spPr>
      </p:sp>
      <p:sp>
        <p:nvSpPr>
          <p:cNvPr id="25" name="Shape 19"/>
          <p:cNvSpPr/>
          <p:nvPr/>
        </p:nvSpPr>
        <p:spPr>
          <a:xfrm>
            <a:off x="10425074" y="1676095"/>
            <a:ext cx="1462126" cy="267005"/>
          </a:xfrm>
          <a:prstGeom prst="rect">
            <a:avLst/>
          </a:prstGeom>
          <a:solidFill>
            <a:srgbClr val="EF4444"/>
          </a:solidFill>
          <a:ln w="12700">
            <a:solidFill>
              <a:srgbClr val="FFFFFF">
                <a:alpha val="0"/>
              </a:srgbClr>
            </a:solidFill>
            <a:prstDash val="solid"/>
          </a:ln>
          <a:effectLst>
            <a:outerShdw sx="100000" sy="100000" kx="0" ky="0" algn="bl" rotWithShape="0" blurRad="38100" dist="25400" dir="16200000">
              <a:srgbClr val="000000">
                <a:alpha val="20000"/>
              </a:srgbClr>
            </a:outerShdw>
          </a:effectLst>
        </p:spPr>
      </p:sp>
      <p:sp>
        <p:nvSpPr>
          <p:cNvPr id="26" name="Shape 20"/>
          <p:cNvSpPr/>
          <p:nvPr/>
        </p:nvSpPr>
        <p:spPr>
          <a:xfrm>
            <a:off x="6295644" y="1495044"/>
            <a:ext cx="5315407" cy="972007"/>
          </a:xfrm>
          <a:prstGeom prst="roundRect">
            <a:avLst>
              <a:gd name="adj" fmla="val 14757"/>
            </a:avLst>
          </a:prstGeom>
          <a:solidFill>
            <a:srgbClr val="10B981"/>
          </a:solidFill>
          <a:ln w="12700">
            <a:solidFill>
              <a:srgbClr val="FFFFFF">
                <a:alpha val="0"/>
              </a:srgbClr>
            </a:solidFill>
            <a:prstDash val="solid"/>
          </a:ln>
        </p:spPr>
      </p:sp>
      <p:sp>
        <p:nvSpPr>
          <p:cNvPr id="27" name="Text 21"/>
          <p:cNvSpPr txBox="1"/>
          <p:nvPr/>
        </p:nvSpPr>
        <p:spPr>
          <a:xfrm>
            <a:off x="8172907" y="1686154"/>
            <a:ext cx="1996135" cy="342900"/>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 組織全体のレベル</a:t>
            </a:r>
            <a:endParaRPr lang="en-US" sz="1800" dirty="0"/>
          </a:p>
        </p:txBody>
      </p:sp>
      <p:pic>
        <p:nvPicPr>
          <p:cNvPr id="28" name="Image 4" descr="preencoded.png">    </p:cNvPr>
          <p:cNvPicPr>
            <a:picLocks noChangeAspect="1"/>
          </p:cNvPicPr>
          <p:nvPr/>
        </p:nvPicPr>
        <p:blipFill>
          <a:blip r:embed="rId5"/>
          <a:srcRect l="-133" r="-133" t="0" b="0"/>
          <a:stretch/>
        </p:blipFill>
        <p:spPr>
          <a:xfrm>
            <a:off x="7905902" y="1742846"/>
            <a:ext cx="171907" cy="228600"/>
          </a:xfrm>
          <a:prstGeom prst="rect">
            <a:avLst/>
          </a:prstGeom>
        </p:spPr>
      </p:pic>
      <p:sp>
        <p:nvSpPr>
          <p:cNvPr id="29" name="Text 22"/>
          <p:cNvSpPr txBox="1"/>
          <p:nvPr/>
        </p:nvSpPr>
        <p:spPr>
          <a:xfrm>
            <a:off x="8220456" y="2076602"/>
            <a:ext cx="1584655" cy="200254"/>
          </a:xfrm>
          <a:prstGeom prst="rect">
            <a:avLst/>
          </a:prstGeom>
          <a:noFill/>
          <a:ln/>
        </p:spPr>
        <p:txBody>
          <a:bodyPr wrap="square" lIns="0" tIns="0" rIns="0" bIns="0" rtlCol="0" anchor="ctr"/>
          <a:lstStyle/>
          <a:p>
            <a:pPr algn="l" indent="0" marL="0">
              <a:buNone/>
            </a:pPr>
            <a:r>
              <a:rPr lang="en-US" sz="1000" dirty="0">
                <a:solidFill>
                  <a:srgbClr val="FFFFFF">
                    <a:alpha val="90000"/>
                  </a:srgbClr>
                </a:solidFill>
                <a:latin typeface="Noto Sans JP" pitchFamily="34" charset="0"/>
                <a:ea typeface="Noto Sans JP" pitchFamily="34" charset="-122"/>
                <a:cs typeface="Noto Sans JP" pitchFamily="34" charset="-120"/>
              </a:rPr>
              <a:t>（マネジメントの変革）</a:t>
            </a:r>
            <a:endParaRPr lang="en-US" sz="1000" dirty="0"/>
          </a:p>
        </p:txBody>
      </p:sp>
      <p:sp>
        <p:nvSpPr>
          <p:cNvPr id="30" name="Shape 23"/>
          <p:cNvSpPr/>
          <p:nvPr/>
        </p:nvSpPr>
        <p:spPr>
          <a:xfrm>
            <a:off x="6581851" y="2704795"/>
            <a:ext cx="4743907" cy="790956"/>
          </a:xfrm>
          <a:prstGeom prst="roundRect">
            <a:avLst>
              <a:gd name="adj" fmla="val 11143"/>
            </a:avLst>
          </a:prstGeom>
          <a:solidFill>
            <a:srgbClr val="FFFFFF">
              <a:alpha val="80000"/>
            </a:srgbClr>
          </a:solidFill>
          <a:ln/>
        </p:spPr>
      </p:sp>
      <p:sp>
        <p:nvSpPr>
          <p:cNvPr id="31" name="Shape 24"/>
          <p:cNvSpPr/>
          <p:nvPr/>
        </p:nvSpPr>
        <p:spPr>
          <a:xfrm>
            <a:off x="6581851" y="2704795"/>
            <a:ext cx="38405" cy="790956"/>
          </a:xfrm>
          <a:prstGeom prst="roundRect">
            <a:avLst>
              <a:gd name="adj" fmla="val 229488"/>
            </a:avLst>
          </a:prstGeom>
          <a:solidFill>
            <a:srgbClr val="10B981"/>
          </a:solidFill>
          <a:ln w="12700">
            <a:solidFill>
              <a:srgbClr val="10B981">
                <a:alpha val="0"/>
              </a:srgbClr>
            </a:solidFill>
            <a:prstDash val="solid"/>
          </a:ln>
        </p:spPr>
      </p:sp>
      <p:sp>
        <p:nvSpPr>
          <p:cNvPr id="32" name="Text 25"/>
          <p:cNvSpPr txBox="1"/>
          <p:nvPr/>
        </p:nvSpPr>
        <p:spPr>
          <a:xfrm>
            <a:off x="6762902" y="2848356"/>
            <a:ext cx="4610405"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具体例：</a:t>
            </a:r>
            <a:endParaRPr lang="en-US" sz="1200" dirty="0"/>
          </a:p>
        </p:txBody>
      </p:sp>
      <p:sp>
        <p:nvSpPr>
          <p:cNvPr id="33" name="Text 26"/>
          <p:cNvSpPr txBox="1"/>
          <p:nvPr/>
        </p:nvSpPr>
        <p:spPr>
          <a:xfrm>
            <a:off x="6762902" y="3152851"/>
            <a:ext cx="4610405"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依頼と実行の可視化、源流入力、ナレッジ一元化、一個流し</a:t>
            </a:r>
            <a:endParaRPr lang="en-US" sz="1000" dirty="0"/>
          </a:p>
        </p:txBody>
      </p:sp>
      <p:pic>
        <p:nvPicPr>
          <p:cNvPr id="34" name="Image 5" descr="preencoded.png">    </p:cNvPr>
          <p:cNvPicPr>
            <a:picLocks noChangeAspect="1"/>
          </p:cNvPicPr>
          <p:nvPr/>
        </p:nvPicPr>
        <p:blipFill>
          <a:blip r:embed="rId6"/>
          <a:srcRect l="0" r="0" t="-43" b="-43"/>
          <a:stretch/>
        </p:blipFill>
        <p:spPr>
          <a:xfrm>
            <a:off x="6581851" y="3685946"/>
            <a:ext cx="133502" cy="152705"/>
          </a:xfrm>
          <a:prstGeom prst="rect">
            <a:avLst/>
          </a:prstGeom>
        </p:spPr>
      </p:pic>
      <p:sp>
        <p:nvSpPr>
          <p:cNvPr id="35" name="Text 27"/>
          <p:cNvSpPr txBox="1"/>
          <p:nvPr/>
        </p:nvSpPr>
        <p:spPr>
          <a:xfrm>
            <a:off x="6715354" y="3685946"/>
            <a:ext cx="231526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仕事の進め方そのものが変わる</a:t>
            </a:r>
            <a:endParaRPr lang="en-US" sz="1200" dirty="0"/>
          </a:p>
        </p:txBody>
      </p:sp>
      <p:pic>
        <p:nvPicPr>
          <p:cNvPr id="36" name="Image 6" descr="preencoded.png">    </p:cNvPr>
          <p:cNvPicPr>
            <a:picLocks noChangeAspect="1"/>
          </p:cNvPicPr>
          <p:nvPr/>
        </p:nvPicPr>
        <p:blipFill>
          <a:blip r:embed="rId7"/>
          <a:srcRect l="0" r="0" t="-43" b="-43"/>
          <a:stretch/>
        </p:blipFill>
        <p:spPr>
          <a:xfrm>
            <a:off x="6581851" y="4028846"/>
            <a:ext cx="133502" cy="152705"/>
          </a:xfrm>
          <a:prstGeom prst="rect">
            <a:avLst/>
          </a:prstGeom>
        </p:spPr>
      </p:pic>
      <p:sp>
        <p:nvSpPr>
          <p:cNvPr id="37" name="Text 28"/>
          <p:cNvSpPr txBox="1"/>
          <p:nvPr/>
        </p:nvSpPr>
        <p:spPr>
          <a:xfrm>
            <a:off x="6715354" y="4028846"/>
            <a:ext cx="2934310"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組織全体での情報連携がスムーズになる</a:t>
            </a:r>
            <a:endParaRPr lang="en-US" sz="1200" dirty="0"/>
          </a:p>
        </p:txBody>
      </p:sp>
      <p:pic>
        <p:nvPicPr>
          <p:cNvPr id="38" name="Image 7" descr="preencoded.png">    </p:cNvPr>
          <p:cNvPicPr>
            <a:picLocks noChangeAspect="1"/>
          </p:cNvPicPr>
          <p:nvPr/>
        </p:nvPicPr>
        <p:blipFill>
          <a:blip r:embed="rId8"/>
          <a:srcRect l="0" r="0" t="-43" b="-43"/>
          <a:stretch/>
        </p:blipFill>
        <p:spPr>
          <a:xfrm>
            <a:off x="6581851" y="4371746"/>
            <a:ext cx="133502" cy="152705"/>
          </a:xfrm>
          <a:prstGeom prst="rect">
            <a:avLst/>
          </a:prstGeom>
        </p:spPr>
      </p:pic>
      <p:sp>
        <p:nvSpPr>
          <p:cNvPr id="39" name="Text 29"/>
          <p:cNvSpPr txBox="1"/>
          <p:nvPr/>
        </p:nvSpPr>
        <p:spPr>
          <a:xfrm>
            <a:off x="6715354" y="4371746"/>
            <a:ext cx="2304288"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経営数値がリアルタイム化する</a:t>
            </a:r>
            <a:endParaRPr lang="en-US" sz="1200" dirty="0"/>
          </a:p>
        </p:txBody>
      </p:sp>
      <p:sp>
        <p:nvSpPr>
          <p:cNvPr id="40" name="Shape 30"/>
          <p:cNvSpPr/>
          <p:nvPr/>
        </p:nvSpPr>
        <p:spPr>
          <a:xfrm>
            <a:off x="6581851" y="4828946"/>
            <a:ext cx="4743907" cy="543154"/>
          </a:xfrm>
          <a:prstGeom prst="roundRect">
            <a:avLst>
              <a:gd name="adj" fmla="val 23628"/>
            </a:avLst>
          </a:prstGeom>
          <a:solidFill>
            <a:srgbClr val="D1FAE5"/>
          </a:solidFill>
          <a:ln w="12700">
            <a:solidFill>
              <a:srgbClr val="FFFFFF">
                <a:alpha val="0"/>
              </a:srgbClr>
            </a:solidFill>
            <a:prstDash val="solid"/>
          </a:ln>
        </p:spPr>
      </p:sp>
      <p:sp>
        <p:nvSpPr>
          <p:cNvPr id="41" name="Text 31"/>
          <p:cNvSpPr txBox="1"/>
          <p:nvPr/>
        </p:nvSpPr>
        <p:spPr>
          <a:xfrm>
            <a:off x="6629400" y="4972507"/>
            <a:ext cx="4648810" cy="257861"/>
          </a:xfrm>
          <a:prstGeom prst="rect">
            <a:avLst/>
          </a:prstGeom>
          <a:noFill/>
          <a:ln/>
        </p:spPr>
        <p:txBody>
          <a:bodyPr wrap="square" lIns="0" tIns="0" rIns="0" bIns="0" rtlCol="0" anchor="ctr"/>
          <a:lstStyle/>
          <a:p>
            <a:pPr algn="ctr" indent="0" marL="0">
              <a:buNone/>
            </a:pPr>
            <a:r>
              <a:rPr lang="en-US" sz="1300" b="1" dirty="0">
                <a:solidFill>
                  <a:srgbClr val="047857"/>
                </a:solidFill>
                <a:latin typeface="Noto Sans JP" pitchFamily="34" charset="0"/>
                <a:ea typeface="Noto Sans JP" pitchFamily="34" charset="-122"/>
                <a:cs typeface="Noto Sans JP" pitchFamily="34" charset="-120"/>
              </a:rPr>
              <a:t>全体最適を実現するバックボーン</a:t>
            </a:r>
            <a:endParaRPr lang="en-US" sz="1300" dirty="0"/>
          </a:p>
        </p:txBody>
      </p:sp>
      <p:sp>
        <p:nvSpPr>
          <p:cNvPr id="42" name="Shape 32"/>
          <p:cNvSpPr/>
          <p:nvPr/>
        </p:nvSpPr>
        <p:spPr>
          <a:xfrm>
            <a:off x="0" y="6001207"/>
            <a:ext cx="12191695" cy="857707"/>
          </a:xfrm>
          <a:prstGeom prst="rect">
            <a:avLst/>
          </a:prstGeom>
          <a:solidFill>
            <a:srgbClr val="FFFFFF"/>
          </a:solidFill>
          <a:ln/>
          <a:effectLst>
            <a:outerShdw sx="100000" sy="100000" kx="0" ky="0" algn="bl" rotWithShape="0" blurRad="63500" dist="38100" dir="5400000">
              <a:srgbClr val="000000">
                <a:alpha val="5000"/>
              </a:srgbClr>
            </a:outerShdw>
          </a:effectLst>
        </p:spPr>
      </p:sp>
      <p:sp>
        <p:nvSpPr>
          <p:cNvPr id="43" name="Shape 33"/>
          <p:cNvSpPr/>
          <p:nvPr/>
        </p:nvSpPr>
        <p:spPr>
          <a:xfrm>
            <a:off x="0" y="6001207"/>
            <a:ext cx="12191695" cy="38405"/>
          </a:xfrm>
          <a:prstGeom prst="rect">
            <a:avLst/>
          </a:prstGeom>
          <a:solidFill>
            <a:srgbClr val="2563EB"/>
          </a:solidFill>
          <a:ln w="12700">
            <a:solidFill>
              <a:srgbClr val="2563EB">
                <a:alpha val="0"/>
              </a:srgbClr>
            </a:solidFill>
            <a:prstDash val="solid"/>
          </a:ln>
        </p:spPr>
      </p:sp>
      <p:pic>
        <p:nvPicPr>
          <p:cNvPr id="44" name="Image 8" descr="preencoded.png">    </p:cNvPr>
          <p:cNvPicPr>
            <a:picLocks noChangeAspect="1"/>
          </p:cNvPicPr>
          <p:nvPr/>
        </p:nvPicPr>
        <p:blipFill>
          <a:blip r:embed="rId9"/>
          <a:srcRect l="0" r="0" t="0" b="0"/>
          <a:stretch/>
        </p:blipFill>
        <p:spPr>
          <a:xfrm>
            <a:off x="3143707" y="6314846"/>
            <a:ext cx="267005" cy="267005"/>
          </a:xfrm>
          <a:prstGeom prst="rect">
            <a:avLst/>
          </a:prstGeom>
        </p:spPr>
      </p:pic>
      <p:sp>
        <p:nvSpPr>
          <p:cNvPr id="45" name="Text 34"/>
          <p:cNvSpPr txBox="1"/>
          <p:nvPr/>
        </p:nvSpPr>
        <p:spPr>
          <a:xfrm>
            <a:off x="3514954" y="6001207"/>
            <a:ext cx="5572354" cy="857707"/>
          </a:xfrm>
          <a:prstGeom prst="rect">
            <a:avLst/>
          </a:prstGeom>
          <a:noFill/>
          <a:ln/>
        </p:spPr>
        <p:txBody>
          <a:bodyPr wrap="square" lIns="0" tIns="0" rIns="0" bIns="0" rtlCol="0" anchor="ctr"/>
          <a:lstStyle/>
          <a:p>
            <a:pPr algn="ctr" indent="0" marL="0">
              <a:buNone/>
            </a:pPr>
            <a:r>
              <a:rPr lang="en-US" sz="1500" b="1" dirty="0">
                <a:solidFill>
                  <a:srgbClr val="1F2937"/>
                </a:solidFill>
                <a:latin typeface="Noto Sans JP" pitchFamily="34" charset="0"/>
                <a:ea typeface="Noto Sans JP" pitchFamily="34" charset="-122"/>
                <a:cs typeface="Noto Sans JP" pitchFamily="34" charset="-120"/>
              </a:rPr>
              <a:t> 部分最適（機能）だけでは全体は良くなりません。</a:t>
            </a:r>
            <a:pPr algn="ctr" indent="0" marL="0">
              <a:buNone/>
            </a:pPr>
            <a:endParaRPr lang="en-US" sz="1500" dirty="0"/>
          </a:p>
          <a:p>
            <a:pPr algn="ctr" indent="0" marL="0">
              <a:buNone/>
            </a:pPr>
            <a:r>
              <a:rPr lang="en-US" sz="1500" b="1" dirty="0">
                <a:solidFill>
                  <a:srgbClr val="1F2937"/>
                </a:solidFill>
                <a:latin typeface="Noto Sans JP" pitchFamily="34" charset="0"/>
                <a:ea typeface="Noto Sans JP" pitchFamily="34" charset="-122"/>
                <a:cs typeface="Noto Sans JP" pitchFamily="34" charset="-120"/>
              </a:rPr>
              <a:t> 全体最適を実現するバックボーン（マネジメント）が必要です。 </a:t>
            </a:r>
            <a:endParaRPr lang="en-US" sz="1500" dirty="0"/>
          </a:p>
        </p:txBody>
      </p:sp>
      <p:pic>
        <p:nvPicPr>
          <p:cNvPr id="46" name="Image 9" descr="preencoded.png">    </p:cNvPr>
          <p:cNvPicPr>
            <a:picLocks noChangeAspect="1"/>
          </p:cNvPicPr>
          <p:nvPr/>
        </p:nvPicPr>
        <p:blipFill>
          <a:blip r:embed="rId10"/>
          <a:srcRect l="0" r="0" t="0" b="0"/>
          <a:stretch/>
        </p:blipFill>
        <p:spPr>
          <a:xfrm>
            <a:off x="5857646" y="3314700"/>
            <a:ext cx="476402" cy="476402"/>
          </a:xfrm>
          <a:prstGeom prst="rect">
            <a:avLst/>
          </a:prstGeom>
        </p:spPr>
      </p:pic>
      <p:pic>
        <p:nvPicPr>
          <p:cNvPr id="47" name="Image 10" descr="preencoded.png">    </p:cNvPr>
          <p:cNvPicPr>
            <a:picLocks noChangeAspect="1"/>
          </p:cNvPicPr>
          <p:nvPr/>
        </p:nvPicPr>
        <p:blipFill>
          <a:blip r:embed="rId11"/>
          <a:srcRect l="-1648" r="-1648" t="0" b="0"/>
          <a:stretch/>
        </p:blipFill>
        <p:spPr>
          <a:xfrm>
            <a:off x="6010351" y="3457346"/>
            <a:ext cx="171907" cy="1901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1E3A8A"/>
          </a:solidFill>
          <a:ln w="12700">
            <a:solidFill>
              <a:srgbClr val="FFFFFF">
                <a:alpha val="0"/>
              </a:srgbClr>
            </a:solidFill>
            <a:prstDash val="solid"/>
          </a:ln>
        </p:spPr>
      </p:sp>
      <p:sp>
        <p:nvSpPr>
          <p:cNvPr id="4" name="Shape 2"/>
          <p:cNvSpPr/>
          <p:nvPr/>
        </p:nvSpPr>
        <p:spPr>
          <a:xfrm>
            <a:off x="8382305" y="-1904695"/>
            <a:ext cx="5715000" cy="5715000"/>
          </a:xfrm>
          <a:prstGeom prst="ellipse">
            <a:avLst/>
          </a:prstGeom>
          <a:solidFill>
            <a:srgbClr val="2563EB">
              <a:alpha val="30000"/>
            </a:srgbClr>
          </a:solidFill>
          <a:ln w="12700">
            <a:solidFill>
              <a:srgbClr val="FFFFFF">
                <a:alpha val="0"/>
              </a:srgbClr>
            </a:solidFill>
            <a:prstDash val="solid"/>
          </a:ln>
        </p:spPr>
      </p:sp>
      <p:pic>
        <p:nvPicPr>
          <p:cNvPr id="5" name="Image 0" descr="preencoded.png">    </p:cNvPr>
          <p:cNvPicPr>
            <a:picLocks noChangeAspect="1"/>
          </p:cNvPicPr>
          <p:nvPr/>
        </p:nvPicPr>
        <p:blipFill>
          <a:blip r:embed="rId1">
            <a:alphaModFix amt="10000"/>
          </a:blip>
          <a:srcRect l="0" r="0" t="-1" b="-1"/>
          <a:stretch/>
        </p:blipFill>
        <p:spPr>
          <a:xfrm>
            <a:off x="0" y="0"/>
            <a:ext cx="12191695" cy="6858000"/>
          </a:xfrm>
          <a:prstGeom prst="rect">
            <a:avLst/>
          </a:prstGeom>
        </p:spPr>
      </p:pic>
      <p:pic>
        <p:nvPicPr>
          <p:cNvPr id="6" name="Image 1" descr="preencoded.png">    </p:cNvPr>
          <p:cNvPicPr>
            <a:picLocks noChangeAspect="1"/>
          </p:cNvPicPr>
          <p:nvPr/>
        </p:nvPicPr>
        <p:blipFill>
          <a:blip r:embed="rId2"/>
          <a:srcRect l="0" r="0" t="-1" b="-1"/>
          <a:stretch/>
        </p:blipFill>
        <p:spPr>
          <a:xfrm>
            <a:off x="0" y="6743700"/>
            <a:ext cx="12191695" cy="114300"/>
          </a:xfrm>
          <a:prstGeom prst="rect">
            <a:avLst/>
          </a:prstGeom>
        </p:spPr>
      </p:pic>
      <p:sp>
        <p:nvSpPr>
          <p:cNvPr id="7" name="Shape 3"/>
          <p:cNvSpPr/>
          <p:nvPr/>
        </p:nvSpPr>
        <p:spPr>
          <a:xfrm>
            <a:off x="5524805" y="790956"/>
            <a:ext cx="1143000" cy="1143000"/>
          </a:xfrm>
          <a:prstGeom prst="ellipse">
            <a:avLst/>
          </a:prstGeom>
          <a:solidFill>
            <a:srgbClr val="FFFFFF">
              <a:alpha val="10000"/>
            </a:srgbClr>
          </a:solidFill>
          <a:ln w="25400">
            <a:solidFill>
              <a:srgbClr val="FFFFFF">
                <a:alpha val="20000"/>
              </a:srgbClr>
            </a:solidFill>
            <a:prstDash val="solid"/>
          </a:ln>
        </p:spPr>
      </p:sp>
      <p:pic>
        <p:nvPicPr>
          <p:cNvPr id="8" name="Image 2" descr="preencoded.png">    </p:cNvPr>
          <p:cNvPicPr>
            <a:picLocks noChangeAspect="1"/>
          </p:cNvPicPr>
          <p:nvPr/>
        </p:nvPicPr>
        <p:blipFill>
          <a:blip r:embed="rId3"/>
          <a:srcRect l="0" r="0" t="0" b="0"/>
          <a:stretch/>
        </p:blipFill>
        <p:spPr>
          <a:xfrm>
            <a:off x="5810098" y="1076249"/>
            <a:ext cx="571500" cy="571500"/>
          </a:xfrm>
          <a:prstGeom prst="rect">
            <a:avLst/>
          </a:prstGeom>
        </p:spPr>
      </p:pic>
      <p:sp>
        <p:nvSpPr>
          <p:cNvPr id="9" name="Text 4"/>
          <p:cNvSpPr txBox="1"/>
          <p:nvPr/>
        </p:nvSpPr>
        <p:spPr>
          <a:xfrm>
            <a:off x="2676449" y="2885846"/>
            <a:ext cx="6848856" cy="1591056"/>
          </a:xfrm>
          <a:prstGeom prst="rect">
            <a:avLst/>
          </a:prstGeom>
          <a:noFill/>
          <a:ln/>
        </p:spPr>
        <p:txBody>
          <a:bodyPr wrap="square" lIns="0" tIns="0" rIns="0" bIns="0" rtlCol="0" anchor="t"/>
          <a:lstStyle/>
          <a:p>
            <a:pPr algn="ctr" indent="0" marL="0">
              <a:buNone/>
            </a:pPr>
            <a:r>
              <a:rPr lang="en-US" sz="4800" b="1" dirty="0">
                <a:solidFill>
                  <a:srgbClr val="FFFFFF"/>
                </a:solidFill>
                <a:latin typeface="Noto Sans JP" pitchFamily="34" charset="0"/>
                <a:ea typeface="Noto Sans JP" pitchFamily="34" charset="-122"/>
                <a:cs typeface="Noto Sans JP" pitchFamily="34" charset="-120"/>
              </a:rPr>
              <a:t> ヒアリングから見えた</a:t>
            </a:r>
            <a:pPr algn="ctr" indent="0" marL="0">
              <a:buNone/>
            </a:pPr>
            <a:endParaRPr lang="en-US" sz="4800" dirty="0"/>
          </a:p>
          <a:p>
            <a:pPr algn="ctr" indent="0" marL="0">
              <a:buNone/>
            </a:pPr>
            <a:r>
              <a:rPr lang="en-US" sz="4800" b="1" dirty="0">
                <a:solidFill>
                  <a:srgbClr val="FFFFFF"/>
                </a:solidFill>
                <a:latin typeface="Noto Sans JP" pitchFamily="34" charset="0"/>
                <a:ea typeface="Noto Sans JP" pitchFamily="34" charset="-122"/>
                <a:cs typeface="Noto Sans JP" pitchFamily="34" charset="-120"/>
              </a:rPr>
              <a:t>現状と構造的課題 </a:t>
            </a:r>
            <a:endParaRPr lang="en-US" sz="4800" dirty="0"/>
          </a:p>
        </p:txBody>
      </p:sp>
      <p:sp>
        <p:nvSpPr>
          <p:cNvPr id="10" name="Text 5"/>
          <p:cNvSpPr txBox="1"/>
          <p:nvPr/>
        </p:nvSpPr>
        <p:spPr>
          <a:xfrm>
            <a:off x="2712110" y="4775911"/>
            <a:ext cx="6777533" cy="857707"/>
          </a:xfrm>
          <a:prstGeom prst="rect">
            <a:avLst/>
          </a:prstGeom>
          <a:noFill/>
          <a:ln/>
        </p:spPr>
        <p:txBody>
          <a:bodyPr wrap="square" lIns="0" tIns="0" rIns="0" bIns="0" rtlCol="0" anchor="t"/>
          <a:lstStyle/>
          <a:p>
            <a:pPr algn="ctr" indent="0" marL="0">
              <a:buNone/>
            </a:pPr>
            <a:r>
              <a:rPr lang="en-US" sz="2100" dirty="0">
                <a:solidFill>
                  <a:srgbClr val="E0E7FF"/>
                </a:solidFill>
                <a:latin typeface="Noto Sans JP" pitchFamily="34" charset="0"/>
                <a:ea typeface="Noto Sans JP" pitchFamily="34" charset="-122"/>
                <a:cs typeface="Noto Sans JP" pitchFamily="34" charset="-120"/>
              </a:rPr>
              <a:t> 3つの構造的要因：</a:t>
            </a:r>
            <a:pPr algn="ctr" indent="0" marL="0">
              <a:buNone/>
            </a:pPr>
            <a:endParaRPr lang="en-US" sz="2100" dirty="0"/>
          </a:p>
          <a:p>
            <a:pPr algn="ctr" indent="0" marL="0">
              <a:buNone/>
            </a:pPr>
            <a:r>
              <a:rPr lang="en-US" sz="2100" dirty="0">
                <a:solidFill>
                  <a:srgbClr val="E0E7FF"/>
                </a:solidFill>
                <a:latin typeface="Noto Sans JP" pitchFamily="34" charset="0"/>
                <a:ea typeface="Noto Sans JP" pitchFamily="34" charset="-122"/>
                <a:cs typeface="Noto Sans JP" pitchFamily="34" charset="-120"/>
              </a:rPr>
              <a:t> 「データの分断」「知識の未分離」「依頼と実行の不全」 </a:t>
            </a:r>
            <a:endParaRPr lang="en-US" sz="2100" dirty="0"/>
          </a:p>
        </p:txBody>
      </p:sp>
      <p:pic>
        <p:nvPicPr>
          <p:cNvPr id="11" name="Image 3" descr="preencoded.png">    </p:cNvPr>
          <p:cNvPicPr>
            <a:picLocks noChangeAspect="1"/>
          </p:cNvPicPr>
          <p:nvPr/>
        </p:nvPicPr>
        <p:blipFill>
          <a:blip r:embed="rId4"/>
          <a:srcRect l="0" r="0" t="-400" b="-400"/>
          <a:stretch/>
        </p:blipFill>
        <p:spPr>
          <a:xfrm>
            <a:off x="5524805" y="6010351"/>
            <a:ext cx="1143000" cy="57607"/>
          </a:xfrm>
          <a:prstGeom prst="rect">
            <a:avLst/>
          </a:prstGeom>
        </p:spPr>
      </p:pic>
      <p:sp>
        <p:nvSpPr>
          <p:cNvPr id="12" name="Shape 6"/>
          <p:cNvSpPr/>
          <p:nvPr/>
        </p:nvSpPr>
        <p:spPr>
          <a:xfrm>
            <a:off x="4724705" y="2638044"/>
            <a:ext cx="2743200" cy="19202"/>
          </a:xfrm>
          <a:prstGeom prst="rect">
            <a:avLst/>
          </a:prstGeom>
          <a:solidFill>
            <a:srgbClr val="93C5FD"/>
          </a:solidFill>
          <a:ln w="12700">
            <a:solidFill>
              <a:srgbClr val="93C5FD">
                <a:alpha val="0"/>
              </a:srgbClr>
            </a:solidFill>
            <a:prstDash val="solid"/>
          </a:ln>
        </p:spPr>
      </p:sp>
      <p:sp>
        <p:nvSpPr>
          <p:cNvPr id="13" name="Text 7"/>
          <p:cNvSpPr txBox="1"/>
          <p:nvPr/>
        </p:nvSpPr>
        <p:spPr>
          <a:xfrm>
            <a:off x="4653382" y="2219249"/>
            <a:ext cx="2884932" cy="343814"/>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spc="180" kern="0" dirty="0">
                <a:solidFill>
                  <a:srgbClr val="93C5FD"/>
                </a:solidFill>
                <a:latin typeface="Noto Sans JP" pitchFamily="34" charset="0"/>
                <a:ea typeface="Noto Sans JP" pitchFamily="34" charset="-122"/>
                <a:cs typeface="Noto Sans JP" pitchFamily="34" charset="-120"/>
              </a:rPr>
              <a:t>CURRENT SITUATION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6678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781251"/>
          </a:xfrm>
          <a:prstGeom prst="roundRect">
            <a:avLst>
              <a:gd name="adj" fmla="val 101859"/>
            </a:avLst>
          </a:prstGeom>
          <a:solidFill>
            <a:srgbClr val="EF4444"/>
          </a:solidFill>
          <a:ln w="12700">
            <a:solidFill>
              <a:srgbClr val="EF4444">
                <a:alpha val="0"/>
              </a:srgbClr>
            </a:solidFill>
            <a:prstDash val="solid"/>
          </a:ln>
        </p:spPr>
      </p:sp>
      <p:sp>
        <p:nvSpPr>
          <p:cNvPr id="7" name="Shape 5"/>
          <p:cNvSpPr/>
          <p:nvPr/>
        </p:nvSpPr>
        <p:spPr>
          <a:xfrm>
            <a:off x="933602" y="1561795"/>
            <a:ext cx="381305" cy="381305"/>
          </a:xfrm>
          <a:prstGeom prst="ellipse">
            <a:avLst/>
          </a:prstGeom>
          <a:solidFill>
            <a:srgbClr val="FEE2E2"/>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1009498" y="1638605"/>
            <a:ext cx="228600" cy="228600"/>
          </a:xfrm>
          <a:prstGeom prst="rect">
            <a:avLst/>
          </a:prstGeom>
        </p:spPr>
      </p:pic>
      <p:sp>
        <p:nvSpPr>
          <p:cNvPr id="9" name="Text 6"/>
          <p:cNvSpPr txBox="1"/>
          <p:nvPr/>
        </p:nvSpPr>
        <p:spPr>
          <a:xfrm>
            <a:off x="1466698" y="1595628"/>
            <a:ext cx="114208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問題の本質</a:t>
            </a:r>
            <a:endParaRPr lang="en-US" sz="1600" dirty="0"/>
          </a:p>
        </p:txBody>
      </p:sp>
      <p:sp>
        <p:nvSpPr>
          <p:cNvPr id="10" name="Text 7"/>
          <p:cNvSpPr txBox="1"/>
          <p:nvPr/>
        </p:nvSpPr>
        <p:spPr>
          <a:xfrm>
            <a:off x="933602" y="2057400"/>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最大の問題は「多重入力の事務コスト増」だけではありません。</a:t>
            </a:r>
            <a:pPr algn="l" indent="0" marL="0">
              <a:buNone/>
            </a:pPr>
            <a:endParaRPr lang="en-US" sz="1300" dirty="0"/>
          </a:p>
          <a:p>
            <a:pPr algn="l" indent="0" marL="0">
              <a:buNone/>
            </a:pPr>
            <a:r>
              <a:rPr lang="en-US" sz="1300" b="1" dirty="0">
                <a:solidFill>
                  <a:srgbClr val="111827"/>
                </a:solidFill>
                <a:latin typeface="Noto Sans JP" pitchFamily="34" charset="0"/>
                <a:ea typeface="Noto Sans JP" pitchFamily="34" charset="-122"/>
                <a:cs typeface="Noto Sans JP" pitchFamily="34" charset="-120"/>
              </a:rPr>
              <a:t>経営活動そのものが、手作業による月次決算の確定に完全に依存している（遅れている）</a:t>
            </a:r>
            <a:pPr algn="l" indent="0" marL="0">
              <a:buNone/>
            </a:pPr>
            <a:r>
              <a:rPr lang="en-US" sz="1300" dirty="0">
                <a:solidFill>
                  <a:srgbClr val="4B5563"/>
                </a:solidFill>
                <a:latin typeface="Noto Sans JP" pitchFamily="34" charset="0"/>
                <a:ea typeface="Noto Sans JP" pitchFamily="34" charset="-122"/>
                <a:cs typeface="Noto Sans JP" pitchFamily="34" charset="-120"/>
              </a:rPr>
              <a:t>という点にあります。 </a:t>
            </a:r>
            <a:endParaRPr lang="en-US" sz="1300" dirty="0"/>
          </a:p>
        </p:txBody>
      </p:sp>
      <p:sp>
        <p:nvSpPr>
          <p:cNvPr id="11" name="Shape 8"/>
          <p:cNvSpPr/>
          <p:nvPr/>
        </p:nvSpPr>
        <p:spPr>
          <a:xfrm>
            <a:off x="571500" y="3394253"/>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394253"/>
            <a:ext cx="57607" cy="1781251"/>
          </a:xfrm>
          <a:prstGeom prst="roundRect">
            <a:avLst>
              <a:gd name="adj" fmla="val 101859"/>
            </a:avLst>
          </a:prstGeom>
          <a:solidFill>
            <a:srgbClr val="3B82F6"/>
          </a:solidFill>
          <a:ln w="12700">
            <a:solidFill>
              <a:srgbClr val="3B82F6">
                <a:alpha val="0"/>
              </a:srgbClr>
            </a:solidFill>
            <a:prstDash val="solid"/>
          </a:ln>
        </p:spPr>
      </p:sp>
      <p:sp>
        <p:nvSpPr>
          <p:cNvPr id="13" name="Shape 10"/>
          <p:cNvSpPr/>
          <p:nvPr/>
        </p:nvSpPr>
        <p:spPr>
          <a:xfrm>
            <a:off x="933602" y="3622853"/>
            <a:ext cx="381305" cy="381305"/>
          </a:xfrm>
          <a:prstGeom prst="ellipse">
            <a:avLst/>
          </a:prstGeom>
          <a:solidFill>
            <a:srgbClr val="DBEAFE"/>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0" b="0"/>
          <a:stretch/>
        </p:blipFill>
        <p:spPr>
          <a:xfrm>
            <a:off x="1009498" y="3699662"/>
            <a:ext cx="228600" cy="228600"/>
          </a:xfrm>
          <a:prstGeom prst="rect">
            <a:avLst/>
          </a:prstGeom>
        </p:spPr>
      </p:pic>
      <p:sp>
        <p:nvSpPr>
          <p:cNvPr id="15" name="Text 11"/>
          <p:cNvSpPr txBox="1"/>
          <p:nvPr/>
        </p:nvSpPr>
        <p:spPr>
          <a:xfrm>
            <a:off x="1466698" y="3656686"/>
            <a:ext cx="1594714"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本来あるべき姿</a:t>
            </a:r>
            <a:endParaRPr lang="en-US" sz="1600" dirty="0"/>
          </a:p>
        </p:txBody>
      </p:sp>
      <p:sp>
        <p:nvSpPr>
          <p:cNvPr id="16" name="Text 12"/>
          <p:cNvSpPr txBox="1"/>
          <p:nvPr/>
        </p:nvSpPr>
        <p:spPr>
          <a:xfrm>
            <a:off x="933602" y="4118458"/>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「一度記録したデータは使い切る（One Fact, One Place）」の原則に基づき、制度会計（確報）とは別に、</a:t>
            </a:r>
            <a:pPr algn="l" indent="0" marL="0">
              <a:buNone/>
            </a:pPr>
            <a:r>
              <a:rPr lang="en-US" sz="1300" b="1" dirty="0">
                <a:solidFill>
                  <a:srgbClr val="111827"/>
                </a:solidFill>
                <a:latin typeface="Noto Sans JP" pitchFamily="34" charset="0"/>
                <a:ea typeface="Noto Sans JP" pitchFamily="34" charset="-122"/>
                <a:cs typeface="Noto Sans JP" pitchFamily="34" charset="-120"/>
              </a:rPr>
              <a:t>管理会計としての「リアルタイムな業務活動把握」</a:t>
            </a:r>
            <a:pPr algn="l" indent="0" marL="0">
              <a:buNone/>
            </a:pPr>
            <a:r>
              <a:rPr lang="en-US" sz="1300" dirty="0">
                <a:solidFill>
                  <a:srgbClr val="4B5563"/>
                </a:solidFill>
                <a:latin typeface="Noto Sans JP" pitchFamily="34" charset="0"/>
                <a:ea typeface="Noto Sans JP" pitchFamily="34" charset="-122"/>
                <a:cs typeface="Noto Sans JP" pitchFamily="34" charset="-120"/>
              </a:rPr>
              <a:t>が可能になるはずです。 </a:t>
            </a:r>
            <a:endParaRPr lang="en-US" sz="1300" dirty="0"/>
          </a:p>
        </p:txBody>
      </p:sp>
      <p:sp>
        <p:nvSpPr>
          <p:cNvPr id="17" name="Shape 13"/>
          <p:cNvSpPr/>
          <p:nvPr/>
        </p:nvSpPr>
        <p:spPr>
          <a:xfrm>
            <a:off x="571500" y="5455310"/>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455310"/>
            <a:ext cx="57607" cy="1781251"/>
          </a:xfrm>
          <a:prstGeom prst="roundRect">
            <a:avLst>
              <a:gd name="adj" fmla="val 101859"/>
            </a:avLst>
          </a:prstGeom>
          <a:solidFill>
            <a:srgbClr val="6B7280"/>
          </a:solidFill>
          <a:ln w="12700">
            <a:solidFill>
              <a:srgbClr val="6B7280">
                <a:alpha val="0"/>
              </a:srgbClr>
            </a:solidFill>
            <a:prstDash val="solid"/>
          </a:ln>
        </p:spPr>
      </p:sp>
      <p:sp>
        <p:nvSpPr>
          <p:cNvPr id="19" name="Shape 15"/>
          <p:cNvSpPr/>
          <p:nvPr/>
        </p:nvSpPr>
        <p:spPr>
          <a:xfrm>
            <a:off x="933602" y="5683910"/>
            <a:ext cx="381305" cy="381305"/>
          </a:xfrm>
          <a:prstGeom prst="ellipse">
            <a:avLst/>
          </a:prstGeom>
          <a:solidFill>
            <a:srgbClr val="F3F4F6"/>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5760720"/>
            <a:ext cx="228600" cy="228600"/>
          </a:xfrm>
          <a:prstGeom prst="rect">
            <a:avLst/>
          </a:prstGeom>
        </p:spPr>
      </p:pic>
      <p:sp>
        <p:nvSpPr>
          <p:cNvPr id="21" name="Text 16"/>
          <p:cNvSpPr txBox="1"/>
          <p:nvPr/>
        </p:nvSpPr>
        <p:spPr>
          <a:xfrm>
            <a:off x="1466698" y="5717743"/>
            <a:ext cx="114208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現状の影響</a:t>
            </a:r>
            <a:endParaRPr lang="en-US" sz="1600" dirty="0"/>
          </a:p>
        </p:txBody>
      </p:sp>
      <p:sp>
        <p:nvSpPr>
          <p:cNvPr id="22" name="Text 17"/>
          <p:cNvSpPr txBox="1"/>
          <p:nvPr/>
        </p:nvSpPr>
        <p:spPr>
          <a:xfrm>
            <a:off x="933602" y="617951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「つなぎ目の分断」は、現場の疲弊だけでなく、経営のスピードを鈍化させる構造的な足かせです。これが「一気通貫」が阻害されている根本原因です。</a:t>
            </a:r>
            <a:endParaRPr lang="en-US" sz="1300" dirty="0"/>
          </a:p>
        </p:txBody>
      </p:sp>
      <p:sp>
        <p:nvSpPr>
          <p:cNvPr id="23" name="Shape 18"/>
          <p:cNvSpPr/>
          <p:nvPr/>
        </p:nvSpPr>
        <p:spPr>
          <a:xfrm>
            <a:off x="8667598" y="2757830"/>
            <a:ext cx="2286000" cy="1028700"/>
          </a:xfrm>
          <a:prstGeom prst="roundRect">
            <a:avLst>
              <a:gd name="adj" fmla="val 6584"/>
            </a:avLst>
          </a:prstGeom>
          <a:solidFill>
            <a:srgbClr val="3B82F6"/>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pic>
        <p:nvPicPr>
          <p:cNvPr id="24" name="Image 3" descr="preencoded.png">    </p:cNvPr>
          <p:cNvPicPr>
            <a:picLocks noChangeAspect="1"/>
          </p:cNvPicPr>
          <p:nvPr/>
        </p:nvPicPr>
        <p:blipFill>
          <a:blip r:embed="rId4"/>
          <a:srcRect l="-80" r="-80" t="0" b="0"/>
          <a:stretch/>
        </p:blipFill>
        <p:spPr>
          <a:xfrm>
            <a:off x="9667951" y="2901391"/>
            <a:ext cx="286207" cy="228600"/>
          </a:xfrm>
          <a:prstGeom prst="rect">
            <a:avLst/>
          </a:prstGeom>
        </p:spPr>
      </p:pic>
      <p:sp>
        <p:nvSpPr>
          <p:cNvPr id="25" name="Text 19"/>
          <p:cNvSpPr txBox="1"/>
          <p:nvPr/>
        </p:nvSpPr>
        <p:spPr>
          <a:xfrm>
            <a:off x="8730691" y="3225089"/>
            <a:ext cx="2160727"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現場の活動</a:t>
            </a:r>
            <a:endParaRPr lang="en-US" sz="1200" dirty="0"/>
          </a:p>
        </p:txBody>
      </p:sp>
      <p:sp>
        <p:nvSpPr>
          <p:cNvPr id="26" name="Text 20"/>
          <p:cNvSpPr txBox="1"/>
          <p:nvPr/>
        </p:nvSpPr>
        <p:spPr>
          <a:xfrm>
            <a:off x="8770925" y="3492094"/>
            <a:ext cx="2080260" cy="152705"/>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Activity Data</a:t>
            </a:r>
            <a:endParaRPr lang="en-US" sz="900" dirty="0"/>
          </a:p>
        </p:txBody>
      </p:sp>
      <p:pic>
        <p:nvPicPr>
          <p:cNvPr id="27" name="Image 4" descr="preencoded.png">    </p:cNvPr>
          <p:cNvPicPr>
            <a:picLocks noChangeAspect="1"/>
          </p:cNvPicPr>
          <p:nvPr/>
        </p:nvPicPr>
        <p:blipFill>
          <a:blip r:embed="rId5"/>
          <a:srcRect l="-400" r="-400" t="0" b="0"/>
          <a:stretch/>
        </p:blipFill>
        <p:spPr>
          <a:xfrm>
            <a:off x="9791395" y="2787091"/>
            <a:ext cx="38405" cy="571500"/>
          </a:xfrm>
          <a:prstGeom prst="rect">
            <a:avLst/>
          </a:prstGeom>
        </p:spPr>
      </p:pic>
      <p:pic>
        <p:nvPicPr>
          <p:cNvPr id="28" name="Image 5" descr="preencoded.png">    </p:cNvPr>
          <p:cNvPicPr>
            <a:picLocks noChangeAspect="1"/>
          </p:cNvPicPr>
          <p:nvPr/>
        </p:nvPicPr>
        <p:blipFill>
          <a:blip r:embed="rId6"/>
          <a:srcRect l="-400" r="-400" t="0" b="0"/>
          <a:stretch/>
        </p:blipFill>
        <p:spPr>
          <a:xfrm>
            <a:off x="9791395" y="4977994"/>
            <a:ext cx="38405" cy="571500"/>
          </a:xfrm>
          <a:prstGeom prst="rect">
            <a:avLst/>
          </a:prstGeom>
        </p:spPr>
      </p:pic>
      <p:sp>
        <p:nvSpPr>
          <p:cNvPr id="29" name="Shape 21"/>
          <p:cNvSpPr/>
          <p:nvPr/>
        </p:nvSpPr>
        <p:spPr>
          <a:xfrm>
            <a:off x="8667598" y="4167835"/>
            <a:ext cx="2286000" cy="1028700"/>
          </a:xfrm>
          <a:prstGeom prst="roundRect">
            <a:avLst>
              <a:gd name="adj" fmla="val 6584"/>
            </a:avLst>
          </a:prstGeom>
          <a:solidFill>
            <a:srgbClr val="10B981"/>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pic>
        <p:nvPicPr>
          <p:cNvPr id="30" name="Image 6" descr="preencoded.png">    </p:cNvPr>
          <p:cNvPicPr>
            <a:picLocks noChangeAspect="1"/>
          </p:cNvPicPr>
          <p:nvPr/>
        </p:nvPicPr>
        <p:blipFill>
          <a:blip r:embed="rId7"/>
          <a:srcRect l="0" r="0" t="-45" b="-45"/>
          <a:stretch/>
        </p:blipFill>
        <p:spPr>
          <a:xfrm>
            <a:off x="9682582" y="4310482"/>
            <a:ext cx="256946" cy="228600"/>
          </a:xfrm>
          <a:prstGeom prst="rect">
            <a:avLst/>
          </a:prstGeom>
        </p:spPr>
      </p:pic>
      <p:sp>
        <p:nvSpPr>
          <p:cNvPr id="31" name="Text 22"/>
          <p:cNvSpPr txBox="1"/>
          <p:nvPr/>
        </p:nvSpPr>
        <p:spPr>
          <a:xfrm>
            <a:off x="8730691" y="4635094"/>
            <a:ext cx="2160727"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経営の判断</a:t>
            </a:r>
            <a:endParaRPr lang="en-US" sz="1200" dirty="0"/>
          </a:p>
        </p:txBody>
      </p:sp>
      <p:sp>
        <p:nvSpPr>
          <p:cNvPr id="32" name="Text 23"/>
          <p:cNvSpPr txBox="1"/>
          <p:nvPr/>
        </p:nvSpPr>
        <p:spPr>
          <a:xfrm>
            <a:off x="8770925" y="4901184"/>
            <a:ext cx="2080260" cy="152705"/>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Management Data</a:t>
            </a:r>
            <a:endParaRPr lang="en-US" sz="900" dirty="0"/>
          </a:p>
        </p:txBody>
      </p:sp>
      <p:sp>
        <p:nvSpPr>
          <p:cNvPr id="33" name="Text 24"/>
          <p:cNvSpPr txBox="1"/>
          <p:nvPr/>
        </p:nvSpPr>
        <p:spPr>
          <a:xfrm>
            <a:off x="8661197" y="6072530"/>
            <a:ext cx="2304288" cy="228600"/>
          </a:xfrm>
          <a:prstGeom prst="rect">
            <a:avLst/>
          </a:prstGeom>
          <a:noFill/>
          <a:ln/>
        </p:spPr>
        <p:txBody>
          <a:bodyPr wrap="square" lIns="0" tIns="0" rIns="0" bIns="0" rtlCol="0" anchor="ctr"/>
          <a:lstStyle/>
          <a:p>
            <a:pPr algn="ctr" indent="0" marL="0">
              <a:buNone/>
            </a:pPr>
            <a:r>
              <a:rPr lang="en-US" sz="1200" b="1" dirty="0">
                <a:solidFill>
                  <a:srgbClr val="6B7280"/>
                </a:solidFill>
                <a:latin typeface="Noto Sans JP" pitchFamily="34" charset="0"/>
                <a:ea typeface="Noto Sans JP" pitchFamily="34" charset="-122"/>
                <a:cs typeface="Noto Sans JP" pitchFamily="34" charset="-120"/>
              </a:rPr>
              <a:t>バケツリレーによる情報の断絶</a:t>
            </a:r>
            <a:endParaRPr lang="en-US" sz="1200" dirty="0"/>
          </a:p>
        </p:txBody>
      </p:sp>
      <p:sp>
        <p:nvSpPr>
          <p:cNvPr id="34" name="Shape 25"/>
          <p:cNvSpPr/>
          <p:nvPr/>
        </p:nvSpPr>
        <p:spPr>
          <a:xfrm>
            <a:off x="0" y="0"/>
            <a:ext cx="12191695" cy="952805"/>
          </a:xfrm>
          <a:prstGeom prst="rect">
            <a:avLst/>
          </a:prstGeom>
          <a:solidFill>
            <a:srgbClr val="FFFFFF"/>
          </a:solidFill>
          <a:ln/>
        </p:spPr>
      </p:sp>
      <p:sp>
        <p:nvSpPr>
          <p:cNvPr id="35" name="Shape 26"/>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36" name="Shape 27"/>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37" name="Text 28"/>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要因①</a:t>
            </a:r>
            <a:endParaRPr lang="en-US" sz="1800" dirty="0"/>
          </a:p>
        </p:txBody>
      </p:sp>
      <p:sp>
        <p:nvSpPr>
          <p:cNvPr id="38" name="Text 29"/>
          <p:cNvSpPr txBox="1"/>
          <p:nvPr/>
        </p:nvSpPr>
        <p:spPr>
          <a:xfrm>
            <a:off x="1752905" y="286207"/>
            <a:ext cx="6906463"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データの「つなぎ目」の分断（一気通貫の欠如）</a:t>
            </a:r>
            <a:endParaRPr lang="en-US" sz="2400" dirty="0"/>
          </a:p>
        </p:txBody>
      </p:sp>
      <p:pic>
        <p:nvPicPr>
          <p:cNvPr id="39" name="Image 7" descr="preencoded.png">    </p:cNvPr>
          <p:cNvPicPr>
            <a:picLocks noChangeAspect="1"/>
          </p:cNvPicPr>
          <p:nvPr/>
        </p:nvPicPr>
        <p:blipFill>
          <a:blip r:embed="rId8"/>
          <a:srcRect l="0" r="0" t="0" b="0"/>
          <a:stretch/>
        </p:blipFill>
        <p:spPr>
          <a:xfrm>
            <a:off x="9525305" y="3882542"/>
            <a:ext cx="571500" cy="571500"/>
          </a:xfrm>
          <a:prstGeom prst="rect">
            <a:avLst/>
          </a:prstGeom>
        </p:spPr>
      </p:pic>
      <p:pic>
        <p:nvPicPr>
          <p:cNvPr id="40" name="Image 8" descr="preencoded.png">    </p:cNvPr>
          <p:cNvPicPr>
            <a:picLocks noChangeAspect="1"/>
          </p:cNvPicPr>
          <p:nvPr/>
        </p:nvPicPr>
        <p:blipFill>
          <a:blip r:embed="rId9"/>
          <a:srcRect l="0" r="0" t="-24" b="-24"/>
          <a:stretch/>
        </p:blipFill>
        <p:spPr>
          <a:xfrm>
            <a:off x="9572854" y="3977640"/>
            <a:ext cx="476402" cy="3813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4392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923898"/>
          </a:xfrm>
          <a:prstGeom prst="roundRect">
            <a:avLst>
              <a:gd name="adj" fmla="val 2823"/>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923898"/>
          </a:xfrm>
          <a:prstGeom prst="roundRect">
            <a:avLst>
              <a:gd name="adj" fmla="val 94295"/>
            </a:avLst>
          </a:prstGeom>
          <a:solidFill>
            <a:srgbClr val="EF4444"/>
          </a:solidFill>
          <a:ln w="12700">
            <a:solidFill>
              <a:srgbClr val="EF4444">
                <a:alpha val="0"/>
              </a:srgbClr>
            </a:solidFill>
            <a:prstDash val="solid"/>
          </a:ln>
        </p:spPr>
      </p:sp>
      <p:sp>
        <p:nvSpPr>
          <p:cNvPr id="7" name="Shape 5"/>
          <p:cNvSpPr/>
          <p:nvPr/>
        </p:nvSpPr>
        <p:spPr>
          <a:xfrm>
            <a:off x="933602" y="1524305"/>
            <a:ext cx="342900" cy="342900"/>
          </a:xfrm>
          <a:prstGeom prst="ellipse">
            <a:avLst/>
          </a:prstGeom>
          <a:solidFill>
            <a:srgbClr val="FEE2E2"/>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1033272" y="1600200"/>
            <a:ext cx="142646" cy="190195"/>
          </a:xfrm>
          <a:prstGeom prst="rect">
            <a:avLst/>
          </a:prstGeom>
        </p:spPr>
      </p:pic>
      <p:sp>
        <p:nvSpPr>
          <p:cNvPr id="9" name="Text 6"/>
          <p:cNvSpPr txBox="1"/>
          <p:nvPr/>
        </p:nvSpPr>
        <p:spPr>
          <a:xfrm>
            <a:off x="1429207" y="1552651"/>
            <a:ext cx="1440180"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経理・請求部門</a:t>
            </a:r>
            <a:endParaRPr lang="en-US" sz="1500" dirty="0"/>
          </a:p>
        </p:txBody>
      </p:sp>
      <p:sp>
        <p:nvSpPr>
          <p:cNvPr id="10" name="Text 7"/>
          <p:cNvSpPr txBox="1"/>
          <p:nvPr/>
        </p:nvSpPr>
        <p:spPr>
          <a:xfrm>
            <a:off x="933602" y="1962302"/>
            <a:ext cx="6363310" cy="1105510"/>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請求システム（ほのぼの）のデータを、経営資料や会計システム（MJS）へ</a:t>
            </a:r>
            <a:pPr algn="l" indent="0" marL="0">
              <a:buNone/>
            </a:pPr>
            <a:r>
              <a:rPr lang="en-US" sz="1300" b="1" dirty="0">
                <a:solidFill>
                  <a:srgbClr val="EF4444"/>
                </a:solidFill>
                <a:latin typeface="Noto Sans JP" pitchFamily="34" charset="0"/>
                <a:ea typeface="Noto Sans JP" pitchFamily="34" charset="-122"/>
                <a:cs typeface="Noto Sans JP" pitchFamily="34" charset="-120"/>
              </a:rPr>
              <a:t>転記する作業が常態化</a:t>
            </a:r>
            <a:pPr algn="l" indent="0" marL="0">
              <a:buNone/>
            </a:pPr>
            <a:r>
              <a:rPr lang="en-US" sz="1300" dirty="0">
                <a:solidFill>
                  <a:srgbClr val="4B5563"/>
                </a:solidFill>
                <a:latin typeface="Noto Sans JP" pitchFamily="34" charset="0"/>
                <a:ea typeface="Noto Sans JP" pitchFamily="34" charset="-122"/>
                <a:cs typeface="Noto Sans JP" pitchFamily="34" charset="-120"/>
              </a:rPr>
              <a:t>。「一つの数字を色々なところに入れなければいけない」状況で、転記ミス（8が3に見える等）の確認に時間を浪費しています。 </a:t>
            </a:r>
            <a:endParaRPr lang="en-US" sz="1300" dirty="0"/>
          </a:p>
        </p:txBody>
      </p:sp>
      <p:sp>
        <p:nvSpPr>
          <p:cNvPr id="11" name="Shape 8"/>
          <p:cNvSpPr/>
          <p:nvPr/>
        </p:nvSpPr>
        <p:spPr>
          <a:xfrm>
            <a:off x="571500" y="3487522"/>
            <a:ext cx="6953098" cy="1647749"/>
          </a:xfrm>
          <a:prstGeom prst="roundRect">
            <a:avLst>
              <a:gd name="adj" fmla="val 3849"/>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487522"/>
            <a:ext cx="57607" cy="1647749"/>
          </a:xfrm>
          <a:prstGeom prst="roundRect">
            <a:avLst>
              <a:gd name="adj" fmla="val 110102"/>
            </a:avLst>
          </a:prstGeom>
          <a:solidFill>
            <a:srgbClr val="F59E0B"/>
          </a:solidFill>
          <a:ln w="12700">
            <a:solidFill>
              <a:srgbClr val="F59E0B">
                <a:alpha val="0"/>
              </a:srgbClr>
            </a:solidFill>
            <a:prstDash val="solid"/>
          </a:ln>
        </p:spPr>
      </p:sp>
      <p:sp>
        <p:nvSpPr>
          <p:cNvPr id="13" name="Shape 10"/>
          <p:cNvSpPr/>
          <p:nvPr/>
        </p:nvSpPr>
        <p:spPr>
          <a:xfrm>
            <a:off x="933602" y="3678631"/>
            <a:ext cx="342900" cy="342900"/>
          </a:xfrm>
          <a:prstGeom prst="ellipse">
            <a:avLst/>
          </a:prstGeom>
          <a:solidFill>
            <a:srgbClr val="FEF3C7"/>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1282" r="-1282" t="0" b="0"/>
          <a:stretch/>
        </p:blipFill>
        <p:spPr>
          <a:xfrm>
            <a:off x="995782" y="3754526"/>
            <a:ext cx="219456" cy="190195"/>
          </a:xfrm>
          <a:prstGeom prst="rect">
            <a:avLst/>
          </a:prstGeom>
        </p:spPr>
      </p:pic>
      <p:sp>
        <p:nvSpPr>
          <p:cNvPr id="15" name="Text 11"/>
          <p:cNvSpPr txBox="1"/>
          <p:nvPr/>
        </p:nvSpPr>
        <p:spPr>
          <a:xfrm>
            <a:off x="1429207" y="3706978"/>
            <a:ext cx="838505"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給与部門</a:t>
            </a:r>
            <a:endParaRPr lang="en-US" sz="1500" dirty="0"/>
          </a:p>
        </p:txBody>
      </p:sp>
      <p:sp>
        <p:nvSpPr>
          <p:cNvPr id="16" name="Text 12"/>
          <p:cNvSpPr txBox="1"/>
          <p:nvPr/>
        </p:nvSpPr>
        <p:spPr>
          <a:xfrm>
            <a:off x="933602" y="4116629"/>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勤怠システムと給与システムが連携しておらず、</a:t>
            </a:r>
            <a:pPr algn="l" indent="0" marL="0">
              <a:buNone/>
            </a:pPr>
            <a:r>
              <a:rPr lang="en-US" sz="1300" b="1" dirty="0">
                <a:solidFill>
                  <a:srgbClr val="EF4444"/>
                </a:solidFill>
                <a:latin typeface="Noto Sans JP" pitchFamily="34" charset="0"/>
                <a:ea typeface="Noto Sans JP" pitchFamily="34" charset="-122"/>
                <a:cs typeface="Noto Sans JP" pitchFamily="34" charset="-120"/>
              </a:rPr>
              <a:t>CSV加工や手入力が発生</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しています。データの受け渡しがスムーズにいかず、毎月同じ手作業を繰り返しています。 </a:t>
            </a:r>
            <a:endParaRPr lang="en-US" sz="1300" dirty="0"/>
          </a:p>
        </p:txBody>
      </p:sp>
      <p:sp>
        <p:nvSpPr>
          <p:cNvPr id="17" name="Shape 13"/>
          <p:cNvSpPr/>
          <p:nvPr/>
        </p:nvSpPr>
        <p:spPr>
          <a:xfrm>
            <a:off x="571500" y="5368442"/>
            <a:ext cx="6953098" cy="1647749"/>
          </a:xfrm>
          <a:prstGeom prst="roundRect">
            <a:avLst>
              <a:gd name="adj" fmla="val 3849"/>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368442"/>
            <a:ext cx="57607" cy="1647749"/>
          </a:xfrm>
          <a:prstGeom prst="roundRect">
            <a:avLst>
              <a:gd name="adj" fmla="val 110102"/>
            </a:avLst>
          </a:prstGeom>
          <a:solidFill>
            <a:srgbClr val="1F2937"/>
          </a:solidFill>
          <a:ln w="12700">
            <a:solidFill>
              <a:srgbClr val="1F2937">
                <a:alpha val="0"/>
              </a:srgbClr>
            </a:solidFill>
            <a:prstDash val="solid"/>
          </a:ln>
        </p:spPr>
      </p:sp>
      <p:sp>
        <p:nvSpPr>
          <p:cNvPr id="19" name="Shape 15"/>
          <p:cNvSpPr/>
          <p:nvPr/>
        </p:nvSpPr>
        <p:spPr>
          <a:xfrm>
            <a:off x="933602" y="5558638"/>
            <a:ext cx="342900" cy="342900"/>
          </a:xfrm>
          <a:prstGeom prst="ellipse">
            <a:avLst/>
          </a:prstGeom>
          <a:solidFill>
            <a:srgbClr val="E5E7EB"/>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5634533"/>
            <a:ext cx="190195" cy="190195"/>
          </a:xfrm>
          <a:prstGeom prst="rect">
            <a:avLst/>
          </a:prstGeom>
        </p:spPr>
      </p:pic>
      <p:sp>
        <p:nvSpPr>
          <p:cNvPr id="21" name="Text 16"/>
          <p:cNvSpPr txBox="1"/>
          <p:nvPr/>
        </p:nvSpPr>
        <p:spPr>
          <a:xfrm>
            <a:off x="1429207" y="5586984"/>
            <a:ext cx="1234440"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経営への影響</a:t>
            </a:r>
            <a:endParaRPr lang="en-US" sz="1500" dirty="0"/>
          </a:p>
        </p:txBody>
      </p:sp>
      <p:sp>
        <p:nvSpPr>
          <p:cNvPr id="22" name="Text 17"/>
          <p:cNvSpPr txBox="1"/>
          <p:nvPr/>
        </p:nvSpPr>
        <p:spPr>
          <a:xfrm>
            <a:off x="933602" y="599663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データがバケツリレー形式で渡されるため、</a:t>
            </a:r>
            <a:pPr algn="l" indent="0" marL="0">
              <a:buNone/>
            </a:pPr>
            <a:r>
              <a:rPr lang="en-US" sz="1300" b="1" dirty="0">
                <a:solidFill>
                  <a:srgbClr val="EF4444"/>
                </a:solidFill>
                <a:latin typeface="Noto Sans JP" pitchFamily="34" charset="0"/>
                <a:ea typeface="Noto Sans JP" pitchFamily="34" charset="-122"/>
                <a:cs typeface="Noto Sans JP" pitchFamily="34" charset="-120"/>
              </a:rPr>
              <a:t>月次決算の確定が翌月25日頃まで遅延</a:t>
            </a:r>
            <a:pPr algn="l" indent="0" marL="0">
              <a:buNone/>
            </a:pPr>
            <a:r>
              <a:rPr lang="en-US" sz="1300" dirty="0">
                <a:solidFill>
                  <a:srgbClr val="4B5563"/>
                </a:solidFill>
                <a:latin typeface="Noto Sans JP" pitchFamily="34" charset="0"/>
                <a:ea typeface="Noto Sans JP" pitchFamily="34" charset="-122"/>
                <a:cs typeface="Noto Sans JP" pitchFamily="34" charset="-120"/>
              </a:rPr>
              <a:t>。リアルタイムな状況把握ができず、経営判断の足かせとなっています。 </a:t>
            </a:r>
            <a:endParaRPr lang="en-US" sz="1300" dirty="0"/>
          </a:p>
        </p:txBody>
      </p:sp>
      <p:sp>
        <p:nvSpPr>
          <p:cNvPr id="23" name="Shape 18"/>
          <p:cNvSpPr/>
          <p:nvPr/>
        </p:nvSpPr>
        <p:spPr>
          <a:xfrm>
            <a:off x="8001000" y="2029054"/>
            <a:ext cx="3619195" cy="4286707"/>
          </a:xfrm>
          <a:prstGeom prst="roundRect">
            <a:avLst>
              <a:gd name="adj" fmla="val 798"/>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5000"/>
              </a:srgbClr>
            </a:outerShdw>
          </a:effectLst>
        </p:spPr>
      </p:sp>
      <p:sp>
        <p:nvSpPr>
          <p:cNvPr id="24" name="Text 19"/>
          <p:cNvSpPr txBox="1"/>
          <p:nvPr/>
        </p:nvSpPr>
        <p:spPr>
          <a:xfrm>
            <a:off x="8191195" y="5838444"/>
            <a:ext cx="3238805"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リアルタイム性が完全に失われている</a:t>
            </a:r>
            <a:endParaRPr lang="en-US" sz="1000" dirty="0"/>
          </a:p>
        </p:txBody>
      </p:sp>
      <p:pic>
        <p:nvPicPr>
          <p:cNvPr id="25" name="Image 3" descr="preencoded.png">    </p:cNvPr>
          <p:cNvPicPr>
            <a:picLocks noChangeAspect="1"/>
          </p:cNvPicPr>
          <p:nvPr/>
        </p:nvPicPr>
        <p:blipFill>
          <a:blip r:embed="rId4"/>
          <a:srcRect l="-398" r="-398" t="0" b="0"/>
          <a:stretch/>
        </p:blipFill>
        <p:spPr>
          <a:xfrm>
            <a:off x="8229600" y="2219249"/>
            <a:ext cx="38405" cy="3905402"/>
          </a:xfrm>
          <a:prstGeom prst="rect">
            <a:avLst/>
          </a:prstGeom>
        </p:spPr>
      </p:pic>
      <p:sp>
        <p:nvSpPr>
          <p:cNvPr id="26" name="Text 20"/>
          <p:cNvSpPr txBox="1"/>
          <p:nvPr/>
        </p:nvSpPr>
        <p:spPr>
          <a:xfrm>
            <a:off x="8934602" y="2390242"/>
            <a:ext cx="1110996" cy="200254"/>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当月末</a:t>
            </a:r>
            <a:endParaRPr lang="en-US" sz="1000" dirty="0"/>
          </a:p>
        </p:txBody>
      </p:sp>
      <p:sp>
        <p:nvSpPr>
          <p:cNvPr id="27" name="Text 21"/>
          <p:cNvSpPr txBox="1"/>
          <p:nvPr/>
        </p:nvSpPr>
        <p:spPr>
          <a:xfrm>
            <a:off x="8934602" y="2628900"/>
            <a:ext cx="1110996"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現場活動終了</a:t>
            </a:r>
            <a:endParaRPr lang="en-US" sz="1300" dirty="0"/>
          </a:p>
        </p:txBody>
      </p:sp>
      <p:sp>
        <p:nvSpPr>
          <p:cNvPr id="28" name="Shape 22"/>
          <p:cNvSpPr/>
          <p:nvPr/>
        </p:nvSpPr>
        <p:spPr>
          <a:xfrm>
            <a:off x="8287207" y="2314346"/>
            <a:ext cx="457200" cy="457200"/>
          </a:xfrm>
          <a:prstGeom prst="ellipse">
            <a:avLst/>
          </a:prstGeom>
          <a:solidFill>
            <a:srgbClr val="FFFFFF"/>
          </a:solidFill>
          <a:ln w="50800">
            <a:solidFill>
              <a:srgbClr val="E5E7EB"/>
            </a:solidFill>
            <a:prstDash val="solid"/>
          </a:ln>
        </p:spPr>
      </p:sp>
      <p:pic>
        <p:nvPicPr>
          <p:cNvPr id="29" name="Image 4" descr="preencoded.png">    </p:cNvPr>
          <p:cNvPicPr>
            <a:picLocks noChangeAspect="1"/>
          </p:cNvPicPr>
          <p:nvPr/>
        </p:nvPicPr>
        <p:blipFill>
          <a:blip r:embed="rId5"/>
          <a:srcRect l="-1648" r="-1648" t="0" b="0"/>
          <a:stretch/>
        </p:blipFill>
        <p:spPr>
          <a:xfrm>
            <a:off x="8429854" y="2447849"/>
            <a:ext cx="171907" cy="190195"/>
          </a:xfrm>
          <a:prstGeom prst="rect">
            <a:avLst/>
          </a:prstGeom>
        </p:spPr>
      </p:pic>
      <p:sp>
        <p:nvSpPr>
          <p:cNvPr id="30" name="Text 23"/>
          <p:cNvSpPr txBox="1"/>
          <p:nvPr/>
        </p:nvSpPr>
        <p:spPr>
          <a:xfrm>
            <a:off x="8934602" y="3247949"/>
            <a:ext cx="1481328" cy="200254"/>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翌月上旬</a:t>
            </a:r>
            <a:endParaRPr lang="en-US" sz="1000" dirty="0"/>
          </a:p>
        </p:txBody>
      </p:sp>
      <p:sp>
        <p:nvSpPr>
          <p:cNvPr id="31" name="Text 24"/>
          <p:cNvSpPr txBox="1"/>
          <p:nvPr/>
        </p:nvSpPr>
        <p:spPr>
          <a:xfrm>
            <a:off x="8934602" y="3485693"/>
            <a:ext cx="1481328"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転記・加工・確認</a:t>
            </a:r>
            <a:endParaRPr lang="en-US" sz="1300" dirty="0"/>
          </a:p>
        </p:txBody>
      </p:sp>
      <p:sp>
        <p:nvSpPr>
          <p:cNvPr id="32" name="Shape 25"/>
          <p:cNvSpPr/>
          <p:nvPr/>
        </p:nvSpPr>
        <p:spPr>
          <a:xfrm>
            <a:off x="8287207" y="3172054"/>
            <a:ext cx="457200" cy="457200"/>
          </a:xfrm>
          <a:prstGeom prst="ellipse">
            <a:avLst/>
          </a:prstGeom>
          <a:solidFill>
            <a:srgbClr val="FFFFFF"/>
          </a:solidFill>
          <a:ln w="50800">
            <a:solidFill>
              <a:srgbClr val="E5E7EB"/>
            </a:solidFill>
            <a:prstDash val="solid"/>
          </a:ln>
        </p:spPr>
      </p:sp>
      <p:pic>
        <p:nvPicPr>
          <p:cNvPr id="33" name="Image 5" descr="preencoded.png">    </p:cNvPr>
          <p:cNvPicPr>
            <a:picLocks noChangeAspect="1"/>
          </p:cNvPicPr>
          <p:nvPr/>
        </p:nvPicPr>
        <p:blipFill>
          <a:blip r:embed="rId6"/>
          <a:srcRect l="-1282" r="-1282" t="0" b="0"/>
          <a:stretch/>
        </p:blipFill>
        <p:spPr>
          <a:xfrm>
            <a:off x="8406079" y="3304642"/>
            <a:ext cx="219456" cy="190195"/>
          </a:xfrm>
          <a:prstGeom prst="rect">
            <a:avLst/>
          </a:prstGeom>
        </p:spPr>
      </p:pic>
      <p:sp>
        <p:nvSpPr>
          <p:cNvPr id="34" name="Text 26"/>
          <p:cNvSpPr txBox="1"/>
          <p:nvPr/>
        </p:nvSpPr>
        <p:spPr>
          <a:xfrm>
            <a:off x="8934602" y="4104742"/>
            <a:ext cx="1110996" cy="200254"/>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翌月中旬</a:t>
            </a:r>
            <a:endParaRPr lang="en-US" sz="1000" dirty="0"/>
          </a:p>
        </p:txBody>
      </p:sp>
      <p:sp>
        <p:nvSpPr>
          <p:cNvPr id="35" name="Text 27"/>
          <p:cNvSpPr txBox="1"/>
          <p:nvPr/>
        </p:nvSpPr>
        <p:spPr>
          <a:xfrm>
            <a:off x="8934602" y="4343400"/>
            <a:ext cx="1110996"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修正・再入力</a:t>
            </a:r>
            <a:endParaRPr lang="en-US" sz="1300" dirty="0"/>
          </a:p>
        </p:txBody>
      </p:sp>
      <p:sp>
        <p:nvSpPr>
          <p:cNvPr id="36" name="Shape 28"/>
          <p:cNvSpPr/>
          <p:nvPr/>
        </p:nvSpPr>
        <p:spPr>
          <a:xfrm>
            <a:off x="8287207" y="4028846"/>
            <a:ext cx="457200" cy="457200"/>
          </a:xfrm>
          <a:prstGeom prst="ellipse">
            <a:avLst/>
          </a:prstGeom>
          <a:solidFill>
            <a:srgbClr val="FFFFFF"/>
          </a:solidFill>
          <a:ln w="50800">
            <a:solidFill>
              <a:srgbClr val="E5E7EB"/>
            </a:solidFill>
            <a:prstDash val="solid"/>
          </a:ln>
        </p:spPr>
      </p:sp>
      <p:pic>
        <p:nvPicPr>
          <p:cNvPr id="37" name="Image 6" descr="preencoded.png">    </p:cNvPr>
          <p:cNvPicPr>
            <a:picLocks noChangeAspect="1"/>
          </p:cNvPicPr>
          <p:nvPr/>
        </p:nvPicPr>
        <p:blipFill>
          <a:blip r:embed="rId7"/>
          <a:srcRect l="0" r="0" t="0" b="0"/>
          <a:stretch/>
        </p:blipFill>
        <p:spPr>
          <a:xfrm>
            <a:off x="8419795" y="4162349"/>
            <a:ext cx="190195" cy="190195"/>
          </a:xfrm>
          <a:prstGeom prst="rect">
            <a:avLst/>
          </a:prstGeom>
        </p:spPr>
      </p:pic>
      <p:sp>
        <p:nvSpPr>
          <p:cNvPr id="38" name="Text 29"/>
          <p:cNvSpPr txBox="1"/>
          <p:nvPr/>
        </p:nvSpPr>
        <p:spPr>
          <a:xfrm>
            <a:off x="8934602" y="4962449"/>
            <a:ext cx="1286561" cy="200254"/>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翌月25日頃</a:t>
            </a:r>
            <a:endParaRPr lang="en-US" sz="1000" dirty="0"/>
          </a:p>
        </p:txBody>
      </p:sp>
      <p:sp>
        <p:nvSpPr>
          <p:cNvPr id="39" name="Text 30"/>
          <p:cNvSpPr txBox="1"/>
          <p:nvPr/>
        </p:nvSpPr>
        <p:spPr>
          <a:xfrm>
            <a:off x="8934602" y="5200193"/>
            <a:ext cx="1286561"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月次確定 </a:t>
            </a:r>
            <a:pPr algn="l" indent="0" marL="0">
              <a:buNone/>
            </a:pPr>
            <a:r>
              <a:rPr lang="en-US" sz="900" b="1" dirty="0">
                <a:solidFill>
                  <a:srgbClr val="EF4444"/>
                </a:solidFill>
                <a:latin typeface="Noto Sans JP" pitchFamily="34" charset="0"/>
                <a:ea typeface="Noto Sans JP" pitchFamily="34" charset="-122"/>
                <a:cs typeface="Noto Sans JP" pitchFamily="34" charset="-120"/>
              </a:rPr>
              <a:t>遅延</a:t>
            </a:r>
            <a:endParaRPr lang="en-US" sz="1300" dirty="0"/>
          </a:p>
        </p:txBody>
      </p:sp>
      <p:sp>
        <p:nvSpPr>
          <p:cNvPr id="40" name="Shape 31"/>
          <p:cNvSpPr/>
          <p:nvPr/>
        </p:nvSpPr>
        <p:spPr>
          <a:xfrm>
            <a:off x="8287207" y="4886554"/>
            <a:ext cx="457200" cy="457200"/>
          </a:xfrm>
          <a:prstGeom prst="ellipse">
            <a:avLst/>
          </a:prstGeom>
          <a:solidFill>
            <a:srgbClr val="FEE2E2"/>
          </a:solidFill>
          <a:ln w="50800">
            <a:solidFill>
              <a:srgbClr val="EF4444"/>
            </a:solidFill>
            <a:prstDash val="solid"/>
          </a:ln>
        </p:spPr>
      </p:sp>
      <p:pic>
        <p:nvPicPr>
          <p:cNvPr id="41" name="Image 7" descr="preencoded.png">    </p:cNvPr>
          <p:cNvPicPr>
            <a:picLocks noChangeAspect="1"/>
          </p:cNvPicPr>
          <p:nvPr/>
        </p:nvPicPr>
        <p:blipFill>
          <a:blip r:embed="rId8"/>
          <a:srcRect l="-1648" r="-1648" t="0" b="0"/>
          <a:stretch/>
        </p:blipFill>
        <p:spPr>
          <a:xfrm>
            <a:off x="8429854" y="5019142"/>
            <a:ext cx="171907" cy="190195"/>
          </a:xfrm>
          <a:prstGeom prst="rect">
            <a:avLst/>
          </a:prstGeom>
        </p:spPr>
      </p:pic>
      <p:sp>
        <p:nvSpPr>
          <p:cNvPr id="42" name="Shape 32"/>
          <p:cNvSpPr/>
          <p:nvPr/>
        </p:nvSpPr>
        <p:spPr>
          <a:xfrm>
            <a:off x="0" y="0"/>
            <a:ext cx="12191695" cy="952805"/>
          </a:xfrm>
          <a:prstGeom prst="rect">
            <a:avLst/>
          </a:prstGeom>
          <a:solidFill>
            <a:srgbClr val="FFFFFF"/>
          </a:solidFill>
          <a:ln/>
        </p:spPr>
      </p:sp>
      <p:sp>
        <p:nvSpPr>
          <p:cNvPr id="43" name="Shape 33"/>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4" name="Shape 34"/>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45" name="Text 35"/>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要因①</a:t>
            </a:r>
            <a:endParaRPr lang="en-US" sz="1800" dirty="0"/>
          </a:p>
        </p:txBody>
      </p:sp>
      <p:sp>
        <p:nvSpPr>
          <p:cNvPr id="46" name="Text 36"/>
          <p:cNvSpPr txBox="1"/>
          <p:nvPr/>
        </p:nvSpPr>
        <p:spPr>
          <a:xfrm>
            <a:off x="1752905" y="286207"/>
            <a:ext cx="5382158"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構造的要因①：現場で起きている事実</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6678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781251"/>
          </a:xfrm>
          <a:prstGeom prst="roundRect">
            <a:avLst>
              <a:gd name="adj" fmla="val 101859"/>
            </a:avLst>
          </a:prstGeom>
          <a:solidFill>
            <a:srgbClr val="6B7280"/>
          </a:solidFill>
          <a:ln w="12700">
            <a:solidFill>
              <a:srgbClr val="6B7280">
                <a:alpha val="0"/>
              </a:srgbClr>
            </a:solidFill>
            <a:prstDash val="solid"/>
          </a:ln>
        </p:spPr>
      </p:sp>
      <p:sp>
        <p:nvSpPr>
          <p:cNvPr id="7" name="Shape 5"/>
          <p:cNvSpPr/>
          <p:nvPr/>
        </p:nvSpPr>
        <p:spPr>
          <a:xfrm>
            <a:off x="933602" y="1561795"/>
            <a:ext cx="381305" cy="381305"/>
          </a:xfrm>
          <a:prstGeom prst="ellipse">
            <a:avLst/>
          </a:prstGeom>
          <a:solidFill>
            <a:srgbClr val="F3F4F6"/>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1009498" y="1638605"/>
            <a:ext cx="228600" cy="228600"/>
          </a:xfrm>
          <a:prstGeom prst="rect">
            <a:avLst/>
          </a:prstGeom>
        </p:spPr>
      </p:pic>
      <p:sp>
        <p:nvSpPr>
          <p:cNvPr id="9" name="Text 6"/>
          <p:cNvSpPr txBox="1"/>
          <p:nvPr/>
        </p:nvSpPr>
        <p:spPr>
          <a:xfrm>
            <a:off x="1466698" y="1595628"/>
            <a:ext cx="1821485"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現状：知識の散在</a:t>
            </a:r>
            <a:endParaRPr lang="en-US" sz="1600" dirty="0"/>
          </a:p>
        </p:txBody>
      </p:sp>
      <p:sp>
        <p:nvSpPr>
          <p:cNvPr id="10" name="Text 7"/>
          <p:cNvSpPr txBox="1"/>
          <p:nvPr/>
        </p:nvSpPr>
        <p:spPr>
          <a:xfrm>
            <a:off x="933602" y="2057400"/>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業務マニュアル・規定・通達が散在しており、「何が正しいルールか」を即座に判断できません。その結果、業務に必要な知識はすべて担当者の「頭の中」に依存しています。</a:t>
            </a:r>
            <a:endParaRPr lang="en-US" sz="1300" dirty="0"/>
          </a:p>
        </p:txBody>
      </p:sp>
      <p:sp>
        <p:nvSpPr>
          <p:cNvPr id="11" name="Shape 8"/>
          <p:cNvSpPr/>
          <p:nvPr/>
        </p:nvSpPr>
        <p:spPr>
          <a:xfrm>
            <a:off x="571500" y="3394253"/>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394253"/>
            <a:ext cx="57607" cy="1781251"/>
          </a:xfrm>
          <a:prstGeom prst="roundRect">
            <a:avLst>
              <a:gd name="adj" fmla="val 101859"/>
            </a:avLst>
          </a:prstGeom>
          <a:solidFill>
            <a:srgbClr val="3B82F6"/>
          </a:solidFill>
          <a:ln w="12700">
            <a:solidFill>
              <a:srgbClr val="3B82F6">
                <a:alpha val="0"/>
              </a:srgbClr>
            </a:solidFill>
            <a:prstDash val="solid"/>
          </a:ln>
        </p:spPr>
      </p:sp>
      <p:sp>
        <p:nvSpPr>
          <p:cNvPr id="13" name="Shape 10"/>
          <p:cNvSpPr/>
          <p:nvPr/>
        </p:nvSpPr>
        <p:spPr>
          <a:xfrm>
            <a:off x="933602" y="3622853"/>
            <a:ext cx="381305" cy="381305"/>
          </a:xfrm>
          <a:prstGeom prst="ellipse">
            <a:avLst/>
          </a:prstGeom>
          <a:solidFill>
            <a:srgbClr val="DBEAFE"/>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133" r="-133" t="0" b="0"/>
          <a:stretch/>
        </p:blipFill>
        <p:spPr>
          <a:xfrm>
            <a:off x="1037844" y="3699662"/>
            <a:ext cx="171907" cy="228600"/>
          </a:xfrm>
          <a:prstGeom prst="rect">
            <a:avLst/>
          </a:prstGeom>
        </p:spPr>
      </p:pic>
      <p:sp>
        <p:nvSpPr>
          <p:cNvPr id="15" name="Text 11"/>
          <p:cNvSpPr txBox="1"/>
          <p:nvPr/>
        </p:nvSpPr>
        <p:spPr>
          <a:xfrm>
            <a:off x="1466698" y="3656686"/>
            <a:ext cx="1368857"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属人化の本質</a:t>
            </a:r>
            <a:endParaRPr lang="en-US" sz="1600" dirty="0"/>
          </a:p>
        </p:txBody>
      </p:sp>
      <p:sp>
        <p:nvSpPr>
          <p:cNvPr id="16" name="Text 12"/>
          <p:cNvSpPr txBox="1"/>
          <p:nvPr/>
        </p:nvSpPr>
        <p:spPr>
          <a:xfrm>
            <a:off x="933602" y="4118458"/>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「属人化」は担当者が工夫を凝らした結果（努力の結晶）ですが、</a:t>
            </a:r>
            <a:pPr algn="l" indent="0" marL="0">
              <a:buNone/>
            </a:pPr>
            <a:r>
              <a:rPr lang="en-US" sz="1300" b="1" dirty="0">
                <a:solidFill>
                  <a:srgbClr val="111827"/>
                </a:solidFill>
                <a:latin typeface="Noto Sans JP" pitchFamily="34" charset="0"/>
                <a:ea typeface="Noto Sans JP" pitchFamily="34" charset="-122"/>
                <a:cs typeface="Noto Sans JP" pitchFamily="34" charset="-120"/>
              </a:rPr>
              <a:t>個人の工夫を組織全体で共有・活用する仕組み（マネジメント）が欠落している</a:t>
            </a:r>
            <a:pPr algn="l" indent="0" marL="0">
              <a:buNone/>
            </a:pPr>
            <a:r>
              <a:rPr lang="en-US" sz="1300" dirty="0">
                <a:solidFill>
                  <a:srgbClr val="4B5563"/>
                </a:solidFill>
                <a:latin typeface="Noto Sans JP" pitchFamily="34" charset="0"/>
                <a:ea typeface="Noto Sans JP" pitchFamily="34" charset="-122"/>
                <a:cs typeface="Noto Sans JP" pitchFamily="34" charset="-120"/>
              </a:rPr>
              <a:t>ことが真の問題です。 </a:t>
            </a:r>
            <a:endParaRPr lang="en-US" sz="1300" dirty="0"/>
          </a:p>
        </p:txBody>
      </p:sp>
      <p:sp>
        <p:nvSpPr>
          <p:cNvPr id="17" name="Shape 13"/>
          <p:cNvSpPr/>
          <p:nvPr/>
        </p:nvSpPr>
        <p:spPr>
          <a:xfrm>
            <a:off x="571500" y="5455310"/>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455310"/>
            <a:ext cx="57607" cy="1781251"/>
          </a:xfrm>
          <a:prstGeom prst="roundRect">
            <a:avLst>
              <a:gd name="adj" fmla="val 101859"/>
            </a:avLst>
          </a:prstGeom>
          <a:solidFill>
            <a:srgbClr val="EF4444"/>
          </a:solidFill>
          <a:ln w="12700">
            <a:solidFill>
              <a:srgbClr val="EF4444">
                <a:alpha val="0"/>
              </a:srgbClr>
            </a:solidFill>
            <a:prstDash val="solid"/>
          </a:ln>
        </p:spPr>
      </p:sp>
      <p:sp>
        <p:nvSpPr>
          <p:cNvPr id="19" name="Shape 15"/>
          <p:cNvSpPr/>
          <p:nvPr/>
        </p:nvSpPr>
        <p:spPr>
          <a:xfrm>
            <a:off x="933602" y="5683910"/>
            <a:ext cx="381305" cy="381305"/>
          </a:xfrm>
          <a:prstGeom prst="ellipse">
            <a:avLst/>
          </a:prstGeom>
          <a:solidFill>
            <a:srgbClr val="FEE2E2"/>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5760720"/>
            <a:ext cx="228600" cy="228600"/>
          </a:xfrm>
          <a:prstGeom prst="rect">
            <a:avLst/>
          </a:prstGeom>
        </p:spPr>
      </p:pic>
      <p:sp>
        <p:nvSpPr>
          <p:cNvPr id="21" name="Text 16"/>
          <p:cNvSpPr txBox="1"/>
          <p:nvPr/>
        </p:nvSpPr>
        <p:spPr>
          <a:xfrm>
            <a:off x="1466698" y="5717743"/>
            <a:ext cx="114208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深刻な弊害</a:t>
            </a:r>
            <a:endParaRPr lang="en-US" sz="1600" dirty="0"/>
          </a:p>
        </p:txBody>
      </p:sp>
      <p:sp>
        <p:nvSpPr>
          <p:cNvPr id="22" name="Text 17"/>
          <p:cNvSpPr txBox="1"/>
          <p:nvPr/>
        </p:nvSpPr>
        <p:spPr>
          <a:xfrm>
            <a:off x="933602" y="617951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毎回人が判断・操作しなければならず、業務の引継ぎが困難になります。また、改善が「個人のスキル」として埋没し、組織としての学習（PDCA）が機能不全に陥ります。</a:t>
            </a:r>
            <a:endParaRPr lang="en-US" sz="1300" dirty="0"/>
          </a:p>
        </p:txBody>
      </p:sp>
      <p:pic>
        <p:nvPicPr>
          <p:cNvPr id="23" name="Image 3" descr="preencoded.png">    </p:cNvPr>
          <p:cNvPicPr>
            <a:picLocks noChangeAspect="1"/>
          </p:cNvPicPr>
          <p:nvPr/>
        </p:nvPicPr>
        <p:blipFill>
          <a:blip r:embed="rId4"/>
          <a:srcRect l="-7078" r="-7078" t="0" b="0"/>
          <a:stretch/>
        </p:blipFill>
        <p:spPr>
          <a:xfrm>
            <a:off x="8191195" y="2377440"/>
            <a:ext cx="228600" cy="267005"/>
          </a:xfrm>
          <a:prstGeom prst="rect">
            <a:avLst/>
          </a:prstGeom>
        </p:spPr>
      </p:pic>
      <p:pic>
        <p:nvPicPr>
          <p:cNvPr id="24" name="Image 4" descr="preencoded.png">    </p:cNvPr>
          <p:cNvPicPr>
            <a:picLocks noChangeAspect="1"/>
          </p:cNvPicPr>
          <p:nvPr/>
        </p:nvPicPr>
        <p:blipFill>
          <a:blip r:embed="rId5"/>
          <a:srcRect l="-4330" r="-4330" t="0" b="0"/>
          <a:stretch/>
        </p:blipFill>
        <p:spPr>
          <a:xfrm>
            <a:off x="11315700" y="2567635"/>
            <a:ext cx="209398" cy="256946"/>
          </a:xfrm>
          <a:prstGeom prst="rect">
            <a:avLst/>
          </a:prstGeom>
        </p:spPr>
      </p:pic>
      <p:pic>
        <p:nvPicPr>
          <p:cNvPr id="25" name="Image 5" descr="preencoded.png">    </p:cNvPr>
          <p:cNvPicPr>
            <a:picLocks noChangeAspect="1"/>
          </p:cNvPicPr>
          <p:nvPr/>
        </p:nvPicPr>
        <p:blipFill>
          <a:blip r:embed="rId6"/>
          <a:srcRect l="-3309" r="-3309" t="0" b="0"/>
          <a:stretch/>
        </p:blipFill>
        <p:spPr>
          <a:xfrm>
            <a:off x="8096098" y="5425135"/>
            <a:ext cx="267005" cy="286207"/>
          </a:xfrm>
          <a:prstGeom prst="rect">
            <a:avLst/>
          </a:prstGeom>
        </p:spPr>
      </p:pic>
      <p:sp>
        <p:nvSpPr>
          <p:cNvPr id="26" name="Shape 18"/>
          <p:cNvSpPr/>
          <p:nvPr/>
        </p:nvSpPr>
        <p:spPr>
          <a:xfrm>
            <a:off x="8572500" y="2853842"/>
            <a:ext cx="2476195" cy="2476195"/>
          </a:xfrm>
          <a:prstGeom prst="ellipse">
            <a:avLst/>
          </a:prstGeom>
          <a:solidFill>
            <a:srgbClr val="EFF6FF"/>
          </a:solidFill>
          <a:ln w="50800">
            <a:solidFill>
              <a:srgbClr val="3B82F6"/>
            </a:solidFill>
            <a:prstDash val="solid"/>
          </a:ln>
        </p:spPr>
      </p:sp>
      <p:pic>
        <p:nvPicPr>
          <p:cNvPr id="27" name="Image 6" descr="preencoded.png">    </p:cNvPr>
          <p:cNvPicPr>
            <a:picLocks noChangeAspect="1"/>
          </p:cNvPicPr>
          <p:nvPr/>
        </p:nvPicPr>
        <p:blipFill>
          <a:blip r:embed="rId7"/>
          <a:srcRect l="-469" r="-469" t="0" b="0"/>
          <a:stretch/>
        </p:blipFill>
        <p:spPr>
          <a:xfrm>
            <a:off x="9558223" y="3501238"/>
            <a:ext cx="504749" cy="571500"/>
          </a:xfrm>
          <a:prstGeom prst="rect">
            <a:avLst/>
          </a:prstGeom>
        </p:spPr>
      </p:pic>
      <p:pic>
        <p:nvPicPr>
          <p:cNvPr id="28" name="Image 7" descr="preencoded.png">    </p:cNvPr>
          <p:cNvPicPr>
            <a:picLocks noChangeAspect="1"/>
          </p:cNvPicPr>
          <p:nvPr/>
        </p:nvPicPr>
        <p:blipFill>
          <a:blip r:embed="rId8">
            <a:alphaModFix amt="88000"/>
          </a:blip>
          <a:srcRect l="0" r="0" t="0" b="0"/>
          <a:stretch/>
        </p:blipFill>
        <p:spPr>
          <a:xfrm>
            <a:off x="10327234" y="3065069"/>
            <a:ext cx="323698" cy="323698"/>
          </a:xfrm>
          <a:prstGeom prst="rect">
            <a:avLst/>
          </a:prstGeom>
        </p:spPr>
      </p:pic>
      <p:sp>
        <p:nvSpPr>
          <p:cNvPr id="29" name="Text 19"/>
          <p:cNvSpPr txBox="1"/>
          <p:nvPr/>
        </p:nvSpPr>
        <p:spPr>
          <a:xfrm>
            <a:off x="9267444" y="4167835"/>
            <a:ext cx="1086307" cy="514807"/>
          </a:xfrm>
          <a:prstGeom prst="rect">
            <a:avLst/>
          </a:prstGeom>
          <a:noFill/>
          <a:ln/>
        </p:spPr>
        <p:txBody>
          <a:bodyPr wrap="square" lIns="0" tIns="0" rIns="0" bIns="0" rtlCol="0" anchor="t"/>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全ての知識は</a:t>
            </a:r>
            <a:pPr algn="ctr" indent="0" marL="0">
              <a:buNone/>
            </a:pPr>
            <a:endParaRPr lang="en-US" sz="1300" dirty="0"/>
          </a:p>
          <a:p>
            <a:pPr algn="ctr" indent="0" marL="0">
              <a:buNone/>
            </a:pPr>
            <a:r>
              <a:rPr lang="en-US" sz="1300" b="1" dirty="0">
                <a:solidFill>
                  <a:srgbClr val="1F2937"/>
                </a:solidFill>
                <a:latin typeface="Noto Sans JP" pitchFamily="34" charset="0"/>
                <a:ea typeface="Noto Sans JP" pitchFamily="34" charset="-122"/>
                <a:cs typeface="Noto Sans JP" pitchFamily="34" charset="-120"/>
              </a:rPr>
              <a:t>頭の中にある</a:t>
            </a:r>
            <a:endParaRPr lang="en-US" sz="1300" dirty="0"/>
          </a:p>
        </p:txBody>
      </p:sp>
      <p:sp>
        <p:nvSpPr>
          <p:cNvPr id="30" name="Shape 20"/>
          <p:cNvSpPr/>
          <p:nvPr/>
        </p:nvSpPr>
        <p:spPr>
          <a:xfrm>
            <a:off x="9353398" y="5806440"/>
            <a:ext cx="923544" cy="381305"/>
          </a:xfrm>
          <a:prstGeom prst="roundRect">
            <a:avLst>
              <a:gd name="adj" fmla="val 119904"/>
            </a:avLst>
          </a:prstGeom>
          <a:solidFill>
            <a:srgbClr val="EF4444"/>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31" name="Text 21"/>
          <p:cNvSpPr txBox="1"/>
          <p:nvPr/>
        </p:nvSpPr>
        <p:spPr>
          <a:xfrm>
            <a:off x="9353398" y="5806440"/>
            <a:ext cx="981151" cy="381305"/>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属人化</a:t>
            </a:r>
            <a:endParaRPr lang="en-US" sz="1200" dirty="0"/>
          </a:p>
        </p:txBody>
      </p:sp>
      <p:sp>
        <p:nvSpPr>
          <p:cNvPr id="32" name="Text 22"/>
          <p:cNvSpPr txBox="1"/>
          <p:nvPr/>
        </p:nvSpPr>
        <p:spPr>
          <a:xfrm>
            <a:off x="8740750" y="6149340"/>
            <a:ext cx="2150669" cy="228600"/>
          </a:xfrm>
          <a:prstGeom prst="rect">
            <a:avLst/>
          </a:prstGeom>
          <a:noFill/>
          <a:ln/>
        </p:spPr>
        <p:txBody>
          <a:bodyPr wrap="square" lIns="0" tIns="0" rIns="0" bIns="0" rtlCol="0" anchor="ctr"/>
          <a:lstStyle/>
          <a:p>
            <a:pPr algn="ctr" indent="0" marL="0">
              <a:buNone/>
            </a:pPr>
            <a:r>
              <a:rPr lang="en-US" sz="1200" b="1" dirty="0">
                <a:solidFill>
                  <a:srgbClr val="6B7280"/>
                </a:solidFill>
                <a:latin typeface="Noto Sans JP" pitchFamily="34" charset="0"/>
                <a:ea typeface="Noto Sans JP" pitchFamily="34" charset="-122"/>
                <a:cs typeface="Noto Sans JP" pitchFamily="34" charset="-120"/>
              </a:rPr>
              <a:t>個人のスキルへの過度な依存</a:t>
            </a:r>
            <a:endParaRPr lang="en-US" sz="1200" dirty="0"/>
          </a:p>
        </p:txBody>
      </p:sp>
      <p:sp>
        <p:nvSpPr>
          <p:cNvPr id="33" name="Shape 23"/>
          <p:cNvSpPr/>
          <p:nvPr/>
        </p:nvSpPr>
        <p:spPr>
          <a:xfrm>
            <a:off x="0" y="0"/>
            <a:ext cx="12191695" cy="952805"/>
          </a:xfrm>
          <a:prstGeom prst="rect">
            <a:avLst/>
          </a:prstGeom>
          <a:solidFill>
            <a:srgbClr val="FFFFFF"/>
          </a:solidFill>
          <a:ln/>
        </p:spPr>
      </p:sp>
      <p:sp>
        <p:nvSpPr>
          <p:cNvPr id="34" name="Shape 24"/>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35" name="Shape 25"/>
          <p:cNvSpPr/>
          <p:nvPr/>
        </p:nvSpPr>
        <p:spPr>
          <a:xfrm>
            <a:off x="571500" y="304495"/>
            <a:ext cx="990295" cy="418795"/>
          </a:xfrm>
          <a:prstGeom prst="roundRect">
            <a:avLst>
              <a:gd name="adj" fmla="val 19849"/>
            </a:avLst>
          </a:prstGeom>
          <a:solidFill>
            <a:srgbClr val="3B82F6"/>
          </a:solidFill>
          <a:ln w="12700">
            <a:solidFill>
              <a:srgbClr val="FFFFFF">
                <a:alpha val="0"/>
              </a:srgbClr>
            </a:solidFill>
            <a:prstDash val="solid"/>
          </a:ln>
        </p:spPr>
      </p:sp>
      <p:sp>
        <p:nvSpPr>
          <p:cNvPr id="36" name="Text 26"/>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要因②</a:t>
            </a:r>
            <a:endParaRPr lang="en-US" sz="1800" dirty="0"/>
          </a:p>
        </p:txBody>
      </p:sp>
      <p:sp>
        <p:nvSpPr>
          <p:cNvPr id="37" name="Text 27"/>
          <p:cNvSpPr txBox="1"/>
          <p:nvPr/>
        </p:nvSpPr>
        <p:spPr>
          <a:xfrm>
            <a:off x="1752905" y="286207"/>
            <a:ext cx="6601054"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「知識」と「操作」の未分離（属人化の進行）</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391656"/>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505102"/>
          </a:xfrm>
          <a:prstGeom prst="roundRect">
            <a:avLst>
              <a:gd name="adj" fmla="val 461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505102"/>
          </a:xfrm>
          <a:prstGeom prst="roundRect">
            <a:avLst>
              <a:gd name="adj" fmla="val 120555"/>
            </a:avLst>
          </a:prstGeom>
          <a:solidFill>
            <a:srgbClr val="3B82F6"/>
          </a:solidFill>
          <a:ln w="12700">
            <a:solidFill>
              <a:srgbClr val="3B82F6">
                <a:alpha val="0"/>
              </a:srgbClr>
            </a:solidFill>
            <a:prstDash val="solid"/>
          </a:ln>
        </p:spPr>
      </p:sp>
      <p:sp>
        <p:nvSpPr>
          <p:cNvPr id="7" name="Shape 5"/>
          <p:cNvSpPr/>
          <p:nvPr/>
        </p:nvSpPr>
        <p:spPr>
          <a:xfrm>
            <a:off x="933602" y="1561795"/>
            <a:ext cx="381305" cy="381305"/>
          </a:xfrm>
          <a:prstGeom prst="ellipse">
            <a:avLst/>
          </a:prstGeom>
          <a:solidFill>
            <a:srgbClr val="DBEAFE"/>
          </a:solidFill>
          <a:ln w="12700">
            <a:solidFill>
              <a:srgbClr val="FFFFFF">
                <a:alpha val="0"/>
              </a:srgbClr>
            </a:solidFill>
            <a:prstDash val="solid"/>
          </a:ln>
        </p:spPr>
      </p:sp>
      <p:pic>
        <p:nvPicPr>
          <p:cNvPr id="8" name="Image 0" descr="preencoded.png">    </p:cNvPr>
          <p:cNvPicPr>
            <a:picLocks noChangeAspect="1"/>
          </p:cNvPicPr>
          <p:nvPr/>
        </p:nvPicPr>
        <p:blipFill>
          <a:blip r:embed="rId1"/>
          <a:srcRect l="-133" r="-133" t="0" b="0"/>
          <a:stretch/>
        </p:blipFill>
        <p:spPr>
          <a:xfrm>
            <a:off x="1037844" y="1638605"/>
            <a:ext cx="171907" cy="228600"/>
          </a:xfrm>
          <a:prstGeom prst="rect">
            <a:avLst/>
          </a:prstGeom>
        </p:spPr>
      </p:pic>
      <p:sp>
        <p:nvSpPr>
          <p:cNvPr id="9" name="Text 6"/>
          <p:cNvSpPr txBox="1"/>
          <p:nvPr/>
        </p:nvSpPr>
        <p:spPr>
          <a:xfrm>
            <a:off x="1466698" y="1595628"/>
            <a:ext cx="1368857"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経理（按分）</a:t>
            </a:r>
            <a:endParaRPr lang="en-US" sz="1600" dirty="0"/>
          </a:p>
        </p:txBody>
      </p:sp>
      <p:sp>
        <p:nvSpPr>
          <p:cNvPr id="10" name="Text 7"/>
          <p:cNvSpPr txBox="1"/>
          <p:nvPr/>
        </p:nvSpPr>
        <p:spPr>
          <a:xfrm>
            <a:off x="933602" y="2057400"/>
            <a:ext cx="6363310" cy="553212"/>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アメーバ経営のための「費用按分」のルールが統一されておらず、</a:t>
            </a:r>
            <a:pPr algn="l" indent="0" marL="0">
              <a:buNone/>
            </a:pPr>
            <a:r>
              <a:rPr lang="en-US" sz="1300" b="1" dirty="0">
                <a:solidFill>
                  <a:srgbClr val="111827"/>
                </a:solidFill>
                <a:latin typeface="Noto Sans JP" pitchFamily="34" charset="0"/>
                <a:ea typeface="Noto Sans JP" pitchFamily="34" charset="-122"/>
                <a:cs typeface="Noto Sans JP" pitchFamily="34" charset="-120"/>
              </a:rPr>
              <a:t>鉛筆1本の購入でも所長の裁量や担当者の記憶に依存</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して手入力しています。 </a:t>
            </a:r>
            <a:endParaRPr lang="en-US" sz="1300" dirty="0"/>
          </a:p>
        </p:txBody>
      </p:sp>
      <p:sp>
        <p:nvSpPr>
          <p:cNvPr id="11" name="Shape 8"/>
          <p:cNvSpPr/>
          <p:nvPr/>
        </p:nvSpPr>
        <p:spPr>
          <a:xfrm>
            <a:off x="571500" y="3119933"/>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119933"/>
            <a:ext cx="57607" cy="1781251"/>
          </a:xfrm>
          <a:prstGeom prst="roundRect">
            <a:avLst>
              <a:gd name="adj" fmla="val 101859"/>
            </a:avLst>
          </a:prstGeom>
          <a:solidFill>
            <a:srgbClr val="EF4444"/>
          </a:solidFill>
          <a:ln w="12700">
            <a:solidFill>
              <a:srgbClr val="EF4444">
                <a:alpha val="0"/>
              </a:srgbClr>
            </a:solidFill>
            <a:prstDash val="solid"/>
          </a:ln>
        </p:spPr>
      </p:sp>
      <p:sp>
        <p:nvSpPr>
          <p:cNvPr id="13" name="Shape 10"/>
          <p:cNvSpPr/>
          <p:nvPr/>
        </p:nvSpPr>
        <p:spPr>
          <a:xfrm>
            <a:off x="933602" y="3348533"/>
            <a:ext cx="381305" cy="381305"/>
          </a:xfrm>
          <a:prstGeom prst="ellipse">
            <a:avLst/>
          </a:prstGeom>
          <a:solidFill>
            <a:srgbClr val="FEE2E2"/>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80" b="-80"/>
          <a:stretch/>
        </p:blipFill>
        <p:spPr>
          <a:xfrm>
            <a:off x="1052474" y="3425342"/>
            <a:ext cx="142646" cy="228600"/>
          </a:xfrm>
          <a:prstGeom prst="rect">
            <a:avLst/>
          </a:prstGeom>
        </p:spPr>
      </p:pic>
      <p:sp>
        <p:nvSpPr>
          <p:cNvPr id="15" name="Text 11"/>
          <p:cNvSpPr txBox="1"/>
          <p:nvPr/>
        </p:nvSpPr>
        <p:spPr>
          <a:xfrm>
            <a:off x="1466698" y="3382366"/>
            <a:ext cx="1368857"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給与（手当）</a:t>
            </a:r>
            <a:endParaRPr lang="en-US" sz="1600" dirty="0"/>
          </a:p>
        </p:txBody>
      </p:sp>
      <p:sp>
        <p:nvSpPr>
          <p:cNvPr id="16" name="Text 12"/>
          <p:cNvSpPr txBox="1"/>
          <p:nvPr/>
        </p:nvSpPr>
        <p:spPr>
          <a:xfrm>
            <a:off x="933602" y="3844138"/>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早遅手当や宿直手当などの複雑な条件をシステムで計算しきれず、担当者が手計算して</a:t>
            </a:r>
            <a:pPr algn="l" indent="0" marL="0">
              <a:buNone/>
            </a:pPr>
            <a:r>
              <a:rPr lang="en-US" sz="1300" b="1" dirty="0">
                <a:solidFill>
                  <a:srgbClr val="111827"/>
                </a:solidFill>
                <a:latin typeface="Noto Sans JP" pitchFamily="34" charset="0"/>
                <a:ea typeface="Noto Sans JP" pitchFamily="34" charset="-122"/>
                <a:cs typeface="Noto Sans JP" pitchFamily="34" charset="-120"/>
              </a:rPr>
              <a:t>「強制入力（上書き）」</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しています。担当者不在で計算根拠がブラックボックス化するリスクがあります。 </a:t>
            </a:r>
            <a:endParaRPr lang="en-US" sz="1300" dirty="0"/>
          </a:p>
        </p:txBody>
      </p:sp>
      <p:sp>
        <p:nvSpPr>
          <p:cNvPr id="17" name="Shape 13"/>
          <p:cNvSpPr/>
          <p:nvPr/>
        </p:nvSpPr>
        <p:spPr>
          <a:xfrm>
            <a:off x="571500" y="518190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181905"/>
            <a:ext cx="57607" cy="1781251"/>
          </a:xfrm>
          <a:prstGeom prst="roundRect">
            <a:avLst>
              <a:gd name="adj" fmla="val 101859"/>
            </a:avLst>
          </a:prstGeom>
          <a:solidFill>
            <a:srgbClr val="F59E0B"/>
          </a:solidFill>
          <a:ln w="12700">
            <a:solidFill>
              <a:srgbClr val="F59E0B">
                <a:alpha val="0"/>
              </a:srgbClr>
            </a:solidFill>
            <a:prstDash val="solid"/>
          </a:ln>
        </p:spPr>
      </p:sp>
      <p:sp>
        <p:nvSpPr>
          <p:cNvPr id="19" name="Shape 15"/>
          <p:cNvSpPr/>
          <p:nvPr/>
        </p:nvSpPr>
        <p:spPr>
          <a:xfrm>
            <a:off x="933602" y="5410505"/>
            <a:ext cx="381305" cy="381305"/>
          </a:xfrm>
          <a:prstGeom prst="ellipse">
            <a:avLst/>
          </a:prstGeom>
          <a:solidFill>
            <a:srgbClr val="FEF3C7"/>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133" r="-133" t="0" b="0"/>
          <a:stretch/>
        </p:blipFill>
        <p:spPr>
          <a:xfrm>
            <a:off x="1037844" y="5486400"/>
            <a:ext cx="171907" cy="228600"/>
          </a:xfrm>
          <a:prstGeom prst="rect">
            <a:avLst/>
          </a:prstGeom>
        </p:spPr>
      </p:pic>
      <p:sp>
        <p:nvSpPr>
          <p:cNvPr id="21" name="Text 16"/>
          <p:cNvSpPr txBox="1"/>
          <p:nvPr/>
        </p:nvSpPr>
        <p:spPr>
          <a:xfrm>
            <a:off x="1466698" y="5443423"/>
            <a:ext cx="1368857"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請求（発送）</a:t>
            </a:r>
            <a:endParaRPr lang="en-US" sz="1600" dirty="0"/>
          </a:p>
        </p:txBody>
      </p:sp>
      <p:sp>
        <p:nvSpPr>
          <p:cNvPr id="22" name="Text 17"/>
          <p:cNvSpPr txBox="1"/>
          <p:nvPr/>
        </p:nvSpPr>
        <p:spPr>
          <a:xfrm>
            <a:off x="933602" y="590519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「この利用者は自宅に送らない」といった</a:t>
            </a:r>
            <a:pPr algn="l" indent="0" marL="0">
              <a:buNone/>
            </a:pPr>
            <a:r>
              <a:rPr lang="en-US" sz="1300" b="1" dirty="0">
                <a:solidFill>
                  <a:srgbClr val="111827"/>
                </a:solidFill>
                <a:latin typeface="Noto Sans JP" pitchFamily="34" charset="0"/>
                <a:ea typeface="Noto Sans JP" pitchFamily="34" charset="-122"/>
                <a:cs typeface="Noto Sans JP" pitchFamily="34" charset="-120"/>
              </a:rPr>
              <a:t>個別条件（約500件）をExcelや記憶で管理</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しており、手作業での封入・発送作業（月5,000通）が限界に達しています。 </a:t>
            </a:r>
            <a:endParaRPr lang="en-US" sz="1300" dirty="0"/>
          </a:p>
        </p:txBody>
      </p:sp>
      <p:sp>
        <p:nvSpPr>
          <p:cNvPr id="23" name="Shape 18"/>
          <p:cNvSpPr/>
          <p:nvPr/>
        </p:nvSpPr>
        <p:spPr>
          <a:xfrm>
            <a:off x="8001000" y="2240280"/>
            <a:ext cx="3619195" cy="3810305"/>
          </a:xfrm>
          <a:prstGeom prst="roundRect">
            <a:avLst>
              <a:gd name="adj" fmla="val 798"/>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5000"/>
              </a:srgbClr>
            </a:outerShdw>
          </a:effectLst>
        </p:spPr>
      </p:sp>
      <p:sp>
        <p:nvSpPr>
          <p:cNvPr id="24" name="Shape 19"/>
          <p:cNvSpPr/>
          <p:nvPr/>
        </p:nvSpPr>
        <p:spPr>
          <a:xfrm>
            <a:off x="8191195" y="2740457"/>
            <a:ext cx="3238805" cy="9144"/>
          </a:xfrm>
          <a:prstGeom prst="rect">
            <a:avLst/>
          </a:prstGeom>
          <a:solidFill>
            <a:srgbClr val="E5E7EB"/>
          </a:solidFill>
          <a:ln w="12700">
            <a:solidFill>
              <a:srgbClr val="E5E7EB">
                <a:alpha val="0"/>
              </a:srgbClr>
            </a:solidFill>
            <a:prstDash val="solid"/>
          </a:ln>
        </p:spPr>
      </p:sp>
      <p:sp>
        <p:nvSpPr>
          <p:cNvPr id="25" name="Text 20"/>
          <p:cNvSpPr txBox="1"/>
          <p:nvPr/>
        </p:nvSpPr>
        <p:spPr>
          <a:xfrm>
            <a:off x="8153705" y="2387498"/>
            <a:ext cx="3314700" cy="257861"/>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300" b="1" dirty="0">
                <a:solidFill>
                  <a:srgbClr val="4B5563"/>
                </a:solidFill>
                <a:latin typeface="Noto Sans JP" pitchFamily="34" charset="0"/>
                <a:ea typeface="Noto Sans JP" pitchFamily="34" charset="-122"/>
                <a:cs typeface="Noto Sans JP" pitchFamily="34" charset="-120"/>
              </a:rPr>
              <a:t>属人化の具体的症状</a:t>
            </a:r>
            <a:endParaRPr lang="en-US" sz="1300" dirty="0"/>
          </a:p>
        </p:txBody>
      </p:sp>
      <p:sp>
        <p:nvSpPr>
          <p:cNvPr id="26" name="Shape 21"/>
          <p:cNvSpPr/>
          <p:nvPr/>
        </p:nvSpPr>
        <p:spPr>
          <a:xfrm>
            <a:off x="8191195" y="2939796"/>
            <a:ext cx="3238805" cy="619049"/>
          </a:xfrm>
          <a:prstGeom prst="roundRect">
            <a:avLst>
              <a:gd name="adj" fmla="val 18180"/>
            </a:avLst>
          </a:prstGeom>
          <a:solidFill>
            <a:srgbClr val="F3F4F6"/>
          </a:solidFill>
          <a:ln w="12700">
            <a:solidFill>
              <a:srgbClr val="FFFFFF">
                <a:alpha val="0"/>
              </a:srgbClr>
            </a:solidFill>
            <a:prstDash val="solid"/>
          </a:ln>
        </p:spPr>
      </p:sp>
      <p:pic>
        <p:nvPicPr>
          <p:cNvPr id="27" name="Image 3" descr="preencoded.png">    </p:cNvPr>
          <p:cNvPicPr>
            <a:picLocks noChangeAspect="1"/>
          </p:cNvPicPr>
          <p:nvPr/>
        </p:nvPicPr>
        <p:blipFill>
          <a:blip r:embed="rId4"/>
          <a:srcRect l="0" r="0" t="0" b="0"/>
          <a:stretch/>
        </p:blipFill>
        <p:spPr>
          <a:xfrm>
            <a:off x="8382305" y="3144622"/>
            <a:ext cx="228600" cy="228600"/>
          </a:xfrm>
          <a:prstGeom prst="rect">
            <a:avLst/>
          </a:prstGeom>
        </p:spPr>
      </p:pic>
      <p:sp>
        <p:nvSpPr>
          <p:cNvPr id="28" name="Text 22"/>
          <p:cNvSpPr txBox="1"/>
          <p:nvPr/>
        </p:nvSpPr>
        <p:spPr>
          <a:xfrm>
            <a:off x="8829446" y="3054096"/>
            <a:ext cx="2677363"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「記憶」頼みの作業</a:t>
            </a:r>
            <a:endParaRPr lang="en-US" sz="1000" dirty="0"/>
          </a:p>
        </p:txBody>
      </p:sp>
      <p:sp>
        <p:nvSpPr>
          <p:cNvPr id="29" name="Text 23"/>
          <p:cNvSpPr txBox="1"/>
          <p:nvPr/>
        </p:nvSpPr>
        <p:spPr>
          <a:xfrm>
            <a:off x="8829446" y="3273552"/>
            <a:ext cx="2677363" cy="171907"/>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ルールが頭の中にしかない</a:t>
            </a:r>
            <a:endParaRPr lang="en-US" sz="900" dirty="0"/>
          </a:p>
        </p:txBody>
      </p:sp>
      <p:sp>
        <p:nvSpPr>
          <p:cNvPr id="30" name="Shape 24"/>
          <p:cNvSpPr/>
          <p:nvPr/>
        </p:nvSpPr>
        <p:spPr>
          <a:xfrm>
            <a:off x="8191195" y="3749954"/>
            <a:ext cx="3238805" cy="619049"/>
          </a:xfrm>
          <a:prstGeom prst="roundRect">
            <a:avLst>
              <a:gd name="adj" fmla="val 18180"/>
            </a:avLst>
          </a:prstGeom>
          <a:solidFill>
            <a:srgbClr val="F3F4F6"/>
          </a:solidFill>
          <a:ln w="12700">
            <a:solidFill>
              <a:srgbClr val="FFFFFF">
                <a:alpha val="0"/>
              </a:srgbClr>
            </a:solidFill>
            <a:prstDash val="solid"/>
          </a:ln>
        </p:spPr>
      </p:sp>
      <p:pic>
        <p:nvPicPr>
          <p:cNvPr id="31" name="Image 4" descr="preencoded.png">    </p:cNvPr>
          <p:cNvPicPr>
            <a:picLocks noChangeAspect="1"/>
          </p:cNvPicPr>
          <p:nvPr/>
        </p:nvPicPr>
        <p:blipFill>
          <a:blip r:embed="rId5"/>
          <a:srcRect l="-80" r="-80" t="0" b="0"/>
          <a:stretch/>
        </p:blipFill>
        <p:spPr>
          <a:xfrm>
            <a:off x="8353044" y="3954780"/>
            <a:ext cx="286207" cy="228600"/>
          </a:xfrm>
          <a:prstGeom prst="rect">
            <a:avLst/>
          </a:prstGeom>
        </p:spPr>
      </p:pic>
      <p:sp>
        <p:nvSpPr>
          <p:cNvPr id="32" name="Text 25"/>
          <p:cNvSpPr txBox="1"/>
          <p:nvPr/>
        </p:nvSpPr>
        <p:spPr>
          <a:xfrm>
            <a:off x="8829446" y="3864254"/>
            <a:ext cx="2677363"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ブラックボックス化</a:t>
            </a:r>
            <a:endParaRPr lang="en-US" sz="1000" dirty="0"/>
          </a:p>
        </p:txBody>
      </p:sp>
      <p:sp>
        <p:nvSpPr>
          <p:cNvPr id="33" name="Text 26"/>
          <p:cNvSpPr txBox="1"/>
          <p:nvPr/>
        </p:nvSpPr>
        <p:spPr>
          <a:xfrm>
            <a:off x="8829446" y="4082796"/>
            <a:ext cx="2677363" cy="171907"/>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担当者しか分からない計算</a:t>
            </a:r>
            <a:endParaRPr lang="en-US" sz="900" dirty="0"/>
          </a:p>
        </p:txBody>
      </p:sp>
      <p:sp>
        <p:nvSpPr>
          <p:cNvPr id="34" name="Shape 27"/>
          <p:cNvSpPr/>
          <p:nvPr/>
        </p:nvSpPr>
        <p:spPr>
          <a:xfrm>
            <a:off x="8191195" y="4559198"/>
            <a:ext cx="3238805" cy="619049"/>
          </a:xfrm>
          <a:prstGeom prst="roundRect">
            <a:avLst>
              <a:gd name="adj" fmla="val 18180"/>
            </a:avLst>
          </a:prstGeom>
          <a:solidFill>
            <a:srgbClr val="F3F4F6"/>
          </a:solidFill>
          <a:ln w="12700">
            <a:solidFill>
              <a:srgbClr val="FFFFFF">
                <a:alpha val="0"/>
              </a:srgbClr>
            </a:solidFill>
            <a:prstDash val="solid"/>
          </a:ln>
        </p:spPr>
      </p:sp>
      <p:pic>
        <p:nvPicPr>
          <p:cNvPr id="35" name="Image 5" descr="preencoded.png">    </p:cNvPr>
          <p:cNvPicPr>
            <a:picLocks noChangeAspect="1"/>
          </p:cNvPicPr>
          <p:nvPr/>
        </p:nvPicPr>
        <p:blipFill>
          <a:blip r:embed="rId6"/>
          <a:srcRect l="0" r="0" t="0" b="0"/>
          <a:stretch/>
        </p:blipFill>
        <p:spPr>
          <a:xfrm>
            <a:off x="8382305" y="4764024"/>
            <a:ext cx="228600" cy="228600"/>
          </a:xfrm>
          <a:prstGeom prst="rect">
            <a:avLst/>
          </a:prstGeom>
        </p:spPr>
      </p:pic>
      <p:sp>
        <p:nvSpPr>
          <p:cNvPr id="36" name="Text 28"/>
          <p:cNvSpPr txBox="1"/>
          <p:nvPr/>
        </p:nvSpPr>
        <p:spPr>
          <a:xfrm>
            <a:off x="8829446" y="4673498"/>
            <a:ext cx="2677363"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手作業の限界</a:t>
            </a:r>
            <a:endParaRPr lang="en-US" sz="1000" dirty="0"/>
          </a:p>
        </p:txBody>
      </p:sp>
      <p:sp>
        <p:nvSpPr>
          <p:cNvPr id="37" name="Text 29"/>
          <p:cNvSpPr txBox="1"/>
          <p:nvPr/>
        </p:nvSpPr>
        <p:spPr>
          <a:xfrm>
            <a:off x="8829446" y="4892954"/>
            <a:ext cx="2677363" cy="171907"/>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月5,000通の個別対応</a:t>
            </a:r>
            <a:endParaRPr lang="en-US" sz="900" dirty="0"/>
          </a:p>
        </p:txBody>
      </p:sp>
      <p:sp>
        <p:nvSpPr>
          <p:cNvPr id="38" name="Text 30"/>
          <p:cNvSpPr txBox="1"/>
          <p:nvPr/>
        </p:nvSpPr>
        <p:spPr>
          <a:xfrm>
            <a:off x="8840419" y="5521147"/>
            <a:ext cx="1942186" cy="381305"/>
          </a:xfrm>
          <a:prstGeom prst="rect">
            <a:avLst/>
          </a:prstGeom>
          <a:noFill/>
          <a:ln/>
        </p:spPr>
        <p:txBody>
          <a:bodyPr wrap="square" lIns="0" tIns="0" rIns="0" bIns="0" rtlCol="0" anchor="t"/>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知識がシステム外にあるため</a:t>
            </a:r>
            <a:pPr algn="ctr" indent="0" marL="0">
              <a:buNone/>
            </a:pPr>
            <a:endParaRPr lang="en-US" sz="1000" dirty="0"/>
          </a:p>
          <a:p>
            <a:pPr algn="ctr" indent="0" marL="0">
              <a:buNone/>
            </a:pPr>
            <a:r>
              <a:rPr lang="en-US" sz="1000" dirty="0">
                <a:solidFill>
                  <a:srgbClr val="6B7280"/>
                </a:solidFill>
                <a:latin typeface="Noto Sans JP" pitchFamily="34" charset="0"/>
                <a:ea typeface="Noto Sans JP" pitchFamily="34" charset="-122"/>
                <a:cs typeface="Noto Sans JP" pitchFamily="34" charset="-120"/>
              </a:rPr>
              <a:t>担当者が辞めると業務が止まる</a:t>
            </a:r>
            <a:endParaRPr lang="en-US" sz="1000" dirty="0"/>
          </a:p>
        </p:txBody>
      </p:sp>
      <p:sp>
        <p:nvSpPr>
          <p:cNvPr id="39" name="Shape 31"/>
          <p:cNvSpPr/>
          <p:nvPr/>
        </p:nvSpPr>
        <p:spPr>
          <a:xfrm>
            <a:off x="0" y="0"/>
            <a:ext cx="12191695" cy="952805"/>
          </a:xfrm>
          <a:prstGeom prst="rect">
            <a:avLst/>
          </a:prstGeom>
          <a:solidFill>
            <a:srgbClr val="FFFFFF"/>
          </a:solidFill>
          <a:ln/>
        </p:spPr>
      </p:sp>
      <p:sp>
        <p:nvSpPr>
          <p:cNvPr id="40" name="Shape 32"/>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1" name="Shape 33"/>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42" name="Text 34"/>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要因②</a:t>
            </a:r>
            <a:endParaRPr lang="en-US" sz="1800" dirty="0"/>
          </a:p>
        </p:txBody>
      </p:sp>
      <p:sp>
        <p:nvSpPr>
          <p:cNvPr id="43" name="Text 35"/>
          <p:cNvSpPr txBox="1"/>
          <p:nvPr/>
        </p:nvSpPr>
        <p:spPr>
          <a:xfrm>
            <a:off x="1752905" y="286207"/>
            <a:ext cx="6601054"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現場で起きている事実（知識と操作の未分離）</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6678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781251"/>
          </a:xfrm>
          <a:prstGeom prst="roundRect">
            <a:avLst>
              <a:gd name="adj" fmla="val 101859"/>
            </a:avLst>
          </a:prstGeom>
          <a:solidFill>
            <a:srgbClr val="3B82F6"/>
          </a:solidFill>
          <a:ln w="12700">
            <a:solidFill>
              <a:srgbClr val="3B82F6">
                <a:alpha val="0"/>
              </a:srgbClr>
            </a:solidFill>
            <a:prstDash val="solid"/>
          </a:ln>
        </p:spPr>
      </p:sp>
      <p:sp>
        <p:nvSpPr>
          <p:cNvPr id="7" name="Shape 5"/>
          <p:cNvSpPr/>
          <p:nvPr/>
        </p:nvSpPr>
        <p:spPr>
          <a:xfrm>
            <a:off x="933602" y="1561795"/>
            <a:ext cx="381305" cy="381305"/>
          </a:xfrm>
          <a:prstGeom prst="ellipse">
            <a:avLst/>
          </a:prstGeom>
          <a:solidFill>
            <a:srgbClr val="DBEAFE"/>
          </a:solidFill>
          <a:ln w="12700">
            <a:solidFill>
              <a:srgbClr val="FFFFFF">
                <a:alpha val="0"/>
              </a:srgbClr>
            </a:solidFill>
            <a:prstDash val="solid"/>
          </a:ln>
        </p:spPr>
      </p:sp>
      <p:pic>
        <p:nvPicPr>
          <p:cNvPr id="8" name="Image 0" descr="preencoded.png">    </p:cNvPr>
          <p:cNvPicPr>
            <a:picLocks noChangeAspect="1"/>
          </p:cNvPicPr>
          <p:nvPr/>
        </p:nvPicPr>
        <p:blipFill>
          <a:blip r:embed="rId1"/>
          <a:srcRect l="-80" r="-80" t="0" b="0"/>
          <a:stretch/>
        </p:blipFill>
        <p:spPr>
          <a:xfrm>
            <a:off x="981151" y="1638605"/>
            <a:ext cx="286207" cy="228600"/>
          </a:xfrm>
          <a:prstGeom prst="rect">
            <a:avLst/>
          </a:prstGeom>
        </p:spPr>
      </p:pic>
      <p:sp>
        <p:nvSpPr>
          <p:cNvPr id="9" name="Text 6"/>
          <p:cNvSpPr txBox="1"/>
          <p:nvPr/>
        </p:nvSpPr>
        <p:spPr>
          <a:xfrm>
            <a:off x="1466698" y="1595628"/>
            <a:ext cx="1594714"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本来の業務の姿</a:t>
            </a:r>
            <a:endParaRPr lang="en-US" sz="1600" dirty="0"/>
          </a:p>
        </p:txBody>
      </p:sp>
      <p:sp>
        <p:nvSpPr>
          <p:cNvPr id="10" name="Text 7"/>
          <p:cNvSpPr txBox="1"/>
          <p:nvPr/>
        </p:nvSpPr>
        <p:spPr>
          <a:xfrm>
            <a:off x="933602" y="2057400"/>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業務は「依頼者（Customer）」が明確な要件で依頼を出し、「実行者（Performer）」がそれを遂行し検収するという</a:t>
            </a:r>
            <a:pPr algn="l" indent="0" marL="0">
              <a:buNone/>
            </a:pPr>
            <a:r>
              <a:rPr lang="en-US" sz="1300" b="1" dirty="0">
                <a:solidFill>
                  <a:srgbClr val="111827"/>
                </a:solidFill>
                <a:latin typeface="Noto Sans JP" pitchFamily="34" charset="0"/>
                <a:ea typeface="Noto Sans JP" pitchFamily="34" charset="-122"/>
                <a:cs typeface="Noto Sans JP" pitchFamily="34" charset="-120"/>
              </a:rPr>
              <a:t>「約束と実行」の連鎖</a:t>
            </a:r>
            <a:pPr algn="l" indent="0" marL="0">
              <a:buNone/>
            </a:pPr>
            <a:r>
              <a:rPr lang="en-US" sz="1300" dirty="0">
                <a:solidFill>
                  <a:srgbClr val="4B5563"/>
                </a:solidFill>
                <a:latin typeface="Noto Sans JP" pitchFamily="34" charset="0"/>
                <a:ea typeface="Noto Sans JP" pitchFamily="34" charset="-122"/>
                <a:cs typeface="Noto Sans JP" pitchFamily="34" charset="-120"/>
              </a:rPr>
              <a:t>で成り立ちます。 </a:t>
            </a:r>
            <a:endParaRPr lang="en-US" sz="1300" dirty="0"/>
          </a:p>
        </p:txBody>
      </p:sp>
      <p:sp>
        <p:nvSpPr>
          <p:cNvPr id="11" name="Shape 8"/>
          <p:cNvSpPr/>
          <p:nvPr/>
        </p:nvSpPr>
        <p:spPr>
          <a:xfrm>
            <a:off x="571500" y="3394253"/>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394253"/>
            <a:ext cx="57607" cy="1781251"/>
          </a:xfrm>
          <a:prstGeom prst="roundRect">
            <a:avLst>
              <a:gd name="adj" fmla="val 101859"/>
            </a:avLst>
          </a:prstGeom>
          <a:solidFill>
            <a:srgbClr val="EF4444"/>
          </a:solidFill>
          <a:ln w="12700">
            <a:solidFill>
              <a:srgbClr val="EF4444">
                <a:alpha val="0"/>
              </a:srgbClr>
            </a:solidFill>
            <a:prstDash val="solid"/>
          </a:ln>
        </p:spPr>
      </p:sp>
      <p:sp>
        <p:nvSpPr>
          <p:cNvPr id="13" name="Shape 10"/>
          <p:cNvSpPr/>
          <p:nvPr/>
        </p:nvSpPr>
        <p:spPr>
          <a:xfrm>
            <a:off x="933602" y="3622853"/>
            <a:ext cx="381305" cy="381305"/>
          </a:xfrm>
          <a:prstGeom prst="ellipse">
            <a:avLst/>
          </a:prstGeom>
          <a:solidFill>
            <a:srgbClr val="FEE2E2"/>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0" b="0"/>
          <a:stretch/>
        </p:blipFill>
        <p:spPr>
          <a:xfrm>
            <a:off x="1009498" y="3699662"/>
            <a:ext cx="228600" cy="228600"/>
          </a:xfrm>
          <a:prstGeom prst="rect">
            <a:avLst/>
          </a:prstGeom>
        </p:spPr>
      </p:pic>
      <p:sp>
        <p:nvSpPr>
          <p:cNvPr id="15" name="Text 11"/>
          <p:cNvSpPr txBox="1"/>
          <p:nvPr/>
        </p:nvSpPr>
        <p:spPr>
          <a:xfrm>
            <a:off x="1466698" y="3656686"/>
            <a:ext cx="1821485"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現状の構造的問題</a:t>
            </a:r>
            <a:endParaRPr lang="en-US" sz="1600" dirty="0"/>
          </a:p>
        </p:txBody>
      </p:sp>
      <p:sp>
        <p:nvSpPr>
          <p:cNvPr id="16" name="Text 12"/>
          <p:cNvSpPr txBox="1"/>
          <p:nvPr/>
        </p:nvSpPr>
        <p:spPr>
          <a:xfrm>
            <a:off x="933602" y="4118458"/>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本部・現場間、上司・部下間で、この「明確な依頼と実行」の関係性が曖昧になっています。日々の業務が</a:t>
            </a:r>
            <a:pPr algn="l" indent="0" marL="0">
              <a:buNone/>
            </a:pPr>
            <a:r>
              <a:rPr lang="en-US" sz="1300" b="1" dirty="0">
                <a:solidFill>
                  <a:srgbClr val="111827"/>
                </a:solidFill>
                <a:latin typeface="Noto Sans JP" pitchFamily="34" charset="0"/>
                <a:ea typeface="Noto Sans JP" pitchFamily="34" charset="-122"/>
                <a:cs typeface="Noto Sans JP" pitchFamily="34" charset="-120"/>
              </a:rPr>
              <a:t>担当者の裁量や「いつもの習慣」</a:t>
            </a:r>
            <a:pPr algn="l" indent="0" marL="0">
              <a:buNone/>
            </a:pPr>
            <a:r>
              <a:rPr lang="en-US" sz="1300" dirty="0">
                <a:solidFill>
                  <a:srgbClr val="4B5563"/>
                </a:solidFill>
                <a:latin typeface="Noto Sans JP" pitchFamily="34" charset="0"/>
                <a:ea typeface="Noto Sans JP" pitchFamily="34" charset="-122"/>
                <a:cs typeface="Noto Sans JP" pitchFamily="34" charset="-120"/>
              </a:rPr>
              <a:t>で進められているのが実態です。 </a:t>
            </a:r>
            <a:endParaRPr lang="en-US" sz="1300" dirty="0"/>
          </a:p>
        </p:txBody>
      </p:sp>
      <p:sp>
        <p:nvSpPr>
          <p:cNvPr id="17" name="Shape 13"/>
          <p:cNvSpPr/>
          <p:nvPr/>
        </p:nvSpPr>
        <p:spPr>
          <a:xfrm>
            <a:off x="571500" y="5455310"/>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455310"/>
            <a:ext cx="57607" cy="1781251"/>
          </a:xfrm>
          <a:prstGeom prst="roundRect">
            <a:avLst>
              <a:gd name="adj" fmla="val 101859"/>
            </a:avLst>
          </a:prstGeom>
          <a:solidFill>
            <a:srgbClr val="6B7280"/>
          </a:solidFill>
          <a:ln w="12700">
            <a:solidFill>
              <a:srgbClr val="6B7280">
                <a:alpha val="0"/>
              </a:srgbClr>
            </a:solidFill>
            <a:prstDash val="solid"/>
          </a:ln>
        </p:spPr>
      </p:sp>
      <p:sp>
        <p:nvSpPr>
          <p:cNvPr id="19" name="Shape 15"/>
          <p:cNvSpPr/>
          <p:nvPr/>
        </p:nvSpPr>
        <p:spPr>
          <a:xfrm>
            <a:off x="933602" y="5683910"/>
            <a:ext cx="381305" cy="381305"/>
          </a:xfrm>
          <a:prstGeom prst="ellipse">
            <a:avLst/>
          </a:prstGeom>
          <a:solidFill>
            <a:srgbClr val="F3F4F6"/>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80" r="-80" t="0" b="0"/>
          <a:stretch/>
        </p:blipFill>
        <p:spPr>
          <a:xfrm>
            <a:off x="981151" y="5760720"/>
            <a:ext cx="286207" cy="228600"/>
          </a:xfrm>
          <a:prstGeom prst="rect">
            <a:avLst/>
          </a:prstGeom>
        </p:spPr>
      </p:pic>
      <p:sp>
        <p:nvSpPr>
          <p:cNvPr id="21" name="Text 16"/>
          <p:cNvSpPr txBox="1"/>
          <p:nvPr/>
        </p:nvSpPr>
        <p:spPr>
          <a:xfrm>
            <a:off x="1466698" y="5717743"/>
            <a:ext cx="2274113"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帰結（組織への影響）</a:t>
            </a:r>
            <a:endParaRPr lang="en-US" sz="1600" dirty="0"/>
          </a:p>
        </p:txBody>
      </p:sp>
      <p:sp>
        <p:nvSpPr>
          <p:cNvPr id="22" name="Text 17"/>
          <p:cNvSpPr txBox="1"/>
          <p:nvPr/>
        </p:nvSpPr>
        <p:spPr>
          <a:xfrm>
            <a:off x="933602" y="617951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結果として</a:t>
            </a:r>
            <a:pPr algn="l" indent="0" marL="0">
              <a:buNone/>
            </a:pPr>
            <a:r>
              <a:rPr lang="en-US" sz="1300" b="1" dirty="0">
                <a:solidFill>
                  <a:srgbClr val="111827"/>
                </a:solidFill>
                <a:latin typeface="Noto Sans JP" pitchFamily="34" charset="0"/>
                <a:ea typeface="Noto Sans JP" pitchFamily="34" charset="-122"/>
                <a:cs typeface="Noto Sans JP" pitchFamily="34" charset="-120"/>
              </a:rPr>
              <a:t>マネジメント機能が麻痺</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しています。手戻りの発生、負荷の偏在、業務のブラックボックス化など、組織としてコントロール不能な状態を招いています。 </a:t>
            </a:r>
            <a:endParaRPr lang="en-US" sz="1300" dirty="0"/>
          </a:p>
        </p:txBody>
      </p:sp>
      <p:sp>
        <p:nvSpPr>
          <p:cNvPr id="23" name="Shape 18"/>
          <p:cNvSpPr/>
          <p:nvPr/>
        </p:nvSpPr>
        <p:spPr>
          <a:xfrm>
            <a:off x="8572500" y="2739542"/>
            <a:ext cx="2476195" cy="2476195"/>
          </a:xfrm>
          <a:prstGeom prst="ellipse">
            <a:avLst/>
          </a:prstGeom>
          <a:noFill/>
          <a:ln w="50800">
            <a:solidFill>
              <a:srgbClr val="CBD5E1"/>
            </a:solidFill>
            <a:prstDash val="solid"/>
          </a:ln>
        </p:spPr>
      </p:sp>
      <p:pic>
        <p:nvPicPr>
          <p:cNvPr id="24" name="Image 3" descr="preencoded.png">    </p:cNvPr>
          <p:cNvPicPr>
            <a:picLocks noChangeAspect="1"/>
          </p:cNvPicPr>
          <p:nvPr/>
        </p:nvPicPr>
        <p:blipFill>
          <a:blip r:embed="rId4">
            <a:alphaModFix amt="80000"/>
          </a:blip>
          <a:srcRect l="-688" r="-688" t="0" b="0"/>
          <a:stretch/>
        </p:blipFill>
        <p:spPr>
          <a:xfrm>
            <a:off x="9629546" y="3691433"/>
            <a:ext cx="362102" cy="571500"/>
          </a:xfrm>
          <a:prstGeom prst="rect">
            <a:avLst/>
          </a:prstGeom>
        </p:spPr>
      </p:pic>
      <p:sp>
        <p:nvSpPr>
          <p:cNvPr id="25" name="Text 19"/>
          <p:cNvSpPr txBox="1"/>
          <p:nvPr/>
        </p:nvSpPr>
        <p:spPr>
          <a:xfrm>
            <a:off x="9182405" y="2634386"/>
            <a:ext cx="1324051" cy="324612"/>
          </a:xfrm>
          <a:prstGeom prst="rect">
            <a:avLst/>
          </a:prstGeom>
          <a:solidFill>
            <a:srgbClr val="FFFFFF"/>
          </a:solidFill>
          <a:ln>
            <a:solidFill>
              <a:srgbClr val="FFFFFF">
                <a:alpha val="0"/>
              </a:srgbClr>
            </a:solidFill>
          </a:ln>
        </p:spPr>
        <p:txBody>
          <a:bodyPr wrap="square" lIns="0" tIns="0" rIns="0" bIns="0" rtlCol="0" anchor="t"/>
          <a:lstStyle/>
          <a:p>
            <a:pPr algn="l" indent="0" marL="0">
              <a:buNone/>
            </a:pPr>
            <a:r>
              <a:rPr lang="en-US" sz="1200" b="1" dirty="0">
                <a:solidFill>
                  <a:srgbClr val="EF4444"/>
                </a:solidFill>
                <a:latin typeface="Noto Sans JP" pitchFamily="34" charset="0"/>
                <a:ea typeface="Noto Sans JP" pitchFamily="34" charset="-122"/>
                <a:cs typeface="Noto Sans JP" pitchFamily="34" charset="-120"/>
              </a:rPr>
              <a:t>関係性の希薄化</a:t>
            </a:r>
            <a:endParaRPr lang="en-US" sz="1200" dirty="0"/>
          </a:p>
        </p:txBody>
      </p:sp>
      <p:sp>
        <p:nvSpPr>
          <p:cNvPr id="26" name="Shape 20"/>
          <p:cNvSpPr/>
          <p:nvPr/>
        </p:nvSpPr>
        <p:spPr>
          <a:xfrm>
            <a:off x="7763256" y="3596335"/>
            <a:ext cx="523951" cy="761695"/>
          </a:xfrm>
          <a:prstGeom prst="roundRect">
            <a:avLst>
              <a:gd name="adj" fmla="val 87260"/>
            </a:avLst>
          </a:prstGeom>
          <a:solidFill>
            <a:srgbClr val="FFFFFF"/>
          </a:solidFill>
          <a:ln w="12700">
            <a:solidFill>
              <a:srgbClr val="FFFFFF">
                <a:alpha val="0"/>
              </a:srgbClr>
            </a:solidFill>
            <a:prstDash val="solid"/>
          </a:ln>
        </p:spPr>
      </p:sp>
      <p:pic>
        <p:nvPicPr>
          <p:cNvPr id="27" name="Image 4" descr="preencoded.png">    </p:cNvPr>
          <p:cNvPicPr>
            <a:picLocks noChangeAspect="1"/>
          </p:cNvPicPr>
          <p:nvPr/>
        </p:nvPicPr>
        <p:blipFill>
          <a:blip r:embed="rId5"/>
          <a:srcRect l="-17" r="-17" t="0" b="0"/>
          <a:stretch/>
        </p:blipFill>
        <p:spPr>
          <a:xfrm>
            <a:off x="7858354" y="3805733"/>
            <a:ext cx="333756" cy="381305"/>
          </a:xfrm>
          <a:prstGeom prst="rect">
            <a:avLst/>
          </a:prstGeom>
        </p:spPr>
      </p:pic>
      <p:sp>
        <p:nvSpPr>
          <p:cNvPr id="28" name="Text 21"/>
          <p:cNvSpPr txBox="1"/>
          <p:nvPr/>
        </p:nvSpPr>
        <p:spPr>
          <a:xfrm>
            <a:off x="7715707" y="3406140"/>
            <a:ext cx="476402" cy="200254"/>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依頼者</a:t>
            </a:r>
            <a:endParaRPr lang="en-US" sz="1000" dirty="0"/>
          </a:p>
        </p:txBody>
      </p:sp>
      <p:sp>
        <p:nvSpPr>
          <p:cNvPr id="29" name="Shape 22"/>
          <p:cNvSpPr/>
          <p:nvPr/>
        </p:nvSpPr>
        <p:spPr>
          <a:xfrm>
            <a:off x="11192256" y="3596335"/>
            <a:ext cx="666598" cy="761695"/>
          </a:xfrm>
          <a:prstGeom prst="roundRect">
            <a:avLst>
              <a:gd name="adj" fmla="val 68587"/>
            </a:avLst>
          </a:prstGeom>
          <a:solidFill>
            <a:srgbClr val="FFFFFF"/>
          </a:solidFill>
          <a:ln w="12700">
            <a:solidFill>
              <a:srgbClr val="FFFFFF">
                <a:alpha val="0"/>
              </a:srgbClr>
            </a:solidFill>
            <a:prstDash val="solid"/>
          </a:ln>
        </p:spPr>
      </p:sp>
      <p:pic>
        <p:nvPicPr>
          <p:cNvPr id="30" name="Image 5" descr="preencoded.png">    </p:cNvPr>
          <p:cNvPicPr>
            <a:picLocks noChangeAspect="1"/>
          </p:cNvPicPr>
          <p:nvPr/>
        </p:nvPicPr>
        <p:blipFill>
          <a:blip r:embed="rId6"/>
          <a:srcRect l="0" r="0" t="-24" b="-24"/>
          <a:stretch/>
        </p:blipFill>
        <p:spPr>
          <a:xfrm>
            <a:off x="11287354" y="3805733"/>
            <a:ext cx="476402" cy="381305"/>
          </a:xfrm>
          <a:prstGeom prst="rect">
            <a:avLst/>
          </a:prstGeom>
        </p:spPr>
      </p:pic>
      <p:sp>
        <p:nvSpPr>
          <p:cNvPr id="31" name="Text 23"/>
          <p:cNvSpPr txBox="1"/>
          <p:nvPr/>
        </p:nvSpPr>
        <p:spPr>
          <a:xfrm>
            <a:off x="11505895" y="3406140"/>
            <a:ext cx="476402" cy="200254"/>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実行者</a:t>
            </a:r>
            <a:endParaRPr lang="en-US" sz="1000" dirty="0"/>
          </a:p>
        </p:txBody>
      </p:sp>
      <p:sp>
        <p:nvSpPr>
          <p:cNvPr id="32" name="Text 24"/>
          <p:cNvSpPr txBox="1"/>
          <p:nvPr/>
        </p:nvSpPr>
        <p:spPr>
          <a:xfrm>
            <a:off x="8859622" y="6035040"/>
            <a:ext cx="1912010" cy="457200"/>
          </a:xfrm>
          <a:prstGeom prst="rect">
            <a:avLst/>
          </a:prstGeom>
          <a:noFill/>
          <a:ln/>
        </p:spPr>
        <p:txBody>
          <a:bodyPr wrap="square" lIns="0" tIns="0" rIns="0" bIns="0" rtlCol="0" anchor="t"/>
          <a:lstStyle/>
          <a:p>
            <a:pPr algn="ctr" indent="0" marL="0">
              <a:buNone/>
            </a:pPr>
            <a:r>
              <a:rPr lang="en-US" sz="1200" b="1" dirty="0">
                <a:solidFill>
                  <a:srgbClr val="6B7280"/>
                </a:solidFill>
                <a:latin typeface="Noto Sans JP" pitchFamily="34" charset="0"/>
                <a:ea typeface="Noto Sans JP" pitchFamily="34" charset="-122"/>
                <a:cs typeface="Noto Sans JP" pitchFamily="34" charset="-120"/>
              </a:rPr>
              <a:t>誰が・何を・いつまでに？</a:t>
            </a:r>
            <a:pPr algn="ctr" indent="0" marL="0">
              <a:buNone/>
            </a:pPr>
            <a:endParaRPr lang="en-US" sz="1200" dirty="0"/>
          </a:p>
          <a:p>
            <a:pPr algn="ctr" indent="0" marL="0">
              <a:buNone/>
            </a:pPr>
            <a:r>
              <a:rPr lang="en-US" sz="1200" b="1" dirty="0">
                <a:solidFill>
                  <a:srgbClr val="6B7280"/>
                </a:solidFill>
                <a:latin typeface="Noto Sans JP" pitchFamily="34" charset="0"/>
                <a:ea typeface="Noto Sans JP" pitchFamily="34" charset="-122"/>
                <a:cs typeface="Noto Sans JP" pitchFamily="34" charset="-120"/>
              </a:rPr>
              <a:t>曖昧なまま進む業務</a:t>
            </a:r>
            <a:endParaRPr lang="en-US" sz="1200" dirty="0"/>
          </a:p>
        </p:txBody>
      </p:sp>
      <p:sp>
        <p:nvSpPr>
          <p:cNvPr id="33" name="Shape 25"/>
          <p:cNvSpPr/>
          <p:nvPr/>
        </p:nvSpPr>
        <p:spPr>
          <a:xfrm>
            <a:off x="0" y="0"/>
            <a:ext cx="12191695" cy="952805"/>
          </a:xfrm>
          <a:prstGeom prst="rect">
            <a:avLst/>
          </a:prstGeom>
          <a:solidFill>
            <a:srgbClr val="FFFFFF"/>
          </a:solidFill>
          <a:ln/>
        </p:spPr>
      </p:sp>
      <p:sp>
        <p:nvSpPr>
          <p:cNvPr id="34" name="Shape 26"/>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35" name="Shape 27"/>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36" name="Text 28"/>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要因③</a:t>
            </a:r>
            <a:endParaRPr lang="en-US" sz="1800" dirty="0"/>
          </a:p>
        </p:txBody>
      </p:sp>
      <p:sp>
        <p:nvSpPr>
          <p:cNvPr id="37" name="Text 29"/>
          <p:cNvSpPr txBox="1"/>
          <p:nvPr/>
        </p:nvSpPr>
        <p:spPr>
          <a:xfrm>
            <a:off x="1752905" y="286207"/>
            <a:ext cx="5686654"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情報の分断と「依頼と実行」関係の不全</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952805"/>
          </a:xfrm>
          <a:prstGeom prst="rect">
            <a:avLst/>
          </a:prstGeom>
          <a:solidFill>
            <a:srgbClr val="FFFFFF"/>
          </a:solidFill>
          <a:ln/>
        </p:spPr>
      </p:sp>
      <p:sp>
        <p:nvSpPr>
          <p:cNvPr id="5" name="Shape 3"/>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6" name="Shape 4"/>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7" name="Text 5"/>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要因③</a:t>
            </a:r>
            <a:endParaRPr lang="en-US" sz="1800" dirty="0"/>
          </a:p>
        </p:txBody>
      </p:sp>
      <p:sp>
        <p:nvSpPr>
          <p:cNvPr id="8" name="Text 6"/>
          <p:cNvSpPr txBox="1"/>
          <p:nvPr/>
        </p:nvSpPr>
        <p:spPr>
          <a:xfrm>
            <a:off x="1752905" y="286207"/>
            <a:ext cx="3419856"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7つのマネジメント不全</a:t>
            </a:r>
            <a:endParaRPr lang="en-US" sz="2400" dirty="0"/>
          </a:p>
        </p:txBody>
      </p:sp>
      <p:sp>
        <p:nvSpPr>
          <p:cNvPr id="9" name="Shape 7"/>
          <p:cNvSpPr/>
          <p:nvPr/>
        </p:nvSpPr>
        <p:spPr>
          <a:xfrm>
            <a:off x="0" y="952805"/>
            <a:ext cx="12191695" cy="6048756"/>
          </a:xfrm>
          <a:prstGeom prst="rect">
            <a:avLst/>
          </a:prstGeom>
          <a:solidFill>
            <a:srgbClr val="F9FAFB"/>
          </a:solidFill>
          <a:ln w="12700">
            <a:solidFill>
              <a:srgbClr val="FFFFFF">
                <a:alpha val="0"/>
              </a:srgbClr>
            </a:solidFill>
            <a:prstDash val="solid"/>
          </a:ln>
        </p:spPr>
      </p:sp>
      <p:sp>
        <p:nvSpPr>
          <p:cNvPr id="10" name="Shape 8"/>
          <p:cNvSpPr/>
          <p:nvPr/>
        </p:nvSpPr>
        <p:spPr>
          <a:xfrm>
            <a:off x="571500" y="1333195"/>
            <a:ext cx="5333695" cy="1133856"/>
          </a:xfrm>
          <a:prstGeom prst="roundRect">
            <a:avLst>
              <a:gd name="adj" fmla="val 6777"/>
            </a:avLst>
          </a:prstGeom>
          <a:solidFill>
            <a:srgbClr val="FFFFFF"/>
          </a:solidFill>
          <a:ln/>
        </p:spPr>
      </p:sp>
      <p:sp>
        <p:nvSpPr>
          <p:cNvPr id="11" name="Shape 9"/>
          <p:cNvSpPr/>
          <p:nvPr/>
        </p:nvSpPr>
        <p:spPr>
          <a:xfrm>
            <a:off x="571500" y="1333195"/>
            <a:ext cx="47549" cy="1133856"/>
          </a:xfrm>
          <a:prstGeom prst="roundRect">
            <a:avLst>
              <a:gd name="adj" fmla="val 161602"/>
            </a:avLst>
          </a:prstGeom>
          <a:solidFill>
            <a:srgbClr val="F97316"/>
          </a:solidFill>
          <a:ln w="12700">
            <a:solidFill>
              <a:srgbClr val="F97316">
                <a:alpha val="0"/>
              </a:srgbClr>
            </a:solidFill>
            <a:prstDash val="solid"/>
          </a:ln>
        </p:spPr>
      </p:sp>
      <p:sp>
        <p:nvSpPr>
          <p:cNvPr id="12" name="Text 10"/>
          <p:cNvSpPr txBox="1"/>
          <p:nvPr/>
        </p:nvSpPr>
        <p:spPr>
          <a:xfrm>
            <a:off x="771754" y="1543507"/>
            <a:ext cx="457200" cy="381305"/>
          </a:xfrm>
          <a:prstGeom prst="rect">
            <a:avLst/>
          </a:prstGeom>
          <a:solidFill>
            <a:srgbClr val="FFF7ED"/>
          </a:solidFill>
          <a:ln w="12700">
            <a:solidFill>
              <a:srgbClr val="FED7AA"/>
            </a:solidFill>
          </a:ln>
        </p:spPr>
        <p:txBody>
          <a:bodyPr wrap="square" lIns="0" tIns="0" rIns="0" bIns="0" rtlCol="0" anchor="ctr"/>
          <a:lstStyle/>
          <a:p>
            <a:pPr algn="ctr" indent="0" marL="0">
              <a:buNone/>
            </a:pPr>
            <a:r>
              <a:rPr lang="en-US" sz="1500" b="1" dirty="0">
                <a:solidFill>
                  <a:srgbClr val="F97316"/>
                </a:solidFill>
                <a:latin typeface="Noto Sans JP" pitchFamily="34" charset="0"/>
                <a:ea typeface="Noto Sans JP" pitchFamily="34" charset="-122"/>
                <a:cs typeface="Noto Sans JP" pitchFamily="34" charset="-120"/>
              </a:rPr>
              <a:t>1</a:t>
            </a:r>
            <a:endParaRPr lang="en-US" sz="1500" dirty="0"/>
          </a:p>
        </p:txBody>
      </p:sp>
      <p:sp>
        <p:nvSpPr>
          <p:cNvPr id="13" name="Text 11"/>
          <p:cNvSpPr txBox="1"/>
          <p:nvPr/>
        </p:nvSpPr>
        <p:spPr>
          <a:xfrm>
            <a:off x="1343254" y="1524305"/>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作業量のブラックボックス化</a:t>
            </a:r>
            <a:endParaRPr lang="en-US" sz="1500" dirty="0"/>
          </a:p>
        </p:txBody>
      </p:sp>
      <p:sp>
        <p:nvSpPr>
          <p:cNvPr id="14" name="Text 12"/>
          <p:cNvSpPr txBox="1"/>
          <p:nvPr/>
        </p:nvSpPr>
        <p:spPr>
          <a:xfrm>
            <a:off x="1343254" y="1848002"/>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「誰が・今・どれだけの仕事」を抱えているか見えない。適切な負荷分散が不可。</a:t>
            </a:r>
            <a:endParaRPr lang="en-US" sz="1200" dirty="0"/>
          </a:p>
        </p:txBody>
      </p:sp>
      <p:sp>
        <p:nvSpPr>
          <p:cNvPr id="15" name="Shape 13"/>
          <p:cNvSpPr/>
          <p:nvPr/>
        </p:nvSpPr>
        <p:spPr>
          <a:xfrm>
            <a:off x="571500" y="2655418"/>
            <a:ext cx="5333695" cy="1133856"/>
          </a:xfrm>
          <a:prstGeom prst="roundRect">
            <a:avLst>
              <a:gd name="adj" fmla="val 6777"/>
            </a:avLst>
          </a:prstGeom>
          <a:solidFill>
            <a:srgbClr val="FFFFFF"/>
          </a:solidFill>
          <a:ln/>
        </p:spPr>
      </p:sp>
      <p:sp>
        <p:nvSpPr>
          <p:cNvPr id="16" name="Shape 14"/>
          <p:cNvSpPr/>
          <p:nvPr/>
        </p:nvSpPr>
        <p:spPr>
          <a:xfrm>
            <a:off x="571500" y="2655418"/>
            <a:ext cx="47549" cy="1133856"/>
          </a:xfrm>
          <a:prstGeom prst="roundRect">
            <a:avLst>
              <a:gd name="adj" fmla="val 161602"/>
            </a:avLst>
          </a:prstGeom>
          <a:solidFill>
            <a:srgbClr val="F97316"/>
          </a:solidFill>
          <a:ln w="12700">
            <a:solidFill>
              <a:srgbClr val="F97316">
                <a:alpha val="0"/>
              </a:srgbClr>
            </a:solidFill>
            <a:prstDash val="solid"/>
          </a:ln>
        </p:spPr>
      </p:sp>
      <p:sp>
        <p:nvSpPr>
          <p:cNvPr id="17" name="Text 15"/>
          <p:cNvSpPr txBox="1"/>
          <p:nvPr/>
        </p:nvSpPr>
        <p:spPr>
          <a:xfrm>
            <a:off x="771754" y="2864815"/>
            <a:ext cx="457200" cy="381305"/>
          </a:xfrm>
          <a:prstGeom prst="rect">
            <a:avLst/>
          </a:prstGeom>
          <a:solidFill>
            <a:srgbClr val="FFF7ED"/>
          </a:solidFill>
          <a:ln w="12700">
            <a:solidFill>
              <a:srgbClr val="FED7AA"/>
            </a:solidFill>
          </a:ln>
        </p:spPr>
        <p:txBody>
          <a:bodyPr wrap="square" lIns="0" tIns="0" rIns="0" bIns="0" rtlCol="0" anchor="ctr"/>
          <a:lstStyle/>
          <a:p>
            <a:pPr algn="ctr" indent="0" marL="0">
              <a:buNone/>
            </a:pPr>
            <a:r>
              <a:rPr lang="en-US" sz="1500" b="1" dirty="0">
                <a:solidFill>
                  <a:srgbClr val="F97316"/>
                </a:solidFill>
                <a:latin typeface="Noto Sans JP" pitchFamily="34" charset="0"/>
                <a:ea typeface="Noto Sans JP" pitchFamily="34" charset="-122"/>
                <a:cs typeface="Noto Sans JP" pitchFamily="34" charset="-120"/>
              </a:rPr>
              <a:t>2</a:t>
            </a:r>
            <a:endParaRPr lang="en-US" sz="1500" dirty="0"/>
          </a:p>
        </p:txBody>
      </p:sp>
      <p:sp>
        <p:nvSpPr>
          <p:cNvPr id="18" name="Text 16"/>
          <p:cNvSpPr txBox="1"/>
          <p:nvPr/>
        </p:nvSpPr>
        <p:spPr>
          <a:xfrm>
            <a:off x="1343254" y="2846527"/>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未来予測の欠如</a:t>
            </a:r>
            <a:endParaRPr lang="en-US" sz="1500" dirty="0"/>
          </a:p>
        </p:txBody>
      </p:sp>
      <p:sp>
        <p:nvSpPr>
          <p:cNvPr id="19" name="Text 17"/>
          <p:cNvSpPr txBox="1"/>
          <p:nvPr/>
        </p:nvSpPr>
        <p:spPr>
          <a:xfrm>
            <a:off x="1343254" y="3170225"/>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「来週どうなるか」「月末の着地見込み」が見えず、行き当たりばったりになる。</a:t>
            </a:r>
            <a:endParaRPr lang="en-US" sz="1200" dirty="0"/>
          </a:p>
        </p:txBody>
      </p:sp>
      <p:sp>
        <p:nvSpPr>
          <p:cNvPr id="20" name="Shape 18"/>
          <p:cNvSpPr/>
          <p:nvPr/>
        </p:nvSpPr>
        <p:spPr>
          <a:xfrm>
            <a:off x="571500" y="3977640"/>
            <a:ext cx="5333695" cy="1133856"/>
          </a:xfrm>
          <a:prstGeom prst="roundRect">
            <a:avLst>
              <a:gd name="adj" fmla="val 6777"/>
            </a:avLst>
          </a:prstGeom>
          <a:solidFill>
            <a:srgbClr val="FFFFFF"/>
          </a:solidFill>
          <a:ln/>
        </p:spPr>
      </p:sp>
      <p:sp>
        <p:nvSpPr>
          <p:cNvPr id="21" name="Shape 19"/>
          <p:cNvSpPr/>
          <p:nvPr/>
        </p:nvSpPr>
        <p:spPr>
          <a:xfrm>
            <a:off x="571500" y="3977640"/>
            <a:ext cx="47549" cy="1133856"/>
          </a:xfrm>
          <a:prstGeom prst="roundRect">
            <a:avLst>
              <a:gd name="adj" fmla="val 161602"/>
            </a:avLst>
          </a:prstGeom>
          <a:solidFill>
            <a:srgbClr val="F97316"/>
          </a:solidFill>
          <a:ln w="12700">
            <a:solidFill>
              <a:srgbClr val="F97316">
                <a:alpha val="0"/>
              </a:srgbClr>
            </a:solidFill>
            <a:prstDash val="solid"/>
          </a:ln>
        </p:spPr>
      </p:sp>
      <p:sp>
        <p:nvSpPr>
          <p:cNvPr id="22" name="Text 20"/>
          <p:cNvSpPr txBox="1"/>
          <p:nvPr/>
        </p:nvSpPr>
        <p:spPr>
          <a:xfrm>
            <a:off x="771754" y="4187038"/>
            <a:ext cx="457200" cy="381305"/>
          </a:xfrm>
          <a:prstGeom prst="rect">
            <a:avLst/>
          </a:prstGeom>
          <a:solidFill>
            <a:srgbClr val="FFF7ED"/>
          </a:solidFill>
          <a:ln w="12700">
            <a:solidFill>
              <a:srgbClr val="FED7AA"/>
            </a:solidFill>
          </a:ln>
        </p:spPr>
        <p:txBody>
          <a:bodyPr wrap="square" lIns="0" tIns="0" rIns="0" bIns="0" rtlCol="0" anchor="ctr"/>
          <a:lstStyle/>
          <a:p>
            <a:pPr algn="ctr" indent="0" marL="0">
              <a:buNone/>
            </a:pPr>
            <a:r>
              <a:rPr lang="en-US" sz="1500" b="1" dirty="0">
                <a:solidFill>
                  <a:srgbClr val="F97316"/>
                </a:solidFill>
                <a:latin typeface="Noto Sans JP" pitchFamily="34" charset="0"/>
                <a:ea typeface="Noto Sans JP" pitchFamily="34" charset="-122"/>
                <a:cs typeface="Noto Sans JP" pitchFamily="34" charset="-120"/>
              </a:rPr>
              <a:t>3</a:t>
            </a:r>
            <a:endParaRPr lang="en-US" sz="1500" dirty="0"/>
          </a:p>
        </p:txBody>
      </p:sp>
      <p:sp>
        <p:nvSpPr>
          <p:cNvPr id="23" name="Text 21"/>
          <p:cNvSpPr txBox="1"/>
          <p:nvPr/>
        </p:nvSpPr>
        <p:spPr>
          <a:xfrm>
            <a:off x="1343254" y="4168750"/>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手戻りの常態化</a:t>
            </a:r>
            <a:endParaRPr lang="en-US" sz="1500" dirty="0"/>
          </a:p>
        </p:txBody>
      </p:sp>
      <p:sp>
        <p:nvSpPr>
          <p:cNvPr id="24" name="Text 22"/>
          <p:cNvSpPr txBox="1"/>
          <p:nvPr/>
        </p:nvSpPr>
        <p:spPr>
          <a:xfrm>
            <a:off x="1343254" y="4492447"/>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要件が曖昧なまま作業が始まり、後工程での確認・修正が頻発する。</a:t>
            </a:r>
            <a:endParaRPr lang="en-US" sz="1200" dirty="0"/>
          </a:p>
        </p:txBody>
      </p:sp>
      <p:sp>
        <p:nvSpPr>
          <p:cNvPr id="25" name="Shape 23"/>
          <p:cNvSpPr/>
          <p:nvPr/>
        </p:nvSpPr>
        <p:spPr>
          <a:xfrm>
            <a:off x="571500" y="5299862"/>
            <a:ext cx="5333695" cy="1133856"/>
          </a:xfrm>
          <a:prstGeom prst="roundRect">
            <a:avLst>
              <a:gd name="adj" fmla="val 6777"/>
            </a:avLst>
          </a:prstGeom>
          <a:solidFill>
            <a:srgbClr val="FFFFFF"/>
          </a:solidFill>
          <a:ln/>
        </p:spPr>
      </p:sp>
      <p:sp>
        <p:nvSpPr>
          <p:cNvPr id="26" name="Shape 24"/>
          <p:cNvSpPr/>
          <p:nvPr/>
        </p:nvSpPr>
        <p:spPr>
          <a:xfrm>
            <a:off x="571500" y="5299862"/>
            <a:ext cx="47549" cy="1133856"/>
          </a:xfrm>
          <a:prstGeom prst="roundRect">
            <a:avLst>
              <a:gd name="adj" fmla="val 161602"/>
            </a:avLst>
          </a:prstGeom>
          <a:solidFill>
            <a:srgbClr val="F97316"/>
          </a:solidFill>
          <a:ln w="12700">
            <a:solidFill>
              <a:srgbClr val="F97316">
                <a:alpha val="0"/>
              </a:srgbClr>
            </a:solidFill>
            <a:prstDash val="solid"/>
          </a:ln>
        </p:spPr>
      </p:sp>
      <p:sp>
        <p:nvSpPr>
          <p:cNvPr id="27" name="Text 25"/>
          <p:cNvSpPr txBox="1"/>
          <p:nvPr/>
        </p:nvSpPr>
        <p:spPr>
          <a:xfrm>
            <a:off x="771754" y="5509260"/>
            <a:ext cx="457200" cy="381305"/>
          </a:xfrm>
          <a:prstGeom prst="rect">
            <a:avLst/>
          </a:prstGeom>
          <a:solidFill>
            <a:srgbClr val="FFF7ED"/>
          </a:solidFill>
          <a:ln w="12700">
            <a:solidFill>
              <a:srgbClr val="FED7AA"/>
            </a:solidFill>
          </a:ln>
        </p:spPr>
        <p:txBody>
          <a:bodyPr wrap="square" lIns="0" tIns="0" rIns="0" bIns="0" rtlCol="0" anchor="ctr"/>
          <a:lstStyle/>
          <a:p>
            <a:pPr algn="ctr" indent="0" marL="0">
              <a:buNone/>
            </a:pPr>
            <a:r>
              <a:rPr lang="en-US" sz="1500" b="1" dirty="0">
                <a:solidFill>
                  <a:srgbClr val="F97316"/>
                </a:solidFill>
                <a:latin typeface="Noto Sans JP" pitchFamily="34" charset="0"/>
                <a:ea typeface="Noto Sans JP" pitchFamily="34" charset="-122"/>
                <a:cs typeface="Noto Sans JP" pitchFamily="34" charset="-120"/>
              </a:rPr>
              <a:t>4</a:t>
            </a:r>
            <a:endParaRPr lang="en-US" sz="1500" dirty="0"/>
          </a:p>
        </p:txBody>
      </p:sp>
      <p:sp>
        <p:nvSpPr>
          <p:cNvPr id="28" name="Text 26"/>
          <p:cNvSpPr txBox="1"/>
          <p:nvPr/>
        </p:nvSpPr>
        <p:spPr>
          <a:xfrm>
            <a:off x="1343254" y="5490972"/>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優先順位の形骸化</a:t>
            </a:r>
            <a:endParaRPr lang="en-US" sz="1500" dirty="0"/>
          </a:p>
        </p:txBody>
      </p:sp>
      <p:sp>
        <p:nvSpPr>
          <p:cNvPr id="29" name="Text 27"/>
          <p:cNvSpPr txBox="1"/>
          <p:nvPr/>
        </p:nvSpPr>
        <p:spPr>
          <a:xfrm>
            <a:off x="1343254" y="5814670"/>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組織的優先度ではなく、「声の大きい人の依頼」や「関係性」で着手順が決まる。</a:t>
            </a:r>
            <a:endParaRPr lang="en-US" sz="1200" dirty="0"/>
          </a:p>
        </p:txBody>
      </p:sp>
      <p:sp>
        <p:nvSpPr>
          <p:cNvPr id="30" name="Shape 28"/>
          <p:cNvSpPr/>
          <p:nvPr/>
        </p:nvSpPr>
        <p:spPr>
          <a:xfrm>
            <a:off x="6286500" y="1333195"/>
            <a:ext cx="5333695" cy="1133856"/>
          </a:xfrm>
          <a:prstGeom prst="roundRect">
            <a:avLst>
              <a:gd name="adj" fmla="val 6777"/>
            </a:avLst>
          </a:prstGeom>
          <a:solidFill>
            <a:srgbClr val="FFFFFF"/>
          </a:solidFill>
          <a:ln/>
        </p:spPr>
      </p:sp>
      <p:sp>
        <p:nvSpPr>
          <p:cNvPr id="31" name="Shape 29"/>
          <p:cNvSpPr/>
          <p:nvPr/>
        </p:nvSpPr>
        <p:spPr>
          <a:xfrm>
            <a:off x="6286500" y="1333195"/>
            <a:ext cx="47549" cy="1133856"/>
          </a:xfrm>
          <a:prstGeom prst="roundRect">
            <a:avLst>
              <a:gd name="adj" fmla="val 161602"/>
            </a:avLst>
          </a:prstGeom>
          <a:solidFill>
            <a:srgbClr val="EF4444"/>
          </a:solidFill>
          <a:ln w="12700">
            <a:solidFill>
              <a:srgbClr val="EF4444">
                <a:alpha val="0"/>
              </a:srgbClr>
            </a:solidFill>
            <a:prstDash val="solid"/>
          </a:ln>
        </p:spPr>
      </p:sp>
      <p:sp>
        <p:nvSpPr>
          <p:cNvPr id="32" name="Text 30"/>
          <p:cNvSpPr txBox="1"/>
          <p:nvPr/>
        </p:nvSpPr>
        <p:spPr>
          <a:xfrm>
            <a:off x="6486754" y="1543507"/>
            <a:ext cx="457200" cy="381305"/>
          </a:xfrm>
          <a:prstGeom prst="rect">
            <a:avLst/>
          </a:prstGeom>
          <a:solidFill>
            <a:srgbClr val="FEE2E2"/>
          </a:solidFill>
          <a:ln w="12700">
            <a:solidFill>
              <a:srgbClr val="FECACA"/>
            </a:solidFill>
          </a:ln>
        </p:spPr>
        <p:txBody>
          <a:bodyPr wrap="square" lIns="0" tIns="0" rIns="0" bIns="0" rtlCol="0" anchor="ctr"/>
          <a:lstStyle/>
          <a:p>
            <a:pPr algn="ctr" indent="0" marL="0">
              <a:buNone/>
            </a:pPr>
            <a:r>
              <a:rPr lang="en-US" sz="1500" b="1" dirty="0">
                <a:solidFill>
                  <a:srgbClr val="EF4444"/>
                </a:solidFill>
                <a:latin typeface="Noto Sans JP" pitchFamily="34" charset="0"/>
                <a:ea typeface="Noto Sans JP" pitchFamily="34" charset="-122"/>
                <a:cs typeface="Noto Sans JP" pitchFamily="34" charset="-120"/>
              </a:rPr>
              <a:t>5</a:t>
            </a:r>
            <a:endParaRPr lang="en-US" sz="1500" dirty="0"/>
          </a:p>
        </p:txBody>
      </p:sp>
      <p:sp>
        <p:nvSpPr>
          <p:cNvPr id="33" name="Text 31"/>
          <p:cNvSpPr txBox="1"/>
          <p:nvPr/>
        </p:nvSpPr>
        <p:spPr>
          <a:xfrm>
            <a:off x="7058254" y="1524305"/>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責任所在の不明確化</a:t>
            </a:r>
            <a:endParaRPr lang="en-US" sz="1500" dirty="0"/>
          </a:p>
        </p:txBody>
      </p:sp>
      <p:sp>
        <p:nvSpPr>
          <p:cNvPr id="34" name="Text 32"/>
          <p:cNvSpPr txBox="1"/>
          <p:nvPr/>
        </p:nvSpPr>
        <p:spPr>
          <a:xfrm>
            <a:off x="7058254" y="1848002"/>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「頼んだつもり」「やったつもり」の齟齬が生じ、トラブル時に原因究明が困難。</a:t>
            </a:r>
            <a:endParaRPr lang="en-US" sz="1200" dirty="0"/>
          </a:p>
        </p:txBody>
      </p:sp>
      <p:sp>
        <p:nvSpPr>
          <p:cNvPr id="35" name="Shape 33"/>
          <p:cNvSpPr/>
          <p:nvPr/>
        </p:nvSpPr>
        <p:spPr>
          <a:xfrm>
            <a:off x="6286500" y="2655418"/>
            <a:ext cx="5333695" cy="1133856"/>
          </a:xfrm>
          <a:prstGeom prst="roundRect">
            <a:avLst>
              <a:gd name="adj" fmla="val 6777"/>
            </a:avLst>
          </a:prstGeom>
          <a:solidFill>
            <a:srgbClr val="FFFFFF"/>
          </a:solidFill>
          <a:ln/>
        </p:spPr>
      </p:sp>
      <p:sp>
        <p:nvSpPr>
          <p:cNvPr id="36" name="Shape 34"/>
          <p:cNvSpPr/>
          <p:nvPr/>
        </p:nvSpPr>
        <p:spPr>
          <a:xfrm>
            <a:off x="6286500" y="2655418"/>
            <a:ext cx="47549" cy="1133856"/>
          </a:xfrm>
          <a:prstGeom prst="roundRect">
            <a:avLst>
              <a:gd name="adj" fmla="val 161602"/>
            </a:avLst>
          </a:prstGeom>
          <a:solidFill>
            <a:srgbClr val="EF4444"/>
          </a:solidFill>
          <a:ln w="12700">
            <a:solidFill>
              <a:srgbClr val="EF4444">
                <a:alpha val="0"/>
              </a:srgbClr>
            </a:solidFill>
            <a:prstDash val="solid"/>
          </a:ln>
        </p:spPr>
      </p:sp>
      <p:sp>
        <p:nvSpPr>
          <p:cNvPr id="37" name="Text 35"/>
          <p:cNvSpPr txBox="1"/>
          <p:nvPr/>
        </p:nvSpPr>
        <p:spPr>
          <a:xfrm>
            <a:off x="6486754" y="2864815"/>
            <a:ext cx="457200" cy="381305"/>
          </a:xfrm>
          <a:prstGeom prst="rect">
            <a:avLst/>
          </a:prstGeom>
          <a:solidFill>
            <a:srgbClr val="FEE2E2"/>
          </a:solidFill>
          <a:ln w="12700">
            <a:solidFill>
              <a:srgbClr val="FECACA"/>
            </a:solidFill>
          </a:ln>
        </p:spPr>
        <p:txBody>
          <a:bodyPr wrap="square" lIns="0" tIns="0" rIns="0" bIns="0" rtlCol="0" anchor="ctr"/>
          <a:lstStyle/>
          <a:p>
            <a:pPr algn="ctr" indent="0" marL="0">
              <a:buNone/>
            </a:pPr>
            <a:r>
              <a:rPr lang="en-US" sz="1500" b="1" dirty="0">
                <a:solidFill>
                  <a:srgbClr val="EF4444"/>
                </a:solidFill>
                <a:latin typeface="Noto Sans JP" pitchFamily="34" charset="0"/>
                <a:ea typeface="Noto Sans JP" pitchFamily="34" charset="-122"/>
                <a:cs typeface="Noto Sans JP" pitchFamily="34" charset="-120"/>
              </a:rPr>
              <a:t>6</a:t>
            </a:r>
            <a:endParaRPr lang="en-US" sz="1500" dirty="0"/>
          </a:p>
        </p:txBody>
      </p:sp>
      <p:sp>
        <p:nvSpPr>
          <p:cNvPr id="38" name="Text 36"/>
          <p:cNvSpPr txBox="1"/>
          <p:nvPr/>
        </p:nvSpPr>
        <p:spPr>
          <a:xfrm>
            <a:off x="7058254" y="2846527"/>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評価基準の曖昧さ</a:t>
            </a:r>
            <a:endParaRPr lang="en-US" sz="1500" dirty="0"/>
          </a:p>
        </p:txBody>
      </p:sp>
      <p:sp>
        <p:nvSpPr>
          <p:cNvPr id="39" name="Text 37"/>
          <p:cNvSpPr txBox="1"/>
          <p:nvPr/>
        </p:nvSpPr>
        <p:spPr>
          <a:xfrm>
            <a:off x="7058254" y="3170225"/>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「何を・いつまでに・どうすれば完了（合格）か」の合意なきまま進行。</a:t>
            </a:r>
            <a:endParaRPr lang="en-US" sz="1200" dirty="0"/>
          </a:p>
        </p:txBody>
      </p:sp>
      <p:sp>
        <p:nvSpPr>
          <p:cNvPr id="40" name="Shape 38"/>
          <p:cNvSpPr/>
          <p:nvPr/>
        </p:nvSpPr>
        <p:spPr>
          <a:xfrm>
            <a:off x="6286500" y="3977640"/>
            <a:ext cx="5333695" cy="1133856"/>
          </a:xfrm>
          <a:prstGeom prst="roundRect">
            <a:avLst>
              <a:gd name="adj" fmla="val 6777"/>
            </a:avLst>
          </a:prstGeom>
          <a:solidFill>
            <a:srgbClr val="FFFFFF"/>
          </a:solidFill>
          <a:ln/>
        </p:spPr>
      </p:sp>
      <p:sp>
        <p:nvSpPr>
          <p:cNvPr id="41" name="Shape 39"/>
          <p:cNvSpPr/>
          <p:nvPr/>
        </p:nvSpPr>
        <p:spPr>
          <a:xfrm>
            <a:off x="6286500" y="3977640"/>
            <a:ext cx="47549" cy="1133856"/>
          </a:xfrm>
          <a:prstGeom prst="roundRect">
            <a:avLst>
              <a:gd name="adj" fmla="val 161602"/>
            </a:avLst>
          </a:prstGeom>
          <a:solidFill>
            <a:srgbClr val="EF4444"/>
          </a:solidFill>
          <a:ln w="12700">
            <a:solidFill>
              <a:srgbClr val="EF4444">
                <a:alpha val="0"/>
              </a:srgbClr>
            </a:solidFill>
            <a:prstDash val="solid"/>
          </a:ln>
        </p:spPr>
      </p:sp>
      <p:sp>
        <p:nvSpPr>
          <p:cNvPr id="42" name="Text 40"/>
          <p:cNvSpPr txBox="1"/>
          <p:nvPr/>
        </p:nvSpPr>
        <p:spPr>
          <a:xfrm>
            <a:off x="6486754" y="4187038"/>
            <a:ext cx="457200" cy="381305"/>
          </a:xfrm>
          <a:prstGeom prst="rect">
            <a:avLst/>
          </a:prstGeom>
          <a:solidFill>
            <a:srgbClr val="FEE2E2"/>
          </a:solidFill>
          <a:ln w="12700">
            <a:solidFill>
              <a:srgbClr val="FECACA"/>
            </a:solidFill>
          </a:ln>
        </p:spPr>
        <p:txBody>
          <a:bodyPr wrap="square" lIns="0" tIns="0" rIns="0" bIns="0" rtlCol="0" anchor="ctr"/>
          <a:lstStyle/>
          <a:p>
            <a:pPr algn="ctr" indent="0" marL="0">
              <a:buNone/>
            </a:pPr>
            <a:r>
              <a:rPr lang="en-US" sz="1500" b="1" dirty="0">
                <a:solidFill>
                  <a:srgbClr val="EF4444"/>
                </a:solidFill>
                <a:latin typeface="Noto Sans JP" pitchFamily="34" charset="0"/>
                <a:ea typeface="Noto Sans JP" pitchFamily="34" charset="-122"/>
                <a:cs typeface="Noto Sans JP" pitchFamily="34" charset="-120"/>
              </a:rPr>
              <a:t>7</a:t>
            </a:r>
            <a:endParaRPr lang="en-US" sz="1500" dirty="0"/>
          </a:p>
        </p:txBody>
      </p:sp>
      <p:sp>
        <p:nvSpPr>
          <p:cNvPr id="43" name="Text 41"/>
          <p:cNvSpPr txBox="1"/>
          <p:nvPr/>
        </p:nvSpPr>
        <p:spPr>
          <a:xfrm>
            <a:off x="7058254" y="4168750"/>
            <a:ext cx="4562856"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組織学習の停滞</a:t>
            </a:r>
            <a:endParaRPr lang="en-US" sz="1500" dirty="0"/>
          </a:p>
        </p:txBody>
      </p:sp>
      <p:sp>
        <p:nvSpPr>
          <p:cNvPr id="44" name="Text 42"/>
          <p:cNvSpPr txBox="1"/>
          <p:nvPr/>
        </p:nvSpPr>
        <p:spPr>
          <a:xfrm>
            <a:off x="7058254" y="4492447"/>
            <a:ext cx="4448556"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失敗が「個人のミス」として処理され、仕組みの改善につながらない。</a:t>
            </a:r>
            <a:endParaRPr lang="en-US" sz="1200" dirty="0"/>
          </a:p>
        </p:txBody>
      </p:sp>
      <p:sp>
        <p:nvSpPr>
          <p:cNvPr id="45" name="Shape 43"/>
          <p:cNvSpPr/>
          <p:nvPr/>
        </p:nvSpPr>
        <p:spPr>
          <a:xfrm>
            <a:off x="6286500" y="5299862"/>
            <a:ext cx="5333695" cy="1324051"/>
          </a:xfrm>
          <a:prstGeom prst="roundRect">
            <a:avLst>
              <a:gd name="adj" fmla="val 3975"/>
            </a:avLst>
          </a:prstGeom>
          <a:solidFill>
            <a:srgbClr val="F3F4F6"/>
          </a:solidFill>
          <a:ln w="12700">
            <a:solidFill>
              <a:srgbClr val="D1D5DB"/>
            </a:solidFill>
            <a:prstDash val="solid"/>
          </a:ln>
        </p:spPr>
      </p:sp>
      <p:sp>
        <p:nvSpPr>
          <p:cNvPr id="46" name="Text 44"/>
          <p:cNvSpPr txBox="1"/>
          <p:nvPr/>
        </p:nvSpPr>
        <p:spPr>
          <a:xfrm>
            <a:off x="6715354" y="5500116"/>
            <a:ext cx="4896612"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補足：「風グラム」について</a:t>
            </a:r>
            <a:endParaRPr lang="en-US" sz="1200" dirty="0"/>
          </a:p>
        </p:txBody>
      </p:sp>
      <p:pic>
        <p:nvPicPr>
          <p:cNvPr id="47" name="Image 0" descr="preencoded.png">    </p:cNvPr>
          <p:cNvPicPr>
            <a:picLocks noChangeAspect="1"/>
          </p:cNvPicPr>
          <p:nvPr/>
        </p:nvPicPr>
        <p:blipFill>
          <a:blip r:embed="rId1"/>
          <a:srcRect l="0" r="0" t="0" b="0"/>
          <a:stretch/>
        </p:blipFill>
        <p:spPr>
          <a:xfrm>
            <a:off x="6486754" y="5538521"/>
            <a:ext cx="152705" cy="152705"/>
          </a:xfrm>
          <a:prstGeom prst="rect">
            <a:avLst/>
          </a:prstGeom>
        </p:spPr>
      </p:pic>
      <p:sp>
        <p:nvSpPr>
          <p:cNvPr id="48" name="Text 45"/>
          <p:cNvSpPr txBox="1"/>
          <p:nvPr/>
        </p:nvSpPr>
        <p:spPr>
          <a:xfrm>
            <a:off x="6486754" y="5776265"/>
            <a:ext cx="5010912" cy="648310"/>
          </a:xfrm>
          <a:prstGeom prst="rect">
            <a:avLst/>
          </a:prstGeom>
          <a:noFill/>
          <a:ln/>
        </p:spPr>
        <p:txBody>
          <a:bodyPr wrap="square" lIns="0" tIns="0" rIns="0" bIns="0" rtlCol="0" anchor="t"/>
          <a:lstStyle/>
          <a:p>
            <a:pPr algn="l" indent="0" marL="0">
              <a:buNone/>
            </a:pPr>
            <a:r>
              <a:rPr lang="en-US" sz="1100" dirty="0">
                <a:solidFill>
                  <a:srgbClr val="6B7280"/>
                </a:solidFill>
                <a:latin typeface="Noto Sans JP" pitchFamily="34" charset="0"/>
                <a:ea typeface="Noto Sans JP" pitchFamily="34" charset="-122"/>
                <a:cs typeface="Noto Sans JP" pitchFamily="34" charset="-120"/>
              </a:rPr>
              <a:t>貴社内で提唱されていた「風グラム（マニュアル整備）」の理念は、この関係性を正常化し規律を作るためのものでしたが、現状のアナログな管理では形骸化しています。</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590995"/>
          </a:xfrm>
          <a:prstGeom prst="rect">
            <a:avLst/>
          </a:prstGeom>
          <a:solidFill>
            <a:srgbClr val="F9FAFB"/>
          </a:solidFill>
          <a:ln w="12700">
            <a:solidFill>
              <a:srgbClr val="FFFFFF">
                <a:alpha val="0"/>
              </a:srgbClr>
            </a:solidFill>
            <a:prstDash val="solid"/>
          </a:ln>
        </p:spPr>
      </p:sp>
      <p:sp>
        <p:nvSpPr>
          <p:cNvPr id="5" name="Shape 3"/>
          <p:cNvSpPr/>
          <p:nvPr/>
        </p:nvSpPr>
        <p:spPr>
          <a:xfrm>
            <a:off x="571500" y="1238098"/>
            <a:ext cx="7334402" cy="1037844"/>
          </a:xfrm>
          <a:prstGeom prst="roundRect">
            <a:avLst>
              <a:gd name="adj" fmla="val 8083"/>
            </a:avLst>
          </a:prstGeom>
          <a:solidFill>
            <a:srgbClr val="FFFFFF"/>
          </a:solidFill>
          <a:ln/>
        </p:spPr>
      </p:sp>
      <p:sp>
        <p:nvSpPr>
          <p:cNvPr id="6" name="Shape 4"/>
          <p:cNvSpPr/>
          <p:nvPr/>
        </p:nvSpPr>
        <p:spPr>
          <a:xfrm>
            <a:off x="571500" y="1238098"/>
            <a:ext cx="47549" cy="1037844"/>
          </a:xfrm>
          <a:prstGeom prst="roundRect">
            <a:avLst>
              <a:gd name="adj" fmla="val 176428"/>
            </a:avLst>
          </a:prstGeom>
          <a:solidFill>
            <a:srgbClr val="6B7280"/>
          </a:solidFill>
          <a:ln w="12700">
            <a:solidFill>
              <a:srgbClr val="6B7280">
                <a:alpha val="0"/>
              </a:srgbClr>
            </a:solidFill>
            <a:prstDash val="solid"/>
          </a:ln>
        </p:spPr>
      </p:sp>
      <p:sp>
        <p:nvSpPr>
          <p:cNvPr id="7" name="Shape 5"/>
          <p:cNvSpPr/>
          <p:nvPr/>
        </p:nvSpPr>
        <p:spPr>
          <a:xfrm>
            <a:off x="847649" y="1410005"/>
            <a:ext cx="342900" cy="342900"/>
          </a:xfrm>
          <a:prstGeom prst="ellipse">
            <a:avLst/>
          </a:prstGeom>
          <a:solidFill>
            <a:srgbClr val="F3F4F6"/>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899770" y="1485900"/>
            <a:ext cx="237744" cy="190195"/>
          </a:xfrm>
          <a:prstGeom prst="rect">
            <a:avLst/>
          </a:prstGeom>
        </p:spPr>
      </p:pic>
      <p:sp>
        <p:nvSpPr>
          <p:cNvPr id="9" name="Text 6"/>
          <p:cNvSpPr txBox="1"/>
          <p:nvPr/>
        </p:nvSpPr>
        <p:spPr>
          <a:xfrm>
            <a:off x="1380744" y="1390802"/>
            <a:ext cx="648675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作業量のブラックボックス化（可視化不足）</a:t>
            </a:r>
            <a:endParaRPr lang="en-US" sz="1300" dirty="0"/>
          </a:p>
        </p:txBody>
      </p:sp>
      <p:sp>
        <p:nvSpPr>
          <p:cNvPr id="10" name="Text 7"/>
          <p:cNvSpPr txBox="1"/>
          <p:nvPr/>
        </p:nvSpPr>
        <p:spPr>
          <a:xfrm>
            <a:off x="1380744" y="1687982"/>
            <a:ext cx="6372454" cy="428854"/>
          </a:xfrm>
          <a:prstGeom prst="rect">
            <a:avLst/>
          </a:prstGeom>
          <a:noFill/>
          <a:ln/>
        </p:spPr>
        <p:txBody>
          <a:bodyPr wrap="square" lIns="0" tIns="0" rIns="0" bIns="0" rtlCol="0" anchor="t"/>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 「担当者しかわからない業務が多く、その人が休んだら回らない」という懸念。</a:t>
            </a:r>
            <a:pPr algn="l" indent="0" marL="0">
              <a:buNone/>
            </a:pPr>
            <a:endParaRPr lang="en-US" sz="1100" dirty="0"/>
          </a:p>
          <a:p>
            <a:pPr algn="l" indent="0" marL="0">
              <a:buNone/>
            </a:pPr>
            <a:r>
              <a:rPr lang="en-US" sz="1100" dirty="0">
                <a:solidFill>
                  <a:srgbClr val="4B5563"/>
                </a:solidFill>
                <a:latin typeface="Noto Sans JP" pitchFamily="34" charset="0"/>
                <a:ea typeface="Noto Sans JP" pitchFamily="34" charset="-122"/>
                <a:cs typeface="Noto Sans JP" pitchFamily="34" charset="-120"/>
              </a:rPr>
              <a:t> マネジメント層が状況を把握できず、</a:t>
            </a:r>
            <a:pPr algn="l" indent="0" marL="0">
              <a:buNone/>
            </a:pPr>
            <a:r>
              <a:rPr lang="en-US" sz="1100" b="1" dirty="0">
                <a:solidFill>
                  <a:srgbClr val="111827"/>
                </a:solidFill>
                <a:latin typeface="Noto Sans JP" pitchFamily="34" charset="0"/>
                <a:ea typeface="Noto Sans JP" pitchFamily="34" charset="-122"/>
                <a:cs typeface="Noto Sans JP" pitchFamily="34" charset="-120"/>
              </a:rPr>
              <a:t>個人のスキルに依存せざるを得ない</a:t>
            </a:r>
            <a:pPr algn="l" indent="0" marL="0">
              <a:buNone/>
            </a:pPr>
            <a:r>
              <a:rPr lang="en-US" sz="1100" dirty="0">
                <a:solidFill>
                  <a:srgbClr val="4B5563"/>
                </a:solidFill>
                <a:latin typeface="Noto Sans JP" pitchFamily="34" charset="0"/>
                <a:ea typeface="Noto Sans JP" pitchFamily="34" charset="-122"/>
                <a:cs typeface="Noto Sans JP" pitchFamily="34" charset="-120"/>
              </a:rPr>
              <a:t>状況。 </a:t>
            </a:r>
            <a:endParaRPr lang="en-US" sz="1100" dirty="0"/>
          </a:p>
        </p:txBody>
      </p:sp>
      <p:sp>
        <p:nvSpPr>
          <p:cNvPr id="11" name="Shape 8"/>
          <p:cNvSpPr/>
          <p:nvPr/>
        </p:nvSpPr>
        <p:spPr>
          <a:xfrm>
            <a:off x="571500" y="2459736"/>
            <a:ext cx="7334402" cy="1037844"/>
          </a:xfrm>
          <a:prstGeom prst="roundRect">
            <a:avLst>
              <a:gd name="adj" fmla="val 8083"/>
            </a:avLst>
          </a:prstGeom>
          <a:solidFill>
            <a:srgbClr val="FFFFFF"/>
          </a:solidFill>
          <a:ln/>
        </p:spPr>
      </p:sp>
      <p:sp>
        <p:nvSpPr>
          <p:cNvPr id="12" name="Shape 9"/>
          <p:cNvSpPr/>
          <p:nvPr/>
        </p:nvSpPr>
        <p:spPr>
          <a:xfrm>
            <a:off x="571500" y="2459736"/>
            <a:ext cx="47549" cy="1037844"/>
          </a:xfrm>
          <a:prstGeom prst="roundRect">
            <a:avLst>
              <a:gd name="adj" fmla="val 176428"/>
            </a:avLst>
          </a:prstGeom>
          <a:solidFill>
            <a:srgbClr val="EF4444"/>
          </a:solidFill>
          <a:ln w="12700">
            <a:solidFill>
              <a:srgbClr val="EF4444">
                <a:alpha val="0"/>
              </a:srgbClr>
            </a:solidFill>
            <a:prstDash val="solid"/>
          </a:ln>
        </p:spPr>
      </p:sp>
      <p:sp>
        <p:nvSpPr>
          <p:cNvPr id="13" name="Shape 10"/>
          <p:cNvSpPr/>
          <p:nvPr/>
        </p:nvSpPr>
        <p:spPr>
          <a:xfrm>
            <a:off x="847649" y="2630729"/>
            <a:ext cx="342900" cy="342900"/>
          </a:xfrm>
          <a:prstGeom prst="ellipse">
            <a:avLst/>
          </a:prstGeom>
          <a:solidFill>
            <a:srgbClr val="FEE2E2"/>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0" b="0"/>
          <a:stretch/>
        </p:blipFill>
        <p:spPr>
          <a:xfrm>
            <a:off x="923544" y="2706624"/>
            <a:ext cx="190195" cy="190195"/>
          </a:xfrm>
          <a:prstGeom prst="rect">
            <a:avLst/>
          </a:prstGeom>
        </p:spPr>
      </p:pic>
      <p:sp>
        <p:nvSpPr>
          <p:cNvPr id="15" name="Text 11"/>
          <p:cNvSpPr txBox="1"/>
          <p:nvPr/>
        </p:nvSpPr>
        <p:spPr>
          <a:xfrm>
            <a:off x="1380744" y="2611526"/>
            <a:ext cx="648675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責任所在の不明確化と手戻り</a:t>
            </a:r>
            <a:endParaRPr lang="en-US" sz="1300" dirty="0"/>
          </a:p>
        </p:txBody>
      </p:sp>
      <p:sp>
        <p:nvSpPr>
          <p:cNvPr id="16" name="Text 12"/>
          <p:cNvSpPr txBox="1"/>
          <p:nvPr/>
        </p:nvSpPr>
        <p:spPr>
          <a:xfrm>
            <a:off x="1380744" y="2908706"/>
            <a:ext cx="6372454" cy="428854"/>
          </a:xfrm>
          <a:prstGeom prst="rect">
            <a:avLst/>
          </a:prstGeom>
          <a:noFill/>
          <a:ln/>
        </p:spPr>
        <p:txBody>
          <a:bodyPr wrap="square" lIns="0" tIns="0" rIns="0" bIns="0" rtlCol="0" anchor="t"/>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 「伝票に明確な指示がなく、自分で判断して処理しているが不安」という声。</a:t>
            </a:r>
            <a:pPr algn="l" indent="0" marL="0">
              <a:buNone/>
            </a:pPr>
            <a:endParaRPr lang="en-US" sz="1100" dirty="0"/>
          </a:p>
          <a:p>
            <a:pPr algn="l" indent="0" marL="0">
              <a:buNone/>
            </a:pPr>
            <a:r>
              <a:rPr lang="en-US" sz="1100" dirty="0">
                <a:solidFill>
                  <a:srgbClr val="4B5563"/>
                </a:solidFill>
                <a:latin typeface="Noto Sans JP" pitchFamily="34" charset="0"/>
                <a:ea typeface="Noto Sans JP" pitchFamily="34" charset="-122"/>
                <a:cs typeface="Noto Sans JP" pitchFamily="34" charset="-120"/>
              </a:rPr>
              <a:t> 依頼が曖昧なため、</a:t>
            </a:r>
            <a:pPr algn="l" indent="0" marL="0">
              <a:buNone/>
            </a:pPr>
            <a:r>
              <a:rPr lang="en-US" sz="1100" b="1" dirty="0">
                <a:solidFill>
                  <a:srgbClr val="111827"/>
                </a:solidFill>
                <a:latin typeface="Noto Sans JP" pitchFamily="34" charset="0"/>
                <a:ea typeface="Noto Sans JP" pitchFamily="34" charset="-122"/>
                <a:cs typeface="Noto Sans JP" pitchFamily="34" charset="-120"/>
              </a:rPr>
              <a:t>受託者（経理）が本来負うべきでない判断責任</a:t>
            </a:r>
            <a:pPr algn="l" indent="0" marL="0">
              <a:buNone/>
            </a:pPr>
            <a:r>
              <a:rPr lang="en-US" sz="1100" dirty="0">
                <a:solidFill>
                  <a:srgbClr val="4B5563"/>
                </a:solidFill>
                <a:latin typeface="Noto Sans JP" pitchFamily="34" charset="0"/>
                <a:ea typeface="Noto Sans JP" pitchFamily="34" charset="-122"/>
                <a:cs typeface="Noto Sans JP" pitchFamily="34" charset="-120"/>
              </a:rPr>
              <a:t>を負わされています。 </a:t>
            </a:r>
            <a:endParaRPr lang="en-US" sz="1100" dirty="0"/>
          </a:p>
        </p:txBody>
      </p:sp>
      <p:sp>
        <p:nvSpPr>
          <p:cNvPr id="17" name="Shape 13"/>
          <p:cNvSpPr/>
          <p:nvPr/>
        </p:nvSpPr>
        <p:spPr>
          <a:xfrm>
            <a:off x="571500" y="3680460"/>
            <a:ext cx="7334402" cy="1037844"/>
          </a:xfrm>
          <a:prstGeom prst="roundRect">
            <a:avLst>
              <a:gd name="adj" fmla="val 8083"/>
            </a:avLst>
          </a:prstGeom>
          <a:solidFill>
            <a:srgbClr val="FFFFFF"/>
          </a:solidFill>
          <a:ln/>
        </p:spPr>
      </p:sp>
      <p:sp>
        <p:nvSpPr>
          <p:cNvPr id="18" name="Shape 14"/>
          <p:cNvSpPr/>
          <p:nvPr/>
        </p:nvSpPr>
        <p:spPr>
          <a:xfrm>
            <a:off x="571500" y="3680460"/>
            <a:ext cx="47549" cy="1037844"/>
          </a:xfrm>
          <a:prstGeom prst="roundRect">
            <a:avLst>
              <a:gd name="adj" fmla="val 176428"/>
            </a:avLst>
          </a:prstGeom>
          <a:solidFill>
            <a:srgbClr val="F59E0B"/>
          </a:solidFill>
          <a:ln w="12700">
            <a:solidFill>
              <a:srgbClr val="F59E0B">
                <a:alpha val="0"/>
              </a:srgbClr>
            </a:solidFill>
            <a:prstDash val="solid"/>
          </a:ln>
        </p:spPr>
      </p:sp>
      <p:sp>
        <p:nvSpPr>
          <p:cNvPr id="19" name="Shape 15"/>
          <p:cNvSpPr/>
          <p:nvPr/>
        </p:nvSpPr>
        <p:spPr>
          <a:xfrm>
            <a:off x="847649" y="3852367"/>
            <a:ext cx="342900" cy="342900"/>
          </a:xfrm>
          <a:prstGeom prst="ellipse">
            <a:avLst/>
          </a:prstGeom>
          <a:solidFill>
            <a:srgbClr val="FEF3C7"/>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899770" y="3928262"/>
            <a:ext cx="237744" cy="190195"/>
          </a:xfrm>
          <a:prstGeom prst="rect">
            <a:avLst/>
          </a:prstGeom>
        </p:spPr>
      </p:pic>
      <p:sp>
        <p:nvSpPr>
          <p:cNvPr id="21" name="Text 16"/>
          <p:cNvSpPr txBox="1"/>
          <p:nvPr/>
        </p:nvSpPr>
        <p:spPr>
          <a:xfrm>
            <a:off x="1380744" y="3833165"/>
            <a:ext cx="648675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役割分担の曖昧さ</a:t>
            </a:r>
            <a:endParaRPr lang="en-US" sz="1300" dirty="0"/>
          </a:p>
        </p:txBody>
      </p:sp>
      <p:sp>
        <p:nvSpPr>
          <p:cNvPr id="22" name="Text 17"/>
          <p:cNvSpPr txBox="1"/>
          <p:nvPr/>
        </p:nvSpPr>
        <p:spPr>
          <a:xfrm>
            <a:off x="1380744" y="4130345"/>
            <a:ext cx="6372454" cy="428854"/>
          </a:xfrm>
          <a:prstGeom prst="rect">
            <a:avLst/>
          </a:prstGeom>
          <a:noFill/>
          <a:ln/>
        </p:spPr>
        <p:txBody>
          <a:bodyPr wrap="square" lIns="0" tIns="0" rIns="0" bIns="0" rtlCol="0" anchor="t"/>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 「誰の仕事かわからない業務」が本部に流れ込み、断れずに対応。</a:t>
            </a:r>
            <a:pPr algn="l" indent="0" marL="0">
              <a:buNone/>
            </a:pPr>
            <a:endParaRPr lang="en-US" sz="1100" dirty="0"/>
          </a:p>
          <a:p>
            <a:pPr algn="l" indent="0" marL="0">
              <a:buNone/>
            </a:pPr>
            <a:r>
              <a:rPr lang="en-US" sz="1100" dirty="0">
                <a:solidFill>
                  <a:srgbClr val="4B5563"/>
                </a:solidFill>
                <a:latin typeface="Noto Sans JP" pitchFamily="34" charset="0"/>
                <a:ea typeface="Noto Sans JP" pitchFamily="34" charset="-122"/>
                <a:cs typeface="Noto Sans JP" pitchFamily="34" charset="-120"/>
              </a:rPr>
              <a:t> 依頼者（現場）の要件が不明確なまま、実行者（本部）が尻拭いをする構図が固定化。 </a:t>
            </a:r>
            <a:endParaRPr lang="en-US" sz="1100" dirty="0"/>
          </a:p>
        </p:txBody>
      </p:sp>
      <p:sp>
        <p:nvSpPr>
          <p:cNvPr id="23" name="Shape 18"/>
          <p:cNvSpPr/>
          <p:nvPr/>
        </p:nvSpPr>
        <p:spPr>
          <a:xfrm>
            <a:off x="571500" y="4902098"/>
            <a:ext cx="7334402" cy="1037844"/>
          </a:xfrm>
          <a:prstGeom prst="roundRect">
            <a:avLst>
              <a:gd name="adj" fmla="val 8083"/>
            </a:avLst>
          </a:prstGeom>
          <a:solidFill>
            <a:srgbClr val="FFFFFF"/>
          </a:solidFill>
          <a:ln/>
        </p:spPr>
      </p:sp>
      <p:sp>
        <p:nvSpPr>
          <p:cNvPr id="24" name="Shape 19"/>
          <p:cNvSpPr/>
          <p:nvPr/>
        </p:nvSpPr>
        <p:spPr>
          <a:xfrm>
            <a:off x="571500" y="4902098"/>
            <a:ext cx="47549" cy="1037844"/>
          </a:xfrm>
          <a:prstGeom prst="roundRect">
            <a:avLst>
              <a:gd name="adj" fmla="val 176428"/>
            </a:avLst>
          </a:prstGeom>
          <a:solidFill>
            <a:srgbClr val="8B5CF6"/>
          </a:solidFill>
          <a:ln w="12700">
            <a:solidFill>
              <a:srgbClr val="8B5CF6">
                <a:alpha val="0"/>
              </a:srgbClr>
            </a:solidFill>
            <a:prstDash val="solid"/>
          </a:ln>
        </p:spPr>
      </p:sp>
      <p:sp>
        <p:nvSpPr>
          <p:cNvPr id="25" name="Shape 20"/>
          <p:cNvSpPr/>
          <p:nvPr/>
        </p:nvSpPr>
        <p:spPr>
          <a:xfrm>
            <a:off x="847649" y="5073091"/>
            <a:ext cx="342900" cy="342900"/>
          </a:xfrm>
          <a:prstGeom prst="ellipse">
            <a:avLst/>
          </a:prstGeom>
          <a:solidFill>
            <a:srgbClr val="EDE9FE"/>
          </a:solidFill>
          <a:ln w="12700">
            <a:solidFill>
              <a:srgbClr val="FFFFFF">
                <a:alpha val="0"/>
              </a:srgbClr>
            </a:solidFill>
            <a:prstDash val="solid"/>
          </a:ln>
        </p:spPr>
      </p:sp>
      <p:pic>
        <p:nvPicPr>
          <p:cNvPr id="26" name="Image 3" descr="preencoded.png">    </p:cNvPr>
          <p:cNvPicPr>
            <a:picLocks noChangeAspect="1"/>
          </p:cNvPicPr>
          <p:nvPr/>
        </p:nvPicPr>
        <p:blipFill>
          <a:blip r:embed="rId4"/>
          <a:srcRect l="0" r="0" t="0" b="0"/>
          <a:stretch/>
        </p:blipFill>
        <p:spPr>
          <a:xfrm>
            <a:off x="923544" y="5148986"/>
            <a:ext cx="190195" cy="190195"/>
          </a:xfrm>
          <a:prstGeom prst="rect">
            <a:avLst/>
          </a:prstGeom>
        </p:spPr>
      </p:pic>
      <p:sp>
        <p:nvSpPr>
          <p:cNvPr id="27" name="Text 21"/>
          <p:cNvSpPr txBox="1"/>
          <p:nvPr/>
        </p:nvSpPr>
        <p:spPr>
          <a:xfrm>
            <a:off x="1380744" y="5053889"/>
            <a:ext cx="648675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問い合わせの圧迫</a:t>
            </a:r>
            <a:endParaRPr lang="en-US" sz="1300" dirty="0"/>
          </a:p>
        </p:txBody>
      </p:sp>
      <p:sp>
        <p:nvSpPr>
          <p:cNvPr id="28" name="Text 22"/>
          <p:cNvSpPr txBox="1"/>
          <p:nvPr/>
        </p:nvSpPr>
        <p:spPr>
          <a:xfrm>
            <a:off x="1380744" y="5351069"/>
            <a:ext cx="6372454" cy="428854"/>
          </a:xfrm>
          <a:prstGeom prst="rect">
            <a:avLst/>
          </a:prstGeom>
          <a:noFill/>
          <a:ln/>
        </p:spPr>
        <p:txBody>
          <a:bodyPr wrap="square" lIns="0" tIns="0" rIns="0" bIns="0" rtlCol="0" anchor="t"/>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 規定確認や操作方法の電話が殺到。マニュアル（風グラム）は形骸化し、</a:t>
            </a:r>
            <a:pPr algn="l" indent="0" marL="0">
              <a:buNone/>
            </a:pPr>
            <a:r>
              <a:rPr lang="en-US" sz="1100" b="1" dirty="0">
                <a:solidFill>
                  <a:srgbClr val="111827"/>
                </a:solidFill>
                <a:latin typeface="Noto Sans JP" pitchFamily="34" charset="0"/>
                <a:ea typeface="Noto Sans JP" pitchFamily="34" charset="-122"/>
                <a:cs typeface="Noto Sans JP" pitchFamily="34" charset="-120"/>
              </a:rPr>
              <a:t>「探すより聞く方が早い」</a:t>
            </a:r>
            <a:pPr algn="l" indent="0" marL="0">
              <a:buNone/>
            </a:pPr>
            <a:r>
              <a:rPr lang="en-US" sz="1100" dirty="0">
                <a:solidFill>
                  <a:srgbClr val="4B5563"/>
                </a:solidFill>
                <a:latin typeface="Noto Sans JP" pitchFamily="34" charset="0"/>
                <a:ea typeface="Noto Sans JP" pitchFamily="34" charset="-122"/>
                <a:cs typeface="Noto Sans JP" pitchFamily="34" charset="-120"/>
              </a:rPr>
              <a:t>状態。本来業務を圧迫しています。 </a:t>
            </a:r>
            <a:endParaRPr lang="en-US" sz="1100" dirty="0"/>
          </a:p>
        </p:txBody>
      </p:sp>
      <p:sp>
        <p:nvSpPr>
          <p:cNvPr id="29" name="Shape 23"/>
          <p:cNvSpPr/>
          <p:nvPr/>
        </p:nvSpPr>
        <p:spPr>
          <a:xfrm>
            <a:off x="571500" y="6122822"/>
            <a:ext cx="7334402" cy="1037844"/>
          </a:xfrm>
          <a:prstGeom prst="roundRect">
            <a:avLst>
              <a:gd name="adj" fmla="val 8083"/>
            </a:avLst>
          </a:prstGeom>
          <a:solidFill>
            <a:srgbClr val="FFFFFF"/>
          </a:solidFill>
          <a:ln/>
        </p:spPr>
      </p:sp>
      <p:sp>
        <p:nvSpPr>
          <p:cNvPr id="30" name="Shape 24"/>
          <p:cNvSpPr/>
          <p:nvPr/>
        </p:nvSpPr>
        <p:spPr>
          <a:xfrm>
            <a:off x="571500" y="6122822"/>
            <a:ext cx="47549" cy="1037844"/>
          </a:xfrm>
          <a:prstGeom prst="roundRect">
            <a:avLst>
              <a:gd name="adj" fmla="val 176428"/>
            </a:avLst>
          </a:prstGeom>
          <a:solidFill>
            <a:srgbClr val="3B82F6"/>
          </a:solidFill>
          <a:ln w="12700">
            <a:solidFill>
              <a:srgbClr val="3B82F6">
                <a:alpha val="0"/>
              </a:srgbClr>
            </a:solidFill>
            <a:prstDash val="solid"/>
          </a:ln>
        </p:spPr>
      </p:sp>
      <p:sp>
        <p:nvSpPr>
          <p:cNvPr id="31" name="Shape 25"/>
          <p:cNvSpPr/>
          <p:nvPr/>
        </p:nvSpPr>
        <p:spPr>
          <a:xfrm>
            <a:off x="847649" y="6293815"/>
            <a:ext cx="342900" cy="342900"/>
          </a:xfrm>
          <a:prstGeom prst="ellipse">
            <a:avLst/>
          </a:prstGeom>
          <a:solidFill>
            <a:srgbClr val="DBEAFE"/>
          </a:solidFill>
          <a:ln w="12700">
            <a:solidFill>
              <a:srgbClr val="FFFFFF">
                <a:alpha val="0"/>
              </a:srgbClr>
            </a:solidFill>
            <a:prstDash val="solid"/>
          </a:ln>
        </p:spPr>
      </p:sp>
      <p:pic>
        <p:nvPicPr>
          <p:cNvPr id="32" name="Image 4" descr="preencoded.png">    </p:cNvPr>
          <p:cNvPicPr>
            <a:picLocks noChangeAspect="1"/>
          </p:cNvPicPr>
          <p:nvPr/>
        </p:nvPicPr>
        <p:blipFill>
          <a:blip r:embed="rId5"/>
          <a:srcRect l="-7143" r="-7143" t="0" b="0"/>
          <a:stretch/>
        </p:blipFill>
        <p:spPr>
          <a:xfrm>
            <a:off x="923544" y="6370625"/>
            <a:ext cx="190195" cy="190195"/>
          </a:xfrm>
          <a:prstGeom prst="rect">
            <a:avLst/>
          </a:prstGeom>
        </p:spPr>
      </p:pic>
      <p:sp>
        <p:nvSpPr>
          <p:cNvPr id="33" name="Text 26"/>
          <p:cNvSpPr txBox="1"/>
          <p:nvPr/>
        </p:nvSpPr>
        <p:spPr>
          <a:xfrm>
            <a:off x="1380744" y="6275527"/>
            <a:ext cx="648675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未来予測の欠如</a:t>
            </a:r>
            <a:endParaRPr lang="en-US" sz="1300" dirty="0"/>
          </a:p>
        </p:txBody>
      </p:sp>
      <p:sp>
        <p:nvSpPr>
          <p:cNvPr id="34" name="Text 27"/>
          <p:cNvSpPr txBox="1"/>
          <p:nvPr/>
        </p:nvSpPr>
        <p:spPr>
          <a:xfrm>
            <a:off x="1380744" y="6572707"/>
            <a:ext cx="6372454" cy="428854"/>
          </a:xfrm>
          <a:prstGeom prst="rect">
            <a:avLst/>
          </a:prstGeom>
          <a:noFill/>
          <a:ln/>
        </p:spPr>
        <p:txBody>
          <a:bodyPr wrap="square" lIns="0" tIns="0" rIns="0" bIns="0" rtlCol="0" anchor="t"/>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 勤怠データの遅延・修正が常態化し、給与計算の開始・終了時期が予測不能。</a:t>
            </a:r>
            <a:pPr algn="l" indent="0" marL="0">
              <a:buNone/>
            </a:pPr>
            <a:endParaRPr lang="en-US" sz="1100" dirty="0"/>
          </a:p>
          <a:p>
            <a:pPr algn="l" indent="0" marL="0">
              <a:buNone/>
            </a:pPr>
            <a:r>
              <a:rPr lang="en-US" sz="1100" dirty="0">
                <a:solidFill>
                  <a:srgbClr val="4B5563"/>
                </a:solidFill>
                <a:latin typeface="Noto Sans JP" pitchFamily="34" charset="0"/>
                <a:ea typeface="Noto Sans JP" pitchFamily="34" charset="-122"/>
                <a:cs typeface="Noto Sans JP" pitchFamily="34" charset="-120"/>
              </a:rPr>
              <a:t> 計画的な業務遂行ができず、行き当たりばったりの対応になっています。 </a:t>
            </a:r>
            <a:endParaRPr lang="en-US" sz="1100" dirty="0"/>
          </a:p>
        </p:txBody>
      </p:sp>
      <p:sp>
        <p:nvSpPr>
          <p:cNvPr id="35" name="Shape 28"/>
          <p:cNvSpPr/>
          <p:nvPr/>
        </p:nvSpPr>
        <p:spPr>
          <a:xfrm>
            <a:off x="8287207" y="1238098"/>
            <a:ext cx="3333902" cy="5924398"/>
          </a:xfrm>
          <a:prstGeom prst="roundRect">
            <a:avLst>
              <a:gd name="adj" fmla="val 940"/>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5000"/>
              </a:srgbClr>
            </a:outerShdw>
          </a:effectLst>
        </p:spPr>
      </p:sp>
      <p:sp>
        <p:nvSpPr>
          <p:cNvPr id="36" name="Shape 29"/>
          <p:cNvSpPr/>
          <p:nvPr/>
        </p:nvSpPr>
        <p:spPr>
          <a:xfrm>
            <a:off x="8624621" y="2324405"/>
            <a:ext cx="2657246" cy="705002"/>
          </a:xfrm>
          <a:prstGeom prst="roundRect">
            <a:avLst>
              <a:gd name="adj" fmla="val 14022"/>
            </a:avLst>
          </a:prstGeom>
          <a:solidFill>
            <a:srgbClr val="EFF6FF"/>
          </a:solidFill>
          <a:ln w="12700">
            <a:solidFill>
              <a:srgbClr val="BFDBFE"/>
            </a:solidFill>
            <a:prstDash val="solid"/>
          </a:ln>
        </p:spPr>
      </p:sp>
      <p:sp>
        <p:nvSpPr>
          <p:cNvPr id="37" name="Text 30"/>
          <p:cNvSpPr txBox="1"/>
          <p:nvPr/>
        </p:nvSpPr>
        <p:spPr>
          <a:xfrm>
            <a:off x="8738921" y="2476195"/>
            <a:ext cx="2429561" cy="400507"/>
          </a:xfrm>
          <a:prstGeom prst="rect">
            <a:avLst/>
          </a:prstGeom>
          <a:noFill/>
          <a:ln/>
        </p:spPr>
        <p:txBody>
          <a:bodyPr wrap="square" lIns="0" tIns="0" rIns="0" bIns="0" rtlCol="0" anchor="t"/>
          <a:lstStyle/>
          <a:p>
            <a:pPr algn="ctr" indent="0" marL="0">
              <a:buNone/>
            </a:pPr>
            <a:r>
              <a:rPr lang="en-US" sz="1000" i="1" dirty="0">
                <a:solidFill>
                  <a:srgbClr val="1E40AF"/>
                </a:solidFill>
                <a:latin typeface="Noto Sans JP" pitchFamily="34" charset="0"/>
                <a:ea typeface="Noto Sans JP" pitchFamily="34" charset="-122"/>
                <a:cs typeface="Noto Sans JP" pitchFamily="34" charset="-120"/>
              </a:rPr>
              <a:t>「これで合ってる？</a:t>
            </a:r>
            <a:pPr algn="ctr" indent="0" marL="0">
              <a:buNone/>
            </a:pPr>
            <a:endParaRPr lang="en-US" sz="1000" dirty="0"/>
          </a:p>
          <a:p>
            <a:pPr algn="ctr" indent="0" marL="0">
              <a:buNone/>
            </a:pPr>
            <a:r>
              <a:rPr lang="en-US" sz="1000" i="1" dirty="0">
                <a:solidFill>
                  <a:srgbClr val="1E40AF"/>
                </a:solidFill>
                <a:latin typeface="Noto Sans JP" pitchFamily="34" charset="0"/>
                <a:ea typeface="Noto Sans JP" pitchFamily="34" charset="-122"/>
                <a:cs typeface="Noto Sans JP" pitchFamily="34" charset="-120"/>
              </a:rPr>
              <a:t>また電話しなきゃ...」</a:t>
            </a:r>
            <a:endParaRPr lang="en-US" sz="1000" dirty="0"/>
          </a:p>
        </p:txBody>
      </p:sp>
      <p:pic>
        <p:nvPicPr>
          <p:cNvPr id="38" name="Image 5" descr="preencoded.png">    </p:cNvPr>
          <p:cNvPicPr>
            <a:picLocks noChangeAspect="1"/>
          </p:cNvPicPr>
          <p:nvPr/>
        </p:nvPicPr>
        <p:blipFill>
          <a:blip r:embed="rId6"/>
          <a:srcRect l="-107" r="-107" t="0" b="0"/>
          <a:stretch/>
        </p:blipFill>
        <p:spPr>
          <a:xfrm>
            <a:off x="9820656" y="3314700"/>
            <a:ext cx="267005" cy="304495"/>
          </a:xfrm>
          <a:prstGeom prst="rect">
            <a:avLst/>
          </a:prstGeom>
        </p:spPr>
      </p:pic>
      <p:sp>
        <p:nvSpPr>
          <p:cNvPr id="39" name="Shape 31"/>
          <p:cNvSpPr/>
          <p:nvPr/>
        </p:nvSpPr>
        <p:spPr>
          <a:xfrm>
            <a:off x="8477402" y="3886200"/>
            <a:ext cx="2952598" cy="9144"/>
          </a:xfrm>
          <a:prstGeom prst="rect">
            <a:avLst/>
          </a:prstGeom>
          <a:solidFill>
            <a:srgbClr val="E5E7EB"/>
          </a:solidFill>
          <a:ln w="12700">
            <a:solidFill>
              <a:srgbClr val="E5E7EB">
                <a:alpha val="0"/>
              </a:srgbClr>
            </a:solidFill>
            <a:prstDash val="solid"/>
          </a:ln>
        </p:spPr>
      </p:sp>
      <p:sp>
        <p:nvSpPr>
          <p:cNvPr id="40" name="Shape 32"/>
          <p:cNvSpPr/>
          <p:nvPr/>
        </p:nvSpPr>
        <p:spPr>
          <a:xfrm>
            <a:off x="8772754" y="4162349"/>
            <a:ext cx="2361895" cy="875995"/>
          </a:xfrm>
          <a:prstGeom prst="roundRect">
            <a:avLst>
              <a:gd name="adj" fmla="val 9077"/>
            </a:avLst>
          </a:prstGeom>
          <a:solidFill>
            <a:srgbClr val="F3F4F6"/>
          </a:solidFill>
          <a:ln w="12700">
            <a:solidFill>
              <a:srgbClr val="FFFFFF">
                <a:alpha val="0"/>
              </a:srgbClr>
            </a:solidFill>
            <a:prstDash val="solid"/>
          </a:ln>
        </p:spPr>
      </p:sp>
      <p:sp>
        <p:nvSpPr>
          <p:cNvPr id="41" name="Text 33"/>
          <p:cNvSpPr txBox="1"/>
          <p:nvPr/>
        </p:nvSpPr>
        <p:spPr>
          <a:xfrm>
            <a:off x="8874252" y="4304995"/>
            <a:ext cx="2159813" cy="342900"/>
          </a:xfrm>
          <a:prstGeom prst="rect">
            <a:avLst/>
          </a:prstGeom>
          <a:noFill/>
          <a:ln/>
        </p:spPr>
        <p:txBody>
          <a:bodyPr wrap="square" lIns="0" tIns="0" rIns="0" bIns="0" rtlCol="0" anchor="ctr"/>
          <a:lstStyle/>
          <a:p>
            <a:pPr algn="ctr" indent="0" marL="0">
              <a:buNone/>
            </a:pPr>
            <a:r>
              <a:rPr lang="en-US" sz="2400" b="1" dirty="0">
                <a:solidFill>
                  <a:srgbClr val="EF4444"/>
                </a:solidFill>
                <a:latin typeface="Noto Sans JP" pitchFamily="34" charset="0"/>
                <a:ea typeface="Noto Sans JP" pitchFamily="34" charset="-122"/>
                <a:cs typeface="Noto Sans JP" pitchFamily="34" charset="-120"/>
              </a:rPr>
              <a:t>30〜50</a:t>
            </a:r>
            <a:pPr algn="ctr" indent="0" marL="0">
              <a:buNone/>
            </a:pPr>
            <a:r>
              <a:rPr lang="en-US" sz="1300" b="1" dirty="0">
                <a:solidFill>
                  <a:srgbClr val="6B7280"/>
                </a:solidFill>
                <a:latin typeface="Noto Sans JP" pitchFamily="34" charset="0"/>
                <a:ea typeface="Noto Sans JP" pitchFamily="34" charset="-122"/>
                <a:cs typeface="Noto Sans JP" pitchFamily="34" charset="-120"/>
              </a:rPr>
              <a:t>件/日</a:t>
            </a:r>
            <a:endParaRPr lang="en-US" sz="2400" dirty="0"/>
          </a:p>
        </p:txBody>
      </p:sp>
      <p:sp>
        <p:nvSpPr>
          <p:cNvPr id="42" name="Text 34"/>
          <p:cNvSpPr txBox="1"/>
          <p:nvPr/>
        </p:nvSpPr>
        <p:spPr>
          <a:xfrm>
            <a:off x="10241280" y="4390949"/>
            <a:ext cx="495605" cy="247802"/>
          </a:xfrm>
          <a:prstGeom prst="rect">
            <a:avLst/>
          </a:prstGeom>
          <a:noFill/>
          <a:ln/>
        </p:spPr>
        <p:txBody>
          <a:bodyPr wrap="square" lIns="0" tIns="0" rIns="0" bIns="0" rtlCol="0" anchor="ctr"/>
          <a:lstStyle/>
          <a:p>
            <a:pPr algn="ctr" indent="0" marL="0">
              <a:buNone/>
            </a:pPr>
            <a:r>
              <a:rPr lang="en-US" sz="1300" dirty="0">
                <a:solidFill>
                  <a:srgbClr val="6B7280"/>
                </a:solidFill>
                <a:latin typeface="Noto Sans JP" pitchFamily="34" charset="0"/>
                <a:ea typeface="Noto Sans JP" pitchFamily="34" charset="-122"/>
                <a:cs typeface="Noto Sans JP" pitchFamily="34" charset="-120"/>
              </a:rPr>
              <a:t>件/日</a:t>
            </a:r>
            <a:endParaRPr lang="en-US" sz="1300" dirty="0"/>
          </a:p>
        </p:txBody>
      </p:sp>
      <p:sp>
        <p:nvSpPr>
          <p:cNvPr id="43" name="Text 35"/>
          <p:cNvSpPr txBox="1"/>
          <p:nvPr/>
        </p:nvSpPr>
        <p:spPr>
          <a:xfrm>
            <a:off x="8832190" y="4695444"/>
            <a:ext cx="2243023"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問い合わせ電話</a:t>
            </a:r>
            <a:endParaRPr lang="en-US" sz="1000" dirty="0"/>
          </a:p>
        </p:txBody>
      </p:sp>
      <p:sp>
        <p:nvSpPr>
          <p:cNvPr id="44" name="Shape 36"/>
          <p:cNvSpPr/>
          <p:nvPr/>
        </p:nvSpPr>
        <p:spPr>
          <a:xfrm>
            <a:off x="8772754" y="5229454"/>
            <a:ext cx="2361895" cy="838505"/>
          </a:xfrm>
          <a:prstGeom prst="roundRect">
            <a:avLst>
              <a:gd name="adj" fmla="val 9914"/>
            </a:avLst>
          </a:prstGeom>
          <a:solidFill>
            <a:srgbClr val="F3F4F6"/>
          </a:solidFill>
          <a:ln w="12700">
            <a:solidFill>
              <a:srgbClr val="FFFFFF">
                <a:alpha val="0"/>
              </a:srgbClr>
            </a:solidFill>
            <a:prstDash val="solid"/>
          </a:ln>
        </p:spPr>
      </p:sp>
      <p:sp>
        <p:nvSpPr>
          <p:cNvPr id="45" name="Text 37"/>
          <p:cNvSpPr txBox="1"/>
          <p:nvPr/>
        </p:nvSpPr>
        <p:spPr>
          <a:xfrm>
            <a:off x="8832190" y="5372100"/>
            <a:ext cx="2243023" cy="305410"/>
          </a:xfrm>
          <a:prstGeom prst="rect">
            <a:avLst/>
          </a:prstGeom>
          <a:noFill/>
          <a:ln/>
        </p:spPr>
        <p:txBody>
          <a:bodyPr wrap="square" lIns="0" tIns="0" rIns="0" bIns="0" rtlCol="0" anchor="ctr"/>
          <a:lstStyle/>
          <a:p>
            <a:pPr algn="ctr" indent="0" marL="0">
              <a:buNone/>
            </a:pPr>
            <a:r>
              <a:rPr lang="en-US" sz="2400" b="1" dirty="0">
                <a:solidFill>
                  <a:srgbClr val="EF4444"/>
                </a:solidFill>
                <a:latin typeface="Noto Sans JP" pitchFamily="34" charset="0"/>
                <a:ea typeface="Noto Sans JP" pitchFamily="34" charset="-122"/>
                <a:cs typeface="Noto Sans JP" pitchFamily="34" charset="-120"/>
              </a:rPr>
              <a:t>予測不可</a:t>
            </a:r>
            <a:endParaRPr lang="en-US" sz="2400" dirty="0"/>
          </a:p>
        </p:txBody>
      </p:sp>
      <p:sp>
        <p:nvSpPr>
          <p:cNvPr id="46" name="Text 38"/>
          <p:cNvSpPr txBox="1"/>
          <p:nvPr/>
        </p:nvSpPr>
        <p:spPr>
          <a:xfrm>
            <a:off x="8832190" y="5724144"/>
            <a:ext cx="2243023"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給与計算完了日</a:t>
            </a:r>
            <a:endParaRPr lang="en-US" sz="1000" dirty="0"/>
          </a:p>
        </p:txBody>
      </p:sp>
      <p:sp>
        <p:nvSpPr>
          <p:cNvPr id="47" name="Shape 39"/>
          <p:cNvSpPr/>
          <p:nvPr/>
        </p:nvSpPr>
        <p:spPr>
          <a:xfrm>
            <a:off x="0" y="0"/>
            <a:ext cx="12191695" cy="952805"/>
          </a:xfrm>
          <a:prstGeom prst="rect">
            <a:avLst/>
          </a:prstGeom>
          <a:solidFill>
            <a:srgbClr val="FFFFFF"/>
          </a:solidFill>
          <a:ln/>
        </p:spPr>
      </p:sp>
      <p:sp>
        <p:nvSpPr>
          <p:cNvPr id="48" name="Shape 40"/>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9" name="Shape 41"/>
          <p:cNvSpPr/>
          <p:nvPr/>
        </p:nvSpPr>
        <p:spPr>
          <a:xfrm>
            <a:off x="571500" y="304495"/>
            <a:ext cx="990295" cy="418795"/>
          </a:xfrm>
          <a:prstGeom prst="roundRect">
            <a:avLst>
              <a:gd name="adj" fmla="val 19849"/>
            </a:avLst>
          </a:prstGeom>
          <a:solidFill>
            <a:srgbClr val="EF4444"/>
          </a:solidFill>
          <a:ln w="12700">
            <a:solidFill>
              <a:srgbClr val="FFFFFF">
                <a:alpha val="0"/>
              </a:srgbClr>
            </a:solidFill>
            <a:prstDash val="solid"/>
          </a:ln>
        </p:spPr>
      </p:sp>
      <p:sp>
        <p:nvSpPr>
          <p:cNvPr id="50" name="Text 42"/>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要因③</a:t>
            </a:r>
            <a:endParaRPr lang="en-US" sz="1800" dirty="0"/>
          </a:p>
        </p:txBody>
      </p:sp>
      <p:sp>
        <p:nvSpPr>
          <p:cNvPr id="51" name="Text 43"/>
          <p:cNvSpPr txBox="1"/>
          <p:nvPr/>
        </p:nvSpPr>
        <p:spPr>
          <a:xfrm>
            <a:off x="1752905" y="286207"/>
            <a:ext cx="7210958"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現場で起きている事実：マネジメント不全の具体例</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1E3A8A"/>
          </a:solidFill>
          <a:ln w="12700">
            <a:solidFill>
              <a:srgbClr val="FFFFFF">
                <a:alpha val="0"/>
              </a:srgbClr>
            </a:solidFill>
            <a:prstDash val="solid"/>
          </a:ln>
        </p:spPr>
      </p:sp>
      <p:sp>
        <p:nvSpPr>
          <p:cNvPr id="4" name="Shape 2"/>
          <p:cNvSpPr/>
          <p:nvPr/>
        </p:nvSpPr>
        <p:spPr>
          <a:xfrm>
            <a:off x="8382305" y="-1904695"/>
            <a:ext cx="5715000" cy="5715000"/>
          </a:xfrm>
          <a:prstGeom prst="ellipse">
            <a:avLst/>
          </a:prstGeom>
          <a:solidFill>
            <a:srgbClr val="2563EB">
              <a:alpha val="30000"/>
            </a:srgbClr>
          </a:solidFill>
          <a:ln w="12700">
            <a:solidFill>
              <a:srgbClr val="FFFFFF">
                <a:alpha val="0"/>
              </a:srgbClr>
            </a:solidFill>
            <a:prstDash val="solid"/>
          </a:ln>
        </p:spPr>
      </p:sp>
      <p:pic>
        <p:nvPicPr>
          <p:cNvPr id="5" name="Image 0" descr="preencoded.png">    </p:cNvPr>
          <p:cNvPicPr>
            <a:picLocks noChangeAspect="1"/>
          </p:cNvPicPr>
          <p:nvPr/>
        </p:nvPicPr>
        <p:blipFill>
          <a:blip r:embed="rId1"/>
          <a:srcRect l="0" r="0" t="-1" b="-1"/>
          <a:stretch/>
        </p:blipFill>
        <p:spPr>
          <a:xfrm>
            <a:off x="0" y="6743700"/>
            <a:ext cx="12191695" cy="114300"/>
          </a:xfrm>
          <a:prstGeom prst="rect">
            <a:avLst/>
          </a:prstGeom>
        </p:spPr>
      </p:pic>
      <p:sp>
        <p:nvSpPr>
          <p:cNvPr id="6" name="Shape 3"/>
          <p:cNvSpPr/>
          <p:nvPr/>
        </p:nvSpPr>
        <p:spPr>
          <a:xfrm>
            <a:off x="5524805" y="559613"/>
            <a:ext cx="1143000" cy="1143000"/>
          </a:xfrm>
          <a:prstGeom prst="ellipse">
            <a:avLst/>
          </a:prstGeom>
          <a:solidFill>
            <a:srgbClr val="FFFFFF">
              <a:alpha val="10000"/>
            </a:srgbClr>
          </a:solidFill>
          <a:ln w="25400">
            <a:solidFill>
              <a:srgbClr val="FFFFFF">
                <a:alpha val="20000"/>
              </a:srgbClr>
            </a:solidFill>
            <a:prstDash val="solid"/>
          </a:ln>
        </p:spPr>
      </p:sp>
      <p:pic>
        <p:nvPicPr>
          <p:cNvPr id="7" name="Image 1" descr="preencoded.png">    </p:cNvPr>
          <p:cNvPicPr>
            <a:picLocks noChangeAspect="1"/>
          </p:cNvPicPr>
          <p:nvPr/>
        </p:nvPicPr>
        <p:blipFill>
          <a:blip r:embed="rId2"/>
          <a:srcRect l="0" r="0" t="0" b="0"/>
          <a:stretch/>
        </p:blipFill>
        <p:spPr>
          <a:xfrm>
            <a:off x="5810098" y="845820"/>
            <a:ext cx="571500" cy="571500"/>
          </a:xfrm>
          <a:prstGeom prst="rect">
            <a:avLst/>
          </a:prstGeom>
        </p:spPr>
      </p:pic>
      <p:sp>
        <p:nvSpPr>
          <p:cNvPr id="8" name="Text 4"/>
          <p:cNvSpPr txBox="1"/>
          <p:nvPr/>
        </p:nvSpPr>
        <p:spPr>
          <a:xfrm>
            <a:off x="1628546" y="2655418"/>
            <a:ext cx="8934602" cy="1591056"/>
          </a:xfrm>
          <a:prstGeom prst="rect">
            <a:avLst/>
          </a:prstGeom>
          <a:noFill/>
          <a:ln/>
        </p:spPr>
        <p:txBody>
          <a:bodyPr wrap="square" lIns="0" tIns="0" rIns="0" bIns="0" rtlCol="0" anchor="t"/>
          <a:lstStyle/>
          <a:p>
            <a:pPr algn="ctr" indent="0" marL="0">
              <a:buNone/>
            </a:pPr>
            <a:r>
              <a:rPr lang="en-US" sz="4800" b="1" dirty="0">
                <a:solidFill>
                  <a:srgbClr val="FFFFFF"/>
                </a:solidFill>
                <a:latin typeface="Noto Sans JP" pitchFamily="34" charset="0"/>
                <a:ea typeface="Noto Sans JP" pitchFamily="34" charset="-122"/>
                <a:cs typeface="Noto Sans JP" pitchFamily="34" charset="-120"/>
              </a:rPr>
              <a:t> 改革の方向性：</a:t>
            </a:r>
            <a:pPr algn="ctr" indent="0" marL="0">
              <a:buNone/>
            </a:pPr>
            <a:endParaRPr lang="en-US" sz="4800" dirty="0"/>
          </a:p>
          <a:p>
            <a:pPr algn="ctr" indent="0" marL="0">
              <a:buNone/>
            </a:pPr>
            <a:r>
              <a:rPr lang="en-US" sz="4800" b="1" dirty="0">
                <a:solidFill>
                  <a:srgbClr val="FFFFFF"/>
                </a:solidFill>
                <a:latin typeface="Noto Sans JP" pitchFamily="34" charset="0"/>
                <a:ea typeface="Noto Sans JP" pitchFamily="34" charset="-122"/>
                <a:cs typeface="Noto Sans JP" pitchFamily="34" charset="-120"/>
              </a:rPr>
              <a:t>新しい業務運営の3つの原則 </a:t>
            </a:r>
            <a:endParaRPr lang="en-US" sz="4800" dirty="0"/>
          </a:p>
        </p:txBody>
      </p:sp>
      <p:sp>
        <p:nvSpPr>
          <p:cNvPr id="9" name="Shape 5"/>
          <p:cNvSpPr/>
          <p:nvPr/>
        </p:nvSpPr>
        <p:spPr>
          <a:xfrm>
            <a:off x="1714500" y="4621378"/>
            <a:ext cx="2800807" cy="1238098"/>
          </a:xfrm>
          <a:prstGeom prst="roundRect">
            <a:avLst>
              <a:gd name="adj" fmla="val 6817"/>
            </a:avLst>
          </a:prstGeom>
          <a:solidFill>
            <a:srgbClr val="FFFFFF">
              <a:alpha val="10000"/>
            </a:srgbClr>
          </a:solidFill>
          <a:ln w="12700">
            <a:solidFill>
              <a:srgbClr val="FFFFFF">
                <a:alpha val="20000"/>
              </a:srgbClr>
            </a:solidFill>
            <a:prstDash val="solid"/>
          </a:ln>
        </p:spPr>
      </p:sp>
      <p:sp>
        <p:nvSpPr>
          <p:cNvPr id="10" name="Text 6"/>
          <p:cNvSpPr txBox="1"/>
          <p:nvPr/>
        </p:nvSpPr>
        <p:spPr>
          <a:xfrm>
            <a:off x="2181758" y="4821631"/>
            <a:ext cx="2324405"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源流入力と一気通貫</a:t>
            </a:r>
            <a:endParaRPr lang="en-US" sz="1500" dirty="0"/>
          </a:p>
        </p:txBody>
      </p:sp>
      <p:pic>
        <p:nvPicPr>
          <p:cNvPr id="11" name="Image 2" descr="preencoded.png">    </p:cNvPr>
          <p:cNvPicPr>
            <a:picLocks noChangeAspect="1"/>
          </p:cNvPicPr>
          <p:nvPr/>
        </p:nvPicPr>
        <p:blipFill>
          <a:blip r:embed="rId3"/>
          <a:srcRect l="0" r="0" t="0" b="0"/>
          <a:stretch/>
        </p:blipFill>
        <p:spPr>
          <a:xfrm>
            <a:off x="1914754" y="4878324"/>
            <a:ext cx="171907" cy="171907"/>
          </a:xfrm>
          <a:prstGeom prst="rect">
            <a:avLst/>
          </a:prstGeom>
        </p:spPr>
      </p:pic>
      <p:sp>
        <p:nvSpPr>
          <p:cNvPr id="12" name="Text 7"/>
          <p:cNvSpPr txBox="1"/>
          <p:nvPr/>
        </p:nvSpPr>
        <p:spPr>
          <a:xfrm>
            <a:off x="1914754" y="5202936"/>
            <a:ext cx="2477110" cy="457200"/>
          </a:xfrm>
          <a:prstGeom prst="rect">
            <a:avLst/>
          </a:prstGeom>
          <a:noFill/>
          <a:ln/>
        </p:spPr>
        <p:txBody>
          <a:bodyPr wrap="square" lIns="0" tIns="0" rIns="0" bIns="0" rtlCol="0" anchor="t"/>
          <a:lstStyle/>
          <a:p>
            <a:pPr algn="l" indent="0" marL="0">
              <a:buNone/>
            </a:pPr>
            <a:r>
              <a:rPr lang="en-US" sz="1200" dirty="0">
                <a:solidFill>
                  <a:srgbClr val="DBEAFE"/>
                </a:solidFill>
                <a:latin typeface="Noto Sans JP" pitchFamily="34" charset="0"/>
                <a:ea typeface="Noto Sans JP" pitchFamily="34" charset="-122"/>
                <a:cs typeface="Noto Sans JP" pitchFamily="34" charset="-120"/>
              </a:rPr>
              <a:t>自律的な業務完結と、一個流しによるリアルタイム化</a:t>
            </a:r>
            <a:endParaRPr lang="en-US" sz="1200" dirty="0"/>
          </a:p>
        </p:txBody>
      </p:sp>
      <p:sp>
        <p:nvSpPr>
          <p:cNvPr id="13" name="Shape 8"/>
          <p:cNvSpPr/>
          <p:nvPr/>
        </p:nvSpPr>
        <p:spPr>
          <a:xfrm>
            <a:off x="4699102" y="4621378"/>
            <a:ext cx="2800807" cy="1238098"/>
          </a:xfrm>
          <a:prstGeom prst="roundRect">
            <a:avLst>
              <a:gd name="adj" fmla="val 6817"/>
            </a:avLst>
          </a:prstGeom>
          <a:solidFill>
            <a:srgbClr val="FFFFFF">
              <a:alpha val="10000"/>
            </a:srgbClr>
          </a:solidFill>
          <a:ln w="12700">
            <a:solidFill>
              <a:srgbClr val="FFFFFF">
                <a:alpha val="20000"/>
              </a:srgbClr>
            </a:solidFill>
            <a:prstDash val="solid"/>
          </a:ln>
        </p:spPr>
      </p:sp>
      <p:sp>
        <p:nvSpPr>
          <p:cNvPr id="14" name="Text 9"/>
          <p:cNvSpPr txBox="1"/>
          <p:nvPr/>
        </p:nvSpPr>
        <p:spPr>
          <a:xfrm>
            <a:off x="5166360" y="4821631"/>
            <a:ext cx="2324405"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ナレッジ・セントラル</a:t>
            </a:r>
            <a:endParaRPr lang="en-US" sz="1500" dirty="0"/>
          </a:p>
        </p:txBody>
      </p:sp>
      <p:pic>
        <p:nvPicPr>
          <p:cNvPr id="15" name="Image 3" descr="preencoded.png">    </p:cNvPr>
          <p:cNvPicPr>
            <a:picLocks noChangeAspect="1"/>
          </p:cNvPicPr>
          <p:nvPr/>
        </p:nvPicPr>
        <p:blipFill>
          <a:blip r:embed="rId4"/>
          <a:srcRect l="0" r="0" t="0" b="0"/>
          <a:stretch/>
        </p:blipFill>
        <p:spPr>
          <a:xfrm>
            <a:off x="4899355" y="4878324"/>
            <a:ext cx="171907" cy="171907"/>
          </a:xfrm>
          <a:prstGeom prst="rect">
            <a:avLst/>
          </a:prstGeom>
        </p:spPr>
      </p:pic>
      <p:sp>
        <p:nvSpPr>
          <p:cNvPr id="16" name="Text 10"/>
          <p:cNvSpPr txBox="1"/>
          <p:nvPr/>
        </p:nvSpPr>
        <p:spPr>
          <a:xfrm>
            <a:off x="4899355" y="5202936"/>
            <a:ext cx="2477110" cy="457200"/>
          </a:xfrm>
          <a:prstGeom prst="rect">
            <a:avLst/>
          </a:prstGeom>
          <a:noFill/>
          <a:ln/>
        </p:spPr>
        <p:txBody>
          <a:bodyPr wrap="square" lIns="0" tIns="0" rIns="0" bIns="0" rtlCol="0" anchor="t"/>
          <a:lstStyle/>
          <a:p>
            <a:pPr algn="l" indent="0" marL="0">
              <a:buNone/>
            </a:pPr>
            <a:r>
              <a:rPr lang="en-US" sz="1200" dirty="0">
                <a:solidFill>
                  <a:srgbClr val="DBEAFE"/>
                </a:solidFill>
                <a:latin typeface="Noto Sans JP" pitchFamily="34" charset="0"/>
                <a:ea typeface="Noto Sans JP" pitchFamily="34" charset="-122"/>
                <a:cs typeface="Noto Sans JP" pitchFamily="34" charset="-120"/>
              </a:rPr>
              <a:t>「知識」と「作業」の分離による標準化と属人化解消</a:t>
            </a:r>
            <a:endParaRPr lang="en-US" sz="1200" dirty="0"/>
          </a:p>
        </p:txBody>
      </p:sp>
      <p:sp>
        <p:nvSpPr>
          <p:cNvPr id="17" name="Shape 11"/>
          <p:cNvSpPr/>
          <p:nvPr/>
        </p:nvSpPr>
        <p:spPr>
          <a:xfrm>
            <a:off x="7683703" y="4621378"/>
            <a:ext cx="2800807" cy="1238098"/>
          </a:xfrm>
          <a:prstGeom prst="roundRect">
            <a:avLst>
              <a:gd name="adj" fmla="val 6817"/>
            </a:avLst>
          </a:prstGeom>
          <a:solidFill>
            <a:srgbClr val="FFFFFF">
              <a:alpha val="10000"/>
            </a:srgbClr>
          </a:solidFill>
          <a:ln w="12700">
            <a:solidFill>
              <a:srgbClr val="FFFFFF">
                <a:alpha val="20000"/>
              </a:srgbClr>
            </a:solidFill>
            <a:prstDash val="solid"/>
          </a:ln>
        </p:spPr>
      </p:sp>
      <p:sp>
        <p:nvSpPr>
          <p:cNvPr id="18" name="Text 12"/>
          <p:cNvSpPr txBox="1"/>
          <p:nvPr/>
        </p:nvSpPr>
        <p:spPr>
          <a:xfrm>
            <a:off x="8150047" y="4821631"/>
            <a:ext cx="2324405"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計画と実績の可視化</a:t>
            </a:r>
            <a:endParaRPr lang="en-US" sz="1500" dirty="0"/>
          </a:p>
        </p:txBody>
      </p:sp>
      <p:pic>
        <p:nvPicPr>
          <p:cNvPr id="19" name="Image 4" descr="preencoded.png">    </p:cNvPr>
          <p:cNvPicPr>
            <a:picLocks noChangeAspect="1"/>
          </p:cNvPicPr>
          <p:nvPr/>
        </p:nvPicPr>
        <p:blipFill>
          <a:blip r:embed="rId5"/>
          <a:srcRect l="0" r="0" t="0" b="0"/>
          <a:stretch/>
        </p:blipFill>
        <p:spPr>
          <a:xfrm>
            <a:off x="7883042" y="4878324"/>
            <a:ext cx="171907" cy="171907"/>
          </a:xfrm>
          <a:prstGeom prst="rect">
            <a:avLst/>
          </a:prstGeom>
        </p:spPr>
      </p:pic>
      <p:sp>
        <p:nvSpPr>
          <p:cNvPr id="20" name="Text 13"/>
          <p:cNvSpPr txBox="1"/>
          <p:nvPr/>
        </p:nvSpPr>
        <p:spPr>
          <a:xfrm>
            <a:off x="7883042" y="5202936"/>
            <a:ext cx="2477110" cy="457200"/>
          </a:xfrm>
          <a:prstGeom prst="rect">
            <a:avLst/>
          </a:prstGeom>
          <a:noFill/>
          <a:ln/>
        </p:spPr>
        <p:txBody>
          <a:bodyPr wrap="square" lIns="0" tIns="0" rIns="0" bIns="0" rtlCol="0" anchor="t"/>
          <a:lstStyle/>
          <a:p>
            <a:pPr algn="l" indent="0" marL="0">
              <a:buNone/>
            </a:pPr>
            <a:r>
              <a:rPr lang="en-US" sz="1200" dirty="0">
                <a:solidFill>
                  <a:srgbClr val="DBEAFE"/>
                </a:solidFill>
                <a:latin typeface="Noto Sans JP" pitchFamily="34" charset="0"/>
                <a:ea typeface="Noto Sans JP" pitchFamily="34" charset="-122"/>
                <a:cs typeface="Noto Sans JP" pitchFamily="34" charset="-120"/>
              </a:rPr>
              <a:t>「依頼と実行」関係の正常化とマネジメント機能の回復</a:t>
            </a:r>
            <a:endParaRPr lang="en-US" sz="1200" dirty="0"/>
          </a:p>
        </p:txBody>
      </p:sp>
      <p:pic>
        <p:nvPicPr>
          <p:cNvPr id="21" name="Image 5" descr="preencoded.png">    </p:cNvPr>
          <p:cNvPicPr>
            <a:picLocks noChangeAspect="1"/>
          </p:cNvPicPr>
          <p:nvPr/>
        </p:nvPicPr>
        <p:blipFill>
          <a:blip r:embed="rId6"/>
          <a:srcRect l="0" r="0" t="-400" b="-400"/>
          <a:stretch/>
        </p:blipFill>
        <p:spPr>
          <a:xfrm>
            <a:off x="5524805" y="6240780"/>
            <a:ext cx="1143000" cy="57607"/>
          </a:xfrm>
          <a:prstGeom prst="rect">
            <a:avLst/>
          </a:prstGeom>
        </p:spPr>
      </p:pic>
      <p:sp>
        <p:nvSpPr>
          <p:cNvPr id="22" name="Shape 14"/>
          <p:cNvSpPr/>
          <p:nvPr/>
        </p:nvSpPr>
        <p:spPr>
          <a:xfrm>
            <a:off x="4572000" y="2407615"/>
            <a:ext cx="3047695" cy="19202"/>
          </a:xfrm>
          <a:prstGeom prst="rect">
            <a:avLst/>
          </a:prstGeom>
          <a:solidFill>
            <a:srgbClr val="93C5FD"/>
          </a:solidFill>
          <a:ln w="12700">
            <a:solidFill>
              <a:srgbClr val="93C5FD">
                <a:alpha val="0"/>
              </a:srgbClr>
            </a:solidFill>
            <a:prstDash val="solid"/>
          </a:ln>
        </p:spPr>
      </p:sp>
      <p:sp>
        <p:nvSpPr>
          <p:cNvPr id="23" name="Text 15"/>
          <p:cNvSpPr txBox="1"/>
          <p:nvPr/>
        </p:nvSpPr>
        <p:spPr>
          <a:xfrm>
            <a:off x="4486961" y="1988820"/>
            <a:ext cx="3218688" cy="343814"/>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spc="180" kern="0" dirty="0">
                <a:solidFill>
                  <a:srgbClr val="93C5FD"/>
                </a:solidFill>
                <a:latin typeface="Noto Sans JP" pitchFamily="34" charset="0"/>
                <a:ea typeface="Noto Sans JP" pitchFamily="34" charset="-122"/>
                <a:cs typeface="Noto Sans JP" pitchFamily="34" charset="-120"/>
              </a:rPr>
              <a:t>DIRECTION OF REFORM</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5535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781251"/>
          </a:xfrm>
          <a:prstGeom prst="roundRect">
            <a:avLst>
              <a:gd name="adj" fmla="val 101859"/>
            </a:avLst>
          </a:prstGeom>
          <a:solidFill>
            <a:srgbClr val="10B981"/>
          </a:solidFill>
          <a:ln w="12700">
            <a:solidFill>
              <a:srgbClr val="10B981">
                <a:alpha val="0"/>
              </a:srgbClr>
            </a:solidFill>
            <a:prstDash val="solid"/>
          </a:ln>
        </p:spPr>
      </p:sp>
      <p:sp>
        <p:nvSpPr>
          <p:cNvPr id="7" name="Shape 5"/>
          <p:cNvSpPr/>
          <p:nvPr/>
        </p:nvSpPr>
        <p:spPr>
          <a:xfrm>
            <a:off x="933602" y="1561795"/>
            <a:ext cx="381305" cy="381305"/>
          </a:xfrm>
          <a:prstGeom prst="ellipse">
            <a:avLst/>
          </a:prstGeom>
          <a:solidFill>
            <a:srgbClr val="D1FAE5"/>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1009498" y="1638605"/>
            <a:ext cx="228600" cy="228600"/>
          </a:xfrm>
          <a:prstGeom prst="rect">
            <a:avLst/>
          </a:prstGeom>
        </p:spPr>
      </p:pic>
      <p:sp>
        <p:nvSpPr>
          <p:cNvPr id="9" name="Text 6"/>
          <p:cNvSpPr txBox="1"/>
          <p:nvPr/>
        </p:nvSpPr>
        <p:spPr>
          <a:xfrm>
            <a:off x="1466698" y="1595628"/>
            <a:ext cx="1821485"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自律的な業務完結</a:t>
            </a:r>
            <a:endParaRPr lang="en-US" sz="1600" dirty="0"/>
          </a:p>
        </p:txBody>
      </p:sp>
      <p:sp>
        <p:nvSpPr>
          <p:cNvPr id="10" name="Text 7"/>
          <p:cNvSpPr txBox="1"/>
          <p:nvPr/>
        </p:nvSpPr>
        <p:spPr>
          <a:xfrm>
            <a:off x="933602" y="2057400"/>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現場でのシフト変更や経費申請が、承認された瞬間に給与計算や会計の基礎データとして確定します。</a:t>
            </a:r>
            <a:pPr algn="l" indent="0" marL="0">
              <a:buNone/>
            </a:pPr>
            <a:endParaRPr lang="en-US" sz="1300" dirty="0"/>
          </a:p>
          <a:p>
            <a:pPr algn="l" indent="0" marL="0">
              <a:buNone/>
            </a:pPr>
            <a:r>
              <a:rPr lang="en-US" sz="1300" b="1" dirty="0">
                <a:solidFill>
                  <a:srgbClr val="111827"/>
                </a:solidFill>
                <a:latin typeface="Noto Sans JP" pitchFamily="34" charset="0"/>
                <a:ea typeface="Noto Sans JP" pitchFamily="34" charset="-122"/>
                <a:cs typeface="Noto Sans JP" pitchFamily="34" charset="-120"/>
              </a:rPr>
              <a:t>後工程での「再入力」や「加工」は一切行いません。</a:t>
            </a:r>
            <a:endParaRPr lang="en-US" sz="1300" dirty="0"/>
          </a:p>
        </p:txBody>
      </p:sp>
      <p:sp>
        <p:nvSpPr>
          <p:cNvPr id="11" name="Shape 8"/>
          <p:cNvSpPr/>
          <p:nvPr/>
        </p:nvSpPr>
        <p:spPr>
          <a:xfrm>
            <a:off x="571500" y="3337560"/>
            <a:ext cx="6953098" cy="2057400"/>
          </a:xfrm>
          <a:prstGeom prst="roundRect">
            <a:avLst>
              <a:gd name="adj" fmla="val 2469"/>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337560"/>
            <a:ext cx="57607" cy="2057400"/>
          </a:xfrm>
          <a:prstGeom prst="roundRect">
            <a:avLst>
              <a:gd name="adj" fmla="val 88184"/>
            </a:avLst>
          </a:prstGeom>
          <a:solidFill>
            <a:srgbClr val="3B82F6"/>
          </a:solidFill>
          <a:ln w="12700">
            <a:solidFill>
              <a:srgbClr val="3B82F6">
                <a:alpha val="0"/>
              </a:srgbClr>
            </a:solidFill>
            <a:prstDash val="solid"/>
          </a:ln>
        </p:spPr>
      </p:sp>
      <p:sp>
        <p:nvSpPr>
          <p:cNvPr id="13" name="Shape 10"/>
          <p:cNvSpPr/>
          <p:nvPr/>
        </p:nvSpPr>
        <p:spPr>
          <a:xfrm>
            <a:off x="933602" y="3566160"/>
            <a:ext cx="381305" cy="381305"/>
          </a:xfrm>
          <a:prstGeom prst="ellipse">
            <a:avLst/>
          </a:prstGeom>
          <a:solidFill>
            <a:srgbClr val="DBEAFE"/>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45" b="-45"/>
          <a:stretch/>
        </p:blipFill>
        <p:spPr>
          <a:xfrm>
            <a:off x="995782" y="3642055"/>
            <a:ext cx="256946" cy="228600"/>
          </a:xfrm>
          <a:prstGeom prst="rect">
            <a:avLst/>
          </a:prstGeom>
        </p:spPr>
      </p:pic>
      <p:sp>
        <p:nvSpPr>
          <p:cNvPr id="15" name="Text 11"/>
          <p:cNvSpPr txBox="1"/>
          <p:nvPr/>
        </p:nvSpPr>
        <p:spPr>
          <a:xfrm>
            <a:off x="1466698" y="3599078"/>
            <a:ext cx="302300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一個流し（One Piece Flow）</a:t>
            </a:r>
            <a:endParaRPr lang="en-US" sz="1600" dirty="0"/>
          </a:p>
        </p:txBody>
      </p:sp>
      <p:sp>
        <p:nvSpPr>
          <p:cNvPr id="16" name="Text 12"/>
          <p:cNvSpPr txBox="1"/>
          <p:nvPr/>
        </p:nvSpPr>
        <p:spPr>
          <a:xfrm>
            <a:off x="933602" y="4061765"/>
            <a:ext cx="6363310" cy="1105510"/>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データを「月末にまとめて」処理するのではなく、発生した都度、一つずつ処理を流します。</a:t>
            </a:r>
            <a:pPr algn="l" indent="0" marL="0">
              <a:buNone/>
            </a:pPr>
            <a:endParaRPr lang="en-US" sz="1300" dirty="0"/>
          </a:p>
          <a:p>
            <a:pPr algn="l" indent="0" marL="0">
              <a:buNone/>
            </a:pPr>
            <a:r>
              <a:rPr lang="en-US" sz="1300" dirty="0">
                <a:solidFill>
                  <a:srgbClr val="4B5563"/>
                </a:solidFill>
                <a:latin typeface="Noto Sans JP" pitchFamily="34" charset="0"/>
                <a:ea typeface="Noto Sans JP" pitchFamily="34" charset="-122"/>
                <a:cs typeface="Noto Sans JP" pitchFamily="34" charset="-120"/>
              </a:rPr>
              <a:t> 業務の滞留を防ぎ、</a:t>
            </a:r>
            <a:pPr algn="l" indent="0" marL="0">
              <a:buNone/>
            </a:pPr>
            <a:r>
              <a:rPr lang="en-US" sz="1300" b="1" dirty="0">
                <a:solidFill>
                  <a:srgbClr val="111827"/>
                </a:solidFill>
                <a:latin typeface="Noto Sans JP" pitchFamily="34" charset="0"/>
                <a:ea typeface="Noto Sans JP" pitchFamily="34" charset="-122"/>
                <a:cs typeface="Noto Sans JP" pitchFamily="34" charset="-120"/>
              </a:rPr>
              <a:t>常に最新の状況（リアルタイムな経営数値）</a:t>
            </a:r>
            <a:pPr algn="l" indent="0" marL="0">
              <a:buNone/>
            </a:pPr>
            <a:r>
              <a:rPr lang="en-US" sz="1300" dirty="0">
                <a:solidFill>
                  <a:srgbClr val="4B5563"/>
                </a:solidFill>
                <a:latin typeface="Noto Sans JP" pitchFamily="34" charset="0"/>
                <a:ea typeface="Noto Sans JP" pitchFamily="34" charset="-122"/>
                <a:cs typeface="Noto Sans JP" pitchFamily="34" charset="-120"/>
              </a:rPr>
              <a:t>が可視化されます。 </a:t>
            </a:r>
            <a:endParaRPr lang="en-US" sz="1300" dirty="0"/>
          </a:p>
        </p:txBody>
      </p:sp>
      <p:sp>
        <p:nvSpPr>
          <p:cNvPr id="17" name="Shape 13"/>
          <p:cNvSpPr/>
          <p:nvPr/>
        </p:nvSpPr>
        <p:spPr>
          <a:xfrm>
            <a:off x="571500" y="5615330"/>
            <a:ext cx="6953098" cy="1505102"/>
          </a:xfrm>
          <a:prstGeom prst="roundRect">
            <a:avLst>
              <a:gd name="adj" fmla="val 461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615330"/>
            <a:ext cx="57607" cy="1505102"/>
          </a:xfrm>
          <a:prstGeom prst="roundRect">
            <a:avLst>
              <a:gd name="adj" fmla="val 120555"/>
            </a:avLst>
          </a:prstGeom>
          <a:solidFill>
            <a:srgbClr val="F59E0B"/>
          </a:solidFill>
          <a:ln w="12700">
            <a:solidFill>
              <a:srgbClr val="F59E0B">
                <a:alpha val="0"/>
              </a:srgbClr>
            </a:solidFill>
            <a:prstDash val="solid"/>
          </a:ln>
        </p:spPr>
      </p:sp>
      <p:sp>
        <p:nvSpPr>
          <p:cNvPr id="19" name="Shape 15"/>
          <p:cNvSpPr/>
          <p:nvPr/>
        </p:nvSpPr>
        <p:spPr>
          <a:xfrm>
            <a:off x="933602" y="5843930"/>
            <a:ext cx="381305" cy="381305"/>
          </a:xfrm>
          <a:prstGeom prst="ellipse">
            <a:avLst/>
          </a:prstGeom>
          <a:solidFill>
            <a:srgbClr val="FEF3C7"/>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57" r="-57" t="0" b="0"/>
          <a:stretch/>
        </p:blipFill>
        <p:spPr>
          <a:xfrm>
            <a:off x="1024128" y="5920740"/>
            <a:ext cx="200254" cy="228600"/>
          </a:xfrm>
          <a:prstGeom prst="rect">
            <a:avLst/>
          </a:prstGeom>
        </p:spPr>
      </p:pic>
      <p:sp>
        <p:nvSpPr>
          <p:cNvPr id="21" name="Text 16"/>
          <p:cNvSpPr txBox="1"/>
          <p:nvPr/>
        </p:nvSpPr>
        <p:spPr>
          <a:xfrm>
            <a:off x="1466698" y="5877763"/>
            <a:ext cx="2489911"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劇的なリードタイム短縮</a:t>
            </a:r>
            <a:endParaRPr lang="en-US" sz="1600" dirty="0"/>
          </a:p>
        </p:txBody>
      </p:sp>
      <p:sp>
        <p:nvSpPr>
          <p:cNvPr id="22" name="Text 17"/>
          <p:cNvSpPr txBox="1"/>
          <p:nvPr/>
        </p:nvSpPr>
        <p:spPr>
          <a:xfrm>
            <a:off x="933602" y="6339535"/>
            <a:ext cx="6363310" cy="553212"/>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データの鮮度と正確性を保ちながら、決算早期化の最大のボトルネックとなっている</a:t>
            </a:r>
            <a:pPr algn="l" indent="0" marL="0">
              <a:buNone/>
            </a:pPr>
            <a:r>
              <a:rPr lang="en-US" sz="1300" b="1" dirty="0">
                <a:solidFill>
                  <a:srgbClr val="111827"/>
                </a:solidFill>
                <a:latin typeface="Noto Sans JP" pitchFamily="34" charset="0"/>
                <a:ea typeface="Noto Sans JP" pitchFamily="34" charset="-122"/>
                <a:cs typeface="Noto Sans JP" pitchFamily="34" charset="-120"/>
              </a:rPr>
              <a:t>「確認・修正・再入力」の時間を削減</a:t>
            </a:r>
            <a:pPr algn="l" indent="0" marL="0">
              <a:buNone/>
            </a:pPr>
            <a:r>
              <a:rPr lang="en-US" sz="1300" dirty="0">
                <a:solidFill>
                  <a:srgbClr val="4B5563"/>
                </a:solidFill>
                <a:latin typeface="Noto Sans JP" pitchFamily="34" charset="0"/>
                <a:ea typeface="Noto Sans JP" pitchFamily="34" charset="-122"/>
                <a:cs typeface="Noto Sans JP" pitchFamily="34" charset="-120"/>
              </a:rPr>
              <a:t>します。 </a:t>
            </a:r>
            <a:endParaRPr lang="en-US" sz="1300" dirty="0"/>
          </a:p>
        </p:txBody>
      </p:sp>
      <p:sp>
        <p:nvSpPr>
          <p:cNvPr id="23" name="Shape 18"/>
          <p:cNvSpPr/>
          <p:nvPr/>
        </p:nvSpPr>
        <p:spPr>
          <a:xfrm>
            <a:off x="8984894" y="2148840"/>
            <a:ext cx="1657807" cy="381305"/>
          </a:xfrm>
          <a:prstGeom prst="roundRect">
            <a:avLst>
              <a:gd name="adj" fmla="val 119904"/>
            </a:avLst>
          </a:prstGeom>
          <a:solidFill>
            <a:srgbClr val="F59E0B"/>
          </a:solidFill>
          <a:ln w="12700">
            <a:solidFill>
              <a:srgbClr val="FFFFFF">
                <a:alpha val="0"/>
              </a:srgbClr>
            </a:solidFill>
            <a:prstDash val="solid"/>
          </a:ln>
        </p:spPr>
      </p:sp>
      <p:sp>
        <p:nvSpPr>
          <p:cNvPr id="24" name="Text 19"/>
          <p:cNvSpPr txBox="1"/>
          <p:nvPr/>
        </p:nvSpPr>
        <p:spPr>
          <a:xfrm>
            <a:off x="9366199" y="2148840"/>
            <a:ext cx="1342339"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 Real-time Flow </a:t>
            </a:r>
            <a:endParaRPr lang="en-US" sz="1200" dirty="0"/>
          </a:p>
        </p:txBody>
      </p:sp>
      <p:pic>
        <p:nvPicPr>
          <p:cNvPr id="25" name="Image 3" descr="preencoded.png">    </p:cNvPr>
          <p:cNvPicPr>
            <a:picLocks noChangeAspect="1"/>
          </p:cNvPicPr>
          <p:nvPr/>
        </p:nvPicPr>
        <p:blipFill>
          <a:blip r:embed="rId4"/>
          <a:srcRect l="0" r="0" t="0" b="0"/>
          <a:stretch/>
        </p:blipFill>
        <p:spPr>
          <a:xfrm>
            <a:off x="9136685" y="2263140"/>
            <a:ext cx="152705" cy="152705"/>
          </a:xfrm>
          <a:prstGeom prst="rect">
            <a:avLst/>
          </a:prstGeom>
        </p:spPr>
      </p:pic>
      <p:sp>
        <p:nvSpPr>
          <p:cNvPr id="26" name="Shape 20"/>
          <p:cNvSpPr/>
          <p:nvPr/>
        </p:nvSpPr>
        <p:spPr>
          <a:xfrm>
            <a:off x="8001000" y="2720340"/>
            <a:ext cx="3619195" cy="2857500"/>
          </a:xfrm>
          <a:prstGeom prst="roundRect">
            <a:avLst>
              <a:gd name="adj" fmla="val 1280"/>
            </a:avLst>
          </a:prstGeom>
          <a:solidFill>
            <a:srgbClr val="F3F4F6"/>
          </a:solidFill>
          <a:ln w="12700">
            <a:solidFill>
              <a:srgbClr val="FFFFFF">
                <a:alpha val="0"/>
              </a:srgbClr>
            </a:solidFill>
            <a:prstDash val="solid"/>
          </a:ln>
        </p:spPr>
      </p:sp>
      <p:pic>
        <p:nvPicPr>
          <p:cNvPr id="27" name="Image 4" descr="preencoded.png">    </p:cNvPr>
          <p:cNvPicPr>
            <a:picLocks noChangeAspect="1"/>
          </p:cNvPicPr>
          <p:nvPr/>
        </p:nvPicPr>
        <p:blipFill>
          <a:blip r:embed="rId5"/>
          <a:srcRect l="0" r="0" t="-80" b="-80"/>
          <a:stretch/>
        </p:blipFill>
        <p:spPr>
          <a:xfrm>
            <a:off x="9058046" y="4034333"/>
            <a:ext cx="142646" cy="228600"/>
          </a:xfrm>
          <a:prstGeom prst="rect">
            <a:avLst/>
          </a:prstGeom>
        </p:spPr>
      </p:pic>
      <p:pic>
        <p:nvPicPr>
          <p:cNvPr id="28" name="Image 5" descr="preencoded.png">    </p:cNvPr>
          <p:cNvPicPr>
            <a:picLocks noChangeAspect="1"/>
          </p:cNvPicPr>
          <p:nvPr/>
        </p:nvPicPr>
        <p:blipFill>
          <a:blip r:embed="rId6"/>
          <a:srcRect l="0" r="0" t="-80" b="-80"/>
          <a:stretch/>
        </p:blipFill>
        <p:spPr>
          <a:xfrm>
            <a:off x="10420502" y="4034333"/>
            <a:ext cx="142646" cy="228600"/>
          </a:xfrm>
          <a:prstGeom prst="rect">
            <a:avLst/>
          </a:prstGeom>
        </p:spPr>
      </p:pic>
      <p:sp>
        <p:nvSpPr>
          <p:cNvPr id="29" name="Text 21"/>
          <p:cNvSpPr txBox="1"/>
          <p:nvPr/>
        </p:nvSpPr>
        <p:spPr>
          <a:xfrm>
            <a:off x="8802929" y="5768035"/>
            <a:ext cx="2016252"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従来のバッチ処理（月末一括）</a:t>
            </a:r>
            <a:endParaRPr lang="en-US" sz="1000" dirty="0"/>
          </a:p>
        </p:txBody>
      </p:sp>
      <p:pic>
        <p:nvPicPr>
          <p:cNvPr id="30" name="Image 6" descr="preencoded.png">    </p:cNvPr>
          <p:cNvPicPr>
            <a:picLocks noChangeAspect="1"/>
          </p:cNvPicPr>
          <p:nvPr/>
        </p:nvPicPr>
        <p:blipFill>
          <a:blip r:embed="rId7"/>
          <a:srcRect l="-209" r="-209" t="0" b="0"/>
          <a:stretch/>
        </p:blipFill>
        <p:spPr>
          <a:xfrm>
            <a:off x="8876995" y="6035040"/>
            <a:ext cx="1867205" cy="75895"/>
          </a:xfrm>
          <a:prstGeom prst="rect">
            <a:avLst/>
          </a:prstGeom>
        </p:spPr>
      </p:pic>
      <p:pic>
        <p:nvPicPr>
          <p:cNvPr id="31" name="Image 7" descr="preencoded.png">    </p:cNvPr>
          <p:cNvPicPr>
            <a:picLocks noChangeAspect="1"/>
          </p:cNvPicPr>
          <p:nvPr/>
        </p:nvPicPr>
        <p:blipFill>
          <a:blip r:embed="rId8"/>
          <a:srcRect l="-163" r="-163" t="0" b="0"/>
          <a:stretch/>
        </p:blipFill>
        <p:spPr>
          <a:xfrm>
            <a:off x="10184587" y="6035040"/>
            <a:ext cx="559613" cy="75895"/>
          </a:xfrm>
          <a:prstGeom prst="rect">
            <a:avLst/>
          </a:prstGeom>
        </p:spPr>
      </p:pic>
      <p:sp>
        <p:nvSpPr>
          <p:cNvPr id="32" name="Text 22"/>
          <p:cNvSpPr txBox="1"/>
          <p:nvPr/>
        </p:nvSpPr>
        <p:spPr>
          <a:xfrm>
            <a:off x="8802929" y="6149340"/>
            <a:ext cx="2016252" cy="152705"/>
          </a:xfrm>
          <a:prstGeom prst="rect">
            <a:avLst/>
          </a:prstGeom>
          <a:noFill/>
          <a:ln/>
        </p:spPr>
        <p:txBody>
          <a:bodyPr wrap="square" lIns="0" tIns="0" rIns="0" bIns="0" rtlCol="0" anchor="ctr"/>
          <a:lstStyle/>
          <a:p>
            <a:pPr algn="ctr" indent="0" marL="0">
              <a:buNone/>
            </a:pPr>
            <a:r>
              <a:rPr lang="en-US" sz="900" dirty="0">
                <a:solidFill>
                  <a:srgbClr val="EF4444"/>
                </a:solidFill>
                <a:latin typeface="Noto Sans JP" pitchFamily="34" charset="0"/>
                <a:ea typeface="Noto Sans JP" pitchFamily="34" charset="-122"/>
                <a:cs typeface="Noto Sans JP" pitchFamily="34" charset="-120"/>
              </a:rPr>
              <a:t>月末に負荷集中</a:t>
            </a:r>
            <a:endParaRPr lang="en-US" sz="900" dirty="0"/>
          </a:p>
        </p:txBody>
      </p:sp>
      <p:pic>
        <p:nvPicPr>
          <p:cNvPr id="33" name="Image 8" descr="preencoded.png">    </p:cNvPr>
          <p:cNvPicPr>
            <a:picLocks noChangeAspect="1"/>
          </p:cNvPicPr>
          <p:nvPr/>
        </p:nvPicPr>
        <p:blipFill>
          <a:blip r:embed="rId9"/>
          <a:srcRect l="0" r="0" t="-395" b="-395"/>
          <a:stretch/>
        </p:blipFill>
        <p:spPr>
          <a:xfrm>
            <a:off x="8363102" y="3177540"/>
            <a:ext cx="2895905" cy="38405"/>
          </a:xfrm>
          <a:prstGeom prst="rect">
            <a:avLst/>
          </a:prstGeom>
        </p:spPr>
      </p:pic>
      <p:sp>
        <p:nvSpPr>
          <p:cNvPr id="34" name="Shape 23"/>
          <p:cNvSpPr/>
          <p:nvPr/>
        </p:nvSpPr>
        <p:spPr>
          <a:xfrm>
            <a:off x="8162849" y="3725266"/>
            <a:ext cx="571500" cy="571500"/>
          </a:xfrm>
          <a:prstGeom prst="ellipse">
            <a:avLst/>
          </a:prstGeom>
          <a:solidFill>
            <a:srgbClr val="FFFFFF"/>
          </a:solidFill>
          <a:ln w="38100">
            <a:solidFill>
              <a:srgbClr val="3B82F6"/>
            </a:solidFill>
            <a:prstDash val="solid"/>
          </a:ln>
        </p:spPr>
      </p:sp>
      <p:pic>
        <p:nvPicPr>
          <p:cNvPr id="35" name="Image 9" descr="preencoded.png">    </p:cNvPr>
          <p:cNvPicPr>
            <a:picLocks noChangeAspect="1"/>
          </p:cNvPicPr>
          <p:nvPr/>
        </p:nvPicPr>
        <p:blipFill>
          <a:blip r:embed="rId10"/>
          <a:srcRect l="-80" r="-80" t="0" b="0"/>
          <a:stretch/>
        </p:blipFill>
        <p:spPr>
          <a:xfrm>
            <a:off x="8305495" y="3896258"/>
            <a:ext cx="286207" cy="228600"/>
          </a:xfrm>
          <a:prstGeom prst="rect">
            <a:avLst/>
          </a:prstGeom>
        </p:spPr>
      </p:pic>
      <p:sp>
        <p:nvSpPr>
          <p:cNvPr id="36" name="Text 24"/>
          <p:cNvSpPr txBox="1"/>
          <p:nvPr/>
        </p:nvSpPr>
        <p:spPr>
          <a:xfrm>
            <a:off x="8182051" y="4372661"/>
            <a:ext cx="609905" cy="200254"/>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現場入力</a:t>
            </a:r>
            <a:endParaRPr lang="en-US" sz="1000" dirty="0"/>
          </a:p>
        </p:txBody>
      </p:sp>
      <p:sp>
        <p:nvSpPr>
          <p:cNvPr id="37" name="Shape 25"/>
          <p:cNvSpPr/>
          <p:nvPr/>
        </p:nvSpPr>
        <p:spPr>
          <a:xfrm>
            <a:off x="9525305" y="3725266"/>
            <a:ext cx="571500" cy="571500"/>
          </a:xfrm>
          <a:prstGeom prst="ellipse">
            <a:avLst/>
          </a:prstGeom>
          <a:solidFill>
            <a:srgbClr val="FFFFFF"/>
          </a:solidFill>
          <a:ln w="38100">
            <a:solidFill>
              <a:srgbClr val="10B981"/>
            </a:solidFill>
            <a:prstDash val="solid"/>
          </a:ln>
        </p:spPr>
      </p:sp>
      <p:pic>
        <p:nvPicPr>
          <p:cNvPr id="38" name="Image 10" descr="preencoded.png">    </p:cNvPr>
          <p:cNvPicPr>
            <a:picLocks noChangeAspect="1"/>
          </p:cNvPicPr>
          <p:nvPr/>
        </p:nvPicPr>
        <p:blipFill>
          <a:blip r:embed="rId11"/>
          <a:srcRect l="-57" r="-57" t="0" b="0"/>
          <a:stretch/>
        </p:blipFill>
        <p:spPr>
          <a:xfrm>
            <a:off x="9710928" y="3896258"/>
            <a:ext cx="200254" cy="228600"/>
          </a:xfrm>
          <a:prstGeom prst="rect">
            <a:avLst/>
          </a:prstGeom>
        </p:spPr>
      </p:pic>
      <p:sp>
        <p:nvSpPr>
          <p:cNvPr id="39" name="Text 26"/>
          <p:cNvSpPr txBox="1"/>
          <p:nvPr/>
        </p:nvSpPr>
        <p:spPr>
          <a:xfrm>
            <a:off x="9544507" y="4372661"/>
            <a:ext cx="609905" cy="200254"/>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即時確定</a:t>
            </a:r>
            <a:endParaRPr lang="en-US" sz="1000" dirty="0"/>
          </a:p>
        </p:txBody>
      </p:sp>
      <p:sp>
        <p:nvSpPr>
          <p:cNvPr id="40" name="Shape 27"/>
          <p:cNvSpPr/>
          <p:nvPr/>
        </p:nvSpPr>
        <p:spPr>
          <a:xfrm>
            <a:off x="10886846" y="3725266"/>
            <a:ext cx="571500" cy="571500"/>
          </a:xfrm>
          <a:prstGeom prst="ellipse">
            <a:avLst/>
          </a:prstGeom>
          <a:solidFill>
            <a:srgbClr val="FFFFFF"/>
          </a:solidFill>
          <a:ln w="38100">
            <a:solidFill>
              <a:srgbClr val="F59E0B"/>
            </a:solidFill>
            <a:prstDash val="solid"/>
          </a:ln>
        </p:spPr>
      </p:sp>
      <p:pic>
        <p:nvPicPr>
          <p:cNvPr id="41" name="Image 11" descr="preencoded.png">    </p:cNvPr>
          <p:cNvPicPr>
            <a:picLocks noChangeAspect="1"/>
          </p:cNvPicPr>
          <p:nvPr/>
        </p:nvPicPr>
        <p:blipFill>
          <a:blip r:embed="rId12"/>
          <a:srcRect l="0" r="0" t="0" b="0"/>
          <a:stretch/>
        </p:blipFill>
        <p:spPr>
          <a:xfrm>
            <a:off x="11058754" y="3896258"/>
            <a:ext cx="228600" cy="228600"/>
          </a:xfrm>
          <a:prstGeom prst="rect">
            <a:avLst/>
          </a:prstGeom>
        </p:spPr>
      </p:pic>
      <p:sp>
        <p:nvSpPr>
          <p:cNvPr id="42" name="Text 28"/>
          <p:cNvSpPr txBox="1"/>
          <p:nvPr/>
        </p:nvSpPr>
        <p:spPr>
          <a:xfrm>
            <a:off x="10906049" y="4372661"/>
            <a:ext cx="609905" cy="200254"/>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経営反映</a:t>
            </a:r>
            <a:endParaRPr lang="en-US" sz="1000" dirty="0"/>
          </a:p>
        </p:txBody>
      </p:sp>
      <p:sp>
        <p:nvSpPr>
          <p:cNvPr id="43" name="Shape 29"/>
          <p:cNvSpPr/>
          <p:nvPr/>
        </p:nvSpPr>
        <p:spPr>
          <a:xfrm>
            <a:off x="0" y="0"/>
            <a:ext cx="12191695" cy="952805"/>
          </a:xfrm>
          <a:prstGeom prst="rect">
            <a:avLst/>
          </a:prstGeom>
          <a:solidFill>
            <a:srgbClr val="FFFFFF"/>
          </a:solidFill>
          <a:ln/>
        </p:spPr>
      </p:sp>
      <p:sp>
        <p:nvSpPr>
          <p:cNvPr id="44" name="Shape 30"/>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5" name="Shape 31"/>
          <p:cNvSpPr/>
          <p:nvPr/>
        </p:nvSpPr>
        <p:spPr>
          <a:xfrm>
            <a:off x="571500" y="304495"/>
            <a:ext cx="990295" cy="418795"/>
          </a:xfrm>
          <a:prstGeom prst="roundRect">
            <a:avLst>
              <a:gd name="adj" fmla="val 19849"/>
            </a:avLst>
          </a:prstGeom>
          <a:solidFill>
            <a:srgbClr val="3B82F6"/>
          </a:solidFill>
          <a:ln w="12700">
            <a:solidFill>
              <a:srgbClr val="FFFFFF">
                <a:alpha val="0"/>
              </a:srgbClr>
            </a:solidFill>
            <a:prstDash val="solid"/>
          </a:ln>
        </p:spPr>
      </p:sp>
      <p:sp>
        <p:nvSpPr>
          <p:cNvPr id="46" name="Text 32"/>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原則①</a:t>
            </a:r>
            <a:endParaRPr lang="en-US" sz="1800" dirty="0"/>
          </a:p>
        </p:txBody>
      </p:sp>
      <p:sp>
        <p:nvSpPr>
          <p:cNvPr id="47" name="Text 33"/>
          <p:cNvSpPr txBox="1"/>
          <p:nvPr/>
        </p:nvSpPr>
        <p:spPr>
          <a:xfrm>
            <a:off x="1752905" y="286207"/>
            <a:ext cx="7496251"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源流入力による一気通貫（リアルタイム・一個流し）</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439205"/>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742846"/>
          </a:xfrm>
          <a:prstGeom prst="roundRect">
            <a:avLst>
              <a:gd name="adj" fmla="val 3440"/>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742846"/>
          </a:xfrm>
          <a:prstGeom prst="roundRect">
            <a:avLst>
              <a:gd name="adj" fmla="val 104086"/>
            </a:avLst>
          </a:prstGeom>
          <a:solidFill>
            <a:srgbClr val="EF4444"/>
          </a:solidFill>
          <a:ln w="12700">
            <a:solidFill>
              <a:srgbClr val="EF4444">
                <a:alpha val="0"/>
              </a:srgbClr>
            </a:solidFill>
            <a:prstDash val="solid"/>
          </a:ln>
        </p:spPr>
      </p:sp>
      <p:sp>
        <p:nvSpPr>
          <p:cNvPr id="7" name="Shape 5"/>
          <p:cNvSpPr/>
          <p:nvPr/>
        </p:nvSpPr>
        <p:spPr>
          <a:xfrm>
            <a:off x="933602" y="1561795"/>
            <a:ext cx="342900" cy="342900"/>
          </a:xfrm>
          <a:prstGeom prst="ellipse">
            <a:avLst/>
          </a:prstGeom>
          <a:solidFill>
            <a:srgbClr val="FEE2E2"/>
          </a:solidFill>
          <a:ln w="12700">
            <a:solidFill>
              <a:srgbClr val="FFFFFF">
                <a:alpha val="0"/>
              </a:srgbClr>
            </a:solidFill>
            <a:prstDash val="solid"/>
          </a:ln>
        </p:spPr>
      </p:sp>
      <p:pic>
        <p:nvPicPr>
          <p:cNvPr id="8" name="Image 0" descr="preencoded.png">    </p:cNvPr>
          <p:cNvPicPr>
            <a:picLocks noChangeAspect="1"/>
          </p:cNvPicPr>
          <p:nvPr/>
        </p:nvPicPr>
        <p:blipFill>
          <a:blip r:embed="rId1"/>
          <a:srcRect l="0" r="0" t="0" b="0"/>
          <a:stretch/>
        </p:blipFill>
        <p:spPr>
          <a:xfrm>
            <a:off x="1009498" y="1638605"/>
            <a:ext cx="190195" cy="190195"/>
          </a:xfrm>
          <a:prstGeom prst="rect">
            <a:avLst/>
          </a:prstGeom>
        </p:spPr>
      </p:pic>
      <p:sp>
        <p:nvSpPr>
          <p:cNvPr id="9" name="Text 6"/>
          <p:cNvSpPr txBox="1"/>
          <p:nvPr/>
        </p:nvSpPr>
        <p:spPr>
          <a:xfrm>
            <a:off x="1429207" y="1576426"/>
            <a:ext cx="114208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現状の問題</a:t>
            </a:r>
            <a:endParaRPr lang="en-US" sz="1600" dirty="0"/>
          </a:p>
        </p:txBody>
      </p:sp>
      <p:sp>
        <p:nvSpPr>
          <p:cNvPr id="10" name="Text 7"/>
          <p:cNvSpPr txBox="1"/>
          <p:nvPr/>
        </p:nvSpPr>
        <p:spPr>
          <a:xfrm>
            <a:off x="933602" y="201899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業務マニュアルや規定、過去の通達などの「知識」が散在し、現場職員は「何が正しいルールか」を即座に判断できません。その結果、</a:t>
            </a:r>
            <a:pPr algn="l" indent="0" marL="0">
              <a:buNone/>
            </a:pPr>
            <a:r>
              <a:rPr lang="en-US" sz="1300" b="1" dirty="0">
                <a:solidFill>
                  <a:srgbClr val="111827"/>
                </a:solidFill>
                <a:latin typeface="Noto Sans JP" pitchFamily="34" charset="0"/>
                <a:ea typeface="Noto Sans JP" pitchFamily="34" charset="-122"/>
                <a:cs typeface="Noto Sans JP" pitchFamily="34" charset="-120"/>
              </a:rPr>
              <a:t>「操作」のたびに迷い、担当者の記憶に頼った判断（属人化）が発生</a:t>
            </a:r>
            <a:pPr algn="l" indent="0" marL="0">
              <a:buNone/>
            </a:pPr>
            <a:r>
              <a:rPr lang="en-US" sz="1300" dirty="0">
                <a:solidFill>
                  <a:srgbClr val="4B5563"/>
                </a:solidFill>
                <a:latin typeface="Noto Sans JP" pitchFamily="34" charset="0"/>
                <a:ea typeface="Noto Sans JP" pitchFamily="34" charset="-122"/>
                <a:cs typeface="Noto Sans JP" pitchFamily="34" charset="-120"/>
              </a:rPr>
              <a:t>しています。 </a:t>
            </a:r>
            <a:endParaRPr lang="en-US" sz="1300" dirty="0"/>
          </a:p>
        </p:txBody>
      </p:sp>
      <p:sp>
        <p:nvSpPr>
          <p:cNvPr id="11" name="Shape 8"/>
          <p:cNvSpPr/>
          <p:nvPr/>
        </p:nvSpPr>
        <p:spPr>
          <a:xfrm>
            <a:off x="571500" y="3299155"/>
            <a:ext cx="6953098" cy="1742846"/>
          </a:xfrm>
          <a:prstGeom prst="roundRect">
            <a:avLst>
              <a:gd name="adj" fmla="val 3440"/>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299155"/>
            <a:ext cx="57607" cy="1742846"/>
          </a:xfrm>
          <a:prstGeom prst="roundRect">
            <a:avLst>
              <a:gd name="adj" fmla="val 104086"/>
            </a:avLst>
          </a:prstGeom>
          <a:solidFill>
            <a:srgbClr val="3B82F6"/>
          </a:solidFill>
          <a:ln w="12700">
            <a:solidFill>
              <a:srgbClr val="3B82F6">
                <a:alpha val="0"/>
              </a:srgbClr>
            </a:solidFill>
            <a:prstDash val="solid"/>
          </a:ln>
        </p:spPr>
      </p:sp>
      <p:sp>
        <p:nvSpPr>
          <p:cNvPr id="13" name="Shape 10"/>
          <p:cNvSpPr/>
          <p:nvPr/>
        </p:nvSpPr>
        <p:spPr>
          <a:xfrm>
            <a:off x="933602" y="3527755"/>
            <a:ext cx="342900" cy="342900"/>
          </a:xfrm>
          <a:prstGeom prst="ellipse">
            <a:avLst/>
          </a:prstGeom>
          <a:solidFill>
            <a:srgbClr val="DBEAFE"/>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0" r="0" t="0" b="0"/>
          <a:stretch/>
        </p:blipFill>
        <p:spPr>
          <a:xfrm>
            <a:off x="1033272" y="3604565"/>
            <a:ext cx="142646" cy="190195"/>
          </a:xfrm>
          <a:prstGeom prst="rect">
            <a:avLst/>
          </a:prstGeom>
        </p:spPr>
      </p:pic>
      <p:sp>
        <p:nvSpPr>
          <p:cNvPr id="15" name="Text 11"/>
          <p:cNvSpPr txBox="1"/>
          <p:nvPr/>
        </p:nvSpPr>
        <p:spPr>
          <a:xfrm>
            <a:off x="1429207" y="3542386"/>
            <a:ext cx="3134563"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解決策：ナレッジ・セントラル</a:t>
            </a:r>
            <a:endParaRPr lang="en-US" sz="1600" dirty="0"/>
          </a:p>
        </p:txBody>
      </p:sp>
      <p:sp>
        <p:nvSpPr>
          <p:cNvPr id="16" name="Text 12"/>
          <p:cNvSpPr txBox="1"/>
          <p:nvPr/>
        </p:nvSpPr>
        <p:spPr>
          <a:xfrm>
            <a:off x="933602" y="398495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「知識（ルール・規定・ノウハウ）」と「操作（日々の作業）」を明確に分離します。散在する知識を</a:t>
            </a:r>
            <a:pPr algn="l" indent="0" marL="0">
              <a:buNone/>
            </a:pPr>
            <a:r>
              <a:rPr lang="en-US" sz="1300" b="1" dirty="0">
                <a:solidFill>
                  <a:srgbClr val="111827"/>
                </a:solidFill>
                <a:latin typeface="Noto Sans JP" pitchFamily="34" charset="0"/>
                <a:ea typeface="Noto Sans JP" pitchFamily="34" charset="-122"/>
                <a:cs typeface="Noto Sans JP" pitchFamily="34" charset="-120"/>
              </a:rPr>
              <a:t>「組織の知識」として一元化し、システム（仕事ナビ）の中に組み込みます。</a:t>
            </a:r>
            <a:endParaRPr lang="en-US" sz="1300" dirty="0"/>
          </a:p>
        </p:txBody>
      </p:sp>
      <p:sp>
        <p:nvSpPr>
          <p:cNvPr id="17" name="Shape 13"/>
          <p:cNvSpPr/>
          <p:nvPr/>
        </p:nvSpPr>
        <p:spPr>
          <a:xfrm>
            <a:off x="571500" y="5265115"/>
            <a:ext cx="6953098" cy="1742846"/>
          </a:xfrm>
          <a:prstGeom prst="roundRect">
            <a:avLst>
              <a:gd name="adj" fmla="val 3440"/>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265115"/>
            <a:ext cx="57607" cy="1742846"/>
          </a:xfrm>
          <a:prstGeom prst="roundRect">
            <a:avLst>
              <a:gd name="adj" fmla="val 104086"/>
            </a:avLst>
          </a:prstGeom>
          <a:solidFill>
            <a:srgbClr val="10B981"/>
          </a:solidFill>
          <a:ln w="12700">
            <a:solidFill>
              <a:srgbClr val="10B981">
                <a:alpha val="0"/>
              </a:srgbClr>
            </a:solidFill>
            <a:prstDash val="solid"/>
          </a:ln>
        </p:spPr>
      </p:sp>
      <p:sp>
        <p:nvSpPr>
          <p:cNvPr id="19" name="Shape 15"/>
          <p:cNvSpPr/>
          <p:nvPr/>
        </p:nvSpPr>
        <p:spPr>
          <a:xfrm>
            <a:off x="933602" y="5493715"/>
            <a:ext cx="342900" cy="342900"/>
          </a:xfrm>
          <a:prstGeom prst="ellipse">
            <a:avLst/>
          </a:prstGeom>
          <a:solidFill>
            <a:srgbClr val="D1FAE5"/>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5569610"/>
            <a:ext cx="190195" cy="190195"/>
          </a:xfrm>
          <a:prstGeom prst="rect">
            <a:avLst/>
          </a:prstGeom>
        </p:spPr>
      </p:pic>
      <p:sp>
        <p:nvSpPr>
          <p:cNvPr id="21" name="Text 16"/>
          <p:cNvSpPr txBox="1"/>
          <p:nvPr/>
        </p:nvSpPr>
        <p:spPr>
          <a:xfrm>
            <a:off x="1429207" y="5508346"/>
            <a:ext cx="1594714"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期待される効果</a:t>
            </a:r>
            <a:endParaRPr lang="en-US" sz="1600" dirty="0"/>
          </a:p>
        </p:txBody>
      </p:sp>
      <p:sp>
        <p:nvSpPr>
          <p:cNvPr id="22" name="Text 17"/>
          <p:cNvSpPr txBox="1"/>
          <p:nvPr/>
        </p:nvSpPr>
        <p:spPr>
          <a:xfrm>
            <a:off x="933602" y="595091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 </a:t>
            </a:r>
            <a:pPr algn="l" indent="0" marL="0">
              <a:buNone/>
            </a:pPr>
            <a:r>
              <a:rPr lang="en-US" sz="1300" b="1" dirty="0">
                <a:solidFill>
                  <a:srgbClr val="4B5563"/>
                </a:solidFill>
                <a:latin typeface="Noto Sans JP" pitchFamily="34" charset="0"/>
                <a:ea typeface="Noto Sans JP" pitchFamily="34" charset="-122"/>
                <a:cs typeface="Noto Sans JP" pitchFamily="34" charset="-120"/>
              </a:rPr>
              <a:t>判断基準の統一：</a:t>
            </a:r>
            <a:pPr algn="l" indent="0" marL="0">
              <a:buNone/>
            </a:pPr>
            <a:r>
              <a:rPr lang="en-US" sz="1300" dirty="0">
                <a:solidFill>
                  <a:srgbClr val="4B5563"/>
                </a:solidFill>
                <a:latin typeface="Noto Sans JP" pitchFamily="34" charset="0"/>
                <a:ea typeface="Noto Sans JP" pitchFamily="34" charset="-122"/>
                <a:cs typeface="Noto Sans JP" pitchFamily="34" charset="-120"/>
              </a:rPr>
              <a:t>誰が入力しても同じ結果が得られる（標準化）</a:t>
            </a:r>
            <a:pPr algn="l" indent="0" marL="0">
              <a:buNone/>
            </a:pPr>
            <a:endParaRPr lang="en-US" sz="1300" dirty="0"/>
          </a:p>
          <a:p>
            <a:pPr algn="l" indent="0" marL="0">
              <a:buNone/>
            </a:pPr>
            <a:r>
              <a:rPr lang="en-US" sz="1300" dirty="0">
                <a:solidFill>
                  <a:srgbClr val="4B5563"/>
                </a:solidFill>
                <a:latin typeface="Noto Sans JP" pitchFamily="34" charset="0"/>
                <a:ea typeface="Noto Sans JP" pitchFamily="34" charset="-122"/>
                <a:cs typeface="Noto Sans JP" pitchFamily="34" charset="-120"/>
              </a:rPr>
              <a:t> ● </a:t>
            </a:r>
            <a:pPr algn="l" indent="0" marL="0">
              <a:buNone/>
            </a:pPr>
            <a:r>
              <a:rPr lang="en-US" sz="1300" b="1" dirty="0">
                <a:solidFill>
                  <a:srgbClr val="4B5563"/>
                </a:solidFill>
                <a:latin typeface="Noto Sans JP" pitchFamily="34" charset="0"/>
                <a:ea typeface="Noto Sans JP" pitchFamily="34" charset="-122"/>
                <a:cs typeface="Noto Sans JP" pitchFamily="34" charset="-120"/>
              </a:rPr>
              <a:t>属人化の解消：</a:t>
            </a:r>
            <a:pPr algn="l" indent="0" marL="0">
              <a:buNone/>
            </a:pPr>
            <a:r>
              <a:rPr lang="en-US" sz="1300" dirty="0">
                <a:solidFill>
                  <a:srgbClr val="4B5563"/>
                </a:solidFill>
                <a:latin typeface="Noto Sans JP" pitchFamily="34" charset="0"/>
                <a:ea typeface="Noto Sans JP" pitchFamily="34" charset="-122"/>
                <a:cs typeface="Noto Sans JP" pitchFamily="34" charset="-120"/>
              </a:rPr>
              <a:t>作業者はシステム（知識）に従うだけで正確に遂行可能</a:t>
            </a:r>
            <a:pPr algn="l" indent="0" marL="0">
              <a:buNone/>
            </a:pPr>
            <a:endParaRPr lang="en-US" sz="1300" dirty="0"/>
          </a:p>
          <a:p>
            <a:pPr algn="l" indent="0" marL="0">
              <a:buNone/>
            </a:pPr>
            <a:r>
              <a:rPr lang="en-US" sz="1300" dirty="0">
                <a:solidFill>
                  <a:srgbClr val="4B5563"/>
                </a:solidFill>
                <a:latin typeface="Noto Sans JP" pitchFamily="34" charset="0"/>
                <a:ea typeface="Noto Sans JP" pitchFamily="34" charset="-122"/>
                <a:cs typeface="Noto Sans JP" pitchFamily="34" charset="-120"/>
              </a:rPr>
              <a:t> ● </a:t>
            </a:r>
            <a:pPr algn="l" indent="0" marL="0">
              <a:buNone/>
            </a:pPr>
            <a:r>
              <a:rPr lang="en-US" sz="1300" b="1" dirty="0">
                <a:solidFill>
                  <a:srgbClr val="4B5563"/>
                </a:solidFill>
                <a:latin typeface="Noto Sans JP" pitchFamily="34" charset="0"/>
                <a:ea typeface="Noto Sans JP" pitchFamily="34" charset="-122"/>
                <a:cs typeface="Noto Sans JP" pitchFamily="34" charset="-120"/>
              </a:rPr>
              <a:t>教育コスト削減：</a:t>
            </a:r>
            <a:pPr algn="l" indent="0" marL="0">
              <a:buNone/>
            </a:pPr>
            <a:r>
              <a:rPr lang="en-US" sz="1300" dirty="0">
                <a:solidFill>
                  <a:srgbClr val="4B5563"/>
                </a:solidFill>
                <a:latin typeface="Noto Sans JP" pitchFamily="34" charset="0"/>
                <a:ea typeface="Noto Sans JP" pitchFamily="34" charset="-122"/>
                <a:cs typeface="Noto Sans JP" pitchFamily="34" charset="-120"/>
              </a:rPr>
              <a:t>OJTに頼らず、システムがナビゲート </a:t>
            </a:r>
            <a:endParaRPr lang="en-US" sz="1300" dirty="0"/>
          </a:p>
        </p:txBody>
      </p:sp>
      <p:sp>
        <p:nvSpPr>
          <p:cNvPr id="23" name="Shape 18"/>
          <p:cNvSpPr/>
          <p:nvPr/>
        </p:nvSpPr>
        <p:spPr>
          <a:xfrm>
            <a:off x="8477402" y="1415491"/>
            <a:ext cx="2667305" cy="1962302"/>
          </a:xfrm>
          <a:prstGeom prst="roundRect">
            <a:avLst>
              <a:gd name="adj" fmla="val 2714"/>
            </a:avLst>
          </a:prstGeom>
          <a:solidFill>
            <a:srgbClr val="F0F9FF"/>
          </a:solidFill>
          <a:ln w="25400">
            <a:solidFill>
              <a:srgbClr val="3B82F6"/>
            </a:solidFill>
            <a:prstDash val="solid"/>
          </a:ln>
          <a:effectLst>
            <a:outerShdw sx="100000" sy="100000" kx="0" ky="0" algn="bl" rotWithShape="0" blurRad="101600" dist="38100" dir="16200000">
              <a:srgbClr val="000000">
                <a:alpha val="10000"/>
              </a:srgbClr>
            </a:outerShdw>
          </a:effectLst>
        </p:spPr>
      </p:sp>
      <p:pic>
        <p:nvPicPr>
          <p:cNvPr id="24" name="Image 3" descr="preencoded.png">    </p:cNvPr>
          <p:cNvPicPr>
            <a:picLocks noChangeAspect="1"/>
          </p:cNvPicPr>
          <p:nvPr/>
        </p:nvPicPr>
        <p:blipFill>
          <a:blip r:embed="rId4"/>
          <a:srcRect l="0" r="0" t="-45" b="-45"/>
          <a:stretch/>
        </p:blipFill>
        <p:spPr>
          <a:xfrm>
            <a:off x="9682582" y="1624889"/>
            <a:ext cx="256946" cy="228600"/>
          </a:xfrm>
          <a:prstGeom prst="rect">
            <a:avLst/>
          </a:prstGeom>
        </p:spPr>
      </p:pic>
      <p:sp>
        <p:nvSpPr>
          <p:cNvPr id="25" name="Text 19"/>
          <p:cNvSpPr txBox="1"/>
          <p:nvPr/>
        </p:nvSpPr>
        <p:spPr>
          <a:xfrm>
            <a:off x="8641994" y="1948586"/>
            <a:ext cx="2338121" cy="257861"/>
          </a:xfrm>
          <a:prstGeom prst="rect">
            <a:avLst/>
          </a:prstGeom>
          <a:noFill/>
          <a:ln/>
        </p:spPr>
        <p:txBody>
          <a:bodyPr wrap="square" lIns="0" tIns="0" rIns="0" bIns="0" rtlCol="0" anchor="ctr"/>
          <a:lstStyle/>
          <a:p>
            <a:pPr algn="ctr" indent="0" marL="0">
              <a:buNone/>
            </a:pPr>
            <a:r>
              <a:rPr lang="en-US" sz="1300" b="1" dirty="0">
                <a:solidFill>
                  <a:srgbClr val="1D4ED8"/>
                </a:solidFill>
                <a:latin typeface="Noto Sans JP" pitchFamily="34" charset="0"/>
                <a:ea typeface="Noto Sans JP" pitchFamily="34" charset="-122"/>
                <a:cs typeface="Noto Sans JP" pitchFamily="34" charset="-120"/>
              </a:rPr>
              <a:t>Knowledge（知識）</a:t>
            </a:r>
            <a:endParaRPr lang="en-US" sz="1300" dirty="0"/>
          </a:p>
        </p:txBody>
      </p:sp>
      <p:sp>
        <p:nvSpPr>
          <p:cNvPr id="26" name="Shape 20"/>
          <p:cNvSpPr/>
          <p:nvPr/>
        </p:nvSpPr>
        <p:spPr>
          <a:xfrm>
            <a:off x="8962949" y="2291486"/>
            <a:ext cx="923544" cy="247802"/>
          </a:xfrm>
          <a:prstGeom prst="roundRect">
            <a:avLst>
              <a:gd name="adj" fmla="val 283849"/>
            </a:avLst>
          </a:prstGeom>
          <a:solidFill>
            <a:srgbClr val="DBEAFE"/>
          </a:solidFill>
          <a:ln w="12700">
            <a:solidFill>
              <a:srgbClr val="FFFFFF">
                <a:alpha val="0"/>
              </a:srgbClr>
            </a:solidFill>
            <a:prstDash val="solid"/>
          </a:ln>
        </p:spPr>
      </p:sp>
      <p:sp>
        <p:nvSpPr>
          <p:cNvPr id="27" name="Text 21"/>
          <p:cNvSpPr txBox="1"/>
          <p:nvPr/>
        </p:nvSpPr>
        <p:spPr>
          <a:xfrm>
            <a:off x="8934602" y="2291486"/>
            <a:ext cx="9811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1E40AF"/>
                </a:solidFill>
                <a:latin typeface="Noto Sans JP" pitchFamily="34" charset="0"/>
                <a:ea typeface="Noto Sans JP" pitchFamily="34" charset="-122"/>
                <a:cs typeface="Noto Sans JP" pitchFamily="34" charset="-120"/>
              </a:rPr>
              <a:t>規定・ルール</a:t>
            </a:r>
            <a:endParaRPr lang="en-US" sz="900" dirty="0"/>
          </a:p>
        </p:txBody>
      </p:sp>
      <p:sp>
        <p:nvSpPr>
          <p:cNvPr id="28" name="Shape 22"/>
          <p:cNvSpPr/>
          <p:nvPr/>
        </p:nvSpPr>
        <p:spPr>
          <a:xfrm>
            <a:off x="9924898" y="2291486"/>
            <a:ext cx="694944" cy="247802"/>
          </a:xfrm>
          <a:prstGeom prst="roundRect">
            <a:avLst>
              <a:gd name="adj" fmla="val 283849"/>
            </a:avLst>
          </a:prstGeom>
          <a:solidFill>
            <a:srgbClr val="DBEAFE"/>
          </a:solidFill>
          <a:ln w="12700">
            <a:solidFill>
              <a:srgbClr val="FFFFFF">
                <a:alpha val="0"/>
              </a:srgbClr>
            </a:solidFill>
            <a:prstDash val="solid"/>
          </a:ln>
        </p:spPr>
      </p:sp>
      <p:sp>
        <p:nvSpPr>
          <p:cNvPr id="29" name="Text 23"/>
          <p:cNvSpPr txBox="1"/>
          <p:nvPr/>
        </p:nvSpPr>
        <p:spPr>
          <a:xfrm>
            <a:off x="9896551" y="2291486"/>
            <a:ext cx="7525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1E40AF"/>
                </a:solidFill>
                <a:latin typeface="Noto Sans JP" pitchFamily="34" charset="0"/>
                <a:ea typeface="Noto Sans JP" pitchFamily="34" charset="-122"/>
                <a:cs typeface="Noto Sans JP" pitchFamily="34" charset="-120"/>
              </a:rPr>
              <a:t>ノウハウ</a:t>
            </a:r>
            <a:endParaRPr lang="en-US" sz="900" dirty="0"/>
          </a:p>
        </p:txBody>
      </p:sp>
      <p:sp>
        <p:nvSpPr>
          <p:cNvPr id="30" name="Shape 24"/>
          <p:cNvSpPr/>
          <p:nvPr/>
        </p:nvSpPr>
        <p:spPr>
          <a:xfrm>
            <a:off x="9443923" y="2595982"/>
            <a:ext cx="694944" cy="247802"/>
          </a:xfrm>
          <a:prstGeom prst="roundRect">
            <a:avLst>
              <a:gd name="adj" fmla="val 283849"/>
            </a:avLst>
          </a:prstGeom>
          <a:solidFill>
            <a:srgbClr val="DBEAFE"/>
          </a:solidFill>
          <a:ln w="12700">
            <a:solidFill>
              <a:srgbClr val="FFFFFF">
                <a:alpha val="0"/>
              </a:srgbClr>
            </a:solidFill>
            <a:prstDash val="solid"/>
          </a:ln>
        </p:spPr>
      </p:sp>
      <p:sp>
        <p:nvSpPr>
          <p:cNvPr id="31" name="Text 25"/>
          <p:cNvSpPr txBox="1"/>
          <p:nvPr/>
        </p:nvSpPr>
        <p:spPr>
          <a:xfrm>
            <a:off x="9415577" y="2595982"/>
            <a:ext cx="7525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1E40AF"/>
                </a:solidFill>
                <a:latin typeface="Noto Sans JP" pitchFamily="34" charset="0"/>
                <a:ea typeface="Noto Sans JP" pitchFamily="34" charset="-122"/>
                <a:cs typeface="Noto Sans JP" pitchFamily="34" charset="-120"/>
              </a:rPr>
              <a:t>判断基準</a:t>
            </a:r>
            <a:endParaRPr lang="en-US" sz="900" dirty="0"/>
          </a:p>
        </p:txBody>
      </p:sp>
      <p:sp>
        <p:nvSpPr>
          <p:cNvPr id="32" name="Text 26"/>
          <p:cNvSpPr txBox="1"/>
          <p:nvPr/>
        </p:nvSpPr>
        <p:spPr>
          <a:xfrm>
            <a:off x="8597189" y="2968142"/>
            <a:ext cx="2427732"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システムに実装・一元化</a:t>
            </a:r>
            <a:endParaRPr lang="en-US" sz="1000" dirty="0"/>
          </a:p>
        </p:txBody>
      </p:sp>
      <p:pic>
        <p:nvPicPr>
          <p:cNvPr id="33" name="Image 4" descr="preencoded.png">    </p:cNvPr>
          <p:cNvPicPr>
            <a:picLocks noChangeAspect="1"/>
          </p:cNvPicPr>
          <p:nvPr/>
        </p:nvPicPr>
        <p:blipFill>
          <a:blip r:embed="rId5"/>
          <a:srcRect l="-133" r="-133" t="0" b="0"/>
          <a:stretch/>
        </p:blipFill>
        <p:spPr>
          <a:xfrm>
            <a:off x="9724644" y="3729838"/>
            <a:ext cx="171907" cy="228600"/>
          </a:xfrm>
          <a:prstGeom prst="rect">
            <a:avLst/>
          </a:prstGeom>
        </p:spPr>
      </p:pic>
      <p:sp>
        <p:nvSpPr>
          <p:cNvPr id="34" name="Text 27"/>
          <p:cNvSpPr txBox="1"/>
          <p:nvPr/>
        </p:nvSpPr>
        <p:spPr>
          <a:xfrm>
            <a:off x="9381744" y="4096512"/>
            <a:ext cx="933602" cy="200254"/>
          </a:xfrm>
          <a:prstGeom prst="rect">
            <a:avLst/>
          </a:prstGeom>
          <a:solidFill>
            <a:srgbClr val="F9FAFB"/>
          </a:solidFill>
          <a:ln>
            <a:solidFill>
              <a:srgbClr val="FFFFFF">
                <a:alpha val="0"/>
              </a:srgbClr>
            </a:solid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分離と活用</a:t>
            </a:r>
            <a:endParaRPr lang="en-US" sz="1000" dirty="0"/>
          </a:p>
        </p:txBody>
      </p:sp>
      <p:pic>
        <p:nvPicPr>
          <p:cNvPr id="35" name="Image 5" descr="preencoded.png">    </p:cNvPr>
          <p:cNvPicPr>
            <a:picLocks noChangeAspect="1"/>
          </p:cNvPicPr>
          <p:nvPr/>
        </p:nvPicPr>
        <p:blipFill>
          <a:blip r:embed="rId6"/>
          <a:srcRect l="-133" r="-133" t="0" b="0"/>
          <a:stretch/>
        </p:blipFill>
        <p:spPr>
          <a:xfrm>
            <a:off x="9724644" y="4454042"/>
            <a:ext cx="171907" cy="228600"/>
          </a:xfrm>
          <a:prstGeom prst="rect">
            <a:avLst/>
          </a:prstGeom>
        </p:spPr>
      </p:pic>
      <p:sp>
        <p:nvSpPr>
          <p:cNvPr id="36" name="Shape 28"/>
          <p:cNvSpPr/>
          <p:nvPr/>
        </p:nvSpPr>
        <p:spPr>
          <a:xfrm>
            <a:off x="8477402" y="4825289"/>
            <a:ext cx="2667305" cy="1561795"/>
          </a:xfrm>
          <a:prstGeom prst="roundRect">
            <a:avLst>
              <a:gd name="adj" fmla="val 4284"/>
            </a:avLst>
          </a:prstGeom>
          <a:solidFill>
            <a:srgbClr val="FFFFFF"/>
          </a:solidFill>
          <a:ln w="25400">
            <a:solidFill>
              <a:srgbClr val="E5E7EB"/>
            </a:solidFill>
            <a:prstDash val="solid"/>
          </a:ln>
          <a:effectLst>
            <a:outerShdw sx="100000" sy="100000" kx="0" ky="0" algn="bl" rotWithShape="0" blurRad="101600" dist="38100" dir="16200000">
              <a:srgbClr val="000000">
                <a:alpha val="10000"/>
              </a:srgbClr>
            </a:outerShdw>
          </a:effectLst>
        </p:spPr>
      </p:sp>
      <p:sp>
        <p:nvSpPr>
          <p:cNvPr id="37" name="Text 29"/>
          <p:cNvSpPr txBox="1"/>
          <p:nvPr/>
        </p:nvSpPr>
        <p:spPr>
          <a:xfrm>
            <a:off x="8641994" y="5263286"/>
            <a:ext cx="233812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Operation（作業）</a:t>
            </a:r>
            <a:endParaRPr lang="en-US" sz="1300" dirty="0"/>
          </a:p>
        </p:txBody>
      </p:sp>
      <p:sp>
        <p:nvSpPr>
          <p:cNvPr id="38" name="Shape 30"/>
          <p:cNvSpPr/>
          <p:nvPr/>
        </p:nvSpPr>
        <p:spPr>
          <a:xfrm>
            <a:off x="8767267" y="5606186"/>
            <a:ext cx="694944" cy="247802"/>
          </a:xfrm>
          <a:prstGeom prst="roundRect">
            <a:avLst>
              <a:gd name="adj" fmla="val 283849"/>
            </a:avLst>
          </a:prstGeom>
          <a:solidFill>
            <a:srgbClr val="F3F4F6"/>
          </a:solidFill>
          <a:ln w="12700">
            <a:solidFill>
              <a:srgbClr val="FFFFFF">
                <a:alpha val="0"/>
              </a:srgbClr>
            </a:solidFill>
            <a:prstDash val="solid"/>
          </a:ln>
        </p:spPr>
      </p:sp>
      <p:sp>
        <p:nvSpPr>
          <p:cNvPr id="39" name="Text 31"/>
          <p:cNvSpPr txBox="1"/>
          <p:nvPr/>
        </p:nvSpPr>
        <p:spPr>
          <a:xfrm>
            <a:off x="8738921" y="5606186"/>
            <a:ext cx="7525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4B5563"/>
                </a:solidFill>
                <a:latin typeface="Noto Sans JP" pitchFamily="34" charset="0"/>
                <a:ea typeface="Noto Sans JP" pitchFamily="34" charset="-122"/>
                <a:cs typeface="Noto Sans JP" pitchFamily="34" charset="-120"/>
              </a:rPr>
              <a:t>入力作業</a:t>
            </a:r>
            <a:endParaRPr lang="en-US" sz="900" dirty="0"/>
          </a:p>
        </p:txBody>
      </p:sp>
      <p:sp>
        <p:nvSpPr>
          <p:cNvPr id="40" name="Shape 32"/>
          <p:cNvSpPr/>
          <p:nvPr/>
        </p:nvSpPr>
        <p:spPr>
          <a:xfrm>
            <a:off x="9500616" y="5606186"/>
            <a:ext cx="694944" cy="247802"/>
          </a:xfrm>
          <a:prstGeom prst="roundRect">
            <a:avLst>
              <a:gd name="adj" fmla="val 283849"/>
            </a:avLst>
          </a:prstGeom>
          <a:solidFill>
            <a:srgbClr val="F3F4F6"/>
          </a:solidFill>
          <a:ln w="12700">
            <a:solidFill>
              <a:srgbClr val="FFFFFF">
                <a:alpha val="0"/>
              </a:srgbClr>
            </a:solidFill>
            <a:prstDash val="solid"/>
          </a:ln>
        </p:spPr>
      </p:sp>
      <p:sp>
        <p:nvSpPr>
          <p:cNvPr id="41" name="Text 33"/>
          <p:cNvSpPr txBox="1"/>
          <p:nvPr/>
        </p:nvSpPr>
        <p:spPr>
          <a:xfrm>
            <a:off x="9472270" y="5606186"/>
            <a:ext cx="7525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4B5563"/>
                </a:solidFill>
                <a:latin typeface="Noto Sans JP" pitchFamily="34" charset="0"/>
                <a:ea typeface="Noto Sans JP" pitchFamily="34" charset="-122"/>
                <a:cs typeface="Noto Sans JP" pitchFamily="34" charset="-120"/>
              </a:rPr>
              <a:t>確認作業</a:t>
            </a:r>
            <a:endParaRPr lang="en-US" sz="900" dirty="0"/>
          </a:p>
        </p:txBody>
      </p:sp>
      <p:sp>
        <p:nvSpPr>
          <p:cNvPr id="42" name="Shape 34"/>
          <p:cNvSpPr/>
          <p:nvPr/>
        </p:nvSpPr>
        <p:spPr>
          <a:xfrm>
            <a:off x="10234879" y="5606186"/>
            <a:ext cx="580644" cy="247802"/>
          </a:xfrm>
          <a:prstGeom prst="roundRect">
            <a:avLst>
              <a:gd name="adj" fmla="val 283849"/>
            </a:avLst>
          </a:prstGeom>
          <a:solidFill>
            <a:srgbClr val="F3F4F6"/>
          </a:solidFill>
          <a:ln w="12700">
            <a:solidFill>
              <a:srgbClr val="FFFFFF">
                <a:alpha val="0"/>
              </a:srgbClr>
            </a:solidFill>
            <a:prstDash val="solid"/>
          </a:ln>
        </p:spPr>
      </p:sp>
      <p:sp>
        <p:nvSpPr>
          <p:cNvPr id="43" name="Text 35"/>
          <p:cNvSpPr txBox="1"/>
          <p:nvPr/>
        </p:nvSpPr>
        <p:spPr>
          <a:xfrm>
            <a:off x="10205618" y="5606186"/>
            <a:ext cx="6382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4B5563"/>
                </a:solidFill>
                <a:latin typeface="Noto Sans JP" pitchFamily="34" charset="0"/>
                <a:ea typeface="Noto Sans JP" pitchFamily="34" charset="-122"/>
                <a:cs typeface="Noto Sans JP" pitchFamily="34" charset="-120"/>
              </a:rPr>
              <a:t>手続き</a:t>
            </a:r>
            <a:endParaRPr lang="en-US" sz="900" dirty="0"/>
          </a:p>
        </p:txBody>
      </p:sp>
      <p:sp>
        <p:nvSpPr>
          <p:cNvPr id="44" name="Text 36"/>
          <p:cNvSpPr txBox="1"/>
          <p:nvPr/>
        </p:nvSpPr>
        <p:spPr>
          <a:xfrm>
            <a:off x="8597189" y="5977433"/>
            <a:ext cx="2427732"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ナビに従って実行するだけ</a:t>
            </a:r>
            <a:endParaRPr lang="en-US" sz="1000" dirty="0"/>
          </a:p>
        </p:txBody>
      </p:sp>
      <p:sp>
        <p:nvSpPr>
          <p:cNvPr id="45" name="Text 37"/>
          <p:cNvSpPr txBox="1"/>
          <p:nvPr/>
        </p:nvSpPr>
        <p:spPr>
          <a:xfrm>
            <a:off x="8517636" y="6054242"/>
            <a:ext cx="2591410" cy="191110"/>
          </a:xfrm>
          <a:prstGeom prst="rect">
            <a:avLst/>
          </a:prstGeom>
          <a:noFill/>
          <a:ln/>
        </p:spPr>
        <p:txBody>
          <a:bodyPr wrap="square" lIns="0" tIns="0" rIns="0" bIns="0" rtlCol="0" anchor="ctr"/>
          <a:lstStyle/>
          <a:p>
            <a:pPr algn="ctr" indent="0" marL="0">
              <a:buNone/>
            </a:pPr>
            <a:r>
              <a:rPr lang="en-US" sz="1000" b="1" dirty="0">
                <a:solidFill>
                  <a:srgbClr val="6B7280"/>
                </a:solidFill>
                <a:latin typeface="Noto Sans JP" pitchFamily="34" charset="0"/>
                <a:ea typeface="Noto Sans JP" pitchFamily="34" charset="-122"/>
                <a:cs typeface="Noto Sans JP" pitchFamily="34" charset="-120"/>
              </a:rPr>
              <a:t>知識をシステムが持ち、人は作業に集中</a:t>
            </a:r>
            <a:endParaRPr lang="en-US" sz="1000" dirty="0"/>
          </a:p>
        </p:txBody>
      </p:sp>
      <p:sp>
        <p:nvSpPr>
          <p:cNvPr id="46" name="Shape 38"/>
          <p:cNvSpPr/>
          <p:nvPr/>
        </p:nvSpPr>
        <p:spPr>
          <a:xfrm>
            <a:off x="0" y="0"/>
            <a:ext cx="12191695" cy="952805"/>
          </a:xfrm>
          <a:prstGeom prst="rect">
            <a:avLst/>
          </a:prstGeom>
          <a:solidFill>
            <a:srgbClr val="FFFFFF"/>
          </a:solidFill>
          <a:ln/>
        </p:spPr>
      </p:sp>
      <p:sp>
        <p:nvSpPr>
          <p:cNvPr id="47" name="Shape 39"/>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8" name="Shape 40"/>
          <p:cNvSpPr/>
          <p:nvPr/>
        </p:nvSpPr>
        <p:spPr>
          <a:xfrm>
            <a:off x="571500" y="304495"/>
            <a:ext cx="990295" cy="418795"/>
          </a:xfrm>
          <a:prstGeom prst="roundRect">
            <a:avLst>
              <a:gd name="adj" fmla="val 19849"/>
            </a:avLst>
          </a:prstGeom>
          <a:solidFill>
            <a:srgbClr val="F59E0B"/>
          </a:solidFill>
          <a:ln w="12700">
            <a:solidFill>
              <a:srgbClr val="FFFFFF">
                <a:alpha val="0"/>
              </a:srgbClr>
            </a:solidFill>
            <a:prstDash val="solid"/>
          </a:ln>
        </p:spPr>
      </p:sp>
      <p:sp>
        <p:nvSpPr>
          <p:cNvPr id="49" name="Text 41"/>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原則②</a:t>
            </a:r>
            <a:endParaRPr lang="en-US" sz="1800" dirty="0"/>
          </a:p>
        </p:txBody>
      </p:sp>
      <p:sp>
        <p:nvSpPr>
          <p:cNvPr id="50" name="Text 42"/>
          <p:cNvSpPr txBox="1"/>
          <p:nvPr/>
        </p:nvSpPr>
        <p:spPr>
          <a:xfrm>
            <a:off x="1752905" y="286207"/>
            <a:ext cx="6296558"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「知識」と「作業」の分離（属人化の解消）</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1085393"/>
            <a:ext cx="12191695" cy="19202"/>
          </a:xfrm>
          <a:prstGeom prst="rect">
            <a:avLst/>
          </a:prstGeom>
          <a:solidFill>
            <a:srgbClr val="E5E7EB"/>
          </a:solidFill>
          <a:ln w="12700">
            <a:solidFill>
              <a:srgbClr val="E5E7EB">
                <a:alpha val="0"/>
              </a:srgbClr>
            </a:solidFill>
            <a:prstDash val="solid"/>
          </a:ln>
        </p:spPr>
      </p:sp>
      <p:sp>
        <p:nvSpPr>
          <p:cNvPr id="5" name="Text 3"/>
          <p:cNvSpPr txBox="1"/>
          <p:nvPr/>
        </p:nvSpPr>
        <p:spPr>
          <a:xfrm>
            <a:off x="571500" y="381305"/>
            <a:ext cx="5982005"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変革の原則②：役割分担の最適化</a:t>
            </a:r>
            <a:endParaRPr lang="en-US" sz="2700" dirty="0"/>
          </a:p>
        </p:txBody>
      </p:sp>
      <p:sp>
        <p:nvSpPr>
          <p:cNvPr id="6" name="Shape 4"/>
          <p:cNvSpPr/>
          <p:nvPr/>
        </p:nvSpPr>
        <p:spPr>
          <a:xfrm>
            <a:off x="571500" y="381305"/>
            <a:ext cx="75895" cy="342900"/>
          </a:xfrm>
          <a:prstGeom prst="rect">
            <a:avLst/>
          </a:prstGeom>
          <a:solidFill>
            <a:srgbClr val="2563EB"/>
          </a:solidFill>
          <a:ln w="12700">
            <a:solidFill>
              <a:srgbClr val="FFFFFF">
                <a:alpha val="0"/>
              </a:srgbClr>
            </a:solidFill>
            <a:prstDash val="solid"/>
          </a:ln>
        </p:spPr>
      </p:sp>
      <p:sp>
        <p:nvSpPr>
          <p:cNvPr id="7" name="Shape 5"/>
          <p:cNvSpPr/>
          <p:nvPr/>
        </p:nvSpPr>
        <p:spPr>
          <a:xfrm>
            <a:off x="571500" y="1485900"/>
            <a:ext cx="5333695" cy="4647895"/>
          </a:xfrm>
          <a:prstGeom prst="roundRect">
            <a:avLst>
              <a:gd name="adj" fmla="val 645"/>
            </a:avLst>
          </a:prstGeom>
          <a:solidFill>
            <a:srgbClr val="F0FDF4"/>
          </a:solidFill>
          <a:ln w="12700">
            <a:solidFill>
              <a:srgbClr val="BBF7D0"/>
            </a:solidFill>
            <a:prstDash val="solid"/>
          </a:ln>
          <a:effectLst>
            <a:outerShdw sx="100000" sy="100000" kx="0" ky="0" algn="bl" rotWithShape="0" blurRad="101600" dist="38100" dir="16200000">
              <a:srgbClr val="000000">
                <a:alpha val="5000"/>
              </a:srgbClr>
            </a:outerShdw>
          </a:effectLst>
        </p:spPr>
      </p:sp>
      <p:sp>
        <p:nvSpPr>
          <p:cNvPr id="8" name="Shape 6"/>
          <p:cNvSpPr/>
          <p:nvPr/>
        </p:nvSpPr>
        <p:spPr>
          <a:xfrm>
            <a:off x="580644" y="1495044"/>
            <a:ext cx="5315407" cy="1028700"/>
          </a:xfrm>
          <a:prstGeom prst="roundRect">
            <a:avLst>
              <a:gd name="adj" fmla="val 13169"/>
            </a:avLst>
          </a:prstGeom>
          <a:solidFill>
            <a:srgbClr val="15803D"/>
          </a:solidFill>
          <a:ln w="12700">
            <a:solidFill>
              <a:srgbClr val="FFFFFF">
                <a:alpha val="0"/>
              </a:srgbClr>
            </a:solidFill>
            <a:prstDash val="solid"/>
          </a:ln>
        </p:spPr>
      </p:sp>
      <p:sp>
        <p:nvSpPr>
          <p:cNvPr id="9" name="Text 7"/>
          <p:cNvSpPr txBox="1"/>
          <p:nvPr/>
        </p:nvSpPr>
        <p:spPr>
          <a:xfrm>
            <a:off x="3023921" y="1686154"/>
            <a:ext cx="837590" cy="372161"/>
          </a:xfrm>
          <a:prstGeom prst="rect">
            <a:avLst/>
          </a:prstGeom>
          <a:noFill/>
          <a:ln/>
        </p:spPr>
        <p:txBody>
          <a:bodyPr wrap="square" lIns="0" tIns="0" rIns="0" bIns="0" rtlCol="0" anchor="ctr"/>
          <a:lstStyle/>
          <a:p>
            <a:pPr algn="l" indent="0" marL="0">
              <a:buNone/>
            </a:pPr>
            <a:r>
              <a:rPr lang="en-US" sz="1900" b="1" dirty="0">
                <a:solidFill>
                  <a:srgbClr val="FFFFFF"/>
                </a:solidFill>
                <a:latin typeface="Noto Sans JP" pitchFamily="34" charset="0"/>
                <a:ea typeface="Noto Sans JP" pitchFamily="34" charset="-122"/>
                <a:cs typeface="Noto Sans JP" pitchFamily="34" charset="-120"/>
              </a:rPr>
              <a:t> 熟練者</a:t>
            </a:r>
            <a:endParaRPr lang="en-US" sz="1900" dirty="0"/>
          </a:p>
        </p:txBody>
      </p:sp>
      <p:pic>
        <p:nvPicPr>
          <p:cNvPr id="10" name="Image 0" descr="preencoded.png">    </p:cNvPr>
          <p:cNvPicPr>
            <a:picLocks noChangeAspect="1"/>
          </p:cNvPicPr>
          <p:nvPr/>
        </p:nvPicPr>
        <p:blipFill>
          <a:blip r:embed="rId1"/>
          <a:srcRect l="-606" r="-606" t="0" b="0"/>
          <a:stretch/>
        </p:blipFill>
        <p:spPr>
          <a:xfrm>
            <a:off x="2709367" y="1747418"/>
            <a:ext cx="219456" cy="247802"/>
          </a:xfrm>
          <a:prstGeom prst="rect">
            <a:avLst/>
          </a:prstGeom>
        </p:spPr>
      </p:pic>
      <p:sp>
        <p:nvSpPr>
          <p:cNvPr id="11" name="Text 8"/>
          <p:cNvSpPr txBox="1"/>
          <p:nvPr/>
        </p:nvSpPr>
        <p:spPr>
          <a:xfrm>
            <a:off x="2628900" y="2104949"/>
            <a:ext cx="1327709" cy="228600"/>
          </a:xfrm>
          <a:prstGeom prst="rect">
            <a:avLst/>
          </a:prstGeom>
          <a:noFill/>
          <a:ln/>
        </p:spPr>
        <p:txBody>
          <a:bodyPr wrap="square" lIns="0" tIns="0" rIns="0" bIns="0" rtlCol="0" anchor="ctr"/>
          <a:lstStyle/>
          <a:p>
            <a:pPr algn="l" indent="0" marL="0">
              <a:buNone/>
            </a:pPr>
            <a:r>
              <a:rPr lang="en-US" sz="1200" dirty="0">
                <a:solidFill>
                  <a:srgbClr val="FFFFFF">
                    <a:alpha val="90000"/>
                  </a:srgbClr>
                </a:solidFill>
                <a:latin typeface="Noto Sans JP" pitchFamily="34" charset="0"/>
                <a:ea typeface="Noto Sans JP" pitchFamily="34" charset="-122"/>
                <a:cs typeface="Noto Sans JP" pitchFamily="34" charset="-120"/>
              </a:rPr>
              <a:t>（知識を作る人）</a:t>
            </a:r>
            <a:endParaRPr lang="en-US" sz="1200" dirty="0"/>
          </a:p>
        </p:txBody>
      </p:sp>
      <p:sp>
        <p:nvSpPr>
          <p:cNvPr id="12" name="Shape 9"/>
          <p:cNvSpPr/>
          <p:nvPr/>
        </p:nvSpPr>
        <p:spPr>
          <a:xfrm>
            <a:off x="866851" y="2809951"/>
            <a:ext cx="4743907" cy="1228954"/>
          </a:xfrm>
          <a:prstGeom prst="roundRect">
            <a:avLst>
              <a:gd name="adj" fmla="val 4614"/>
            </a:avLst>
          </a:prstGeom>
          <a:solidFill>
            <a:srgbClr val="FFFFFF"/>
          </a:solidFill>
          <a:ln w="12700">
            <a:solidFill>
              <a:srgbClr val="FFFFFF">
                <a:alpha val="0"/>
              </a:srgbClr>
            </a:solidFill>
            <a:prstDash val="solid"/>
          </a:ln>
        </p:spPr>
      </p:sp>
      <p:sp>
        <p:nvSpPr>
          <p:cNvPr id="13" name="Text 10"/>
          <p:cNvSpPr txBox="1"/>
          <p:nvPr/>
        </p:nvSpPr>
        <p:spPr>
          <a:xfrm>
            <a:off x="1228954" y="3000146"/>
            <a:ext cx="4381805" cy="257861"/>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 主な役割</a:t>
            </a:r>
            <a:endParaRPr lang="en-US" sz="1300" dirty="0"/>
          </a:p>
        </p:txBody>
      </p:sp>
      <p:pic>
        <p:nvPicPr>
          <p:cNvPr id="14" name="Image 1" descr="preencoded.png">    </p:cNvPr>
          <p:cNvPicPr>
            <a:picLocks noChangeAspect="1"/>
          </p:cNvPicPr>
          <p:nvPr/>
        </p:nvPicPr>
        <p:blipFill>
          <a:blip r:embed="rId2"/>
          <a:srcRect l="0" r="0" t="0" b="0"/>
          <a:stretch/>
        </p:blipFill>
        <p:spPr>
          <a:xfrm>
            <a:off x="1057046" y="3043123"/>
            <a:ext cx="171907" cy="171907"/>
          </a:xfrm>
          <a:prstGeom prst="rect">
            <a:avLst/>
          </a:prstGeom>
        </p:spPr>
      </p:pic>
      <p:sp>
        <p:nvSpPr>
          <p:cNvPr id="15" name="Text 11"/>
          <p:cNvSpPr txBox="1"/>
          <p:nvPr/>
        </p:nvSpPr>
        <p:spPr>
          <a:xfrm>
            <a:off x="1057046" y="3353105"/>
            <a:ext cx="4439412" cy="495605"/>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 ルール定義、例外設計、業務知識の体系化。</a:t>
            </a:r>
            <a:pPr algn="l" indent="0" marL="0">
              <a:buNone/>
            </a:pPr>
            <a:endParaRPr lang="en-US" sz="1200" dirty="0"/>
          </a:p>
          <a:p>
            <a:pPr algn="l" indent="0" marL="0">
              <a:buNone/>
            </a:pPr>
            <a:r>
              <a:rPr lang="en-US" sz="1200" dirty="0">
                <a:solidFill>
                  <a:srgbClr val="4B5563"/>
                </a:solidFill>
                <a:latin typeface="Noto Sans JP" pitchFamily="34" charset="0"/>
                <a:ea typeface="Noto Sans JP" pitchFamily="34" charset="-122"/>
                <a:cs typeface="Noto Sans JP" pitchFamily="34" charset="-120"/>
              </a:rPr>
              <a:t> システム（仕事ナビ）に「知識」を組み込む。 </a:t>
            </a:r>
            <a:endParaRPr lang="en-US" sz="1200" dirty="0"/>
          </a:p>
        </p:txBody>
      </p:sp>
      <p:sp>
        <p:nvSpPr>
          <p:cNvPr id="16" name="Shape 12"/>
          <p:cNvSpPr/>
          <p:nvPr/>
        </p:nvSpPr>
        <p:spPr>
          <a:xfrm>
            <a:off x="866851" y="4221785"/>
            <a:ext cx="4743907" cy="1419149"/>
          </a:xfrm>
          <a:prstGeom prst="roundRect">
            <a:avLst>
              <a:gd name="adj" fmla="val 3459"/>
            </a:avLst>
          </a:prstGeom>
          <a:solidFill>
            <a:srgbClr val="FFFFFF"/>
          </a:solidFill>
          <a:ln w="12700">
            <a:solidFill>
              <a:srgbClr val="FFFFFF">
                <a:alpha val="0"/>
              </a:srgbClr>
            </a:solidFill>
            <a:prstDash val="solid"/>
          </a:ln>
        </p:spPr>
      </p:sp>
      <p:sp>
        <p:nvSpPr>
          <p:cNvPr id="17" name="Text 13"/>
          <p:cNvSpPr txBox="1"/>
          <p:nvPr/>
        </p:nvSpPr>
        <p:spPr>
          <a:xfrm>
            <a:off x="1228954" y="4411980"/>
            <a:ext cx="4381805" cy="257861"/>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 メリット</a:t>
            </a:r>
            <a:endParaRPr lang="en-US" sz="1300" dirty="0"/>
          </a:p>
        </p:txBody>
      </p:sp>
      <p:pic>
        <p:nvPicPr>
          <p:cNvPr id="18" name="Image 2" descr="preencoded.png">    </p:cNvPr>
          <p:cNvPicPr>
            <a:picLocks noChangeAspect="1"/>
          </p:cNvPicPr>
          <p:nvPr/>
        </p:nvPicPr>
        <p:blipFill>
          <a:blip r:embed="rId3"/>
          <a:srcRect l="0" r="0" t="0" b="0"/>
          <a:stretch/>
        </p:blipFill>
        <p:spPr>
          <a:xfrm>
            <a:off x="1057046" y="4454957"/>
            <a:ext cx="171907" cy="171907"/>
          </a:xfrm>
          <a:prstGeom prst="rect">
            <a:avLst/>
          </a:prstGeom>
        </p:spPr>
      </p:pic>
      <p:pic>
        <p:nvPicPr>
          <p:cNvPr id="19" name="Image 3" descr="preencoded.png">    </p:cNvPr>
          <p:cNvPicPr>
            <a:picLocks noChangeAspect="1"/>
          </p:cNvPicPr>
          <p:nvPr/>
        </p:nvPicPr>
        <p:blipFill>
          <a:blip r:embed="rId4"/>
          <a:srcRect l="0" r="0" t="-1100" b="-1100"/>
          <a:stretch/>
        </p:blipFill>
        <p:spPr>
          <a:xfrm>
            <a:off x="1057046" y="4764024"/>
            <a:ext cx="114300" cy="133502"/>
          </a:xfrm>
          <a:prstGeom prst="rect">
            <a:avLst/>
          </a:prstGeom>
        </p:spPr>
      </p:pic>
      <p:sp>
        <p:nvSpPr>
          <p:cNvPr id="20" name="Text 14"/>
          <p:cNvSpPr txBox="1"/>
          <p:nvPr/>
        </p:nvSpPr>
        <p:spPr>
          <a:xfrm>
            <a:off x="1171346" y="4764024"/>
            <a:ext cx="2791663"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ルーチンワークの忙殺から解放される</a:t>
            </a:r>
            <a:endParaRPr lang="en-US" sz="1200" dirty="0"/>
          </a:p>
        </p:txBody>
      </p:sp>
      <p:pic>
        <p:nvPicPr>
          <p:cNvPr id="21" name="Image 4" descr="preencoded.png">    </p:cNvPr>
          <p:cNvPicPr>
            <a:picLocks noChangeAspect="1"/>
          </p:cNvPicPr>
          <p:nvPr/>
        </p:nvPicPr>
        <p:blipFill>
          <a:blip r:embed="rId5"/>
          <a:srcRect l="0" r="0" t="-1100" b="-1100"/>
          <a:stretch/>
        </p:blipFill>
        <p:spPr>
          <a:xfrm>
            <a:off x="1057046" y="5106924"/>
            <a:ext cx="114300" cy="133502"/>
          </a:xfrm>
          <a:prstGeom prst="rect">
            <a:avLst/>
          </a:prstGeom>
        </p:spPr>
      </p:pic>
      <p:sp>
        <p:nvSpPr>
          <p:cNvPr id="22" name="Text 15"/>
          <p:cNvSpPr txBox="1"/>
          <p:nvPr/>
        </p:nvSpPr>
        <p:spPr>
          <a:xfrm>
            <a:off x="1171346" y="5106924"/>
            <a:ext cx="2934310"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高度な判断業務や改善活動に集中できる</a:t>
            </a:r>
            <a:endParaRPr lang="en-US" sz="1200" dirty="0"/>
          </a:p>
        </p:txBody>
      </p:sp>
      <p:sp>
        <p:nvSpPr>
          <p:cNvPr id="23" name="Shape 16"/>
          <p:cNvSpPr/>
          <p:nvPr/>
        </p:nvSpPr>
        <p:spPr>
          <a:xfrm>
            <a:off x="6286500" y="1485900"/>
            <a:ext cx="5333695" cy="4647895"/>
          </a:xfrm>
          <a:prstGeom prst="roundRect">
            <a:avLst>
              <a:gd name="adj" fmla="val 645"/>
            </a:avLst>
          </a:prstGeom>
          <a:solidFill>
            <a:srgbClr val="EFF6FF"/>
          </a:solidFill>
          <a:ln w="12700">
            <a:solidFill>
              <a:srgbClr val="BFDBFE"/>
            </a:solidFill>
            <a:prstDash val="solid"/>
          </a:ln>
          <a:effectLst>
            <a:outerShdw sx="100000" sy="100000" kx="0" ky="0" algn="bl" rotWithShape="0" blurRad="101600" dist="38100" dir="16200000">
              <a:srgbClr val="000000">
                <a:alpha val="5000"/>
              </a:srgbClr>
            </a:outerShdw>
          </a:effectLst>
        </p:spPr>
      </p:sp>
      <p:sp>
        <p:nvSpPr>
          <p:cNvPr id="24" name="Shape 17"/>
          <p:cNvSpPr/>
          <p:nvPr/>
        </p:nvSpPr>
        <p:spPr>
          <a:xfrm>
            <a:off x="6295644" y="1495044"/>
            <a:ext cx="5315407" cy="1028700"/>
          </a:xfrm>
          <a:prstGeom prst="roundRect">
            <a:avLst>
              <a:gd name="adj" fmla="val 13169"/>
            </a:avLst>
          </a:prstGeom>
          <a:solidFill>
            <a:srgbClr val="1D4ED8"/>
          </a:solidFill>
          <a:ln w="12700">
            <a:solidFill>
              <a:srgbClr val="FFFFFF">
                <a:alpha val="0"/>
              </a:srgbClr>
            </a:solidFill>
            <a:prstDash val="solid"/>
          </a:ln>
        </p:spPr>
      </p:sp>
      <p:sp>
        <p:nvSpPr>
          <p:cNvPr id="25" name="Text 18"/>
          <p:cNvSpPr txBox="1"/>
          <p:nvPr/>
        </p:nvSpPr>
        <p:spPr>
          <a:xfrm>
            <a:off x="8244230" y="1686154"/>
            <a:ext cx="1907438" cy="372161"/>
          </a:xfrm>
          <a:prstGeom prst="rect">
            <a:avLst/>
          </a:prstGeom>
          <a:noFill/>
          <a:ln/>
        </p:spPr>
        <p:txBody>
          <a:bodyPr wrap="square" lIns="0" tIns="0" rIns="0" bIns="0" rtlCol="0" anchor="ctr"/>
          <a:lstStyle/>
          <a:p>
            <a:pPr algn="l" indent="0" marL="0">
              <a:buNone/>
            </a:pPr>
            <a:r>
              <a:rPr lang="en-US" sz="1900" b="1" dirty="0">
                <a:solidFill>
                  <a:srgbClr val="FFFFFF"/>
                </a:solidFill>
                <a:latin typeface="Noto Sans JP" pitchFamily="34" charset="0"/>
                <a:ea typeface="Noto Sans JP" pitchFamily="34" charset="-122"/>
                <a:cs typeface="Noto Sans JP" pitchFamily="34" charset="-120"/>
              </a:rPr>
              <a:t> 若手・未熟練者</a:t>
            </a:r>
            <a:endParaRPr lang="en-US" sz="1900" dirty="0"/>
          </a:p>
        </p:txBody>
      </p:sp>
      <p:pic>
        <p:nvPicPr>
          <p:cNvPr id="26" name="Image 5" descr="preencoded.png">    </p:cNvPr>
          <p:cNvPicPr>
            <a:picLocks noChangeAspect="1"/>
          </p:cNvPicPr>
          <p:nvPr/>
        </p:nvPicPr>
        <p:blipFill>
          <a:blip r:embed="rId6"/>
          <a:srcRect l="-606" r="-606" t="0" b="0"/>
          <a:stretch/>
        </p:blipFill>
        <p:spPr>
          <a:xfrm>
            <a:off x="7929677" y="1747418"/>
            <a:ext cx="219456" cy="247802"/>
          </a:xfrm>
          <a:prstGeom prst="rect">
            <a:avLst/>
          </a:prstGeom>
        </p:spPr>
      </p:pic>
      <p:sp>
        <p:nvSpPr>
          <p:cNvPr id="27" name="Text 19"/>
          <p:cNvSpPr txBox="1"/>
          <p:nvPr/>
        </p:nvSpPr>
        <p:spPr>
          <a:xfrm>
            <a:off x="8343900" y="2104949"/>
            <a:ext cx="1327709" cy="228600"/>
          </a:xfrm>
          <a:prstGeom prst="rect">
            <a:avLst/>
          </a:prstGeom>
          <a:noFill/>
          <a:ln/>
        </p:spPr>
        <p:txBody>
          <a:bodyPr wrap="square" lIns="0" tIns="0" rIns="0" bIns="0" rtlCol="0" anchor="ctr"/>
          <a:lstStyle/>
          <a:p>
            <a:pPr algn="l" indent="0" marL="0">
              <a:buNone/>
            </a:pPr>
            <a:r>
              <a:rPr lang="en-US" sz="1200" dirty="0">
                <a:solidFill>
                  <a:srgbClr val="FFFFFF">
                    <a:alpha val="90000"/>
                  </a:srgbClr>
                </a:solidFill>
                <a:latin typeface="Noto Sans JP" pitchFamily="34" charset="0"/>
                <a:ea typeface="Noto Sans JP" pitchFamily="34" charset="-122"/>
                <a:cs typeface="Noto Sans JP" pitchFamily="34" charset="-120"/>
              </a:rPr>
              <a:t>（作業をする人）</a:t>
            </a:r>
            <a:endParaRPr lang="en-US" sz="1200" dirty="0"/>
          </a:p>
        </p:txBody>
      </p:sp>
      <p:sp>
        <p:nvSpPr>
          <p:cNvPr id="28" name="Shape 20"/>
          <p:cNvSpPr/>
          <p:nvPr/>
        </p:nvSpPr>
        <p:spPr>
          <a:xfrm>
            <a:off x="6581851" y="2809951"/>
            <a:ext cx="4743907" cy="1228954"/>
          </a:xfrm>
          <a:prstGeom prst="roundRect">
            <a:avLst>
              <a:gd name="adj" fmla="val 4614"/>
            </a:avLst>
          </a:prstGeom>
          <a:solidFill>
            <a:srgbClr val="FFFFFF"/>
          </a:solidFill>
          <a:ln w="12700">
            <a:solidFill>
              <a:srgbClr val="FFFFFF">
                <a:alpha val="0"/>
              </a:srgbClr>
            </a:solidFill>
            <a:prstDash val="solid"/>
          </a:ln>
        </p:spPr>
      </p:sp>
      <p:sp>
        <p:nvSpPr>
          <p:cNvPr id="29" name="Text 21"/>
          <p:cNvSpPr txBox="1"/>
          <p:nvPr/>
        </p:nvSpPr>
        <p:spPr>
          <a:xfrm>
            <a:off x="6991502" y="3000146"/>
            <a:ext cx="4334256" cy="257861"/>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 主な役割</a:t>
            </a:r>
            <a:endParaRPr lang="en-US" sz="1300" dirty="0"/>
          </a:p>
        </p:txBody>
      </p:sp>
      <p:pic>
        <p:nvPicPr>
          <p:cNvPr id="30" name="Image 6" descr="preencoded.png">    </p:cNvPr>
          <p:cNvPicPr>
            <a:picLocks noChangeAspect="1"/>
          </p:cNvPicPr>
          <p:nvPr/>
        </p:nvPicPr>
        <p:blipFill>
          <a:blip r:embed="rId7"/>
          <a:srcRect l="-1064" r="-1064" t="0" b="0"/>
          <a:stretch/>
        </p:blipFill>
        <p:spPr>
          <a:xfrm>
            <a:off x="6772046" y="3043123"/>
            <a:ext cx="219456" cy="171907"/>
          </a:xfrm>
          <a:prstGeom prst="rect">
            <a:avLst/>
          </a:prstGeom>
        </p:spPr>
      </p:pic>
      <p:sp>
        <p:nvSpPr>
          <p:cNvPr id="31" name="Text 22"/>
          <p:cNvSpPr txBox="1"/>
          <p:nvPr/>
        </p:nvSpPr>
        <p:spPr>
          <a:xfrm>
            <a:off x="6772046" y="3353105"/>
            <a:ext cx="4439412" cy="495605"/>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 システム（仕事ナビ）のナビゲーションに従って</a:t>
            </a:r>
            <a:pPr algn="l" indent="0" marL="0">
              <a:buNone/>
            </a:pPr>
            <a:endParaRPr lang="en-US" sz="1200" dirty="0"/>
          </a:p>
          <a:p>
            <a:pPr algn="l" indent="0" marL="0">
              <a:buNone/>
            </a:pPr>
            <a:r>
              <a:rPr lang="en-US" sz="1200" dirty="0">
                <a:solidFill>
                  <a:srgbClr val="4B5563"/>
                </a:solidFill>
                <a:latin typeface="Noto Sans JP" pitchFamily="34" charset="0"/>
                <a:ea typeface="Noto Sans JP" pitchFamily="34" charset="-122"/>
                <a:cs typeface="Noto Sans JP" pitchFamily="34" charset="-120"/>
              </a:rPr>
              <a:t> 正確に作業を実行。現場からの気づきをフィードバック。 </a:t>
            </a:r>
            <a:endParaRPr lang="en-US" sz="1200" dirty="0"/>
          </a:p>
        </p:txBody>
      </p:sp>
      <p:sp>
        <p:nvSpPr>
          <p:cNvPr id="32" name="Shape 23"/>
          <p:cNvSpPr/>
          <p:nvPr/>
        </p:nvSpPr>
        <p:spPr>
          <a:xfrm>
            <a:off x="6581851" y="4221785"/>
            <a:ext cx="4743907" cy="1419149"/>
          </a:xfrm>
          <a:prstGeom prst="roundRect">
            <a:avLst>
              <a:gd name="adj" fmla="val 3459"/>
            </a:avLst>
          </a:prstGeom>
          <a:solidFill>
            <a:srgbClr val="FFFFFF"/>
          </a:solidFill>
          <a:ln w="12700">
            <a:solidFill>
              <a:srgbClr val="FFFFFF">
                <a:alpha val="0"/>
              </a:srgbClr>
            </a:solidFill>
            <a:prstDash val="solid"/>
          </a:ln>
        </p:spPr>
      </p:sp>
      <p:sp>
        <p:nvSpPr>
          <p:cNvPr id="33" name="Text 24"/>
          <p:cNvSpPr txBox="1"/>
          <p:nvPr/>
        </p:nvSpPr>
        <p:spPr>
          <a:xfrm>
            <a:off x="6943954" y="4411980"/>
            <a:ext cx="4381805" cy="257861"/>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 メリット</a:t>
            </a:r>
            <a:endParaRPr lang="en-US" sz="1300" dirty="0"/>
          </a:p>
        </p:txBody>
      </p:sp>
      <p:pic>
        <p:nvPicPr>
          <p:cNvPr id="34" name="Image 7" descr="preencoded.png">    </p:cNvPr>
          <p:cNvPicPr>
            <a:picLocks noChangeAspect="1"/>
          </p:cNvPicPr>
          <p:nvPr/>
        </p:nvPicPr>
        <p:blipFill>
          <a:blip r:embed="rId8"/>
          <a:srcRect l="0" r="0" t="0" b="0"/>
          <a:stretch/>
        </p:blipFill>
        <p:spPr>
          <a:xfrm>
            <a:off x="6772046" y="4454957"/>
            <a:ext cx="171907" cy="171907"/>
          </a:xfrm>
          <a:prstGeom prst="rect">
            <a:avLst/>
          </a:prstGeom>
        </p:spPr>
      </p:pic>
      <p:pic>
        <p:nvPicPr>
          <p:cNvPr id="35" name="Image 8" descr="preencoded.png">    </p:cNvPr>
          <p:cNvPicPr>
            <a:picLocks noChangeAspect="1"/>
          </p:cNvPicPr>
          <p:nvPr/>
        </p:nvPicPr>
        <p:blipFill>
          <a:blip r:embed="rId9"/>
          <a:srcRect l="0" r="0" t="-1100" b="-1100"/>
          <a:stretch/>
        </p:blipFill>
        <p:spPr>
          <a:xfrm>
            <a:off x="6772046" y="4764024"/>
            <a:ext cx="114300" cy="133502"/>
          </a:xfrm>
          <a:prstGeom prst="rect">
            <a:avLst/>
          </a:prstGeom>
        </p:spPr>
      </p:pic>
      <p:sp>
        <p:nvSpPr>
          <p:cNvPr id="36" name="Text 25"/>
          <p:cNvSpPr txBox="1"/>
          <p:nvPr/>
        </p:nvSpPr>
        <p:spPr>
          <a:xfrm>
            <a:off x="6886346" y="4764024"/>
            <a:ext cx="322966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経験が浅くても迷わず正確に業務遂行が可能</a:t>
            </a:r>
            <a:endParaRPr lang="en-US" sz="1200" dirty="0"/>
          </a:p>
        </p:txBody>
      </p:sp>
      <p:pic>
        <p:nvPicPr>
          <p:cNvPr id="37" name="Image 9" descr="preencoded.png">    </p:cNvPr>
          <p:cNvPicPr>
            <a:picLocks noChangeAspect="1"/>
          </p:cNvPicPr>
          <p:nvPr/>
        </p:nvPicPr>
        <p:blipFill>
          <a:blip r:embed="rId10"/>
          <a:srcRect l="0" r="0" t="-1100" b="-1100"/>
          <a:stretch/>
        </p:blipFill>
        <p:spPr>
          <a:xfrm>
            <a:off x="6772046" y="5106924"/>
            <a:ext cx="114300" cy="133502"/>
          </a:xfrm>
          <a:prstGeom prst="rect">
            <a:avLst/>
          </a:prstGeom>
        </p:spPr>
      </p:pic>
      <p:sp>
        <p:nvSpPr>
          <p:cNvPr id="38" name="Text 26"/>
          <p:cNvSpPr txBox="1"/>
          <p:nvPr/>
        </p:nvSpPr>
        <p:spPr>
          <a:xfrm>
            <a:off x="6886346" y="5106924"/>
            <a:ext cx="33531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OJTに頼らず、業務を通じて正しい手順を学習</a:t>
            </a:r>
            <a:endParaRPr lang="en-US" sz="1200" dirty="0"/>
          </a:p>
        </p:txBody>
      </p:sp>
      <p:sp>
        <p:nvSpPr>
          <p:cNvPr id="39" name="Shape 27"/>
          <p:cNvSpPr/>
          <p:nvPr/>
        </p:nvSpPr>
        <p:spPr>
          <a:xfrm>
            <a:off x="0" y="6507785"/>
            <a:ext cx="12191695" cy="857707"/>
          </a:xfrm>
          <a:prstGeom prst="rect">
            <a:avLst/>
          </a:prstGeom>
          <a:solidFill>
            <a:srgbClr val="FFFFFF"/>
          </a:solidFill>
          <a:ln/>
          <a:effectLst>
            <a:outerShdw sx="100000" sy="100000" kx="0" ky="0" algn="bl" rotWithShape="0" blurRad="63500" dist="38100" dir="5400000">
              <a:srgbClr val="000000">
                <a:alpha val="5000"/>
              </a:srgbClr>
            </a:outerShdw>
          </a:effectLst>
        </p:spPr>
      </p:sp>
      <p:sp>
        <p:nvSpPr>
          <p:cNvPr id="40" name="Shape 28"/>
          <p:cNvSpPr/>
          <p:nvPr/>
        </p:nvSpPr>
        <p:spPr>
          <a:xfrm>
            <a:off x="0" y="6507785"/>
            <a:ext cx="12191695" cy="38405"/>
          </a:xfrm>
          <a:prstGeom prst="rect">
            <a:avLst/>
          </a:prstGeom>
          <a:solidFill>
            <a:srgbClr val="10B981"/>
          </a:solidFill>
          <a:ln w="12700">
            <a:solidFill>
              <a:srgbClr val="10B981">
                <a:alpha val="0"/>
              </a:srgbClr>
            </a:solidFill>
            <a:prstDash val="solid"/>
          </a:ln>
        </p:spPr>
      </p:sp>
      <p:sp>
        <p:nvSpPr>
          <p:cNvPr id="41" name="Text 29"/>
          <p:cNvSpPr txBox="1"/>
          <p:nvPr/>
        </p:nvSpPr>
        <p:spPr>
          <a:xfrm>
            <a:off x="2638044" y="6687922"/>
            <a:ext cx="6915607" cy="534010"/>
          </a:xfrm>
          <a:prstGeom prst="rect">
            <a:avLst/>
          </a:prstGeom>
          <a:noFill/>
          <a:ln/>
        </p:spPr>
        <p:txBody>
          <a:bodyPr wrap="square" lIns="0" tIns="0" rIns="0" bIns="0" rtlCol="0" anchor="t"/>
          <a:lstStyle/>
          <a:p>
            <a:pPr algn="ctr" indent="0" marL="0">
              <a:buNone/>
            </a:pPr>
            <a:r>
              <a:rPr lang="en-US" sz="1500" b="1" dirty="0">
                <a:solidFill>
                  <a:srgbClr val="065F46"/>
                </a:solidFill>
                <a:latin typeface="Noto Sans JP" pitchFamily="34" charset="0"/>
                <a:ea typeface="Noto Sans JP" pitchFamily="34" charset="-122"/>
                <a:cs typeface="Noto Sans JP" pitchFamily="34" charset="-120"/>
              </a:rPr>
              <a:t> 好循環：熟練者のノウハウを組織全体で活用しつつ、若手の早期戦力化を実現。</a:t>
            </a:r>
            <a:pPr algn="ctr" indent="0" marL="0">
              <a:buNone/>
            </a:pPr>
            <a:endParaRPr lang="en-US" sz="1500" dirty="0"/>
          </a:p>
          <a:p>
            <a:pPr algn="ctr" indent="0" marL="0">
              <a:buNone/>
            </a:pPr>
            <a:r>
              <a:rPr lang="en-US" sz="1500" b="1" dirty="0">
                <a:solidFill>
                  <a:srgbClr val="065F46"/>
                </a:solidFill>
                <a:latin typeface="Noto Sans JP" pitchFamily="34" charset="0"/>
                <a:ea typeface="Noto Sans JP" pitchFamily="34" charset="-122"/>
                <a:cs typeface="Noto Sans JP" pitchFamily="34" charset="-120"/>
              </a:rPr>
              <a:t> 現場のフィードバックで「知識」が常に更新される仕組みへ。 </a:t>
            </a:r>
            <a:endParaRPr lang="en-US" sz="1500" dirty="0"/>
          </a:p>
        </p:txBody>
      </p:sp>
      <p:pic>
        <p:nvPicPr>
          <p:cNvPr id="42" name="Image 10" descr="preencoded.png">    </p:cNvPr>
          <p:cNvPicPr>
            <a:picLocks noChangeAspect="1"/>
          </p:cNvPicPr>
          <p:nvPr/>
        </p:nvPicPr>
        <p:blipFill>
          <a:blip r:embed="rId11"/>
          <a:srcRect l="0" r="0" t="0" b="0"/>
          <a:stretch/>
        </p:blipFill>
        <p:spPr>
          <a:xfrm>
            <a:off x="5810098" y="3520440"/>
            <a:ext cx="571500" cy="571500"/>
          </a:xfrm>
          <a:prstGeom prst="rect">
            <a:avLst/>
          </a:prstGeom>
        </p:spPr>
      </p:pic>
      <p:pic>
        <p:nvPicPr>
          <p:cNvPr id="43" name="Image 11" descr="preencoded.png">    </p:cNvPr>
          <p:cNvPicPr>
            <a:picLocks noChangeAspect="1"/>
          </p:cNvPicPr>
          <p:nvPr/>
        </p:nvPicPr>
        <p:blipFill>
          <a:blip r:embed="rId12"/>
          <a:srcRect l="-17" r="-17" t="0" b="0"/>
          <a:stretch/>
        </p:blipFill>
        <p:spPr>
          <a:xfrm>
            <a:off x="5800954" y="3242462"/>
            <a:ext cx="333756" cy="381305"/>
          </a:xfrm>
          <a:prstGeom prst="rect">
            <a:avLst/>
          </a:prstGeom>
        </p:spPr>
      </p:pic>
      <p:pic>
        <p:nvPicPr>
          <p:cNvPr id="44" name="Image 12" descr="preencoded.png">    </p:cNvPr>
          <p:cNvPicPr>
            <a:picLocks noChangeAspect="1"/>
          </p:cNvPicPr>
          <p:nvPr/>
        </p:nvPicPr>
        <p:blipFill>
          <a:blip r:embed="rId13"/>
          <a:srcRect l="-17" r="-17" t="0" b="0"/>
          <a:stretch/>
        </p:blipFill>
        <p:spPr>
          <a:xfrm>
            <a:off x="6057900" y="5017313"/>
            <a:ext cx="333756" cy="3813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838798"/>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572707" cy="2057400"/>
          </a:xfrm>
          <a:prstGeom prst="roundRect">
            <a:avLst>
              <a:gd name="adj" fmla="val 2469"/>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2057400"/>
          </a:xfrm>
          <a:prstGeom prst="roundRect">
            <a:avLst>
              <a:gd name="adj" fmla="val 88184"/>
            </a:avLst>
          </a:prstGeom>
          <a:solidFill>
            <a:srgbClr val="059669"/>
          </a:solidFill>
          <a:ln w="12700">
            <a:solidFill>
              <a:srgbClr val="059669">
                <a:alpha val="0"/>
              </a:srgbClr>
            </a:solidFill>
            <a:prstDash val="solid"/>
          </a:ln>
        </p:spPr>
      </p:sp>
      <p:sp>
        <p:nvSpPr>
          <p:cNvPr id="7" name="Shape 5"/>
          <p:cNvSpPr/>
          <p:nvPr/>
        </p:nvSpPr>
        <p:spPr>
          <a:xfrm>
            <a:off x="933602" y="1561795"/>
            <a:ext cx="381305" cy="381305"/>
          </a:xfrm>
          <a:prstGeom prst="ellipse">
            <a:avLst/>
          </a:prstGeom>
          <a:solidFill>
            <a:srgbClr val="D1FAE5"/>
          </a:solidFill>
          <a:ln w="12700">
            <a:solidFill>
              <a:srgbClr val="FFFFFF">
                <a:alpha val="0"/>
              </a:srgbClr>
            </a:solidFill>
            <a:prstDash val="solid"/>
          </a:ln>
        </p:spPr>
      </p:sp>
      <p:pic>
        <p:nvPicPr>
          <p:cNvPr id="8" name="Image 0" descr="preencoded.png">    </p:cNvPr>
          <p:cNvPicPr>
            <a:picLocks noChangeAspect="1"/>
          </p:cNvPicPr>
          <p:nvPr/>
        </p:nvPicPr>
        <p:blipFill>
          <a:blip r:embed="rId1"/>
          <a:srcRect l="-57" r="-57" t="0" b="0"/>
          <a:stretch/>
        </p:blipFill>
        <p:spPr>
          <a:xfrm>
            <a:off x="1024128" y="1638605"/>
            <a:ext cx="200254" cy="228600"/>
          </a:xfrm>
          <a:prstGeom prst="rect">
            <a:avLst/>
          </a:prstGeom>
        </p:spPr>
      </p:pic>
      <p:sp>
        <p:nvSpPr>
          <p:cNvPr id="9" name="Text 6"/>
          <p:cNvSpPr txBox="1"/>
          <p:nvPr/>
        </p:nvSpPr>
        <p:spPr>
          <a:xfrm>
            <a:off x="1466698" y="1595628"/>
            <a:ext cx="3753612"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「依頼」を「計画」として可視化する</a:t>
            </a:r>
            <a:endParaRPr lang="en-US" sz="1600" dirty="0"/>
          </a:p>
        </p:txBody>
      </p:sp>
      <p:sp>
        <p:nvSpPr>
          <p:cNvPr id="10" name="Text 7"/>
          <p:cNvSpPr txBox="1"/>
          <p:nvPr/>
        </p:nvSpPr>
        <p:spPr>
          <a:xfrm>
            <a:off x="933602" y="2057400"/>
            <a:ext cx="5982005" cy="1105510"/>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業務が発生した時点で「作業計画（予定）」としてシステム上に登録します。</a:t>
            </a:r>
            <a:pPr algn="l" indent="0" marL="0">
              <a:buNone/>
            </a:pPr>
            <a:endParaRPr lang="en-US" sz="1300" dirty="0"/>
          </a:p>
          <a:p>
            <a:pPr algn="l" indent="0" marL="0">
              <a:buNone/>
            </a:pPr>
            <a:r>
              <a:rPr lang="en-US" sz="1300" b="1" dirty="0">
                <a:solidFill>
                  <a:srgbClr val="111827"/>
                </a:solidFill>
                <a:latin typeface="Noto Sans JP" pitchFamily="34" charset="0"/>
                <a:ea typeface="Noto Sans JP" pitchFamily="34" charset="-122"/>
                <a:cs typeface="Noto Sans JP" pitchFamily="34" charset="-120"/>
              </a:rPr>
              <a:t>「誰が、いつ、どの事業所の仕事をする予定か」</a:t>
            </a:r>
            <a:pPr algn="l" indent="0" marL="0">
              <a:buNone/>
            </a:pPr>
            <a:r>
              <a:rPr lang="en-US" sz="1300" dirty="0">
                <a:solidFill>
                  <a:srgbClr val="4B5563"/>
                </a:solidFill>
                <a:latin typeface="Noto Sans JP" pitchFamily="34" charset="0"/>
                <a:ea typeface="Noto Sans JP" pitchFamily="34" charset="-122"/>
                <a:cs typeface="Noto Sans JP" pitchFamily="34" charset="-120"/>
              </a:rPr>
              <a:t>が見える化され、業務の偏りや遅れを事前に察知（未来予測）できるようになります。 </a:t>
            </a:r>
            <a:endParaRPr lang="en-US" sz="1300" dirty="0"/>
          </a:p>
        </p:txBody>
      </p:sp>
      <p:sp>
        <p:nvSpPr>
          <p:cNvPr id="11" name="Shape 8"/>
          <p:cNvSpPr/>
          <p:nvPr/>
        </p:nvSpPr>
        <p:spPr>
          <a:xfrm>
            <a:off x="571500" y="3621024"/>
            <a:ext cx="6572707" cy="2057400"/>
          </a:xfrm>
          <a:prstGeom prst="roundRect">
            <a:avLst>
              <a:gd name="adj" fmla="val 2469"/>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621024"/>
            <a:ext cx="57607" cy="2057400"/>
          </a:xfrm>
          <a:prstGeom prst="roundRect">
            <a:avLst>
              <a:gd name="adj" fmla="val 88184"/>
            </a:avLst>
          </a:prstGeom>
          <a:solidFill>
            <a:srgbClr val="3B82F6"/>
          </a:solidFill>
          <a:ln w="12700">
            <a:solidFill>
              <a:srgbClr val="3B82F6">
                <a:alpha val="0"/>
              </a:srgbClr>
            </a:solidFill>
            <a:prstDash val="solid"/>
          </a:ln>
        </p:spPr>
      </p:sp>
      <p:sp>
        <p:nvSpPr>
          <p:cNvPr id="13" name="Shape 10"/>
          <p:cNvSpPr/>
          <p:nvPr/>
        </p:nvSpPr>
        <p:spPr>
          <a:xfrm>
            <a:off x="933602" y="3849624"/>
            <a:ext cx="381305" cy="381305"/>
          </a:xfrm>
          <a:prstGeom prst="ellipse">
            <a:avLst/>
          </a:prstGeom>
          <a:solidFill>
            <a:srgbClr val="DBEAFE"/>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80" r="-80" t="0" b="0"/>
          <a:stretch/>
        </p:blipFill>
        <p:spPr>
          <a:xfrm>
            <a:off x="981151" y="3926434"/>
            <a:ext cx="286207" cy="228600"/>
          </a:xfrm>
          <a:prstGeom prst="rect">
            <a:avLst/>
          </a:prstGeom>
        </p:spPr>
      </p:pic>
      <p:sp>
        <p:nvSpPr>
          <p:cNvPr id="15" name="Text 11"/>
          <p:cNvSpPr txBox="1"/>
          <p:nvPr/>
        </p:nvSpPr>
        <p:spPr>
          <a:xfrm>
            <a:off x="1466698" y="3883457"/>
            <a:ext cx="2714854"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「実績」に基づく自動処理</a:t>
            </a:r>
            <a:endParaRPr lang="en-US" sz="1600" dirty="0"/>
          </a:p>
        </p:txBody>
      </p:sp>
      <p:sp>
        <p:nvSpPr>
          <p:cNvPr id="16" name="Text 12"/>
          <p:cNvSpPr txBox="1"/>
          <p:nvPr/>
        </p:nvSpPr>
        <p:spPr>
          <a:xfrm>
            <a:off x="933602" y="4345229"/>
            <a:ext cx="5982005" cy="1105510"/>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完了した「実績」には、職員軸・場所軸・事業軸の情報が紐付いています。</a:t>
            </a:r>
            <a:pPr algn="l" indent="0" marL="0">
              <a:buNone/>
            </a:pPr>
            <a:endParaRPr lang="en-US" sz="1300" dirty="0"/>
          </a:p>
          <a:p>
            <a:pPr algn="l" indent="0" marL="0">
              <a:buNone/>
            </a:pPr>
            <a:r>
              <a:rPr lang="en-US" sz="1300" dirty="0">
                <a:solidFill>
                  <a:srgbClr val="4B5563"/>
                </a:solidFill>
                <a:latin typeface="Noto Sans JP" pitchFamily="34" charset="0"/>
                <a:ea typeface="Noto Sans JP" pitchFamily="34" charset="-122"/>
                <a:cs typeface="Noto Sans JP" pitchFamily="34" charset="-120"/>
              </a:rPr>
              <a:t> これまで頭を悩ませていた</a:t>
            </a:r>
            <a:pPr algn="l" indent="0" marL="0">
              <a:buNone/>
            </a:pPr>
            <a:r>
              <a:rPr lang="en-US" sz="1300" b="1" dirty="0">
                <a:solidFill>
                  <a:srgbClr val="111827"/>
                </a:solidFill>
                <a:latin typeface="Noto Sans JP" pitchFamily="34" charset="0"/>
                <a:ea typeface="Noto Sans JP" pitchFamily="34" charset="-122"/>
                <a:cs typeface="Noto Sans JP" pitchFamily="34" charset="-120"/>
              </a:rPr>
              <a:t>「費用按分」は、この実績データをもとにシステムが自動計算</a:t>
            </a:r>
            <a:pPr algn="l" indent="0" marL="0">
              <a:buNone/>
            </a:pPr>
            <a:r>
              <a:rPr lang="en-US" sz="1300" dirty="0">
                <a:solidFill>
                  <a:srgbClr val="4B5563"/>
                </a:solidFill>
                <a:latin typeface="Noto Sans JP" pitchFamily="34" charset="0"/>
                <a:ea typeface="Noto Sans JP" pitchFamily="34" charset="-122"/>
                <a:cs typeface="Noto Sans JP" pitchFamily="34" charset="-120"/>
              </a:rPr>
              <a:t>するため、電卓作業は不要になります。 </a:t>
            </a:r>
            <a:endParaRPr lang="en-US" sz="1300" dirty="0"/>
          </a:p>
        </p:txBody>
      </p:sp>
      <p:sp>
        <p:nvSpPr>
          <p:cNvPr id="17" name="Shape 13"/>
          <p:cNvSpPr/>
          <p:nvPr/>
        </p:nvSpPr>
        <p:spPr>
          <a:xfrm>
            <a:off x="571500" y="5908853"/>
            <a:ext cx="6572707" cy="1505102"/>
          </a:xfrm>
          <a:prstGeom prst="roundRect">
            <a:avLst>
              <a:gd name="adj" fmla="val 461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908853"/>
            <a:ext cx="57607" cy="1505102"/>
          </a:xfrm>
          <a:prstGeom prst="roundRect">
            <a:avLst>
              <a:gd name="adj" fmla="val 120555"/>
            </a:avLst>
          </a:prstGeom>
          <a:solidFill>
            <a:srgbClr val="8B5CF6"/>
          </a:solidFill>
          <a:ln w="12700">
            <a:solidFill>
              <a:srgbClr val="8B5CF6">
                <a:alpha val="0"/>
              </a:srgbClr>
            </a:solidFill>
            <a:prstDash val="solid"/>
          </a:ln>
        </p:spPr>
      </p:sp>
      <p:sp>
        <p:nvSpPr>
          <p:cNvPr id="19" name="Shape 15"/>
          <p:cNvSpPr/>
          <p:nvPr/>
        </p:nvSpPr>
        <p:spPr>
          <a:xfrm>
            <a:off x="933602" y="6137453"/>
            <a:ext cx="381305" cy="381305"/>
          </a:xfrm>
          <a:prstGeom prst="ellipse">
            <a:avLst/>
          </a:prstGeom>
          <a:solidFill>
            <a:srgbClr val="EDE9FE"/>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6214262"/>
            <a:ext cx="228600" cy="228600"/>
          </a:xfrm>
          <a:prstGeom prst="rect">
            <a:avLst/>
          </a:prstGeom>
        </p:spPr>
      </p:pic>
      <p:sp>
        <p:nvSpPr>
          <p:cNvPr id="21" name="Text 16"/>
          <p:cNvSpPr txBox="1"/>
          <p:nvPr/>
        </p:nvSpPr>
        <p:spPr>
          <a:xfrm>
            <a:off x="1466698" y="6171286"/>
            <a:ext cx="2489911"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予実差異による早期検知</a:t>
            </a:r>
            <a:endParaRPr lang="en-US" sz="1600" dirty="0"/>
          </a:p>
        </p:txBody>
      </p:sp>
      <p:sp>
        <p:nvSpPr>
          <p:cNvPr id="22" name="Text 17"/>
          <p:cNvSpPr txBox="1"/>
          <p:nvPr/>
        </p:nvSpPr>
        <p:spPr>
          <a:xfrm>
            <a:off x="933602" y="6633058"/>
            <a:ext cx="5982005" cy="553212"/>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計画と実績のギャップ（予実差異）をリアルタイムでモニタリングすることで、問題が大きくなる前に手を打つことが可能になります。</a:t>
            </a:r>
            <a:endParaRPr lang="en-US" sz="1300" dirty="0"/>
          </a:p>
        </p:txBody>
      </p:sp>
      <p:sp>
        <p:nvSpPr>
          <p:cNvPr id="23" name="Shape 18"/>
          <p:cNvSpPr/>
          <p:nvPr/>
        </p:nvSpPr>
        <p:spPr>
          <a:xfrm>
            <a:off x="7619695" y="2085746"/>
            <a:ext cx="4000500" cy="4572000"/>
          </a:xfrm>
          <a:prstGeom prst="roundRect">
            <a:avLst>
              <a:gd name="adj" fmla="val 653"/>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5000"/>
              </a:srgbClr>
            </a:outerShdw>
          </a:effectLst>
        </p:spPr>
      </p:sp>
      <p:sp>
        <p:nvSpPr>
          <p:cNvPr id="24" name="Shape 19"/>
          <p:cNvSpPr/>
          <p:nvPr/>
        </p:nvSpPr>
        <p:spPr>
          <a:xfrm>
            <a:off x="7810805" y="2708453"/>
            <a:ext cx="3619195" cy="19202"/>
          </a:xfrm>
          <a:prstGeom prst="rect">
            <a:avLst/>
          </a:prstGeom>
          <a:solidFill>
            <a:srgbClr val="E5E7EB"/>
          </a:solidFill>
          <a:ln w="12700">
            <a:solidFill>
              <a:srgbClr val="E5E7EB">
                <a:alpha val="0"/>
              </a:srgbClr>
            </a:solidFill>
            <a:prstDash val="solid"/>
          </a:ln>
        </p:spPr>
      </p:sp>
      <p:sp>
        <p:nvSpPr>
          <p:cNvPr id="25" name="Text 20"/>
          <p:cNvSpPr txBox="1"/>
          <p:nvPr/>
        </p:nvSpPr>
        <p:spPr>
          <a:xfrm>
            <a:off x="7772400" y="2384755"/>
            <a:ext cx="3696005" cy="228600"/>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200" b="1" dirty="0">
                <a:solidFill>
                  <a:srgbClr val="4B5563"/>
                </a:solidFill>
                <a:latin typeface="Noto Sans JP" pitchFamily="34" charset="0"/>
                <a:ea typeface="Noto Sans JP" pitchFamily="34" charset="-122"/>
                <a:cs typeface="Noto Sans JP" pitchFamily="34" charset="-120"/>
              </a:rPr>
              <a:t>マネジメントサイクルの回復</a:t>
            </a:r>
            <a:endParaRPr lang="en-US" sz="1200" dirty="0"/>
          </a:p>
        </p:txBody>
      </p:sp>
      <p:pic>
        <p:nvPicPr>
          <p:cNvPr id="26" name="Image 3" descr="preencoded.png">    </p:cNvPr>
          <p:cNvPicPr>
            <a:picLocks noChangeAspect="1"/>
          </p:cNvPicPr>
          <p:nvPr/>
        </p:nvPicPr>
        <p:blipFill>
          <a:blip r:embed="rId4"/>
          <a:srcRect l="0" r="0" t="0" b="0"/>
          <a:stretch/>
        </p:blipFill>
        <p:spPr>
          <a:xfrm>
            <a:off x="9549079" y="2995574"/>
            <a:ext cx="142646" cy="190195"/>
          </a:xfrm>
          <a:prstGeom prst="rect">
            <a:avLst/>
          </a:prstGeom>
        </p:spPr>
      </p:pic>
      <p:pic>
        <p:nvPicPr>
          <p:cNvPr id="27" name="Image 4" descr="preencoded.png">    </p:cNvPr>
          <p:cNvPicPr>
            <a:picLocks noChangeAspect="1"/>
          </p:cNvPicPr>
          <p:nvPr/>
        </p:nvPicPr>
        <p:blipFill>
          <a:blip r:embed="rId5"/>
          <a:srcRect l="0" r="0" t="0" b="0"/>
          <a:stretch/>
        </p:blipFill>
        <p:spPr>
          <a:xfrm>
            <a:off x="9549079" y="4138574"/>
            <a:ext cx="142646" cy="190195"/>
          </a:xfrm>
          <a:prstGeom prst="rect">
            <a:avLst/>
          </a:prstGeom>
        </p:spPr>
      </p:pic>
      <p:sp>
        <p:nvSpPr>
          <p:cNvPr id="28" name="Shape 21"/>
          <p:cNvSpPr/>
          <p:nvPr/>
        </p:nvSpPr>
        <p:spPr>
          <a:xfrm>
            <a:off x="8287207" y="2917850"/>
            <a:ext cx="2667305" cy="866851"/>
          </a:xfrm>
          <a:prstGeom prst="roundRect">
            <a:avLst>
              <a:gd name="adj" fmla="val 9273"/>
            </a:avLst>
          </a:prstGeom>
          <a:solidFill>
            <a:srgbClr val="ECFDF5"/>
          </a:solidFill>
          <a:ln w="12700">
            <a:solidFill>
              <a:srgbClr val="A7F3D0"/>
            </a:solidFill>
            <a:prstDash val="solid"/>
          </a:ln>
        </p:spPr>
      </p:sp>
      <p:sp>
        <p:nvSpPr>
          <p:cNvPr id="29" name="Shape 22"/>
          <p:cNvSpPr/>
          <p:nvPr/>
        </p:nvSpPr>
        <p:spPr>
          <a:xfrm>
            <a:off x="8410651" y="3158338"/>
            <a:ext cx="381305" cy="381305"/>
          </a:xfrm>
          <a:prstGeom prst="ellipse">
            <a:avLst/>
          </a:prstGeom>
          <a:solidFill>
            <a:srgbClr val="10B981"/>
          </a:solidFill>
          <a:ln w="12700">
            <a:solidFill>
              <a:srgbClr val="FFFFFF">
                <a:alpha val="0"/>
              </a:srgbClr>
            </a:solidFill>
            <a:prstDash val="solid"/>
          </a:ln>
        </p:spPr>
      </p:sp>
      <p:pic>
        <p:nvPicPr>
          <p:cNvPr id="30" name="Image 5" descr="preencoded.png">    </p:cNvPr>
          <p:cNvPicPr>
            <a:picLocks noChangeAspect="1"/>
          </p:cNvPicPr>
          <p:nvPr/>
        </p:nvPicPr>
        <p:blipFill>
          <a:blip r:embed="rId6"/>
          <a:srcRect l="-1773" r="-1773" t="0" b="0"/>
          <a:stretch/>
        </p:blipFill>
        <p:spPr>
          <a:xfrm>
            <a:off x="8534095" y="3263494"/>
            <a:ext cx="133502" cy="171907"/>
          </a:xfrm>
          <a:prstGeom prst="rect">
            <a:avLst/>
          </a:prstGeom>
        </p:spPr>
      </p:pic>
      <p:sp>
        <p:nvSpPr>
          <p:cNvPr id="31" name="Text 23"/>
          <p:cNvSpPr txBox="1"/>
          <p:nvPr/>
        </p:nvSpPr>
        <p:spPr>
          <a:xfrm>
            <a:off x="8934602" y="3042209"/>
            <a:ext cx="1972361" cy="228600"/>
          </a:xfrm>
          <a:prstGeom prst="rect">
            <a:avLst/>
          </a:prstGeom>
          <a:noFill/>
          <a:ln/>
        </p:spPr>
        <p:txBody>
          <a:bodyPr wrap="square" lIns="0" tIns="0" rIns="0" bIns="0" rtlCol="0" anchor="ctr"/>
          <a:lstStyle/>
          <a:p>
            <a:pPr algn="l" indent="0" marL="0">
              <a:buNone/>
            </a:pPr>
            <a:r>
              <a:rPr lang="en-US" sz="1200" b="1" dirty="0">
                <a:solidFill>
                  <a:srgbClr val="065F46"/>
                </a:solidFill>
                <a:latin typeface="Noto Sans JP" pitchFamily="34" charset="0"/>
                <a:ea typeface="Noto Sans JP" pitchFamily="34" charset="-122"/>
                <a:cs typeface="Noto Sans JP" pitchFamily="34" charset="-120"/>
              </a:rPr>
              <a:t>依頼・計画 (Plan)</a:t>
            </a:r>
            <a:endParaRPr lang="en-US" sz="1200" dirty="0"/>
          </a:p>
        </p:txBody>
      </p:sp>
      <p:sp>
        <p:nvSpPr>
          <p:cNvPr id="32" name="Text 24"/>
          <p:cNvSpPr txBox="1"/>
          <p:nvPr/>
        </p:nvSpPr>
        <p:spPr>
          <a:xfrm>
            <a:off x="8934602" y="3308299"/>
            <a:ext cx="1971446" cy="352958"/>
          </a:xfrm>
          <a:prstGeom prst="rect">
            <a:avLst/>
          </a:prstGeom>
          <a:noFill/>
          <a:ln/>
        </p:spPr>
        <p:txBody>
          <a:bodyPr wrap="square" lIns="0" tIns="0" rIns="0" bIns="0" rtlCol="0" anchor="t"/>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誰が・いつ・何をやるか</a:t>
            </a:r>
            <a:pPr algn="l" indent="0" marL="0">
              <a:buNone/>
            </a:pPr>
            <a:endParaRPr lang="en-US" sz="900" dirty="0"/>
          </a:p>
          <a:p>
            <a:pPr algn="l" indent="0" marL="0">
              <a:buNone/>
            </a:pPr>
            <a:r>
              <a:rPr lang="en-US" sz="900" dirty="0">
                <a:solidFill>
                  <a:srgbClr val="666666"/>
                </a:solidFill>
                <a:latin typeface="Noto Sans JP" pitchFamily="34" charset="0"/>
                <a:ea typeface="Noto Sans JP" pitchFamily="34" charset="-122"/>
                <a:cs typeface="Noto Sans JP" pitchFamily="34" charset="-120"/>
              </a:rPr>
              <a:t>事前にシステム登録</a:t>
            </a:r>
            <a:endParaRPr lang="en-US" sz="900" dirty="0"/>
          </a:p>
        </p:txBody>
      </p:sp>
      <p:sp>
        <p:nvSpPr>
          <p:cNvPr id="33" name="Shape 25"/>
          <p:cNvSpPr/>
          <p:nvPr/>
        </p:nvSpPr>
        <p:spPr>
          <a:xfrm>
            <a:off x="8287207" y="4065422"/>
            <a:ext cx="2667305" cy="866851"/>
          </a:xfrm>
          <a:prstGeom prst="roundRect">
            <a:avLst>
              <a:gd name="adj" fmla="val 9273"/>
            </a:avLst>
          </a:prstGeom>
          <a:solidFill>
            <a:srgbClr val="EFF6FF"/>
          </a:solidFill>
          <a:ln w="12700">
            <a:solidFill>
              <a:srgbClr val="BFDBFE"/>
            </a:solidFill>
            <a:prstDash val="solid"/>
          </a:ln>
        </p:spPr>
      </p:sp>
      <p:sp>
        <p:nvSpPr>
          <p:cNvPr id="34" name="Shape 26"/>
          <p:cNvSpPr/>
          <p:nvPr/>
        </p:nvSpPr>
        <p:spPr>
          <a:xfrm>
            <a:off x="8410651" y="4304995"/>
            <a:ext cx="381305" cy="381305"/>
          </a:xfrm>
          <a:prstGeom prst="ellipse">
            <a:avLst/>
          </a:prstGeom>
          <a:solidFill>
            <a:srgbClr val="3B82F6"/>
          </a:solidFill>
          <a:ln w="12700">
            <a:solidFill>
              <a:srgbClr val="FFFFFF">
                <a:alpha val="0"/>
              </a:srgbClr>
            </a:solidFill>
            <a:prstDash val="solid"/>
          </a:ln>
        </p:spPr>
      </p:sp>
      <p:pic>
        <p:nvPicPr>
          <p:cNvPr id="35" name="Image 6" descr="preencoded.png">    </p:cNvPr>
          <p:cNvPicPr>
            <a:picLocks noChangeAspect="1"/>
          </p:cNvPicPr>
          <p:nvPr/>
        </p:nvPicPr>
        <p:blipFill>
          <a:blip r:embed="rId7"/>
          <a:srcRect l="-1064" r="-1064" t="0" b="0"/>
          <a:stretch/>
        </p:blipFill>
        <p:spPr>
          <a:xfrm>
            <a:off x="8491118" y="4410151"/>
            <a:ext cx="219456" cy="171907"/>
          </a:xfrm>
          <a:prstGeom prst="rect">
            <a:avLst/>
          </a:prstGeom>
        </p:spPr>
      </p:pic>
      <p:sp>
        <p:nvSpPr>
          <p:cNvPr id="36" name="Text 27"/>
          <p:cNvSpPr txBox="1"/>
          <p:nvPr/>
        </p:nvSpPr>
        <p:spPr>
          <a:xfrm>
            <a:off x="8934602" y="4188866"/>
            <a:ext cx="1972361" cy="228600"/>
          </a:xfrm>
          <a:prstGeom prst="rect">
            <a:avLst/>
          </a:prstGeom>
          <a:noFill/>
          <a:ln/>
        </p:spPr>
        <p:txBody>
          <a:bodyPr wrap="square" lIns="0" tIns="0" rIns="0" bIns="0" rtlCol="0" anchor="ctr"/>
          <a:lstStyle/>
          <a:p>
            <a:pPr algn="l" indent="0" marL="0">
              <a:buNone/>
            </a:pPr>
            <a:r>
              <a:rPr lang="en-US" sz="1200" b="1" dirty="0">
                <a:solidFill>
                  <a:srgbClr val="1E40AF"/>
                </a:solidFill>
                <a:latin typeface="Noto Sans JP" pitchFamily="34" charset="0"/>
                <a:ea typeface="Noto Sans JP" pitchFamily="34" charset="-122"/>
                <a:cs typeface="Noto Sans JP" pitchFamily="34" charset="-120"/>
              </a:rPr>
              <a:t>実行・実績 (Do)</a:t>
            </a:r>
            <a:endParaRPr lang="en-US" sz="1200" dirty="0"/>
          </a:p>
        </p:txBody>
      </p:sp>
      <p:sp>
        <p:nvSpPr>
          <p:cNvPr id="37" name="Text 28"/>
          <p:cNvSpPr txBox="1"/>
          <p:nvPr/>
        </p:nvSpPr>
        <p:spPr>
          <a:xfrm>
            <a:off x="8934602" y="4455871"/>
            <a:ext cx="1971446" cy="352958"/>
          </a:xfrm>
          <a:prstGeom prst="rect">
            <a:avLst/>
          </a:prstGeom>
          <a:noFill/>
          <a:ln/>
        </p:spPr>
        <p:txBody>
          <a:bodyPr wrap="square" lIns="0" tIns="0" rIns="0" bIns="0" rtlCol="0" anchor="t"/>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完了した事実を入力</a:t>
            </a:r>
            <a:pPr algn="l" indent="0" marL="0">
              <a:buNone/>
            </a:pPr>
            <a:endParaRPr lang="en-US" sz="900" dirty="0"/>
          </a:p>
          <a:p>
            <a:pPr algn="l" indent="0" marL="0">
              <a:buNone/>
            </a:pPr>
            <a:r>
              <a:rPr lang="en-US" sz="900" dirty="0">
                <a:solidFill>
                  <a:srgbClr val="666666"/>
                </a:solidFill>
                <a:latin typeface="Noto Sans JP" pitchFamily="34" charset="0"/>
                <a:ea typeface="Noto Sans JP" pitchFamily="34" charset="-122"/>
                <a:cs typeface="Noto Sans JP" pitchFamily="34" charset="-120"/>
              </a:rPr>
              <a:t>（多軸情報が紐付く）</a:t>
            </a:r>
            <a:endParaRPr lang="en-US" sz="900" dirty="0"/>
          </a:p>
        </p:txBody>
      </p:sp>
      <p:sp>
        <p:nvSpPr>
          <p:cNvPr id="38" name="Shape 29"/>
          <p:cNvSpPr/>
          <p:nvPr/>
        </p:nvSpPr>
        <p:spPr>
          <a:xfrm>
            <a:off x="8287207" y="5212080"/>
            <a:ext cx="2667305" cy="866851"/>
          </a:xfrm>
          <a:prstGeom prst="roundRect">
            <a:avLst>
              <a:gd name="adj" fmla="val 9273"/>
            </a:avLst>
          </a:prstGeom>
          <a:solidFill>
            <a:srgbClr val="F5F3FF"/>
          </a:solidFill>
          <a:ln w="12700">
            <a:solidFill>
              <a:srgbClr val="DDD6FE"/>
            </a:solidFill>
            <a:prstDash val="solid"/>
          </a:ln>
        </p:spPr>
      </p:sp>
      <p:sp>
        <p:nvSpPr>
          <p:cNvPr id="39" name="Shape 30"/>
          <p:cNvSpPr/>
          <p:nvPr/>
        </p:nvSpPr>
        <p:spPr>
          <a:xfrm>
            <a:off x="8410651" y="5451653"/>
            <a:ext cx="381305" cy="381305"/>
          </a:xfrm>
          <a:prstGeom prst="ellipse">
            <a:avLst/>
          </a:prstGeom>
          <a:solidFill>
            <a:srgbClr val="8B5CF6"/>
          </a:solidFill>
          <a:ln w="12700">
            <a:solidFill>
              <a:srgbClr val="FFFFFF">
                <a:alpha val="0"/>
              </a:srgbClr>
            </a:solidFill>
            <a:prstDash val="solid"/>
          </a:ln>
        </p:spPr>
      </p:sp>
      <p:pic>
        <p:nvPicPr>
          <p:cNvPr id="40" name="Image 7" descr="preencoded.png">    </p:cNvPr>
          <p:cNvPicPr>
            <a:picLocks noChangeAspect="1"/>
          </p:cNvPicPr>
          <p:nvPr/>
        </p:nvPicPr>
        <p:blipFill>
          <a:blip r:embed="rId8"/>
          <a:srcRect l="-1773" r="-1773" t="0" b="0"/>
          <a:stretch/>
        </p:blipFill>
        <p:spPr>
          <a:xfrm>
            <a:off x="8534095" y="5556809"/>
            <a:ext cx="133502" cy="171907"/>
          </a:xfrm>
          <a:prstGeom prst="rect">
            <a:avLst/>
          </a:prstGeom>
        </p:spPr>
      </p:pic>
      <p:sp>
        <p:nvSpPr>
          <p:cNvPr id="41" name="Text 31"/>
          <p:cNvSpPr txBox="1"/>
          <p:nvPr/>
        </p:nvSpPr>
        <p:spPr>
          <a:xfrm>
            <a:off x="8934602" y="5335524"/>
            <a:ext cx="1972361" cy="228600"/>
          </a:xfrm>
          <a:prstGeom prst="rect">
            <a:avLst/>
          </a:prstGeom>
          <a:noFill/>
          <a:ln/>
        </p:spPr>
        <p:txBody>
          <a:bodyPr wrap="square" lIns="0" tIns="0" rIns="0" bIns="0" rtlCol="0" anchor="ctr"/>
          <a:lstStyle/>
          <a:p>
            <a:pPr algn="l" indent="0" marL="0">
              <a:buNone/>
            </a:pPr>
            <a:r>
              <a:rPr lang="en-US" sz="1200" b="1" dirty="0">
                <a:solidFill>
                  <a:srgbClr val="5B21B6"/>
                </a:solidFill>
                <a:latin typeface="Noto Sans JP" pitchFamily="34" charset="0"/>
                <a:ea typeface="Noto Sans JP" pitchFamily="34" charset="-122"/>
                <a:cs typeface="Noto Sans JP" pitchFamily="34" charset="-120"/>
              </a:rPr>
              <a:t>自動処理 (Action)</a:t>
            </a:r>
            <a:endParaRPr lang="en-US" sz="1200" dirty="0"/>
          </a:p>
        </p:txBody>
      </p:sp>
      <p:sp>
        <p:nvSpPr>
          <p:cNvPr id="42" name="Text 32"/>
          <p:cNvSpPr txBox="1"/>
          <p:nvPr/>
        </p:nvSpPr>
        <p:spPr>
          <a:xfrm>
            <a:off x="8934602" y="5602529"/>
            <a:ext cx="1971446" cy="352958"/>
          </a:xfrm>
          <a:prstGeom prst="rect">
            <a:avLst/>
          </a:prstGeom>
          <a:noFill/>
          <a:ln/>
        </p:spPr>
        <p:txBody>
          <a:bodyPr wrap="square" lIns="0" tIns="0" rIns="0" bIns="0" rtlCol="0" anchor="t"/>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按分計算・連携を</a:t>
            </a:r>
            <a:pPr algn="l" indent="0" marL="0">
              <a:buNone/>
            </a:pPr>
            <a:endParaRPr lang="en-US" sz="900" dirty="0"/>
          </a:p>
          <a:p>
            <a:pPr algn="l" indent="0" marL="0">
              <a:buNone/>
            </a:pPr>
            <a:r>
              <a:rPr lang="en-US" sz="900" dirty="0">
                <a:solidFill>
                  <a:srgbClr val="666666"/>
                </a:solidFill>
                <a:latin typeface="Noto Sans JP" pitchFamily="34" charset="0"/>
                <a:ea typeface="Noto Sans JP" pitchFamily="34" charset="-122"/>
                <a:cs typeface="Noto Sans JP" pitchFamily="34" charset="-120"/>
              </a:rPr>
              <a:t>システムが自動実行</a:t>
            </a:r>
            <a:endParaRPr lang="en-US" sz="900" dirty="0"/>
          </a:p>
        </p:txBody>
      </p:sp>
      <p:sp>
        <p:nvSpPr>
          <p:cNvPr id="43" name="Text 33"/>
          <p:cNvSpPr txBox="1"/>
          <p:nvPr/>
        </p:nvSpPr>
        <p:spPr>
          <a:xfrm>
            <a:off x="9677095" y="5375758"/>
            <a:ext cx="1390802" cy="534010"/>
          </a:xfrm>
          <a:prstGeom prst="rect">
            <a:avLst/>
          </a:prstGeom>
          <a:solidFill>
            <a:srgbClr val="FFFBEB"/>
          </a:solidFill>
          <a:ln w="25400">
            <a:solidFill>
              <a:srgbClr val="F59E0B"/>
            </a:solidFill>
          </a:ln>
        </p:spPr>
        <p:txBody>
          <a:bodyPr wrap="square" lIns="0" tIns="0" rIns="0" bIns="0" rtlCol="0" anchor="t"/>
          <a:lstStyle/>
          <a:p>
            <a:pPr algn="ctr" indent="0" marL="0">
              <a:buNone/>
            </a:pPr>
            <a:r>
              <a:rPr lang="en-US" sz="900" b="1" dirty="0">
                <a:solidFill>
                  <a:srgbClr val="B45309"/>
                </a:solidFill>
                <a:latin typeface="Noto Sans JP" pitchFamily="34" charset="0"/>
                <a:ea typeface="Noto Sans JP" pitchFamily="34" charset="-122"/>
                <a:cs typeface="Noto Sans JP" pitchFamily="34" charset="-120"/>
              </a:rPr>
              <a:t>電卓不要！</a:t>
            </a:r>
            <a:pPr algn="ctr" indent="0" marL="0">
              <a:buNone/>
            </a:pPr>
            <a:endParaRPr lang="en-US" sz="900" dirty="0"/>
          </a:p>
          <a:p>
            <a:pPr algn="ctr" indent="0" marL="0">
              <a:buNone/>
            </a:pPr>
            <a:r>
              <a:rPr lang="en-US" sz="900" b="1" dirty="0">
                <a:solidFill>
                  <a:srgbClr val="B45309"/>
                </a:solidFill>
                <a:latin typeface="Noto Sans JP" pitchFamily="34" charset="0"/>
                <a:ea typeface="Noto Sans JP" pitchFamily="34" charset="-122"/>
                <a:cs typeface="Noto Sans JP" pitchFamily="34" charset="-120"/>
              </a:rPr>
              <a:t>自動按分</a:t>
            </a:r>
            <a:endParaRPr lang="en-US" sz="900" dirty="0"/>
          </a:p>
        </p:txBody>
      </p:sp>
      <p:sp>
        <p:nvSpPr>
          <p:cNvPr id="44" name="Shape 34"/>
          <p:cNvSpPr/>
          <p:nvPr/>
        </p:nvSpPr>
        <p:spPr>
          <a:xfrm>
            <a:off x="0" y="0"/>
            <a:ext cx="12191695" cy="952805"/>
          </a:xfrm>
          <a:prstGeom prst="rect">
            <a:avLst/>
          </a:prstGeom>
          <a:solidFill>
            <a:srgbClr val="FFFFFF"/>
          </a:solidFill>
          <a:ln/>
        </p:spPr>
      </p:sp>
      <p:sp>
        <p:nvSpPr>
          <p:cNvPr id="45" name="Shape 35"/>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6" name="Shape 36"/>
          <p:cNvSpPr/>
          <p:nvPr/>
        </p:nvSpPr>
        <p:spPr>
          <a:xfrm>
            <a:off x="571500" y="304495"/>
            <a:ext cx="990295" cy="418795"/>
          </a:xfrm>
          <a:prstGeom prst="roundRect">
            <a:avLst>
              <a:gd name="adj" fmla="val 19849"/>
            </a:avLst>
          </a:prstGeom>
          <a:solidFill>
            <a:srgbClr val="059669"/>
          </a:solidFill>
          <a:ln w="12700">
            <a:solidFill>
              <a:srgbClr val="FFFFFF">
                <a:alpha val="0"/>
              </a:srgbClr>
            </a:solidFill>
            <a:prstDash val="solid"/>
          </a:ln>
        </p:spPr>
      </p:sp>
      <p:sp>
        <p:nvSpPr>
          <p:cNvPr id="47" name="Text 37"/>
          <p:cNvSpPr txBox="1"/>
          <p:nvPr/>
        </p:nvSpPr>
        <p:spPr>
          <a:xfrm>
            <a:off x="571500" y="304495"/>
            <a:ext cx="1069848"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原則③</a:t>
            </a:r>
            <a:endParaRPr lang="en-US" sz="1800" dirty="0"/>
          </a:p>
        </p:txBody>
      </p:sp>
      <p:sp>
        <p:nvSpPr>
          <p:cNvPr id="48" name="Text 38"/>
          <p:cNvSpPr txBox="1"/>
          <p:nvPr/>
        </p:nvSpPr>
        <p:spPr>
          <a:xfrm>
            <a:off x="1752905" y="286207"/>
            <a:ext cx="5067605"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「計画と実績」による業務の可視化</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1009498"/>
            <a:ext cx="12191695" cy="6896405"/>
          </a:xfrm>
          <a:prstGeom prst="rect">
            <a:avLst/>
          </a:prstGeom>
          <a:solidFill>
            <a:srgbClr val="F9FAFB"/>
          </a:solidFill>
          <a:ln w="12700">
            <a:solidFill>
              <a:srgbClr val="FFFFFF">
                <a:alpha val="0"/>
              </a:srgbClr>
            </a:solidFill>
            <a:prstDash val="solid"/>
          </a:ln>
        </p:spPr>
      </p:sp>
      <p:pic>
        <p:nvPicPr>
          <p:cNvPr id="5" name="Image 0" descr="preencoded.png">    </p:cNvPr>
          <p:cNvPicPr>
            <a:picLocks noChangeAspect="1"/>
          </p:cNvPicPr>
          <p:nvPr/>
        </p:nvPicPr>
        <p:blipFill>
          <a:blip r:embed="rId1"/>
          <a:srcRect l="-360" r="-360" t="0" b="0"/>
          <a:stretch/>
        </p:blipFill>
        <p:spPr>
          <a:xfrm>
            <a:off x="1717243" y="4700016"/>
            <a:ext cx="19202" cy="381305"/>
          </a:xfrm>
          <a:prstGeom prst="rect">
            <a:avLst/>
          </a:prstGeom>
        </p:spPr>
      </p:pic>
      <p:pic>
        <p:nvPicPr>
          <p:cNvPr id="6" name="Image 1" descr="preencoded.png">    </p:cNvPr>
          <p:cNvPicPr>
            <a:picLocks noChangeAspect="1"/>
          </p:cNvPicPr>
          <p:nvPr/>
        </p:nvPicPr>
        <p:blipFill>
          <a:blip r:embed="rId2"/>
          <a:srcRect l="-360" r="-360" t="0" b="0"/>
          <a:stretch/>
        </p:blipFill>
        <p:spPr>
          <a:xfrm>
            <a:off x="3317443" y="4700016"/>
            <a:ext cx="19202" cy="381305"/>
          </a:xfrm>
          <a:prstGeom prst="rect">
            <a:avLst/>
          </a:prstGeom>
        </p:spPr>
      </p:pic>
      <p:pic>
        <p:nvPicPr>
          <p:cNvPr id="7" name="Image 2" descr="preencoded.png">    </p:cNvPr>
          <p:cNvPicPr>
            <a:picLocks noChangeAspect="1"/>
          </p:cNvPicPr>
          <p:nvPr/>
        </p:nvPicPr>
        <p:blipFill>
          <a:blip r:embed="rId3"/>
          <a:srcRect l="-360" r="-360" t="0" b="0"/>
          <a:stretch/>
        </p:blipFill>
        <p:spPr>
          <a:xfrm>
            <a:off x="4917643" y="4700016"/>
            <a:ext cx="19202" cy="381305"/>
          </a:xfrm>
          <a:prstGeom prst="rect">
            <a:avLst/>
          </a:prstGeom>
        </p:spPr>
      </p:pic>
      <p:pic>
        <p:nvPicPr>
          <p:cNvPr id="8" name="Image 3" descr="preencoded.png">    </p:cNvPr>
          <p:cNvPicPr>
            <a:picLocks noChangeAspect="1"/>
          </p:cNvPicPr>
          <p:nvPr/>
        </p:nvPicPr>
        <p:blipFill>
          <a:blip r:embed="rId4"/>
          <a:srcRect l="-360" r="-360" t="0" b="0"/>
          <a:stretch/>
        </p:blipFill>
        <p:spPr>
          <a:xfrm>
            <a:off x="6517843" y="4700016"/>
            <a:ext cx="19202" cy="381305"/>
          </a:xfrm>
          <a:prstGeom prst="rect">
            <a:avLst/>
          </a:prstGeom>
        </p:spPr>
      </p:pic>
      <p:sp>
        <p:nvSpPr>
          <p:cNvPr id="9" name="Shape 3"/>
          <p:cNvSpPr/>
          <p:nvPr/>
        </p:nvSpPr>
        <p:spPr>
          <a:xfrm>
            <a:off x="8064094" y="1295705"/>
            <a:ext cx="3562502" cy="1981505"/>
          </a:xfrm>
          <a:prstGeom prst="roundRect">
            <a:avLst>
              <a:gd name="adj" fmla="val 2662"/>
            </a:avLst>
          </a:prstGeom>
          <a:solidFill>
            <a:srgbClr val="FFFFFF"/>
          </a:solidFill>
          <a:ln/>
          <a:effectLst>
            <a:outerShdw sx="100000" sy="100000" kx="0" ky="0" algn="bl" rotWithShape="0" blurRad="63500" dist="38100" dir="16200000">
              <a:srgbClr val="000000">
                <a:alpha val="5000"/>
              </a:srgbClr>
            </a:outerShdw>
          </a:effectLst>
        </p:spPr>
      </p:sp>
      <p:sp>
        <p:nvSpPr>
          <p:cNvPr id="10" name="Shape 4"/>
          <p:cNvSpPr/>
          <p:nvPr/>
        </p:nvSpPr>
        <p:spPr>
          <a:xfrm>
            <a:off x="8064094" y="1295705"/>
            <a:ext cx="47549" cy="1981505"/>
          </a:xfrm>
          <a:prstGeom prst="roundRect">
            <a:avLst>
              <a:gd name="adj" fmla="val 110946"/>
            </a:avLst>
          </a:prstGeom>
          <a:solidFill>
            <a:srgbClr val="2563EB"/>
          </a:solidFill>
          <a:ln w="12700">
            <a:solidFill>
              <a:srgbClr val="2563EB">
                <a:alpha val="0"/>
              </a:srgbClr>
            </a:solidFill>
            <a:prstDash val="solid"/>
          </a:ln>
        </p:spPr>
      </p:sp>
      <p:sp>
        <p:nvSpPr>
          <p:cNvPr id="11" name="Text 5"/>
          <p:cNvSpPr txBox="1"/>
          <p:nvPr/>
        </p:nvSpPr>
        <p:spPr>
          <a:xfrm>
            <a:off x="8522208" y="1485900"/>
            <a:ext cx="3105302"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業務バックボーン（OS）</a:t>
            </a:r>
            <a:endParaRPr lang="en-US" sz="1500" dirty="0"/>
          </a:p>
        </p:txBody>
      </p:sp>
      <p:pic>
        <p:nvPicPr>
          <p:cNvPr id="12" name="Image 4" descr="preencoded.png">    </p:cNvPr>
          <p:cNvPicPr>
            <a:picLocks noChangeAspect="1"/>
          </p:cNvPicPr>
          <p:nvPr/>
        </p:nvPicPr>
        <p:blipFill>
          <a:blip r:embed="rId5"/>
          <a:srcRect l="-1282" r="-1282" t="0" b="0"/>
          <a:stretch/>
        </p:blipFill>
        <p:spPr>
          <a:xfrm>
            <a:off x="8302752" y="1533449"/>
            <a:ext cx="219456" cy="190195"/>
          </a:xfrm>
          <a:prstGeom prst="rect">
            <a:avLst/>
          </a:prstGeom>
        </p:spPr>
      </p:pic>
      <p:sp>
        <p:nvSpPr>
          <p:cNvPr id="13" name="Text 6"/>
          <p:cNvSpPr txBox="1"/>
          <p:nvPr/>
        </p:nvSpPr>
        <p:spPr>
          <a:xfrm>
            <a:off x="8302752" y="1867205"/>
            <a:ext cx="3210458" cy="1219810"/>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 仕事ナビは、特定の業務だけを行うアプリではなく、法人全体の</a:t>
            </a:r>
            <a:pPr algn="l" indent="0" marL="0">
              <a:buNone/>
            </a:pPr>
            <a:r>
              <a:rPr lang="en-US" sz="1200" b="1" dirty="0">
                <a:solidFill>
                  <a:srgbClr val="2563EB"/>
                </a:solidFill>
                <a:latin typeface="Noto Sans JP" pitchFamily="34" charset="0"/>
                <a:ea typeface="Noto Sans JP" pitchFamily="34" charset="-122"/>
                <a:cs typeface="Noto Sans JP" pitchFamily="34" charset="-120"/>
              </a:rPr>
              <a:t>「仕事の流れ（ワークフロー）」を制御する中枢</a:t>
            </a:r>
            <a:pPr algn="l" indent="0" marL="0">
              <a:buNone/>
            </a:pPr>
            <a:r>
              <a:rPr lang="en-US" sz="1200" dirty="0">
                <a:solidFill>
                  <a:srgbClr val="4B5563"/>
                </a:solidFill>
                <a:latin typeface="Noto Sans JP" pitchFamily="34" charset="0"/>
                <a:ea typeface="Noto Sans JP" pitchFamily="34" charset="-122"/>
                <a:cs typeface="Noto Sans JP" pitchFamily="34" charset="-120"/>
              </a:rPr>
              <a:t>です。カーナビのように、目的地（完了）までのルートを示し、信号（条件）で交通整理を行います。 </a:t>
            </a:r>
            <a:endParaRPr lang="en-US" sz="1200" dirty="0"/>
          </a:p>
        </p:txBody>
      </p:sp>
      <p:sp>
        <p:nvSpPr>
          <p:cNvPr id="14" name="Shape 7"/>
          <p:cNvSpPr/>
          <p:nvPr/>
        </p:nvSpPr>
        <p:spPr>
          <a:xfrm>
            <a:off x="8064094" y="3466490"/>
            <a:ext cx="3562502" cy="2229307"/>
          </a:xfrm>
          <a:prstGeom prst="roundRect">
            <a:avLst>
              <a:gd name="adj" fmla="val 2103"/>
            </a:avLst>
          </a:prstGeom>
          <a:solidFill>
            <a:srgbClr val="FFFFFF"/>
          </a:solidFill>
          <a:ln/>
          <a:effectLst>
            <a:outerShdw sx="100000" sy="100000" kx="0" ky="0" algn="bl" rotWithShape="0" blurRad="63500" dist="38100" dir="16200000">
              <a:srgbClr val="000000">
                <a:alpha val="5000"/>
              </a:srgbClr>
            </a:outerShdw>
          </a:effectLst>
        </p:spPr>
      </p:sp>
      <p:sp>
        <p:nvSpPr>
          <p:cNvPr id="15" name="Shape 8"/>
          <p:cNvSpPr/>
          <p:nvPr/>
        </p:nvSpPr>
        <p:spPr>
          <a:xfrm>
            <a:off x="8064094" y="3466490"/>
            <a:ext cx="47549" cy="2229307"/>
          </a:xfrm>
          <a:prstGeom prst="roundRect">
            <a:avLst>
              <a:gd name="adj" fmla="val 98619"/>
            </a:avLst>
          </a:prstGeom>
          <a:solidFill>
            <a:srgbClr val="F97316"/>
          </a:solidFill>
          <a:ln w="12700">
            <a:solidFill>
              <a:srgbClr val="F97316">
                <a:alpha val="0"/>
              </a:srgbClr>
            </a:solidFill>
            <a:prstDash val="solid"/>
          </a:ln>
        </p:spPr>
      </p:sp>
      <p:sp>
        <p:nvSpPr>
          <p:cNvPr id="16" name="Text 9"/>
          <p:cNvSpPr txBox="1"/>
          <p:nvPr/>
        </p:nvSpPr>
        <p:spPr>
          <a:xfrm>
            <a:off x="8445398" y="3657600"/>
            <a:ext cx="3182112" cy="286207"/>
          </a:xfrm>
          <a:prstGeom prst="rect">
            <a:avLst/>
          </a:prstGeom>
          <a:noFill/>
          <a:ln/>
        </p:spPr>
        <p:txBody>
          <a:bodyPr wrap="square" lIns="0" tIns="0" rIns="0" bIns="0" rtlCol="0" anchor="ctr"/>
          <a:lstStyle/>
          <a:p>
            <a:pPr algn="l" indent="0" marL="0">
              <a:buNone/>
            </a:pPr>
            <a:r>
              <a:rPr lang="en-US" sz="1500" b="1" dirty="0">
                <a:solidFill>
                  <a:srgbClr val="C2410C"/>
                </a:solidFill>
                <a:latin typeface="Noto Sans JP" pitchFamily="34" charset="0"/>
                <a:ea typeface="Noto Sans JP" pitchFamily="34" charset="-122"/>
                <a:cs typeface="Noto Sans JP" pitchFamily="34" charset="-120"/>
              </a:rPr>
              <a:t>既存システムとの関係</a:t>
            </a:r>
            <a:endParaRPr lang="en-US" sz="1500" dirty="0"/>
          </a:p>
        </p:txBody>
      </p:sp>
      <p:pic>
        <p:nvPicPr>
          <p:cNvPr id="17" name="Image 5" descr="preencoded.png">    </p:cNvPr>
          <p:cNvPicPr>
            <a:picLocks noChangeAspect="1"/>
          </p:cNvPicPr>
          <p:nvPr/>
        </p:nvPicPr>
        <p:blipFill>
          <a:blip r:embed="rId6"/>
          <a:srcRect l="0" r="0" t="0" b="0"/>
          <a:stretch/>
        </p:blipFill>
        <p:spPr>
          <a:xfrm>
            <a:off x="8302752" y="3705149"/>
            <a:ext cx="142646" cy="190195"/>
          </a:xfrm>
          <a:prstGeom prst="rect">
            <a:avLst/>
          </a:prstGeom>
        </p:spPr>
      </p:pic>
      <p:sp>
        <p:nvSpPr>
          <p:cNvPr id="18" name="Text 10"/>
          <p:cNvSpPr txBox="1"/>
          <p:nvPr/>
        </p:nvSpPr>
        <p:spPr>
          <a:xfrm>
            <a:off x="8302752" y="4037990"/>
            <a:ext cx="3210458" cy="1467612"/>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 現在お使いの会計システムや請求ソフトは、バックボーンに接続される</a:t>
            </a:r>
            <a:pPr algn="l" indent="0" marL="0">
              <a:buNone/>
            </a:pPr>
            <a:r>
              <a:rPr lang="en-US" sz="1200" b="1" dirty="0">
                <a:solidFill>
                  <a:srgbClr val="C2410C"/>
                </a:solidFill>
                <a:latin typeface="Noto Sans JP" pitchFamily="34" charset="0"/>
                <a:ea typeface="Noto Sans JP" pitchFamily="34" charset="-122"/>
                <a:cs typeface="Noto Sans JP" pitchFamily="34" charset="-120"/>
              </a:rPr>
              <a:t>「機能（アプリ）」</a:t>
            </a:r>
            <a:pPr algn="l" indent="0" marL="0">
              <a:buNone/>
            </a:pPr>
            <a:r>
              <a:rPr lang="en-US" sz="1200" dirty="0">
                <a:solidFill>
                  <a:srgbClr val="4B5563"/>
                </a:solidFill>
                <a:latin typeface="Noto Sans JP" pitchFamily="34" charset="0"/>
                <a:ea typeface="Noto Sans JP" pitchFamily="34" charset="-122"/>
                <a:cs typeface="Noto Sans JP" pitchFamily="34" charset="-120"/>
              </a:rPr>
              <a:t>として位置づけられます。</a:t>
            </a:r>
            <a:pPr algn="l" indent="0" marL="0">
              <a:buNone/>
            </a:pPr>
            <a:endParaRPr lang="en-US" sz="1200" dirty="0"/>
          </a:p>
          <a:p>
            <a:pPr algn="l" indent="0" marL="0">
              <a:buNone/>
            </a:pPr>
            <a:r>
              <a:rPr lang="en-US" sz="1200" dirty="0">
                <a:solidFill>
                  <a:srgbClr val="4B5563"/>
                </a:solidFill>
                <a:latin typeface="Noto Sans JP" pitchFamily="34" charset="0"/>
                <a:ea typeface="Noto Sans JP" pitchFamily="34" charset="-122"/>
                <a:cs typeface="Noto Sans JP" pitchFamily="34" charset="-120"/>
              </a:rPr>
              <a:t> 今あるシステムを捨てる必要はなく、仕事ナビが必要なタイミングでそれらを呼び出し、連携させます。 </a:t>
            </a:r>
            <a:endParaRPr lang="en-US" sz="1200" dirty="0"/>
          </a:p>
        </p:txBody>
      </p:sp>
      <p:sp>
        <p:nvSpPr>
          <p:cNvPr id="19" name="Shape 11"/>
          <p:cNvSpPr/>
          <p:nvPr/>
        </p:nvSpPr>
        <p:spPr>
          <a:xfrm>
            <a:off x="8064094" y="5882335"/>
            <a:ext cx="3562502" cy="1742846"/>
          </a:xfrm>
          <a:prstGeom prst="roundRect">
            <a:avLst>
              <a:gd name="adj" fmla="val 3440"/>
            </a:avLst>
          </a:prstGeom>
          <a:solidFill>
            <a:srgbClr val="FFFFFF"/>
          </a:solidFill>
          <a:ln/>
          <a:effectLst>
            <a:outerShdw sx="100000" sy="100000" kx="0" ky="0" algn="bl" rotWithShape="0" blurRad="63500" dist="38100" dir="16200000">
              <a:srgbClr val="000000">
                <a:alpha val="5000"/>
              </a:srgbClr>
            </a:outerShdw>
          </a:effectLst>
        </p:spPr>
      </p:sp>
      <p:sp>
        <p:nvSpPr>
          <p:cNvPr id="20" name="Shape 12"/>
          <p:cNvSpPr/>
          <p:nvPr/>
        </p:nvSpPr>
        <p:spPr>
          <a:xfrm>
            <a:off x="8064094" y="5882335"/>
            <a:ext cx="47549" cy="1742846"/>
          </a:xfrm>
          <a:prstGeom prst="roundRect">
            <a:avLst>
              <a:gd name="adj" fmla="val 126103"/>
            </a:avLst>
          </a:prstGeom>
          <a:solidFill>
            <a:srgbClr val="10B981"/>
          </a:solidFill>
          <a:ln w="12700">
            <a:solidFill>
              <a:srgbClr val="10B981">
                <a:alpha val="0"/>
              </a:srgbClr>
            </a:solidFill>
            <a:prstDash val="solid"/>
          </a:ln>
        </p:spPr>
      </p:sp>
      <p:sp>
        <p:nvSpPr>
          <p:cNvPr id="21" name="Text 13"/>
          <p:cNvSpPr txBox="1"/>
          <p:nvPr/>
        </p:nvSpPr>
        <p:spPr>
          <a:xfrm>
            <a:off x="8540496" y="6072530"/>
            <a:ext cx="3087014" cy="286207"/>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AIの役割</a:t>
            </a:r>
            <a:endParaRPr lang="en-US" sz="1500" dirty="0"/>
          </a:p>
        </p:txBody>
      </p:sp>
      <p:pic>
        <p:nvPicPr>
          <p:cNvPr id="22" name="Image 6" descr="preencoded.png">    </p:cNvPr>
          <p:cNvPicPr>
            <a:picLocks noChangeAspect="1"/>
          </p:cNvPicPr>
          <p:nvPr/>
        </p:nvPicPr>
        <p:blipFill>
          <a:blip r:embed="rId7"/>
          <a:srcRect l="0" r="0" t="0" b="0"/>
          <a:stretch/>
        </p:blipFill>
        <p:spPr>
          <a:xfrm>
            <a:off x="8302752" y="6120079"/>
            <a:ext cx="237744" cy="190195"/>
          </a:xfrm>
          <a:prstGeom prst="rect">
            <a:avLst/>
          </a:prstGeom>
        </p:spPr>
      </p:pic>
      <p:sp>
        <p:nvSpPr>
          <p:cNvPr id="23" name="Text 14"/>
          <p:cNvSpPr txBox="1"/>
          <p:nvPr/>
        </p:nvSpPr>
        <p:spPr>
          <a:xfrm>
            <a:off x="8302752" y="6453835"/>
            <a:ext cx="3210458" cy="981151"/>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 AIは単なるチャットボット（機能）である以上に、仕事ナビの</a:t>
            </a:r>
            <a:pPr algn="l" indent="0" marL="0">
              <a:buNone/>
            </a:pPr>
            <a:r>
              <a:rPr lang="en-US" sz="1200" b="1" dirty="0">
                <a:solidFill>
                  <a:srgbClr val="047857"/>
                </a:solidFill>
                <a:latin typeface="Noto Sans JP" pitchFamily="34" charset="0"/>
                <a:ea typeface="Noto Sans JP" pitchFamily="34" charset="-122"/>
                <a:cs typeface="Noto Sans JP" pitchFamily="34" charset="-120"/>
              </a:rPr>
              <a:t>「エンジン」</a:t>
            </a:r>
            <a:pPr algn="l" indent="0" marL="0">
              <a:buNone/>
            </a:pPr>
            <a:r>
              <a:rPr lang="en-US" sz="1200" dirty="0">
                <a:solidFill>
                  <a:srgbClr val="4B5563"/>
                </a:solidFill>
                <a:latin typeface="Noto Sans JP" pitchFamily="34" charset="0"/>
                <a:ea typeface="Noto Sans JP" pitchFamily="34" charset="-122"/>
                <a:cs typeface="Noto Sans JP" pitchFamily="34" charset="-120"/>
              </a:rPr>
              <a:t>として、計画の自動生成や知識の整理を強力に支援します。 </a:t>
            </a:r>
            <a:endParaRPr lang="en-US" sz="1200" dirty="0"/>
          </a:p>
        </p:txBody>
      </p:sp>
      <p:sp>
        <p:nvSpPr>
          <p:cNvPr id="24" name="Shape 15"/>
          <p:cNvSpPr/>
          <p:nvPr/>
        </p:nvSpPr>
        <p:spPr>
          <a:xfrm>
            <a:off x="1023214" y="4938674"/>
            <a:ext cx="1410005" cy="1019556"/>
          </a:xfrm>
          <a:prstGeom prst="roundRect">
            <a:avLst>
              <a:gd name="adj" fmla="val 8382"/>
            </a:avLst>
          </a:prstGeom>
          <a:solidFill>
            <a:srgbClr val="FFF7ED"/>
          </a:solidFill>
          <a:ln w="25400">
            <a:solidFill>
              <a:srgbClr val="F97316"/>
            </a:solidFill>
            <a:prstDash val="solid"/>
          </a:ln>
          <a:effectLst>
            <a:outerShdw sx="100000" sy="100000" kx="0" ky="0" algn="bl" rotWithShape="0" blurRad="63500" dist="38100" dir="16200000">
              <a:srgbClr val="000000">
                <a:alpha val="5000"/>
              </a:srgbClr>
            </a:outerShdw>
          </a:effectLst>
        </p:spPr>
      </p:sp>
      <p:sp>
        <p:nvSpPr>
          <p:cNvPr id="25" name="Text 16"/>
          <p:cNvSpPr txBox="1"/>
          <p:nvPr/>
        </p:nvSpPr>
        <p:spPr>
          <a:xfrm>
            <a:off x="1156716" y="5395874"/>
            <a:ext cx="1143000" cy="400507"/>
          </a:xfrm>
          <a:prstGeom prst="rect">
            <a:avLst/>
          </a:prstGeom>
          <a:noFill/>
          <a:ln/>
        </p:spPr>
        <p:txBody>
          <a:bodyPr wrap="square" lIns="0" tIns="0" rIns="0" bIns="0" rtlCol="0" anchor="t"/>
          <a:lstStyle/>
          <a:p>
            <a:pPr algn="ctr" indent="0" marL="0">
              <a:buNone/>
            </a:pPr>
            <a:r>
              <a:rPr lang="en-US" sz="1000" b="1" dirty="0">
                <a:solidFill>
                  <a:srgbClr val="C2410C"/>
                </a:solidFill>
                <a:latin typeface="Noto Sans JP" pitchFamily="34" charset="0"/>
                <a:ea typeface="Noto Sans JP" pitchFamily="34" charset="-122"/>
                <a:cs typeface="Noto Sans JP" pitchFamily="34" charset="-120"/>
              </a:rPr>
              <a:t>会計システム</a:t>
            </a:r>
            <a:pPr algn="ctr" indent="0" marL="0">
              <a:buNone/>
            </a:pPr>
            <a:endParaRPr lang="en-US" sz="1000" dirty="0"/>
          </a:p>
          <a:p>
            <a:pPr algn="ctr" indent="0" marL="0">
              <a:buNone/>
            </a:pPr>
            <a:r>
              <a:rPr lang="en-US" sz="1000" b="1" dirty="0">
                <a:solidFill>
                  <a:srgbClr val="C2410C"/>
                </a:solidFill>
                <a:latin typeface="Noto Sans JP" pitchFamily="34" charset="0"/>
                <a:ea typeface="Noto Sans JP" pitchFamily="34" charset="-122"/>
                <a:cs typeface="Noto Sans JP" pitchFamily="34" charset="-120"/>
              </a:rPr>
              <a:t>(MJS)</a:t>
            </a:r>
            <a:endParaRPr lang="en-US" sz="1000" dirty="0"/>
          </a:p>
        </p:txBody>
      </p:sp>
      <p:sp>
        <p:nvSpPr>
          <p:cNvPr id="26" name="Shape 17"/>
          <p:cNvSpPr/>
          <p:nvPr/>
        </p:nvSpPr>
        <p:spPr>
          <a:xfrm>
            <a:off x="1270102" y="5100523"/>
            <a:ext cx="923544" cy="247802"/>
          </a:xfrm>
          <a:prstGeom prst="roundRect">
            <a:avLst>
              <a:gd name="adj" fmla="val 56770"/>
            </a:avLst>
          </a:prstGeom>
          <a:solidFill>
            <a:srgbClr val="FFEDD5"/>
          </a:solidFill>
          <a:ln w="12700">
            <a:solidFill>
              <a:srgbClr val="FFFFFF">
                <a:alpha val="0"/>
              </a:srgbClr>
            </a:solidFill>
            <a:prstDash val="solid"/>
          </a:ln>
        </p:spPr>
      </p:sp>
      <p:sp>
        <p:nvSpPr>
          <p:cNvPr id="27" name="Text 18"/>
          <p:cNvSpPr txBox="1"/>
          <p:nvPr/>
        </p:nvSpPr>
        <p:spPr>
          <a:xfrm>
            <a:off x="1240841" y="5100523"/>
            <a:ext cx="9811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C2410C"/>
                </a:solidFill>
                <a:latin typeface="Noto Sans JP" pitchFamily="34" charset="0"/>
                <a:ea typeface="Noto Sans JP" pitchFamily="34" charset="-122"/>
                <a:cs typeface="Noto Sans JP" pitchFamily="34" charset="-120"/>
              </a:rPr>
              <a:t>機能・アプリ</a:t>
            </a:r>
            <a:endParaRPr lang="en-US" sz="900" dirty="0"/>
          </a:p>
        </p:txBody>
      </p:sp>
      <p:sp>
        <p:nvSpPr>
          <p:cNvPr id="28" name="Shape 19"/>
          <p:cNvSpPr/>
          <p:nvPr/>
        </p:nvSpPr>
        <p:spPr>
          <a:xfrm>
            <a:off x="2623414" y="4938674"/>
            <a:ext cx="1410005" cy="1019556"/>
          </a:xfrm>
          <a:prstGeom prst="roundRect">
            <a:avLst>
              <a:gd name="adj" fmla="val 8382"/>
            </a:avLst>
          </a:prstGeom>
          <a:solidFill>
            <a:srgbClr val="FFF7ED"/>
          </a:solidFill>
          <a:ln w="25400">
            <a:solidFill>
              <a:srgbClr val="F97316"/>
            </a:solidFill>
            <a:prstDash val="solid"/>
          </a:ln>
          <a:effectLst>
            <a:outerShdw sx="100000" sy="100000" kx="0" ky="0" algn="bl" rotWithShape="0" blurRad="63500" dist="38100" dir="16200000">
              <a:srgbClr val="000000">
                <a:alpha val="5000"/>
              </a:srgbClr>
            </a:outerShdw>
          </a:effectLst>
        </p:spPr>
      </p:sp>
      <p:sp>
        <p:nvSpPr>
          <p:cNvPr id="29" name="Text 20"/>
          <p:cNvSpPr txBox="1"/>
          <p:nvPr/>
        </p:nvSpPr>
        <p:spPr>
          <a:xfrm>
            <a:off x="2756916" y="5395874"/>
            <a:ext cx="1143000" cy="400507"/>
          </a:xfrm>
          <a:prstGeom prst="rect">
            <a:avLst/>
          </a:prstGeom>
          <a:noFill/>
          <a:ln/>
        </p:spPr>
        <p:txBody>
          <a:bodyPr wrap="square" lIns="0" tIns="0" rIns="0" bIns="0" rtlCol="0" anchor="t"/>
          <a:lstStyle/>
          <a:p>
            <a:pPr algn="ctr" indent="0" marL="0">
              <a:buNone/>
            </a:pPr>
            <a:r>
              <a:rPr lang="en-US" sz="1000" b="1" dirty="0">
                <a:solidFill>
                  <a:srgbClr val="C2410C"/>
                </a:solidFill>
                <a:latin typeface="Noto Sans JP" pitchFamily="34" charset="0"/>
                <a:ea typeface="Noto Sans JP" pitchFamily="34" charset="-122"/>
                <a:cs typeface="Noto Sans JP" pitchFamily="34" charset="-120"/>
              </a:rPr>
              <a:t>請求システム</a:t>
            </a:r>
            <a:pPr algn="ctr" indent="0" marL="0">
              <a:buNone/>
            </a:pPr>
            <a:endParaRPr lang="en-US" sz="1000" dirty="0"/>
          </a:p>
          <a:p>
            <a:pPr algn="ctr" indent="0" marL="0">
              <a:buNone/>
            </a:pPr>
            <a:r>
              <a:rPr lang="en-US" sz="1000" b="1" dirty="0">
                <a:solidFill>
                  <a:srgbClr val="C2410C"/>
                </a:solidFill>
                <a:latin typeface="Noto Sans JP" pitchFamily="34" charset="0"/>
                <a:ea typeface="Noto Sans JP" pitchFamily="34" charset="-122"/>
                <a:cs typeface="Noto Sans JP" pitchFamily="34" charset="-120"/>
              </a:rPr>
              <a:t>(ほのぼの)</a:t>
            </a:r>
            <a:endParaRPr lang="en-US" sz="1000" dirty="0"/>
          </a:p>
        </p:txBody>
      </p:sp>
      <p:sp>
        <p:nvSpPr>
          <p:cNvPr id="30" name="Shape 21"/>
          <p:cNvSpPr/>
          <p:nvPr/>
        </p:nvSpPr>
        <p:spPr>
          <a:xfrm>
            <a:off x="2870302" y="5100523"/>
            <a:ext cx="923544" cy="247802"/>
          </a:xfrm>
          <a:prstGeom prst="roundRect">
            <a:avLst>
              <a:gd name="adj" fmla="val 56770"/>
            </a:avLst>
          </a:prstGeom>
          <a:solidFill>
            <a:srgbClr val="FFEDD5"/>
          </a:solidFill>
          <a:ln w="12700">
            <a:solidFill>
              <a:srgbClr val="FFFFFF">
                <a:alpha val="0"/>
              </a:srgbClr>
            </a:solidFill>
            <a:prstDash val="solid"/>
          </a:ln>
        </p:spPr>
      </p:sp>
      <p:sp>
        <p:nvSpPr>
          <p:cNvPr id="31" name="Text 22"/>
          <p:cNvSpPr txBox="1"/>
          <p:nvPr/>
        </p:nvSpPr>
        <p:spPr>
          <a:xfrm>
            <a:off x="2841041" y="5100523"/>
            <a:ext cx="9811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C2410C"/>
                </a:solidFill>
                <a:latin typeface="Noto Sans JP" pitchFamily="34" charset="0"/>
                <a:ea typeface="Noto Sans JP" pitchFamily="34" charset="-122"/>
                <a:cs typeface="Noto Sans JP" pitchFamily="34" charset="-120"/>
              </a:rPr>
              <a:t>機能・アプリ</a:t>
            </a:r>
            <a:endParaRPr lang="en-US" sz="900" dirty="0"/>
          </a:p>
        </p:txBody>
      </p:sp>
      <p:sp>
        <p:nvSpPr>
          <p:cNvPr id="32" name="Shape 23"/>
          <p:cNvSpPr/>
          <p:nvPr/>
        </p:nvSpPr>
        <p:spPr>
          <a:xfrm>
            <a:off x="4223614" y="4938674"/>
            <a:ext cx="1410005" cy="1019556"/>
          </a:xfrm>
          <a:prstGeom prst="roundRect">
            <a:avLst>
              <a:gd name="adj" fmla="val 8382"/>
            </a:avLst>
          </a:prstGeom>
          <a:solidFill>
            <a:srgbClr val="FFF7ED"/>
          </a:solidFill>
          <a:ln w="25400">
            <a:solidFill>
              <a:srgbClr val="F97316"/>
            </a:solidFill>
            <a:prstDash val="solid"/>
          </a:ln>
          <a:effectLst>
            <a:outerShdw sx="100000" sy="100000" kx="0" ky="0" algn="bl" rotWithShape="0" blurRad="63500" dist="38100" dir="16200000">
              <a:srgbClr val="000000">
                <a:alpha val="5000"/>
              </a:srgbClr>
            </a:outerShdw>
          </a:effectLst>
        </p:spPr>
      </p:sp>
      <p:sp>
        <p:nvSpPr>
          <p:cNvPr id="33" name="Text 24"/>
          <p:cNvSpPr txBox="1"/>
          <p:nvPr/>
        </p:nvSpPr>
        <p:spPr>
          <a:xfrm>
            <a:off x="4341571" y="5395874"/>
            <a:ext cx="1173175" cy="200254"/>
          </a:xfrm>
          <a:prstGeom prst="rect">
            <a:avLst/>
          </a:prstGeom>
          <a:noFill/>
          <a:ln/>
        </p:spPr>
        <p:txBody>
          <a:bodyPr wrap="square" lIns="0" tIns="0" rIns="0" bIns="0" rtlCol="0" anchor="ctr"/>
          <a:lstStyle/>
          <a:p>
            <a:pPr algn="ctr" indent="0" marL="0">
              <a:buNone/>
            </a:pPr>
            <a:r>
              <a:rPr lang="en-US" sz="1000" b="1" dirty="0">
                <a:solidFill>
                  <a:srgbClr val="C2410C"/>
                </a:solidFill>
                <a:latin typeface="Noto Sans JP" pitchFamily="34" charset="0"/>
                <a:ea typeface="Noto Sans JP" pitchFamily="34" charset="-122"/>
                <a:cs typeface="Noto Sans JP" pitchFamily="34" charset="-120"/>
              </a:rPr>
              <a:t>給与システム</a:t>
            </a:r>
            <a:endParaRPr lang="en-US" sz="1000" dirty="0"/>
          </a:p>
        </p:txBody>
      </p:sp>
      <p:sp>
        <p:nvSpPr>
          <p:cNvPr id="34" name="Shape 25"/>
          <p:cNvSpPr/>
          <p:nvPr/>
        </p:nvSpPr>
        <p:spPr>
          <a:xfrm>
            <a:off x="4470502" y="5100523"/>
            <a:ext cx="923544" cy="247802"/>
          </a:xfrm>
          <a:prstGeom prst="roundRect">
            <a:avLst>
              <a:gd name="adj" fmla="val 56770"/>
            </a:avLst>
          </a:prstGeom>
          <a:solidFill>
            <a:srgbClr val="FFEDD5"/>
          </a:solidFill>
          <a:ln w="12700">
            <a:solidFill>
              <a:srgbClr val="FFFFFF">
                <a:alpha val="0"/>
              </a:srgbClr>
            </a:solidFill>
            <a:prstDash val="solid"/>
          </a:ln>
        </p:spPr>
      </p:sp>
      <p:sp>
        <p:nvSpPr>
          <p:cNvPr id="35" name="Text 26"/>
          <p:cNvSpPr txBox="1"/>
          <p:nvPr/>
        </p:nvSpPr>
        <p:spPr>
          <a:xfrm>
            <a:off x="4441241" y="5100523"/>
            <a:ext cx="9811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C2410C"/>
                </a:solidFill>
                <a:latin typeface="Noto Sans JP" pitchFamily="34" charset="0"/>
                <a:ea typeface="Noto Sans JP" pitchFamily="34" charset="-122"/>
                <a:cs typeface="Noto Sans JP" pitchFamily="34" charset="-120"/>
              </a:rPr>
              <a:t>機能・アプリ</a:t>
            </a:r>
            <a:endParaRPr lang="en-US" sz="900" dirty="0"/>
          </a:p>
        </p:txBody>
      </p:sp>
      <p:sp>
        <p:nvSpPr>
          <p:cNvPr id="36" name="Shape 27"/>
          <p:cNvSpPr/>
          <p:nvPr/>
        </p:nvSpPr>
        <p:spPr>
          <a:xfrm>
            <a:off x="5823814" y="4938674"/>
            <a:ext cx="1410005" cy="1019556"/>
          </a:xfrm>
          <a:prstGeom prst="roundRect">
            <a:avLst>
              <a:gd name="adj" fmla="val 8382"/>
            </a:avLst>
          </a:prstGeom>
          <a:solidFill>
            <a:srgbClr val="FFF7ED"/>
          </a:solidFill>
          <a:ln w="25400">
            <a:solidFill>
              <a:srgbClr val="F97316"/>
            </a:solidFill>
            <a:prstDash val="solid"/>
          </a:ln>
          <a:effectLst>
            <a:outerShdw sx="100000" sy="100000" kx="0" ky="0" algn="bl" rotWithShape="0" blurRad="63500" dist="38100" dir="16200000">
              <a:srgbClr val="000000">
                <a:alpha val="5000"/>
              </a:srgbClr>
            </a:outerShdw>
          </a:effectLst>
        </p:spPr>
      </p:sp>
      <p:sp>
        <p:nvSpPr>
          <p:cNvPr id="37" name="Text 28"/>
          <p:cNvSpPr txBox="1"/>
          <p:nvPr/>
        </p:nvSpPr>
        <p:spPr>
          <a:xfrm>
            <a:off x="5947258" y="5395874"/>
            <a:ext cx="1162202" cy="200254"/>
          </a:xfrm>
          <a:prstGeom prst="rect">
            <a:avLst/>
          </a:prstGeom>
          <a:noFill/>
          <a:ln/>
        </p:spPr>
        <p:txBody>
          <a:bodyPr wrap="square" lIns="0" tIns="0" rIns="0" bIns="0" rtlCol="0" anchor="ctr"/>
          <a:lstStyle/>
          <a:p>
            <a:pPr algn="ctr" indent="0" marL="0">
              <a:buNone/>
            </a:pPr>
            <a:r>
              <a:rPr lang="en-US" sz="1000" b="1" dirty="0">
                <a:solidFill>
                  <a:srgbClr val="C2410C"/>
                </a:solidFill>
                <a:latin typeface="Noto Sans JP" pitchFamily="34" charset="0"/>
                <a:ea typeface="Noto Sans JP" pitchFamily="34" charset="-122"/>
                <a:cs typeface="Noto Sans JP" pitchFamily="34" charset="-120"/>
              </a:rPr>
              <a:t>AI / ChatBot</a:t>
            </a:r>
            <a:endParaRPr lang="en-US" sz="1000" dirty="0"/>
          </a:p>
        </p:txBody>
      </p:sp>
      <p:sp>
        <p:nvSpPr>
          <p:cNvPr id="38" name="Shape 29"/>
          <p:cNvSpPr/>
          <p:nvPr/>
        </p:nvSpPr>
        <p:spPr>
          <a:xfrm>
            <a:off x="6070702" y="5100523"/>
            <a:ext cx="923544" cy="247802"/>
          </a:xfrm>
          <a:prstGeom prst="roundRect">
            <a:avLst>
              <a:gd name="adj" fmla="val 56770"/>
            </a:avLst>
          </a:prstGeom>
          <a:solidFill>
            <a:srgbClr val="FFEDD5"/>
          </a:solidFill>
          <a:ln w="12700">
            <a:solidFill>
              <a:srgbClr val="FFFFFF">
                <a:alpha val="0"/>
              </a:srgbClr>
            </a:solidFill>
            <a:prstDash val="solid"/>
          </a:ln>
        </p:spPr>
      </p:sp>
      <p:sp>
        <p:nvSpPr>
          <p:cNvPr id="39" name="Text 30"/>
          <p:cNvSpPr txBox="1"/>
          <p:nvPr/>
        </p:nvSpPr>
        <p:spPr>
          <a:xfrm>
            <a:off x="6041441" y="5100523"/>
            <a:ext cx="981151" cy="247802"/>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900" b="1" dirty="0">
                <a:solidFill>
                  <a:srgbClr val="C2410C"/>
                </a:solidFill>
                <a:latin typeface="Noto Sans JP" pitchFamily="34" charset="0"/>
                <a:ea typeface="Noto Sans JP" pitchFamily="34" charset="-122"/>
                <a:cs typeface="Noto Sans JP" pitchFamily="34" charset="-120"/>
              </a:rPr>
              <a:t>機能・アプリ</a:t>
            </a:r>
            <a:endParaRPr lang="en-US" sz="900" dirty="0"/>
          </a:p>
        </p:txBody>
      </p:sp>
      <p:pic>
        <p:nvPicPr>
          <p:cNvPr id="40" name="Image 7" descr="preencoded.png">    </p:cNvPr>
          <p:cNvPicPr>
            <a:picLocks noChangeAspect="1"/>
          </p:cNvPicPr>
          <p:nvPr/>
        </p:nvPicPr>
        <p:blipFill>
          <a:blip r:embed="rId8"/>
          <a:srcRect l="-1" r="-1" t="0" b="0"/>
          <a:stretch/>
        </p:blipFill>
        <p:spPr>
          <a:xfrm>
            <a:off x="571500" y="2957170"/>
            <a:ext cx="7112203" cy="1600200"/>
          </a:xfrm>
          <a:prstGeom prst="rect">
            <a:avLst/>
          </a:prstGeom>
        </p:spPr>
      </p:pic>
      <p:sp>
        <p:nvSpPr>
          <p:cNvPr id="41" name="Text 31"/>
          <p:cNvSpPr txBox="1"/>
          <p:nvPr/>
        </p:nvSpPr>
        <p:spPr>
          <a:xfrm>
            <a:off x="694944" y="3175711"/>
            <a:ext cx="6868058" cy="228600"/>
          </a:xfrm>
          <a:prstGeom prst="rect">
            <a:avLst/>
          </a:prstGeom>
          <a:noFill/>
          <a:ln/>
        </p:spPr>
        <p:txBody>
          <a:bodyPr wrap="square" lIns="0" tIns="0" rIns="0" bIns="0" rtlCol="0" anchor="ctr"/>
          <a:lstStyle/>
          <a:p>
            <a:pPr algn="ctr" indent="0" marL="0">
              <a:buNone/>
            </a:pPr>
            <a:r>
              <a:rPr lang="en-US" sz="1200" b="1" dirty="0">
                <a:solidFill>
                  <a:srgbClr val="1E40AF"/>
                </a:solidFill>
                <a:latin typeface="Noto Sans JP" pitchFamily="34" charset="0"/>
                <a:ea typeface="Noto Sans JP" pitchFamily="34" charset="-122"/>
                <a:cs typeface="Noto Sans JP" pitchFamily="34" charset="-120"/>
              </a:rPr>
              <a:t> 全社の仕事の流れを制御する「OS」 </a:t>
            </a:r>
            <a:endParaRPr lang="en-US" sz="1200" dirty="0"/>
          </a:p>
        </p:txBody>
      </p:sp>
      <p:pic>
        <p:nvPicPr>
          <p:cNvPr id="42" name="Image 8" descr="preencoded.png">    </p:cNvPr>
          <p:cNvPicPr>
            <a:picLocks noChangeAspect="1"/>
          </p:cNvPicPr>
          <p:nvPr/>
        </p:nvPicPr>
        <p:blipFill>
          <a:blip r:embed="rId9"/>
          <a:srcRect l="0" r="0" t="-180" b="-180"/>
          <a:stretch/>
        </p:blipFill>
        <p:spPr>
          <a:xfrm>
            <a:off x="2027225" y="3923690"/>
            <a:ext cx="95098" cy="152705"/>
          </a:xfrm>
          <a:prstGeom prst="rect">
            <a:avLst/>
          </a:prstGeom>
        </p:spPr>
      </p:pic>
      <p:pic>
        <p:nvPicPr>
          <p:cNvPr id="43" name="Image 9" descr="preencoded.png">    </p:cNvPr>
          <p:cNvPicPr>
            <a:picLocks noChangeAspect="1"/>
          </p:cNvPicPr>
          <p:nvPr/>
        </p:nvPicPr>
        <p:blipFill>
          <a:blip r:embed="rId10"/>
          <a:srcRect l="0" r="0" t="-180" b="-180"/>
          <a:stretch/>
        </p:blipFill>
        <p:spPr>
          <a:xfrm>
            <a:off x="3396082" y="3923690"/>
            <a:ext cx="95098" cy="152705"/>
          </a:xfrm>
          <a:prstGeom prst="rect">
            <a:avLst/>
          </a:prstGeom>
        </p:spPr>
      </p:pic>
      <p:pic>
        <p:nvPicPr>
          <p:cNvPr id="44" name="Image 10" descr="preencoded.png">    </p:cNvPr>
          <p:cNvPicPr>
            <a:picLocks noChangeAspect="1"/>
          </p:cNvPicPr>
          <p:nvPr/>
        </p:nvPicPr>
        <p:blipFill>
          <a:blip r:embed="rId11"/>
          <a:srcRect l="0" r="0" t="-180" b="-180"/>
          <a:stretch/>
        </p:blipFill>
        <p:spPr>
          <a:xfrm>
            <a:off x="4764024" y="3923690"/>
            <a:ext cx="95098" cy="152705"/>
          </a:xfrm>
          <a:prstGeom prst="rect">
            <a:avLst/>
          </a:prstGeom>
        </p:spPr>
      </p:pic>
      <p:pic>
        <p:nvPicPr>
          <p:cNvPr id="45" name="Image 11" descr="preencoded.png">    </p:cNvPr>
          <p:cNvPicPr>
            <a:picLocks noChangeAspect="1"/>
          </p:cNvPicPr>
          <p:nvPr/>
        </p:nvPicPr>
        <p:blipFill>
          <a:blip r:embed="rId12"/>
          <a:srcRect l="0" r="0" t="-180" b="-180"/>
          <a:stretch/>
        </p:blipFill>
        <p:spPr>
          <a:xfrm>
            <a:off x="6131966" y="3923690"/>
            <a:ext cx="95098" cy="152705"/>
          </a:xfrm>
          <a:prstGeom prst="rect">
            <a:avLst/>
          </a:prstGeom>
        </p:spPr>
      </p:pic>
      <p:sp>
        <p:nvSpPr>
          <p:cNvPr id="46" name="Shape 32"/>
          <p:cNvSpPr/>
          <p:nvPr/>
        </p:nvSpPr>
        <p:spPr>
          <a:xfrm>
            <a:off x="2593238" y="2842870"/>
            <a:ext cx="3076956" cy="352044"/>
          </a:xfrm>
          <a:prstGeom prst="roundRect">
            <a:avLst>
              <a:gd name="adj" fmla="val 140400"/>
            </a:avLst>
          </a:prstGeom>
          <a:solidFill>
            <a:srgbClr val="2563EB"/>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7" name="Text 33"/>
          <p:cNvSpPr txBox="1"/>
          <p:nvPr/>
        </p:nvSpPr>
        <p:spPr>
          <a:xfrm>
            <a:off x="3078785" y="2842870"/>
            <a:ext cx="2667305" cy="352958"/>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業務バックボーン（仕事ナビ）</a:t>
            </a:r>
            <a:endParaRPr lang="en-US" sz="1300" dirty="0"/>
          </a:p>
        </p:txBody>
      </p:sp>
      <p:pic>
        <p:nvPicPr>
          <p:cNvPr id="48" name="Image 12" descr="preencoded.png">    </p:cNvPr>
          <p:cNvPicPr>
            <a:picLocks noChangeAspect="1"/>
          </p:cNvPicPr>
          <p:nvPr/>
        </p:nvPicPr>
        <p:blipFill>
          <a:blip r:embed="rId13"/>
          <a:srcRect l="-1064" r="-1064" t="0" b="0"/>
          <a:stretch/>
        </p:blipFill>
        <p:spPr>
          <a:xfrm>
            <a:off x="2783434" y="2940710"/>
            <a:ext cx="219456" cy="171907"/>
          </a:xfrm>
          <a:prstGeom prst="rect">
            <a:avLst/>
          </a:prstGeom>
        </p:spPr>
      </p:pic>
      <p:sp>
        <p:nvSpPr>
          <p:cNvPr id="49" name="Text 34"/>
          <p:cNvSpPr txBox="1"/>
          <p:nvPr/>
        </p:nvSpPr>
        <p:spPr>
          <a:xfrm>
            <a:off x="761695" y="3642970"/>
            <a:ext cx="1267358" cy="695858"/>
          </a:xfrm>
          <a:prstGeom prst="rect">
            <a:avLst/>
          </a:prstGeom>
          <a:solidFill>
            <a:srgbClr val="FFFFFF"/>
          </a:solidFill>
          <a:ln w="25400">
            <a:solidFill>
              <a:srgbClr val="93C5FD"/>
            </a:solidFill>
          </a:ln>
        </p:spPr>
        <p:txBody>
          <a:bodyPr wrap="square" lIns="0" tIns="0" rIns="0" bIns="0" rtlCol="0" anchor="ctr"/>
          <a:lstStyle/>
          <a:p>
            <a:pPr algn="ctr" indent="0" marL="0">
              <a:buNone/>
            </a:pPr>
            <a:r>
              <a:rPr lang="en-US" sz="1000" b="1" dirty="0">
                <a:solidFill>
                  <a:srgbClr val="1E40AF"/>
                </a:solidFill>
                <a:latin typeface="Noto Sans JP" pitchFamily="34" charset="0"/>
                <a:ea typeface="Noto Sans JP" pitchFamily="34" charset="-122"/>
                <a:cs typeface="Noto Sans JP" pitchFamily="34" charset="-120"/>
              </a:rPr>
              <a:t>依頼 </a:t>
            </a:r>
            <a:endParaRPr lang="en-US" sz="1000" dirty="0"/>
          </a:p>
        </p:txBody>
      </p:sp>
      <p:pic>
        <p:nvPicPr>
          <p:cNvPr id="50" name="Image 13" descr="preencoded.png">    </p:cNvPr>
          <p:cNvPicPr>
            <a:picLocks noChangeAspect="1"/>
          </p:cNvPicPr>
          <p:nvPr/>
        </p:nvPicPr>
        <p:blipFill>
          <a:blip r:embed="rId14"/>
          <a:srcRect l="0" r="0" t="0" b="0"/>
          <a:stretch/>
        </p:blipFill>
        <p:spPr>
          <a:xfrm>
            <a:off x="905256" y="3757270"/>
            <a:ext cx="190195" cy="190195"/>
          </a:xfrm>
          <a:prstGeom prst="rect">
            <a:avLst/>
          </a:prstGeom>
        </p:spPr>
      </p:pic>
      <p:sp>
        <p:nvSpPr>
          <p:cNvPr id="51" name="Text 35"/>
          <p:cNvSpPr txBox="1"/>
          <p:nvPr/>
        </p:nvSpPr>
        <p:spPr>
          <a:xfrm>
            <a:off x="2130552" y="3642970"/>
            <a:ext cx="1267358" cy="695858"/>
          </a:xfrm>
          <a:prstGeom prst="rect">
            <a:avLst/>
          </a:prstGeom>
          <a:solidFill>
            <a:srgbClr val="FFFFFF"/>
          </a:solidFill>
          <a:ln w="25400">
            <a:solidFill>
              <a:srgbClr val="93C5FD"/>
            </a:solidFill>
          </a:ln>
        </p:spPr>
        <p:txBody>
          <a:bodyPr wrap="square" lIns="0" tIns="0" rIns="0" bIns="0" rtlCol="0" anchor="ctr"/>
          <a:lstStyle/>
          <a:p>
            <a:pPr algn="ctr" indent="0" marL="0">
              <a:buNone/>
            </a:pPr>
            <a:r>
              <a:rPr lang="en-US" sz="1000" b="1" dirty="0">
                <a:solidFill>
                  <a:srgbClr val="1E40AF"/>
                </a:solidFill>
                <a:latin typeface="Noto Sans JP" pitchFamily="34" charset="0"/>
                <a:ea typeface="Noto Sans JP" pitchFamily="34" charset="-122"/>
                <a:cs typeface="Noto Sans JP" pitchFamily="34" charset="-120"/>
              </a:rPr>
              <a:t>計画展開 </a:t>
            </a:r>
            <a:endParaRPr lang="en-US" sz="1000" dirty="0"/>
          </a:p>
        </p:txBody>
      </p:sp>
      <p:pic>
        <p:nvPicPr>
          <p:cNvPr id="52" name="Image 14" descr="preencoded.png">    </p:cNvPr>
          <p:cNvPicPr>
            <a:picLocks noChangeAspect="1"/>
          </p:cNvPicPr>
          <p:nvPr/>
        </p:nvPicPr>
        <p:blipFill>
          <a:blip r:embed="rId15"/>
          <a:srcRect l="-1282" r="-1282" t="0" b="0"/>
          <a:stretch/>
        </p:blipFill>
        <p:spPr>
          <a:xfrm>
            <a:off x="2273198" y="3757270"/>
            <a:ext cx="219456" cy="190195"/>
          </a:xfrm>
          <a:prstGeom prst="rect">
            <a:avLst/>
          </a:prstGeom>
        </p:spPr>
      </p:pic>
      <p:sp>
        <p:nvSpPr>
          <p:cNvPr id="53" name="Text 36"/>
          <p:cNvSpPr txBox="1"/>
          <p:nvPr/>
        </p:nvSpPr>
        <p:spPr>
          <a:xfrm>
            <a:off x="3498494" y="3642970"/>
            <a:ext cx="1267358" cy="695858"/>
          </a:xfrm>
          <a:prstGeom prst="rect">
            <a:avLst/>
          </a:prstGeom>
          <a:solidFill>
            <a:srgbClr val="FFFFFF"/>
          </a:solidFill>
          <a:ln w="25400">
            <a:solidFill>
              <a:srgbClr val="93C5FD"/>
            </a:solidFill>
          </a:ln>
        </p:spPr>
        <p:txBody>
          <a:bodyPr wrap="square" lIns="0" tIns="0" rIns="0" bIns="0" rtlCol="0" anchor="ctr"/>
          <a:lstStyle/>
          <a:p>
            <a:pPr algn="ctr" indent="0" marL="0">
              <a:buNone/>
            </a:pPr>
            <a:r>
              <a:rPr lang="en-US" sz="1000" b="1" dirty="0">
                <a:solidFill>
                  <a:srgbClr val="1E40AF"/>
                </a:solidFill>
                <a:latin typeface="Noto Sans JP" pitchFamily="34" charset="0"/>
                <a:ea typeface="Noto Sans JP" pitchFamily="34" charset="-122"/>
                <a:cs typeface="Noto Sans JP" pitchFamily="34" charset="-120"/>
              </a:rPr>
              <a:t>制御 </a:t>
            </a:r>
            <a:endParaRPr lang="en-US" sz="1000" dirty="0"/>
          </a:p>
        </p:txBody>
      </p:sp>
      <p:pic>
        <p:nvPicPr>
          <p:cNvPr id="54" name="Image 15" descr="preencoded.png">    </p:cNvPr>
          <p:cNvPicPr>
            <a:picLocks noChangeAspect="1"/>
          </p:cNvPicPr>
          <p:nvPr/>
        </p:nvPicPr>
        <p:blipFill>
          <a:blip r:embed="rId16"/>
          <a:srcRect l="-1923" r="-1923" t="0" b="0"/>
          <a:stretch/>
        </p:blipFill>
        <p:spPr>
          <a:xfrm>
            <a:off x="3641141" y="3757270"/>
            <a:ext cx="123444" cy="190195"/>
          </a:xfrm>
          <a:prstGeom prst="rect">
            <a:avLst/>
          </a:prstGeom>
        </p:spPr>
      </p:pic>
      <p:sp>
        <p:nvSpPr>
          <p:cNvPr id="55" name="Text 37"/>
          <p:cNvSpPr txBox="1"/>
          <p:nvPr/>
        </p:nvSpPr>
        <p:spPr>
          <a:xfrm>
            <a:off x="4866437" y="3642970"/>
            <a:ext cx="1267358" cy="695858"/>
          </a:xfrm>
          <a:prstGeom prst="rect">
            <a:avLst/>
          </a:prstGeom>
          <a:solidFill>
            <a:srgbClr val="FFFFFF"/>
          </a:solidFill>
          <a:ln w="25400">
            <a:solidFill>
              <a:srgbClr val="93C5FD"/>
            </a:solidFill>
          </a:ln>
        </p:spPr>
        <p:txBody>
          <a:bodyPr wrap="square" lIns="0" tIns="0" rIns="0" bIns="0" rtlCol="0" anchor="ctr"/>
          <a:lstStyle/>
          <a:p>
            <a:pPr algn="ctr" indent="0" marL="0">
              <a:buNone/>
            </a:pPr>
            <a:r>
              <a:rPr lang="en-US" sz="1000" b="1" dirty="0">
                <a:solidFill>
                  <a:srgbClr val="1E40AF"/>
                </a:solidFill>
                <a:latin typeface="Noto Sans JP" pitchFamily="34" charset="0"/>
                <a:ea typeface="Noto Sans JP" pitchFamily="34" charset="-122"/>
                <a:cs typeface="Noto Sans JP" pitchFamily="34" charset="-120"/>
              </a:rPr>
              <a:t>To-Do </a:t>
            </a:r>
            <a:endParaRPr lang="en-US" sz="1000" dirty="0"/>
          </a:p>
        </p:txBody>
      </p:sp>
      <p:pic>
        <p:nvPicPr>
          <p:cNvPr id="56" name="Image 16" descr="preencoded.png">    </p:cNvPr>
          <p:cNvPicPr>
            <a:picLocks noChangeAspect="1"/>
          </p:cNvPicPr>
          <p:nvPr/>
        </p:nvPicPr>
        <p:blipFill>
          <a:blip r:embed="rId17"/>
          <a:srcRect l="0" r="0" t="0" b="0"/>
          <a:stretch/>
        </p:blipFill>
        <p:spPr>
          <a:xfrm>
            <a:off x="5009083" y="3757270"/>
            <a:ext cx="190195" cy="190195"/>
          </a:xfrm>
          <a:prstGeom prst="rect">
            <a:avLst/>
          </a:prstGeom>
        </p:spPr>
      </p:pic>
      <p:sp>
        <p:nvSpPr>
          <p:cNvPr id="57" name="Text 38"/>
          <p:cNvSpPr txBox="1"/>
          <p:nvPr/>
        </p:nvSpPr>
        <p:spPr>
          <a:xfrm>
            <a:off x="6234379" y="3642970"/>
            <a:ext cx="1267358" cy="695858"/>
          </a:xfrm>
          <a:prstGeom prst="rect">
            <a:avLst/>
          </a:prstGeom>
          <a:solidFill>
            <a:srgbClr val="FFFFFF"/>
          </a:solidFill>
          <a:ln w="25400">
            <a:solidFill>
              <a:srgbClr val="93C5FD"/>
            </a:solidFill>
          </a:ln>
        </p:spPr>
        <p:txBody>
          <a:bodyPr wrap="square" lIns="0" tIns="0" rIns="0" bIns="0" rtlCol="0" anchor="ctr"/>
          <a:lstStyle/>
          <a:p>
            <a:pPr algn="ctr" indent="0" marL="0">
              <a:buNone/>
            </a:pPr>
            <a:r>
              <a:rPr lang="en-US" sz="1000" b="1" dirty="0">
                <a:solidFill>
                  <a:srgbClr val="1E40AF"/>
                </a:solidFill>
                <a:latin typeface="Noto Sans JP" pitchFamily="34" charset="0"/>
                <a:ea typeface="Noto Sans JP" pitchFamily="34" charset="-122"/>
                <a:cs typeface="Noto Sans JP" pitchFamily="34" charset="-120"/>
              </a:rPr>
              <a:t>実績 </a:t>
            </a:r>
            <a:endParaRPr lang="en-US" sz="1000" dirty="0"/>
          </a:p>
        </p:txBody>
      </p:sp>
      <p:pic>
        <p:nvPicPr>
          <p:cNvPr id="58" name="Image 17" descr="preencoded.png">    </p:cNvPr>
          <p:cNvPicPr>
            <a:picLocks noChangeAspect="1"/>
          </p:cNvPicPr>
          <p:nvPr/>
        </p:nvPicPr>
        <p:blipFill>
          <a:blip r:embed="rId18"/>
          <a:srcRect l="0" r="0" t="0" b="0"/>
          <a:stretch/>
        </p:blipFill>
        <p:spPr>
          <a:xfrm>
            <a:off x="6377940" y="3757270"/>
            <a:ext cx="190195" cy="190195"/>
          </a:xfrm>
          <a:prstGeom prst="rect">
            <a:avLst/>
          </a:prstGeom>
        </p:spPr>
      </p:pic>
      <p:sp>
        <p:nvSpPr>
          <p:cNvPr id="59" name="Text 39"/>
          <p:cNvSpPr txBox="1"/>
          <p:nvPr/>
        </p:nvSpPr>
        <p:spPr>
          <a:xfrm>
            <a:off x="3908146" y="6190488"/>
            <a:ext cx="438912" cy="381305"/>
          </a:xfrm>
          <a:prstGeom prst="rect">
            <a:avLst/>
          </a:prstGeom>
          <a:solidFill>
            <a:srgbClr val="FFFFFF"/>
          </a:solidFill>
          <a:ln w="25400">
            <a:solidFill>
              <a:srgbClr val="E5E7EB"/>
            </a:solid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接続</a:t>
            </a:r>
            <a:endParaRPr lang="en-US" sz="900" dirty="0"/>
          </a:p>
        </p:txBody>
      </p:sp>
      <p:sp>
        <p:nvSpPr>
          <p:cNvPr id="60" name="Shape 40"/>
          <p:cNvSpPr/>
          <p:nvPr/>
        </p:nvSpPr>
        <p:spPr>
          <a:xfrm>
            <a:off x="0" y="0"/>
            <a:ext cx="12191695" cy="1009498"/>
          </a:xfrm>
          <a:prstGeom prst="rect">
            <a:avLst/>
          </a:prstGeom>
          <a:solidFill>
            <a:srgbClr val="FFFFFF"/>
          </a:solidFill>
          <a:ln/>
        </p:spPr>
      </p:sp>
      <p:sp>
        <p:nvSpPr>
          <p:cNvPr id="61" name="Shape 41"/>
          <p:cNvSpPr/>
          <p:nvPr/>
        </p:nvSpPr>
        <p:spPr>
          <a:xfrm>
            <a:off x="0" y="990295"/>
            <a:ext cx="12191695" cy="19202"/>
          </a:xfrm>
          <a:prstGeom prst="rect">
            <a:avLst/>
          </a:prstGeom>
          <a:solidFill>
            <a:srgbClr val="E5E7EB"/>
          </a:solidFill>
          <a:ln w="12700">
            <a:solidFill>
              <a:srgbClr val="E5E7EB">
                <a:alpha val="0"/>
              </a:srgbClr>
            </a:solidFill>
            <a:prstDash val="solid"/>
          </a:ln>
        </p:spPr>
      </p:sp>
      <p:sp>
        <p:nvSpPr>
          <p:cNvPr id="62" name="Text 42"/>
          <p:cNvSpPr txBox="1"/>
          <p:nvPr/>
        </p:nvSpPr>
        <p:spPr>
          <a:xfrm>
            <a:off x="571500" y="286207"/>
            <a:ext cx="5382158" cy="514807"/>
          </a:xfrm>
          <a:prstGeom prst="rect">
            <a:avLst/>
          </a:prstGeom>
          <a:noFill/>
          <a:ln/>
        </p:spPr>
        <p:txBody>
          <a:bodyPr wrap="square" lIns="0" tIns="0" rIns="0" bIns="0" rtlCol="0" anchor="ctr"/>
          <a:lstStyle/>
          <a:p>
            <a:pPr algn="l" indent="0" marL="0">
              <a:buNone/>
            </a:pPr>
            <a:r>
              <a:rPr lang="en-US" sz="2700" b="1" dirty="0">
                <a:solidFill>
                  <a:srgbClr val="111827"/>
                </a:solidFill>
                <a:latin typeface="Noto Sans JP" pitchFamily="34" charset="0"/>
                <a:ea typeface="Noto Sans JP" pitchFamily="34" charset="-122"/>
                <a:cs typeface="Noto Sans JP" pitchFamily="34" charset="-120"/>
              </a:rPr>
              <a:t>「仕事ナビ」とは何か（概要）</a:t>
            </a:r>
            <a:endParaRPr lang="en-US" sz="2700" dirty="0"/>
          </a:p>
        </p:txBody>
      </p:sp>
      <p:sp>
        <p:nvSpPr>
          <p:cNvPr id="63" name="Shape 43"/>
          <p:cNvSpPr/>
          <p:nvPr/>
        </p:nvSpPr>
        <p:spPr>
          <a:xfrm>
            <a:off x="571500" y="286207"/>
            <a:ext cx="75895" cy="342900"/>
          </a:xfrm>
          <a:prstGeom prst="rect">
            <a:avLst/>
          </a:prstGeom>
          <a:solidFill>
            <a:srgbClr val="2563EB"/>
          </a:solidFill>
          <a:ln w="12700">
            <a:solidFill>
              <a:srgbClr val="FFFFFF">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8FAFC"/>
          </a:solidFill>
          <a:ln w="12700">
            <a:solidFill>
              <a:srgbClr val="FFFFFF">
                <a:alpha val="0"/>
              </a:srgbClr>
            </a:solidFill>
            <a:prstDash val="solid"/>
          </a:ln>
        </p:spPr>
      </p:sp>
      <p:pic>
        <p:nvPicPr>
          <p:cNvPr id="5" name="Image 0" descr="preencoded.png">    </p:cNvPr>
          <p:cNvPicPr>
            <a:picLocks noChangeAspect="1"/>
          </p:cNvPicPr>
          <p:nvPr/>
        </p:nvPicPr>
        <p:blipFill>
          <a:blip r:embed="rId1"/>
          <a:srcRect l="0" r="0" t="-398" b="-398"/>
          <a:stretch/>
        </p:blipFill>
        <p:spPr>
          <a:xfrm>
            <a:off x="1676095" y="3044038"/>
            <a:ext cx="8839505" cy="38405"/>
          </a:xfrm>
          <a:prstGeom prst="rect">
            <a:avLst/>
          </a:prstGeom>
        </p:spPr>
      </p:pic>
      <p:sp>
        <p:nvSpPr>
          <p:cNvPr id="6" name="Shape 3"/>
          <p:cNvSpPr/>
          <p:nvPr/>
        </p:nvSpPr>
        <p:spPr>
          <a:xfrm>
            <a:off x="571500" y="5896051"/>
            <a:ext cx="11048695" cy="580644"/>
          </a:xfrm>
          <a:prstGeom prst="roundRect">
            <a:avLst>
              <a:gd name="adj" fmla="val 20653"/>
            </a:avLst>
          </a:prstGeom>
          <a:solidFill>
            <a:srgbClr val="EFF6FF"/>
          </a:solidFill>
          <a:ln w="12700">
            <a:solidFill>
              <a:srgbClr val="BFDBFE"/>
            </a:solidFill>
            <a:prstDash val="solid"/>
          </a:ln>
        </p:spPr>
      </p:sp>
      <p:pic>
        <p:nvPicPr>
          <p:cNvPr id="7" name="Image 1" descr="preencoded.png">    </p:cNvPr>
          <p:cNvPicPr>
            <a:picLocks noChangeAspect="1"/>
          </p:cNvPicPr>
          <p:nvPr/>
        </p:nvPicPr>
        <p:blipFill>
          <a:blip r:embed="rId2"/>
          <a:srcRect l="-133" r="-133" t="0" b="0"/>
          <a:stretch/>
        </p:blipFill>
        <p:spPr>
          <a:xfrm>
            <a:off x="809244" y="6072530"/>
            <a:ext cx="171907" cy="228600"/>
          </a:xfrm>
          <a:prstGeom prst="rect">
            <a:avLst/>
          </a:prstGeom>
        </p:spPr>
      </p:pic>
      <p:sp>
        <p:nvSpPr>
          <p:cNvPr id="8" name="Text 4"/>
          <p:cNvSpPr txBox="1"/>
          <p:nvPr/>
        </p:nvSpPr>
        <p:spPr>
          <a:xfrm>
            <a:off x="1133856" y="5896051"/>
            <a:ext cx="8639251" cy="581558"/>
          </a:xfrm>
          <a:prstGeom prst="rect">
            <a:avLst/>
          </a:prstGeom>
          <a:noFill/>
          <a:ln/>
        </p:spPr>
        <p:txBody>
          <a:bodyPr wrap="square" lIns="0" tIns="0" rIns="0" bIns="0" rtlCol="0" anchor="ctr"/>
          <a:lstStyle/>
          <a:p>
            <a:pPr algn="l" indent="0" marL="0">
              <a:buNone/>
            </a:pPr>
            <a:r>
              <a:rPr lang="en-US" sz="1300" dirty="0">
                <a:solidFill>
                  <a:srgbClr val="1E40AF"/>
                </a:solidFill>
                <a:latin typeface="Noto Sans JP" pitchFamily="34" charset="0"/>
                <a:ea typeface="Noto Sans JP" pitchFamily="34" charset="-122"/>
                <a:cs typeface="Noto Sans JP" pitchFamily="34" charset="-120"/>
              </a:rPr>
              <a:t>Point: 誰かの記憶やメモに頼るのではなく、システムが「地図」を描き出し、全員で共有する状態を作ります。</a:t>
            </a:r>
            <a:endParaRPr lang="en-US" sz="1300" dirty="0"/>
          </a:p>
        </p:txBody>
      </p:sp>
      <p:sp>
        <p:nvSpPr>
          <p:cNvPr id="9" name="Shape 5"/>
          <p:cNvSpPr/>
          <p:nvPr/>
        </p:nvSpPr>
        <p:spPr>
          <a:xfrm>
            <a:off x="571500"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10" name="Shape 6"/>
          <p:cNvSpPr/>
          <p:nvPr/>
        </p:nvSpPr>
        <p:spPr>
          <a:xfrm>
            <a:off x="571500" y="1662379"/>
            <a:ext cx="3314700" cy="57607"/>
          </a:xfrm>
          <a:prstGeom prst="roundRect">
            <a:avLst>
              <a:gd name="adj" fmla="val 54735"/>
            </a:avLst>
          </a:prstGeom>
          <a:solidFill>
            <a:srgbClr val="EF4444"/>
          </a:solidFill>
          <a:ln w="12700">
            <a:solidFill>
              <a:srgbClr val="EF4444">
                <a:alpha val="0"/>
              </a:srgbClr>
            </a:solidFill>
            <a:prstDash val="solid"/>
          </a:ln>
        </p:spPr>
      </p:sp>
      <p:sp>
        <p:nvSpPr>
          <p:cNvPr id="11" name="Text 7"/>
          <p:cNvSpPr txBox="1"/>
          <p:nvPr/>
        </p:nvSpPr>
        <p:spPr>
          <a:xfrm>
            <a:off x="485546"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依頼発生（トリガー）</a:t>
            </a:r>
            <a:endParaRPr lang="en-US" sz="1600" dirty="0"/>
          </a:p>
        </p:txBody>
      </p:sp>
      <p:sp>
        <p:nvSpPr>
          <p:cNvPr id="12" name="Text 8"/>
          <p:cNvSpPr txBox="1"/>
          <p:nvPr/>
        </p:nvSpPr>
        <p:spPr>
          <a:xfrm>
            <a:off x="771754" y="3433572"/>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「入職手続き」や「物品購入」など、業務のきっかけとなる依頼が発生</a:t>
            </a:r>
            <a:endParaRPr lang="en-US" sz="1200" dirty="0"/>
          </a:p>
        </p:txBody>
      </p:sp>
      <p:sp>
        <p:nvSpPr>
          <p:cNvPr id="13" name="Shape 9"/>
          <p:cNvSpPr/>
          <p:nvPr/>
        </p:nvSpPr>
        <p:spPr>
          <a:xfrm>
            <a:off x="809244" y="4081882"/>
            <a:ext cx="2838298" cy="1171346"/>
          </a:xfrm>
          <a:prstGeom prst="roundRect">
            <a:avLst>
              <a:gd name="adj" fmla="val 3808"/>
            </a:avLst>
          </a:prstGeom>
          <a:solidFill>
            <a:srgbClr val="F3F4F6"/>
          </a:solidFill>
          <a:ln w="12700">
            <a:solidFill>
              <a:srgbClr val="FFFFFF">
                <a:alpha val="0"/>
              </a:srgbClr>
            </a:solidFill>
            <a:prstDash val="solid"/>
          </a:ln>
        </p:spPr>
      </p:sp>
      <p:sp>
        <p:nvSpPr>
          <p:cNvPr id="14" name="Text 10"/>
          <p:cNvSpPr txBox="1"/>
          <p:nvPr/>
        </p:nvSpPr>
        <p:spPr>
          <a:xfrm>
            <a:off x="923544" y="41961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Example</a:t>
            </a:r>
            <a:endParaRPr lang="en-US" sz="900" dirty="0"/>
          </a:p>
        </p:txBody>
      </p:sp>
      <p:pic>
        <p:nvPicPr>
          <p:cNvPr id="15" name="Image 2" descr="preencoded.png">    </p:cNvPr>
          <p:cNvPicPr>
            <a:picLocks noChangeAspect="1"/>
          </p:cNvPicPr>
          <p:nvPr/>
        </p:nvPicPr>
        <p:blipFill>
          <a:blip r:embed="rId3"/>
          <a:srcRect l="-57" r="-57" t="0" b="0"/>
          <a:stretch/>
        </p:blipFill>
        <p:spPr>
          <a:xfrm>
            <a:off x="2029054" y="2243023"/>
            <a:ext cx="400507" cy="457200"/>
          </a:xfrm>
          <a:prstGeom prst="rect">
            <a:avLst/>
          </a:prstGeom>
        </p:spPr>
      </p:pic>
      <p:sp>
        <p:nvSpPr>
          <p:cNvPr id="16" name="Shape 11"/>
          <p:cNvSpPr/>
          <p:nvPr/>
        </p:nvSpPr>
        <p:spPr>
          <a:xfrm>
            <a:off x="2038198" y="1528877"/>
            <a:ext cx="381305" cy="381305"/>
          </a:xfrm>
          <a:prstGeom prst="ellipse">
            <a:avLst/>
          </a:prstGeom>
          <a:solidFill>
            <a:srgbClr val="EF4444"/>
          </a:solidFill>
          <a:ln w="12700">
            <a:solidFill>
              <a:srgbClr val="FFFFFF">
                <a:alpha val="0"/>
              </a:srgbClr>
            </a:solidFill>
            <a:prstDash val="solid"/>
          </a:ln>
        </p:spPr>
      </p:sp>
      <p:sp>
        <p:nvSpPr>
          <p:cNvPr id="17" name="Text 12"/>
          <p:cNvSpPr txBox="1"/>
          <p:nvPr/>
        </p:nvSpPr>
        <p:spPr>
          <a:xfrm>
            <a:off x="2000707"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8" name="Text 13"/>
          <p:cNvSpPr txBox="1"/>
          <p:nvPr/>
        </p:nvSpPr>
        <p:spPr>
          <a:xfrm>
            <a:off x="923544" y="4424782"/>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入職手続きの依頼</a:t>
            </a:r>
            <a:endParaRPr lang="en-US" sz="1000" dirty="0"/>
          </a:p>
        </p:txBody>
      </p:sp>
      <p:sp>
        <p:nvSpPr>
          <p:cNvPr id="19" name="Text 14"/>
          <p:cNvSpPr txBox="1"/>
          <p:nvPr/>
        </p:nvSpPr>
        <p:spPr>
          <a:xfrm>
            <a:off x="923544" y="4662526"/>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備品購入の申請</a:t>
            </a:r>
            <a:endParaRPr lang="en-US" sz="1000" dirty="0"/>
          </a:p>
        </p:txBody>
      </p:sp>
      <p:sp>
        <p:nvSpPr>
          <p:cNvPr id="20" name="Text 15"/>
          <p:cNvSpPr txBox="1"/>
          <p:nvPr/>
        </p:nvSpPr>
        <p:spPr>
          <a:xfrm>
            <a:off x="923544" y="4900270"/>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イベント実施の計画</a:t>
            </a:r>
            <a:endParaRPr lang="en-US" sz="1000" dirty="0"/>
          </a:p>
        </p:txBody>
      </p:sp>
      <p:sp>
        <p:nvSpPr>
          <p:cNvPr id="21" name="Shape 16"/>
          <p:cNvSpPr/>
          <p:nvPr/>
        </p:nvSpPr>
        <p:spPr>
          <a:xfrm>
            <a:off x="4438498"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22" name="Shape 17"/>
          <p:cNvSpPr/>
          <p:nvPr/>
        </p:nvSpPr>
        <p:spPr>
          <a:xfrm>
            <a:off x="4438498" y="1662379"/>
            <a:ext cx="3314700" cy="57607"/>
          </a:xfrm>
          <a:prstGeom prst="roundRect">
            <a:avLst>
              <a:gd name="adj" fmla="val 54735"/>
            </a:avLst>
          </a:prstGeom>
          <a:solidFill>
            <a:srgbClr val="3B82F6"/>
          </a:solidFill>
          <a:ln w="12700">
            <a:solidFill>
              <a:srgbClr val="3B82F6">
                <a:alpha val="0"/>
              </a:srgbClr>
            </a:solidFill>
            <a:prstDash val="solid"/>
          </a:ln>
        </p:spPr>
      </p:sp>
      <p:sp>
        <p:nvSpPr>
          <p:cNvPr id="23" name="Text 18"/>
          <p:cNvSpPr txBox="1"/>
          <p:nvPr/>
        </p:nvSpPr>
        <p:spPr>
          <a:xfrm>
            <a:off x="4352544"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計画の自動展開</a:t>
            </a:r>
            <a:endParaRPr lang="en-US" sz="1600" dirty="0"/>
          </a:p>
        </p:txBody>
      </p:sp>
      <p:sp>
        <p:nvSpPr>
          <p:cNvPr id="24" name="Text 19"/>
          <p:cNvSpPr txBox="1"/>
          <p:nvPr/>
        </p:nvSpPr>
        <p:spPr>
          <a:xfrm>
            <a:off x="4638751" y="3433572"/>
            <a:ext cx="2915107" cy="6858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完了までに必要な全手順を、担当者や期限付きの「作業計画（WBS）」として自動生成</a:t>
            </a:r>
            <a:endParaRPr lang="en-US" sz="1200" dirty="0"/>
          </a:p>
        </p:txBody>
      </p:sp>
      <p:sp>
        <p:nvSpPr>
          <p:cNvPr id="25" name="Shape 20"/>
          <p:cNvSpPr/>
          <p:nvPr/>
        </p:nvSpPr>
        <p:spPr>
          <a:xfrm>
            <a:off x="4677156" y="4310482"/>
            <a:ext cx="2838298" cy="1171346"/>
          </a:xfrm>
          <a:prstGeom prst="roundRect">
            <a:avLst>
              <a:gd name="adj" fmla="val 3808"/>
            </a:avLst>
          </a:prstGeom>
          <a:solidFill>
            <a:srgbClr val="F3F4F6"/>
          </a:solidFill>
          <a:ln w="12700">
            <a:solidFill>
              <a:srgbClr val="FFFFFF">
                <a:alpha val="0"/>
              </a:srgbClr>
            </a:solidFill>
            <a:prstDash val="solid"/>
          </a:ln>
        </p:spPr>
      </p:sp>
      <p:sp>
        <p:nvSpPr>
          <p:cNvPr id="26" name="Text 21"/>
          <p:cNvSpPr txBox="1"/>
          <p:nvPr/>
        </p:nvSpPr>
        <p:spPr>
          <a:xfrm>
            <a:off x="4791456" y="44247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Auto-Generated Tasks</a:t>
            </a:r>
            <a:endParaRPr lang="en-US" sz="900" dirty="0"/>
          </a:p>
        </p:txBody>
      </p:sp>
      <p:pic>
        <p:nvPicPr>
          <p:cNvPr id="27" name="Image 3" descr="preencoded.png">    </p:cNvPr>
          <p:cNvPicPr>
            <a:picLocks noChangeAspect="1"/>
          </p:cNvPicPr>
          <p:nvPr/>
        </p:nvPicPr>
        <p:blipFill>
          <a:blip r:embed="rId4"/>
          <a:srcRect l="-44" r="-44" t="0" b="0"/>
          <a:stretch/>
        </p:blipFill>
        <p:spPr>
          <a:xfrm>
            <a:off x="5838444" y="2243023"/>
            <a:ext cx="514807" cy="457200"/>
          </a:xfrm>
          <a:prstGeom prst="rect">
            <a:avLst/>
          </a:prstGeom>
        </p:spPr>
      </p:pic>
      <p:sp>
        <p:nvSpPr>
          <p:cNvPr id="28" name="Shape 22"/>
          <p:cNvSpPr/>
          <p:nvPr/>
        </p:nvSpPr>
        <p:spPr>
          <a:xfrm>
            <a:off x="5905195" y="1528877"/>
            <a:ext cx="381305" cy="381305"/>
          </a:xfrm>
          <a:prstGeom prst="ellipse">
            <a:avLst/>
          </a:prstGeom>
          <a:solidFill>
            <a:srgbClr val="3B82F6"/>
          </a:solidFill>
          <a:ln w="12700">
            <a:solidFill>
              <a:srgbClr val="FFFFFF">
                <a:alpha val="0"/>
              </a:srgbClr>
            </a:solidFill>
            <a:prstDash val="solid"/>
          </a:ln>
        </p:spPr>
      </p:sp>
      <p:sp>
        <p:nvSpPr>
          <p:cNvPr id="29" name="Text 23"/>
          <p:cNvSpPr txBox="1"/>
          <p:nvPr/>
        </p:nvSpPr>
        <p:spPr>
          <a:xfrm>
            <a:off x="5867705"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0" name="Text 24"/>
          <p:cNvSpPr txBox="1"/>
          <p:nvPr/>
        </p:nvSpPr>
        <p:spPr>
          <a:xfrm>
            <a:off x="4791456" y="4653382"/>
            <a:ext cx="2714854"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書類送付 (総務) - 1/28迄</a:t>
            </a:r>
            <a:endParaRPr lang="en-US" sz="1000" dirty="0"/>
          </a:p>
        </p:txBody>
      </p:sp>
      <p:sp>
        <p:nvSpPr>
          <p:cNvPr id="31" name="Text 25"/>
          <p:cNvSpPr txBox="1"/>
          <p:nvPr/>
        </p:nvSpPr>
        <p:spPr>
          <a:xfrm>
            <a:off x="4791456" y="4891126"/>
            <a:ext cx="2714854"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PC手配 (情シス) - 1/30迄</a:t>
            </a:r>
            <a:endParaRPr lang="en-US" sz="1000" dirty="0"/>
          </a:p>
        </p:txBody>
      </p:sp>
      <p:sp>
        <p:nvSpPr>
          <p:cNvPr id="32" name="Text 26"/>
          <p:cNvSpPr txBox="1"/>
          <p:nvPr/>
        </p:nvSpPr>
        <p:spPr>
          <a:xfrm>
            <a:off x="4791456" y="5128870"/>
            <a:ext cx="2714854"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制服準備 (現場) - 2/1迄</a:t>
            </a:r>
            <a:endParaRPr lang="en-US" sz="1000" dirty="0"/>
          </a:p>
        </p:txBody>
      </p:sp>
      <p:sp>
        <p:nvSpPr>
          <p:cNvPr id="33" name="Shape 27"/>
          <p:cNvSpPr/>
          <p:nvPr/>
        </p:nvSpPr>
        <p:spPr>
          <a:xfrm>
            <a:off x="8305495"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34" name="Shape 28"/>
          <p:cNvSpPr/>
          <p:nvPr/>
        </p:nvSpPr>
        <p:spPr>
          <a:xfrm>
            <a:off x="8305495" y="1662379"/>
            <a:ext cx="3314700" cy="57607"/>
          </a:xfrm>
          <a:prstGeom prst="roundRect">
            <a:avLst>
              <a:gd name="adj" fmla="val 54735"/>
            </a:avLst>
          </a:prstGeom>
          <a:solidFill>
            <a:srgbClr val="10B981"/>
          </a:solidFill>
          <a:ln w="12700">
            <a:solidFill>
              <a:srgbClr val="10B981">
                <a:alpha val="0"/>
              </a:srgbClr>
            </a:solidFill>
            <a:prstDash val="solid"/>
          </a:ln>
        </p:spPr>
      </p:sp>
      <p:sp>
        <p:nvSpPr>
          <p:cNvPr id="35" name="Text 29"/>
          <p:cNvSpPr txBox="1"/>
          <p:nvPr/>
        </p:nvSpPr>
        <p:spPr>
          <a:xfrm>
            <a:off x="8220456"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全体像の可視化</a:t>
            </a:r>
            <a:endParaRPr lang="en-US" sz="1600" dirty="0"/>
          </a:p>
        </p:txBody>
      </p:sp>
      <p:sp>
        <p:nvSpPr>
          <p:cNvPr id="36" name="Text 30"/>
          <p:cNvSpPr txBox="1"/>
          <p:nvPr/>
        </p:nvSpPr>
        <p:spPr>
          <a:xfrm>
            <a:off x="8505749" y="3433572"/>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「次は誰の番か」「全体でどこまで進んでいるか」が関係者全員の目の前に広がる</a:t>
            </a:r>
            <a:endParaRPr lang="en-US" sz="1200" dirty="0"/>
          </a:p>
        </p:txBody>
      </p:sp>
      <p:sp>
        <p:nvSpPr>
          <p:cNvPr id="37" name="Shape 31"/>
          <p:cNvSpPr/>
          <p:nvPr/>
        </p:nvSpPr>
        <p:spPr>
          <a:xfrm>
            <a:off x="8544154" y="4081882"/>
            <a:ext cx="2838298" cy="1171346"/>
          </a:xfrm>
          <a:prstGeom prst="roundRect">
            <a:avLst>
              <a:gd name="adj" fmla="val 3808"/>
            </a:avLst>
          </a:prstGeom>
          <a:solidFill>
            <a:srgbClr val="F3F4F6"/>
          </a:solidFill>
          <a:ln w="12700">
            <a:solidFill>
              <a:srgbClr val="FFFFFF">
                <a:alpha val="0"/>
              </a:srgbClr>
            </a:solidFill>
            <a:prstDash val="solid"/>
          </a:ln>
        </p:spPr>
      </p:sp>
      <p:sp>
        <p:nvSpPr>
          <p:cNvPr id="38" name="Text 32"/>
          <p:cNvSpPr txBox="1"/>
          <p:nvPr/>
        </p:nvSpPr>
        <p:spPr>
          <a:xfrm>
            <a:off x="8658454" y="41961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Visualization</a:t>
            </a:r>
            <a:endParaRPr lang="en-US" sz="900" dirty="0"/>
          </a:p>
        </p:txBody>
      </p:sp>
      <p:pic>
        <p:nvPicPr>
          <p:cNvPr id="39" name="Image 4" descr="preencoded.png">    </p:cNvPr>
          <p:cNvPicPr>
            <a:picLocks noChangeAspect="1"/>
          </p:cNvPicPr>
          <p:nvPr/>
        </p:nvPicPr>
        <p:blipFill>
          <a:blip r:embed="rId5"/>
          <a:srcRect l="-44" r="-44" t="0" b="0"/>
          <a:stretch/>
        </p:blipFill>
        <p:spPr>
          <a:xfrm>
            <a:off x="9706356" y="2243023"/>
            <a:ext cx="514807" cy="457200"/>
          </a:xfrm>
          <a:prstGeom prst="rect">
            <a:avLst/>
          </a:prstGeom>
        </p:spPr>
      </p:pic>
      <p:sp>
        <p:nvSpPr>
          <p:cNvPr id="40" name="Shape 33"/>
          <p:cNvSpPr/>
          <p:nvPr/>
        </p:nvSpPr>
        <p:spPr>
          <a:xfrm>
            <a:off x="9773107" y="1528877"/>
            <a:ext cx="381305" cy="381305"/>
          </a:xfrm>
          <a:prstGeom prst="ellipse">
            <a:avLst/>
          </a:prstGeom>
          <a:solidFill>
            <a:srgbClr val="10B981"/>
          </a:solidFill>
          <a:ln w="12700">
            <a:solidFill>
              <a:srgbClr val="FFFFFF">
                <a:alpha val="0"/>
              </a:srgbClr>
            </a:solidFill>
            <a:prstDash val="solid"/>
          </a:ln>
        </p:spPr>
      </p:sp>
      <p:sp>
        <p:nvSpPr>
          <p:cNvPr id="41" name="Text 34"/>
          <p:cNvSpPr txBox="1"/>
          <p:nvPr/>
        </p:nvSpPr>
        <p:spPr>
          <a:xfrm>
            <a:off x="9734702"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42" name="Text 35"/>
          <p:cNvSpPr txBox="1"/>
          <p:nvPr/>
        </p:nvSpPr>
        <p:spPr>
          <a:xfrm>
            <a:off x="8658454" y="4424782"/>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進捗状況の一覧表示</a:t>
            </a:r>
            <a:endParaRPr lang="en-US" sz="1000" dirty="0"/>
          </a:p>
        </p:txBody>
      </p:sp>
      <p:sp>
        <p:nvSpPr>
          <p:cNvPr id="43" name="Text 36"/>
          <p:cNvSpPr txBox="1"/>
          <p:nvPr/>
        </p:nvSpPr>
        <p:spPr>
          <a:xfrm>
            <a:off x="8658454" y="4662526"/>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ボトルネックの発見</a:t>
            </a:r>
            <a:endParaRPr lang="en-US" sz="1000" dirty="0"/>
          </a:p>
        </p:txBody>
      </p:sp>
      <p:sp>
        <p:nvSpPr>
          <p:cNvPr id="44" name="Text 37"/>
          <p:cNvSpPr txBox="1"/>
          <p:nvPr/>
        </p:nvSpPr>
        <p:spPr>
          <a:xfrm>
            <a:off x="8658454" y="4900270"/>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誰の記憶にも依存しない</a:t>
            </a:r>
            <a:endParaRPr lang="en-US" sz="1000" dirty="0"/>
          </a:p>
        </p:txBody>
      </p:sp>
      <p:pic>
        <p:nvPicPr>
          <p:cNvPr id="45" name="Image 5" descr="preencoded.png">    </p:cNvPr>
          <p:cNvPicPr>
            <a:picLocks noChangeAspect="1"/>
          </p:cNvPicPr>
          <p:nvPr/>
        </p:nvPicPr>
        <p:blipFill>
          <a:blip r:embed="rId6"/>
          <a:srcRect l="0" r="0" t="-30" b="-30"/>
          <a:stretch/>
        </p:blipFill>
        <p:spPr>
          <a:xfrm>
            <a:off x="4107485" y="2910535"/>
            <a:ext cx="190195" cy="304495"/>
          </a:xfrm>
          <a:prstGeom prst="rect">
            <a:avLst/>
          </a:prstGeom>
        </p:spPr>
      </p:pic>
      <p:pic>
        <p:nvPicPr>
          <p:cNvPr id="46" name="Image 6" descr="preencoded.png">    </p:cNvPr>
          <p:cNvPicPr>
            <a:picLocks noChangeAspect="1"/>
          </p:cNvPicPr>
          <p:nvPr/>
        </p:nvPicPr>
        <p:blipFill>
          <a:blip r:embed="rId7"/>
          <a:srcRect l="0" r="0" t="-30" b="-30"/>
          <a:stretch/>
        </p:blipFill>
        <p:spPr>
          <a:xfrm>
            <a:off x="7753198" y="2910535"/>
            <a:ext cx="190195" cy="304495"/>
          </a:xfrm>
          <a:prstGeom prst="rect">
            <a:avLst/>
          </a:prstGeom>
        </p:spPr>
      </p:pic>
      <p:sp>
        <p:nvSpPr>
          <p:cNvPr id="47" name="Shape 38"/>
          <p:cNvSpPr/>
          <p:nvPr/>
        </p:nvSpPr>
        <p:spPr>
          <a:xfrm>
            <a:off x="0" y="0"/>
            <a:ext cx="12191695" cy="952805"/>
          </a:xfrm>
          <a:prstGeom prst="rect">
            <a:avLst/>
          </a:prstGeom>
          <a:solidFill>
            <a:srgbClr val="FFFFFF"/>
          </a:solidFill>
          <a:ln/>
        </p:spPr>
      </p:sp>
      <p:sp>
        <p:nvSpPr>
          <p:cNvPr id="48" name="Shape 39"/>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9" name="Shape 40"/>
          <p:cNvSpPr/>
          <p:nvPr/>
        </p:nvSpPr>
        <p:spPr>
          <a:xfrm>
            <a:off x="571500" y="333756"/>
            <a:ext cx="2781605" cy="362102"/>
          </a:xfrm>
          <a:prstGeom prst="roundRect">
            <a:avLst>
              <a:gd name="adj" fmla="val 26582"/>
            </a:avLst>
          </a:prstGeom>
          <a:solidFill>
            <a:srgbClr val="3B82F6"/>
          </a:solidFill>
          <a:ln w="12700">
            <a:solidFill>
              <a:srgbClr val="FFFFFF">
                <a:alpha val="0"/>
              </a:srgbClr>
            </a:solidFill>
            <a:prstDash val="solid"/>
          </a:ln>
        </p:spPr>
      </p:sp>
      <p:sp>
        <p:nvSpPr>
          <p:cNvPr id="50" name="Text 41"/>
          <p:cNvSpPr txBox="1"/>
          <p:nvPr/>
        </p:nvSpPr>
        <p:spPr>
          <a:xfrm>
            <a:off x="571500" y="333756"/>
            <a:ext cx="2971800"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仕事ナビの動作メカニズム①</a:t>
            </a:r>
            <a:endParaRPr lang="en-US" sz="1500" dirty="0"/>
          </a:p>
        </p:txBody>
      </p:sp>
      <p:sp>
        <p:nvSpPr>
          <p:cNvPr id="51" name="Text 42"/>
          <p:cNvSpPr txBox="1"/>
          <p:nvPr/>
        </p:nvSpPr>
        <p:spPr>
          <a:xfrm>
            <a:off x="3543300" y="286207"/>
            <a:ext cx="7191756"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「依頼」が来ると、「計画（地図）」が自動で広がる</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8FAFC"/>
          </a:solidFill>
          <a:ln w="12700">
            <a:solidFill>
              <a:srgbClr val="FFFFFF">
                <a:alpha val="0"/>
              </a:srgbClr>
            </a:solidFill>
            <a:prstDash val="solid"/>
          </a:ln>
        </p:spPr>
      </p:sp>
      <p:pic>
        <p:nvPicPr>
          <p:cNvPr id="5" name="Image 0" descr="preencoded.png">    </p:cNvPr>
          <p:cNvPicPr>
            <a:picLocks noChangeAspect="1"/>
          </p:cNvPicPr>
          <p:nvPr/>
        </p:nvPicPr>
        <p:blipFill>
          <a:blip r:embed="rId1"/>
          <a:srcRect l="0" r="0" t="-398" b="-398"/>
          <a:stretch/>
        </p:blipFill>
        <p:spPr>
          <a:xfrm>
            <a:off x="1676095" y="2941625"/>
            <a:ext cx="8839505" cy="38405"/>
          </a:xfrm>
          <a:prstGeom prst="rect">
            <a:avLst/>
          </a:prstGeom>
        </p:spPr>
      </p:pic>
      <p:sp>
        <p:nvSpPr>
          <p:cNvPr id="6" name="Shape 3"/>
          <p:cNvSpPr/>
          <p:nvPr/>
        </p:nvSpPr>
        <p:spPr>
          <a:xfrm>
            <a:off x="571500" y="5639105"/>
            <a:ext cx="11048695" cy="838505"/>
          </a:xfrm>
          <a:prstGeom prst="roundRect">
            <a:avLst>
              <a:gd name="adj" fmla="val 9914"/>
            </a:avLst>
          </a:prstGeom>
          <a:solidFill>
            <a:srgbClr val="FEF2F2"/>
          </a:solidFill>
          <a:ln w="12700">
            <a:solidFill>
              <a:srgbClr val="FECACA"/>
            </a:solidFill>
            <a:prstDash val="solid"/>
          </a:ln>
        </p:spPr>
      </p:sp>
      <p:pic>
        <p:nvPicPr>
          <p:cNvPr id="7" name="Image 1" descr="preencoded.png">    </p:cNvPr>
          <p:cNvPicPr>
            <a:picLocks noChangeAspect="1"/>
          </p:cNvPicPr>
          <p:nvPr/>
        </p:nvPicPr>
        <p:blipFill>
          <a:blip r:embed="rId2"/>
          <a:srcRect l="0" r="0" t="0" b="0"/>
          <a:stretch/>
        </p:blipFill>
        <p:spPr>
          <a:xfrm>
            <a:off x="809244" y="5943600"/>
            <a:ext cx="228600" cy="228600"/>
          </a:xfrm>
          <a:prstGeom prst="rect">
            <a:avLst/>
          </a:prstGeom>
        </p:spPr>
      </p:pic>
      <p:sp>
        <p:nvSpPr>
          <p:cNvPr id="8" name="Text 4"/>
          <p:cNvSpPr txBox="1"/>
          <p:nvPr/>
        </p:nvSpPr>
        <p:spPr>
          <a:xfrm>
            <a:off x="1190549" y="5639105"/>
            <a:ext cx="10268712" cy="838505"/>
          </a:xfrm>
          <a:prstGeom prst="rect">
            <a:avLst/>
          </a:prstGeom>
          <a:noFill/>
          <a:ln/>
        </p:spPr>
        <p:txBody>
          <a:bodyPr wrap="square" lIns="0" tIns="0" rIns="0" bIns="0" rtlCol="0" anchor="ctr"/>
          <a:lstStyle/>
          <a:p>
            <a:pPr algn="l" indent="0" marL="0">
              <a:buNone/>
            </a:pPr>
            <a:r>
              <a:rPr lang="en-US" sz="1300" dirty="0">
                <a:solidFill>
                  <a:srgbClr val="991B1B"/>
                </a:solidFill>
                <a:latin typeface="Noto Sans JP" pitchFamily="34" charset="0"/>
                <a:ea typeface="Noto Sans JP" pitchFamily="34" charset="-122"/>
                <a:cs typeface="Noto Sans JP" pitchFamily="34" charset="-120"/>
              </a:rPr>
              <a:t>Point: 信号機がなければ交差点は事故だらけになります。仕事ナビは「着手のタイミング」をシステムが制御し、スムーズな流れを作ります。</a:t>
            </a:r>
            <a:endParaRPr lang="en-US" sz="1300" dirty="0"/>
          </a:p>
        </p:txBody>
      </p:sp>
      <p:sp>
        <p:nvSpPr>
          <p:cNvPr id="9" name="Shape 5"/>
          <p:cNvSpPr/>
          <p:nvPr/>
        </p:nvSpPr>
        <p:spPr>
          <a:xfrm>
            <a:off x="571500" y="153344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10" name="Shape 6"/>
          <p:cNvSpPr/>
          <p:nvPr/>
        </p:nvSpPr>
        <p:spPr>
          <a:xfrm>
            <a:off x="571500" y="1533449"/>
            <a:ext cx="3314700" cy="57607"/>
          </a:xfrm>
          <a:prstGeom prst="roundRect">
            <a:avLst>
              <a:gd name="adj" fmla="val 54735"/>
            </a:avLst>
          </a:prstGeom>
          <a:solidFill>
            <a:srgbClr val="F59E0B"/>
          </a:solidFill>
          <a:ln w="12700">
            <a:solidFill>
              <a:srgbClr val="F59E0B">
                <a:alpha val="0"/>
              </a:srgbClr>
            </a:solidFill>
            <a:prstDash val="solid"/>
          </a:ln>
        </p:spPr>
      </p:sp>
      <p:sp>
        <p:nvSpPr>
          <p:cNvPr id="11" name="Text 7"/>
          <p:cNvSpPr txBox="1"/>
          <p:nvPr/>
        </p:nvSpPr>
        <p:spPr>
          <a:xfrm>
            <a:off x="485546" y="2848356"/>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ガード条件（着手条件）</a:t>
            </a:r>
            <a:endParaRPr lang="en-US" sz="1600" dirty="0"/>
          </a:p>
        </p:txBody>
      </p:sp>
      <p:sp>
        <p:nvSpPr>
          <p:cNvPr id="12" name="Text 8"/>
          <p:cNvSpPr txBox="1"/>
          <p:nvPr/>
        </p:nvSpPr>
        <p:spPr>
          <a:xfrm>
            <a:off x="771754" y="3305556"/>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各タスクには、着手するための条件（ガード）が事前に設定されている</a:t>
            </a:r>
            <a:endParaRPr lang="en-US" sz="1200" dirty="0"/>
          </a:p>
        </p:txBody>
      </p:sp>
      <p:sp>
        <p:nvSpPr>
          <p:cNvPr id="13" name="Shape 9"/>
          <p:cNvSpPr/>
          <p:nvPr/>
        </p:nvSpPr>
        <p:spPr>
          <a:xfrm>
            <a:off x="809244" y="3952951"/>
            <a:ext cx="2838298" cy="1171346"/>
          </a:xfrm>
          <a:prstGeom prst="roundRect">
            <a:avLst>
              <a:gd name="adj" fmla="val 3808"/>
            </a:avLst>
          </a:prstGeom>
          <a:solidFill>
            <a:srgbClr val="F3F4F6"/>
          </a:solidFill>
          <a:ln w="12700">
            <a:solidFill>
              <a:srgbClr val="FFFFFF">
                <a:alpha val="0"/>
              </a:srgbClr>
            </a:solidFill>
            <a:prstDash val="solid"/>
          </a:ln>
        </p:spPr>
      </p:sp>
      <p:sp>
        <p:nvSpPr>
          <p:cNvPr id="14" name="Text 10"/>
          <p:cNvSpPr txBox="1"/>
          <p:nvPr/>
        </p:nvSpPr>
        <p:spPr>
          <a:xfrm>
            <a:off x="923544" y="4067251"/>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Examples of Guards</a:t>
            </a:r>
            <a:endParaRPr lang="en-US" sz="900" dirty="0"/>
          </a:p>
        </p:txBody>
      </p:sp>
      <p:pic>
        <p:nvPicPr>
          <p:cNvPr id="15" name="Image 2" descr="preencoded.png">    </p:cNvPr>
          <p:cNvPicPr>
            <a:picLocks noChangeAspect="1"/>
          </p:cNvPicPr>
          <p:nvPr/>
        </p:nvPicPr>
        <p:blipFill>
          <a:blip r:embed="rId3"/>
          <a:srcRect l="-80" r="-80" t="0" b="0"/>
          <a:stretch/>
        </p:blipFill>
        <p:spPr>
          <a:xfrm>
            <a:off x="2085746" y="2115007"/>
            <a:ext cx="286207" cy="457200"/>
          </a:xfrm>
          <a:prstGeom prst="rect">
            <a:avLst/>
          </a:prstGeom>
        </p:spPr>
      </p:pic>
      <p:sp>
        <p:nvSpPr>
          <p:cNvPr id="16" name="Shape 11"/>
          <p:cNvSpPr/>
          <p:nvPr/>
        </p:nvSpPr>
        <p:spPr>
          <a:xfrm>
            <a:off x="2038198" y="1399946"/>
            <a:ext cx="381305" cy="381305"/>
          </a:xfrm>
          <a:prstGeom prst="ellipse">
            <a:avLst/>
          </a:prstGeom>
          <a:solidFill>
            <a:srgbClr val="F59E0B"/>
          </a:solidFill>
          <a:ln w="12700">
            <a:solidFill>
              <a:srgbClr val="FFFFFF">
                <a:alpha val="0"/>
              </a:srgbClr>
            </a:solidFill>
            <a:prstDash val="solid"/>
          </a:ln>
        </p:spPr>
      </p:sp>
      <p:sp>
        <p:nvSpPr>
          <p:cNvPr id="17" name="Text 12"/>
          <p:cNvSpPr txBox="1"/>
          <p:nvPr/>
        </p:nvSpPr>
        <p:spPr>
          <a:xfrm>
            <a:off x="2000707" y="1399946"/>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8" name="Text 13"/>
          <p:cNvSpPr txBox="1"/>
          <p:nvPr/>
        </p:nvSpPr>
        <p:spPr>
          <a:xfrm>
            <a:off x="923544" y="4295851"/>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上長の承認が済んでいること</a:t>
            </a:r>
            <a:endParaRPr lang="en-US" sz="1000" dirty="0"/>
          </a:p>
        </p:txBody>
      </p:sp>
      <p:sp>
        <p:nvSpPr>
          <p:cNvPr id="19" name="Text 14"/>
          <p:cNvSpPr txBox="1"/>
          <p:nvPr/>
        </p:nvSpPr>
        <p:spPr>
          <a:xfrm>
            <a:off x="923544" y="4533595"/>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前工程の入力が完了していること</a:t>
            </a:r>
            <a:endParaRPr lang="en-US" sz="1000" dirty="0"/>
          </a:p>
        </p:txBody>
      </p:sp>
      <p:sp>
        <p:nvSpPr>
          <p:cNvPr id="20" name="Text 15"/>
          <p:cNvSpPr txBox="1"/>
          <p:nvPr/>
        </p:nvSpPr>
        <p:spPr>
          <a:xfrm>
            <a:off x="923544" y="4772254"/>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必要書類がアップロードされていること</a:t>
            </a:r>
            <a:endParaRPr lang="en-US" sz="1000" dirty="0"/>
          </a:p>
        </p:txBody>
      </p:sp>
      <p:sp>
        <p:nvSpPr>
          <p:cNvPr id="21" name="Shape 16"/>
          <p:cNvSpPr/>
          <p:nvPr/>
        </p:nvSpPr>
        <p:spPr>
          <a:xfrm>
            <a:off x="4438498" y="153344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22" name="Shape 17"/>
          <p:cNvSpPr/>
          <p:nvPr/>
        </p:nvSpPr>
        <p:spPr>
          <a:xfrm>
            <a:off x="4438498" y="1533449"/>
            <a:ext cx="3314700" cy="57607"/>
          </a:xfrm>
          <a:prstGeom prst="roundRect">
            <a:avLst>
              <a:gd name="adj" fmla="val 54735"/>
            </a:avLst>
          </a:prstGeom>
          <a:solidFill>
            <a:srgbClr val="EF4444"/>
          </a:solidFill>
          <a:ln w="12700">
            <a:solidFill>
              <a:srgbClr val="EF4444">
                <a:alpha val="0"/>
              </a:srgbClr>
            </a:solidFill>
            <a:prstDash val="solid"/>
          </a:ln>
        </p:spPr>
      </p:sp>
      <p:sp>
        <p:nvSpPr>
          <p:cNvPr id="23" name="Text 18"/>
          <p:cNvSpPr txBox="1"/>
          <p:nvPr/>
        </p:nvSpPr>
        <p:spPr>
          <a:xfrm>
            <a:off x="4390949" y="2848356"/>
            <a:ext cx="3410712"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To-Do制御（配信）</a:t>
            </a:r>
            <a:endParaRPr lang="en-US" sz="1600" dirty="0"/>
          </a:p>
        </p:txBody>
      </p:sp>
      <p:sp>
        <p:nvSpPr>
          <p:cNvPr id="24" name="Text 19"/>
          <p:cNvSpPr txBox="1"/>
          <p:nvPr/>
        </p:nvSpPr>
        <p:spPr>
          <a:xfrm>
            <a:off x="4638751" y="3305556"/>
            <a:ext cx="2915107" cy="6858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システムが状況を監視。条件が満たされた瞬間（青信号）に、担当者へタスクを配信</a:t>
            </a:r>
            <a:endParaRPr lang="en-US" sz="1200" dirty="0"/>
          </a:p>
        </p:txBody>
      </p:sp>
      <p:sp>
        <p:nvSpPr>
          <p:cNvPr id="25" name="Shape 20"/>
          <p:cNvSpPr/>
          <p:nvPr/>
        </p:nvSpPr>
        <p:spPr>
          <a:xfrm>
            <a:off x="4677156" y="4181551"/>
            <a:ext cx="2838298" cy="1171346"/>
          </a:xfrm>
          <a:prstGeom prst="roundRect">
            <a:avLst>
              <a:gd name="adj" fmla="val 3808"/>
            </a:avLst>
          </a:prstGeom>
          <a:solidFill>
            <a:srgbClr val="F3F4F6"/>
          </a:solidFill>
          <a:ln w="12700">
            <a:solidFill>
              <a:srgbClr val="FFFFFF">
                <a:alpha val="0"/>
              </a:srgbClr>
            </a:solidFill>
            <a:prstDash val="solid"/>
          </a:ln>
        </p:spPr>
      </p:sp>
      <p:sp>
        <p:nvSpPr>
          <p:cNvPr id="26" name="Text 21"/>
          <p:cNvSpPr txBox="1"/>
          <p:nvPr/>
        </p:nvSpPr>
        <p:spPr>
          <a:xfrm>
            <a:off x="4791456" y="4295851"/>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Action</a:t>
            </a:r>
            <a:endParaRPr lang="en-US" sz="900" dirty="0"/>
          </a:p>
        </p:txBody>
      </p:sp>
      <p:pic>
        <p:nvPicPr>
          <p:cNvPr id="27" name="Image 3" descr="preencoded.png">    </p:cNvPr>
          <p:cNvPicPr>
            <a:picLocks noChangeAspect="1"/>
          </p:cNvPicPr>
          <p:nvPr/>
        </p:nvPicPr>
        <p:blipFill>
          <a:blip r:embed="rId4"/>
          <a:srcRect l="0" r="0" t="0" b="0"/>
          <a:stretch/>
        </p:blipFill>
        <p:spPr>
          <a:xfrm>
            <a:off x="5867705" y="2115007"/>
            <a:ext cx="457200" cy="457200"/>
          </a:xfrm>
          <a:prstGeom prst="rect">
            <a:avLst/>
          </a:prstGeom>
        </p:spPr>
      </p:pic>
      <p:sp>
        <p:nvSpPr>
          <p:cNvPr id="28" name="Shape 22"/>
          <p:cNvSpPr/>
          <p:nvPr/>
        </p:nvSpPr>
        <p:spPr>
          <a:xfrm>
            <a:off x="5905195" y="1399946"/>
            <a:ext cx="381305" cy="381305"/>
          </a:xfrm>
          <a:prstGeom prst="ellipse">
            <a:avLst/>
          </a:prstGeom>
          <a:solidFill>
            <a:srgbClr val="EF4444"/>
          </a:solidFill>
          <a:ln w="12700">
            <a:solidFill>
              <a:srgbClr val="FFFFFF">
                <a:alpha val="0"/>
              </a:srgbClr>
            </a:solidFill>
            <a:prstDash val="solid"/>
          </a:ln>
        </p:spPr>
      </p:sp>
      <p:sp>
        <p:nvSpPr>
          <p:cNvPr id="29" name="Text 23"/>
          <p:cNvSpPr txBox="1"/>
          <p:nvPr/>
        </p:nvSpPr>
        <p:spPr>
          <a:xfrm>
            <a:off x="5867705" y="1399946"/>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0" name="Text 24"/>
          <p:cNvSpPr txBox="1"/>
          <p:nvPr/>
        </p:nvSpPr>
        <p:spPr>
          <a:xfrm>
            <a:off x="4791456" y="4524451"/>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「お待たせしました、どうぞ」と通知</a:t>
            </a:r>
            <a:endParaRPr lang="en-US" sz="1000" dirty="0"/>
          </a:p>
        </p:txBody>
      </p:sp>
      <p:sp>
        <p:nvSpPr>
          <p:cNvPr id="31" name="Text 25"/>
          <p:cNvSpPr txBox="1"/>
          <p:nvPr/>
        </p:nvSpPr>
        <p:spPr>
          <a:xfrm>
            <a:off x="4791456" y="4762195"/>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自分のTo-Doリストに初めて出現</a:t>
            </a:r>
            <a:endParaRPr lang="en-US" sz="1000" dirty="0"/>
          </a:p>
        </p:txBody>
      </p:sp>
      <p:sp>
        <p:nvSpPr>
          <p:cNvPr id="32" name="Text 26"/>
          <p:cNvSpPr txBox="1"/>
          <p:nvPr/>
        </p:nvSpPr>
        <p:spPr>
          <a:xfrm>
            <a:off x="4791456" y="5000854"/>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条件未達のタスクは表示されない</a:t>
            </a:r>
            <a:endParaRPr lang="en-US" sz="1000" dirty="0"/>
          </a:p>
        </p:txBody>
      </p:sp>
      <p:sp>
        <p:nvSpPr>
          <p:cNvPr id="33" name="Shape 27"/>
          <p:cNvSpPr/>
          <p:nvPr/>
        </p:nvSpPr>
        <p:spPr>
          <a:xfrm>
            <a:off x="8305495" y="153344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34" name="Shape 28"/>
          <p:cNvSpPr/>
          <p:nvPr/>
        </p:nvSpPr>
        <p:spPr>
          <a:xfrm>
            <a:off x="8305495" y="1533449"/>
            <a:ext cx="3314700" cy="57607"/>
          </a:xfrm>
          <a:prstGeom prst="roundRect">
            <a:avLst>
              <a:gd name="adj" fmla="val 54735"/>
            </a:avLst>
          </a:prstGeom>
          <a:solidFill>
            <a:srgbClr val="3B82F6"/>
          </a:solidFill>
          <a:ln w="12700">
            <a:solidFill>
              <a:srgbClr val="3B82F6">
                <a:alpha val="0"/>
              </a:srgbClr>
            </a:solidFill>
            <a:prstDash val="solid"/>
          </a:ln>
        </p:spPr>
      </p:sp>
      <p:sp>
        <p:nvSpPr>
          <p:cNvPr id="35" name="Text 29"/>
          <p:cNvSpPr txBox="1"/>
          <p:nvPr/>
        </p:nvSpPr>
        <p:spPr>
          <a:xfrm>
            <a:off x="8220456" y="2848356"/>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劇的な効果</a:t>
            </a:r>
            <a:endParaRPr lang="en-US" sz="1600" dirty="0"/>
          </a:p>
        </p:txBody>
      </p:sp>
      <p:sp>
        <p:nvSpPr>
          <p:cNvPr id="36" name="Text 30"/>
          <p:cNvSpPr txBox="1"/>
          <p:nvPr/>
        </p:nvSpPr>
        <p:spPr>
          <a:xfrm>
            <a:off x="8505749" y="3305556"/>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人の判断ミスや確認待ちによるロスが構造的に消滅する</a:t>
            </a:r>
            <a:endParaRPr lang="en-US" sz="1200" dirty="0"/>
          </a:p>
        </p:txBody>
      </p:sp>
      <p:sp>
        <p:nvSpPr>
          <p:cNvPr id="37" name="Shape 31"/>
          <p:cNvSpPr/>
          <p:nvPr/>
        </p:nvSpPr>
        <p:spPr>
          <a:xfrm>
            <a:off x="8544154" y="3952951"/>
            <a:ext cx="2838298" cy="1171346"/>
          </a:xfrm>
          <a:prstGeom prst="roundRect">
            <a:avLst>
              <a:gd name="adj" fmla="val 3808"/>
            </a:avLst>
          </a:prstGeom>
          <a:solidFill>
            <a:srgbClr val="F3F4F6"/>
          </a:solidFill>
          <a:ln w="12700">
            <a:solidFill>
              <a:srgbClr val="FFFFFF">
                <a:alpha val="0"/>
              </a:srgbClr>
            </a:solidFill>
            <a:prstDash val="solid"/>
          </a:ln>
        </p:spPr>
      </p:sp>
      <p:sp>
        <p:nvSpPr>
          <p:cNvPr id="38" name="Text 32"/>
          <p:cNvSpPr txBox="1"/>
          <p:nvPr/>
        </p:nvSpPr>
        <p:spPr>
          <a:xfrm>
            <a:off x="8658454" y="4067251"/>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Results</a:t>
            </a:r>
            <a:endParaRPr lang="en-US" sz="900" dirty="0"/>
          </a:p>
        </p:txBody>
      </p:sp>
      <p:pic>
        <p:nvPicPr>
          <p:cNvPr id="39" name="Image 4" descr="preencoded.png">    </p:cNvPr>
          <p:cNvPicPr>
            <a:picLocks noChangeAspect="1"/>
          </p:cNvPicPr>
          <p:nvPr/>
        </p:nvPicPr>
        <p:blipFill>
          <a:blip r:embed="rId5"/>
          <a:srcRect l="-57" r="-57" t="0" b="0"/>
          <a:stretch/>
        </p:blipFill>
        <p:spPr>
          <a:xfrm>
            <a:off x="9763049" y="2115007"/>
            <a:ext cx="400507" cy="457200"/>
          </a:xfrm>
          <a:prstGeom prst="rect">
            <a:avLst/>
          </a:prstGeom>
        </p:spPr>
      </p:pic>
      <p:sp>
        <p:nvSpPr>
          <p:cNvPr id="40" name="Shape 33"/>
          <p:cNvSpPr/>
          <p:nvPr/>
        </p:nvSpPr>
        <p:spPr>
          <a:xfrm>
            <a:off x="9773107" y="1399946"/>
            <a:ext cx="381305" cy="381305"/>
          </a:xfrm>
          <a:prstGeom prst="ellipse">
            <a:avLst/>
          </a:prstGeom>
          <a:solidFill>
            <a:srgbClr val="3B82F6"/>
          </a:solidFill>
          <a:ln w="12700">
            <a:solidFill>
              <a:srgbClr val="FFFFFF">
                <a:alpha val="0"/>
              </a:srgbClr>
            </a:solidFill>
            <a:prstDash val="solid"/>
          </a:ln>
        </p:spPr>
      </p:sp>
      <p:sp>
        <p:nvSpPr>
          <p:cNvPr id="41" name="Text 34"/>
          <p:cNvSpPr txBox="1"/>
          <p:nvPr/>
        </p:nvSpPr>
        <p:spPr>
          <a:xfrm>
            <a:off x="9734702" y="1399946"/>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42" name="Text 35"/>
          <p:cNvSpPr txBox="1"/>
          <p:nvPr/>
        </p:nvSpPr>
        <p:spPr>
          <a:xfrm>
            <a:off x="8658454" y="4295851"/>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フライング着手の防止</a:t>
            </a:r>
            <a:endParaRPr lang="en-US" sz="1000" dirty="0"/>
          </a:p>
        </p:txBody>
      </p:sp>
      <p:sp>
        <p:nvSpPr>
          <p:cNvPr id="43" name="Text 36"/>
          <p:cNvSpPr txBox="1"/>
          <p:nvPr/>
        </p:nvSpPr>
        <p:spPr>
          <a:xfrm>
            <a:off x="8658454" y="4533595"/>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「まだですか？」の確認待ち消滅</a:t>
            </a:r>
            <a:endParaRPr lang="en-US" sz="1000" dirty="0"/>
          </a:p>
        </p:txBody>
      </p:sp>
      <p:sp>
        <p:nvSpPr>
          <p:cNvPr id="44" name="Text 37"/>
          <p:cNvSpPr txBox="1"/>
          <p:nvPr/>
        </p:nvSpPr>
        <p:spPr>
          <a:xfrm>
            <a:off x="8658454" y="4772254"/>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手戻りの激減</a:t>
            </a:r>
            <a:endParaRPr lang="en-US" sz="1000" dirty="0"/>
          </a:p>
        </p:txBody>
      </p:sp>
      <p:pic>
        <p:nvPicPr>
          <p:cNvPr id="45" name="Image 5" descr="preencoded.png">    </p:cNvPr>
          <p:cNvPicPr>
            <a:picLocks noChangeAspect="1"/>
          </p:cNvPicPr>
          <p:nvPr/>
        </p:nvPicPr>
        <p:blipFill>
          <a:blip r:embed="rId6"/>
          <a:srcRect l="0" r="0" t="-30" b="-30"/>
          <a:stretch/>
        </p:blipFill>
        <p:spPr>
          <a:xfrm>
            <a:off x="4107485" y="2808122"/>
            <a:ext cx="190195" cy="304495"/>
          </a:xfrm>
          <a:prstGeom prst="rect">
            <a:avLst/>
          </a:prstGeom>
        </p:spPr>
      </p:pic>
      <p:pic>
        <p:nvPicPr>
          <p:cNvPr id="46" name="Image 6" descr="preencoded.png">    </p:cNvPr>
          <p:cNvPicPr>
            <a:picLocks noChangeAspect="1"/>
          </p:cNvPicPr>
          <p:nvPr/>
        </p:nvPicPr>
        <p:blipFill>
          <a:blip r:embed="rId7"/>
          <a:srcRect l="0" r="0" t="-30" b="-30"/>
          <a:stretch/>
        </p:blipFill>
        <p:spPr>
          <a:xfrm>
            <a:off x="7753198" y="2808122"/>
            <a:ext cx="190195" cy="304495"/>
          </a:xfrm>
          <a:prstGeom prst="rect">
            <a:avLst/>
          </a:prstGeom>
        </p:spPr>
      </p:pic>
      <p:sp>
        <p:nvSpPr>
          <p:cNvPr id="47" name="Shape 38"/>
          <p:cNvSpPr/>
          <p:nvPr/>
        </p:nvSpPr>
        <p:spPr>
          <a:xfrm>
            <a:off x="0" y="0"/>
            <a:ext cx="12191695" cy="952805"/>
          </a:xfrm>
          <a:prstGeom prst="rect">
            <a:avLst/>
          </a:prstGeom>
          <a:solidFill>
            <a:srgbClr val="FFFFFF"/>
          </a:solidFill>
          <a:ln/>
        </p:spPr>
      </p:sp>
      <p:sp>
        <p:nvSpPr>
          <p:cNvPr id="48" name="Shape 39"/>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9" name="Shape 40"/>
          <p:cNvSpPr/>
          <p:nvPr/>
        </p:nvSpPr>
        <p:spPr>
          <a:xfrm>
            <a:off x="571500" y="333756"/>
            <a:ext cx="2781605" cy="362102"/>
          </a:xfrm>
          <a:prstGeom prst="roundRect">
            <a:avLst>
              <a:gd name="adj" fmla="val 26582"/>
            </a:avLst>
          </a:prstGeom>
          <a:solidFill>
            <a:srgbClr val="EF4444"/>
          </a:solidFill>
          <a:ln w="12700">
            <a:solidFill>
              <a:srgbClr val="FFFFFF">
                <a:alpha val="0"/>
              </a:srgbClr>
            </a:solidFill>
            <a:prstDash val="solid"/>
          </a:ln>
        </p:spPr>
      </p:sp>
      <p:sp>
        <p:nvSpPr>
          <p:cNvPr id="50" name="Text 41"/>
          <p:cNvSpPr txBox="1"/>
          <p:nvPr/>
        </p:nvSpPr>
        <p:spPr>
          <a:xfrm>
            <a:off x="571500" y="333756"/>
            <a:ext cx="2971800"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仕事ナビの動作メカニズム②</a:t>
            </a:r>
            <a:endParaRPr lang="en-US" sz="1500" dirty="0"/>
          </a:p>
        </p:txBody>
      </p:sp>
      <p:sp>
        <p:nvSpPr>
          <p:cNvPr id="51" name="Text 42"/>
          <p:cNvSpPr txBox="1"/>
          <p:nvPr/>
        </p:nvSpPr>
        <p:spPr>
          <a:xfrm>
            <a:off x="3543300" y="286207"/>
            <a:ext cx="6449263"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「ガード（信号機）」が仕事の着手を制御する</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8FAFC"/>
          </a:solidFill>
          <a:ln w="12700">
            <a:solidFill>
              <a:srgbClr val="FFFFFF">
                <a:alpha val="0"/>
              </a:srgbClr>
            </a:solidFill>
            <a:prstDash val="solid"/>
          </a:ln>
        </p:spPr>
      </p:sp>
      <p:pic>
        <p:nvPicPr>
          <p:cNvPr id="5" name="Image 0" descr="preencoded.png">    </p:cNvPr>
          <p:cNvPicPr>
            <a:picLocks noChangeAspect="1"/>
          </p:cNvPicPr>
          <p:nvPr/>
        </p:nvPicPr>
        <p:blipFill>
          <a:blip r:embed="rId1"/>
          <a:srcRect l="0" r="0" t="-398" b="-398"/>
          <a:stretch/>
        </p:blipFill>
        <p:spPr>
          <a:xfrm>
            <a:off x="1676095" y="3044038"/>
            <a:ext cx="8839505" cy="38405"/>
          </a:xfrm>
          <a:prstGeom prst="rect">
            <a:avLst/>
          </a:prstGeom>
        </p:spPr>
      </p:pic>
      <p:sp>
        <p:nvSpPr>
          <p:cNvPr id="6" name="Shape 3"/>
          <p:cNvSpPr/>
          <p:nvPr/>
        </p:nvSpPr>
        <p:spPr>
          <a:xfrm>
            <a:off x="571500" y="5896051"/>
            <a:ext cx="11048695" cy="580644"/>
          </a:xfrm>
          <a:prstGeom prst="roundRect">
            <a:avLst>
              <a:gd name="adj" fmla="val 20653"/>
            </a:avLst>
          </a:prstGeom>
          <a:solidFill>
            <a:srgbClr val="EFF6FF"/>
          </a:solidFill>
          <a:ln w="12700">
            <a:solidFill>
              <a:srgbClr val="BFDBFE"/>
            </a:solidFill>
            <a:prstDash val="solid"/>
          </a:ln>
        </p:spPr>
      </p:sp>
      <p:pic>
        <p:nvPicPr>
          <p:cNvPr id="7" name="Image 1" descr="preencoded.png">    </p:cNvPr>
          <p:cNvPicPr>
            <a:picLocks noChangeAspect="1"/>
          </p:cNvPicPr>
          <p:nvPr/>
        </p:nvPicPr>
        <p:blipFill>
          <a:blip r:embed="rId2"/>
          <a:srcRect l="-133" r="-133" t="0" b="0"/>
          <a:stretch/>
        </p:blipFill>
        <p:spPr>
          <a:xfrm>
            <a:off x="809244" y="6072530"/>
            <a:ext cx="171907" cy="228600"/>
          </a:xfrm>
          <a:prstGeom prst="rect">
            <a:avLst/>
          </a:prstGeom>
        </p:spPr>
      </p:pic>
      <p:sp>
        <p:nvSpPr>
          <p:cNvPr id="8" name="Text 4"/>
          <p:cNvSpPr txBox="1"/>
          <p:nvPr/>
        </p:nvSpPr>
        <p:spPr>
          <a:xfrm>
            <a:off x="1133856" y="5896051"/>
            <a:ext cx="10182758" cy="581558"/>
          </a:xfrm>
          <a:prstGeom prst="rect">
            <a:avLst/>
          </a:prstGeom>
          <a:noFill/>
          <a:ln/>
        </p:spPr>
        <p:txBody>
          <a:bodyPr wrap="square" lIns="0" tIns="0" rIns="0" bIns="0" rtlCol="0" anchor="ctr"/>
          <a:lstStyle/>
          <a:p>
            <a:pPr algn="l" indent="0" marL="0">
              <a:buNone/>
            </a:pPr>
            <a:r>
              <a:rPr lang="en-US" sz="1300" dirty="0">
                <a:solidFill>
                  <a:srgbClr val="1E40AF"/>
                </a:solidFill>
                <a:latin typeface="Noto Sans JP" pitchFamily="34" charset="0"/>
                <a:ea typeface="Noto Sans JP" pitchFamily="34" charset="-122"/>
                <a:cs typeface="Noto Sans JP" pitchFamily="34" charset="-120"/>
              </a:rPr>
              <a:t>Point: 「人がやるべきこと（事実の入力）」と「システムがやるべきこと（計算・連携）」を明確に分け、負担を劇的に減らします。</a:t>
            </a:r>
            <a:endParaRPr lang="en-US" sz="1300" dirty="0"/>
          </a:p>
        </p:txBody>
      </p:sp>
      <p:sp>
        <p:nvSpPr>
          <p:cNvPr id="9" name="Shape 5"/>
          <p:cNvSpPr/>
          <p:nvPr/>
        </p:nvSpPr>
        <p:spPr>
          <a:xfrm>
            <a:off x="571500"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10" name="Shape 6"/>
          <p:cNvSpPr/>
          <p:nvPr/>
        </p:nvSpPr>
        <p:spPr>
          <a:xfrm>
            <a:off x="571500" y="1662379"/>
            <a:ext cx="3314700" cy="57607"/>
          </a:xfrm>
          <a:prstGeom prst="roundRect">
            <a:avLst>
              <a:gd name="adj" fmla="val 54735"/>
            </a:avLst>
          </a:prstGeom>
          <a:solidFill>
            <a:srgbClr val="6366F1"/>
          </a:solidFill>
          <a:ln w="12700">
            <a:solidFill>
              <a:srgbClr val="6366F1">
                <a:alpha val="0"/>
              </a:srgbClr>
            </a:solidFill>
            <a:prstDash val="solid"/>
          </a:ln>
        </p:spPr>
      </p:sp>
      <p:sp>
        <p:nvSpPr>
          <p:cNvPr id="11" name="Text 7"/>
          <p:cNvSpPr txBox="1"/>
          <p:nvPr/>
        </p:nvSpPr>
        <p:spPr>
          <a:xfrm>
            <a:off x="485546"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実績入力</a:t>
            </a:r>
            <a:endParaRPr lang="en-US" sz="1600" dirty="0"/>
          </a:p>
        </p:txBody>
      </p:sp>
      <p:sp>
        <p:nvSpPr>
          <p:cNvPr id="12" name="Text 8"/>
          <p:cNvSpPr txBox="1"/>
          <p:nvPr/>
        </p:nvSpPr>
        <p:spPr>
          <a:xfrm>
            <a:off x="771754" y="3433572"/>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職員は「計算」や「判断」をせず、完了したという「事実」を入力するだけ</a:t>
            </a:r>
            <a:endParaRPr lang="en-US" sz="1200" dirty="0"/>
          </a:p>
        </p:txBody>
      </p:sp>
      <p:sp>
        <p:nvSpPr>
          <p:cNvPr id="13" name="Shape 9"/>
          <p:cNvSpPr/>
          <p:nvPr/>
        </p:nvSpPr>
        <p:spPr>
          <a:xfrm>
            <a:off x="809244" y="4081882"/>
            <a:ext cx="2838298" cy="1171346"/>
          </a:xfrm>
          <a:prstGeom prst="roundRect">
            <a:avLst>
              <a:gd name="adj" fmla="val 3808"/>
            </a:avLst>
          </a:prstGeom>
          <a:solidFill>
            <a:srgbClr val="F3F4F6"/>
          </a:solidFill>
          <a:ln w="12700">
            <a:solidFill>
              <a:srgbClr val="FFFFFF">
                <a:alpha val="0"/>
              </a:srgbClr>
            </a:solidFill>
            <a:prstDash val="solid"/>
          </a:ln>
        </p:spPr>
      </p:sp>
      <p:sp>
        <p:nvSpPr>
          <p:cNvPr id="14" name="Text 10"/>
          <p:cNvSpPr txBox="1"/>
          <p:nvPr/>
        </p:nvSpPr>
        <p:spPr>
          <a:xfrm>
            <a:off x="923544" y="41961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User Action</a:t>
            </a:r>
            <a:endParaRPr lang="en-US" sz="900" dirty="0"/>
          </a:p>
        </p:txBody>
      </p:sp>
      <p:pic>
        <p:nvPicPr>
          <p:cNvPr id="15" name="Image 2" descr="preencoded.png">    </p:cNvPr>
          <p:cNvPicPr>
            <a:picLocks noChangeAspect="1"/>
          </p:cNvPicPr>
          <p:nvPr/>
        </p:nvPicPr>
        <p:blipFill>
          <a:blip r:embed="rId3"/>
          <a:srcRect l="0" r="0" t="0" b="0"/>
          <a:stretch/>
        </p:blipFill>
        <p:spPr>
          <a:xfrm>
            <a:off x="2000707" y="2243023"/>
            <a:ext cx="457200" cy="457200"/>
          </a:xfrm>
          <a:prstGeom prst="rect">
            <a:avLst/>
          </a:prstGeom>
        </p:spPr>
      </p:pic>
      <p:sp>
        <p:nvSpPr>
          <p:cNvPr id="16" name="Shape 11"/>
          <p:cNvSpPr/>
          <p:nvPr/>
        </p:nvSpPr>
        <p:spPr>
          <a:xfrm>
            <a:off x="2038198" y="1528877"/>
            <a:ext cx="381305" cy="381305"/>
          </a:xfrm>
          <a:prstGeom prst="ellipse">
            <a:avLst/>
          </a:prstGeom>
          <a:solidFill>
            <a:srgbClr val="6366F1"/>
          </a:solidFill>
          <a:ln w="12700">
            <a:solidFill>
              <a:srgbClr val="FFFFFF">
                <a:alpha val="0"/>
              </a:srgbClr>
            </a:solidFill>
            <a:prstDash val="solid"/>
          </a:ln>
        </p:spPr>
      </p:sp>
      <p:sp>
        <p:nvSpPr>
          <p:cNvPr id="17" name="Text 12"/>
          <p:cNvSpPr txBox="1"/>
          <p:nvPr/>
        </p:nvSpPr>
        <p:spPr>
          <a:xfrm>
            <a:off x="2000707"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8" name="Text 13"/>
          <p:cNvSpPr txBox="1"/>
          <p:nvPr/>
        </p:nvSpPr>
        <p:spPr>
          <a:xfrm>
            <a:off x="923544" y="4424782"/>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「完了」ボタンを押す</a:t>
            </a:r>
            <a:endParaRPr lang="en-US" sz="1000" dirty="0"/>
          </a:p>
        </p:txBody>
      </p:sp>
      <p:sp>
        <p:nvSpPr>
          <p:cNvPr id="19" name="Text 14"/>
          <p:cNvSpPr txBox="1"/>
          <p:nvPr/>
        </p:nvSpPr>
        <p:spPr>
          <a:xfrm>
            <a:off x="923544" y="4662526"/>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時間を入力する</a:t>
            </a:r>
            <a:endParaRPr lang="en-US" sz="1000" dirty="0"/>
          </a:p>
        </p:txBody>
      </p:sp>
      <p:sp>
        <p:nvSpPr>
          <p:cNvPr id="20" name="Text 15"/>
          <p:cNvSpPr txBox="1"/>
          <p:nvPr/>
        </p:nvSpPr>
        <p:spPr>
          <a:xfrm>
            <a:off x="923544" y="4900270"/>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写真を添付する</a:t>
            </a:r>
            <a:endParaRPr lang="en-US" sz="1000" dirty="0"/>
          </a:p>
        </p:txBody>
      </p:sp>
      <p:sp>
        <p:nvSpPr>
          <p:cNvPr id="21" name="Shape 16"/>
          <p:cNvSpPr/>
          <p:nvPr/>
        </p:nvSpPr>
        <p:spPr>
          <a:xfrm>
            <a:off x="4438498"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22" name="Shape 17"/>
          <p:cNvSpPr/>
          <p:nvPr/>
        </p:nvSpPr>
        <p:spPr>
          <a:xfrm>
            <a:off x="4438498" y="1662379"/>
            <a:ext cx="3314700" cy="57607"/>
          </a:xfrm>
          <a:prstGeom prst="roundRect">
            <a:avLst>
              <a:gd name="adj" fmla="val 54735"/>
            </a:avLst>
          </a:prstGeom>
          <a:solidFill>
            <a:srgbClr val="8B5CF6"/>
          </a:solidFill>
          <a:ln w="12700">
            <a:solidFill>
              <a:srgbClr val="8B5CF6">
                <a:alpha val="0"/>
              </a:srgbClr>
            </a:solidFill>
            <a:prstDash val="solid"/>
          </a:ln>
        </p:spPr>
      </p:sp>
      <p:sp>
        <p:nvSpPr>
          <p:cNvPr id="23" name="Text 18"/>
          <p:cNvSpPr txBox="1"/>
          <p:nvPr/>
        </p:nvSpPr>
        <p:spPr>
          <a:xfrm>
            <a:off x="4352544"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裏側での自動処理</a:t>
            </a:r>
            <a:endParaRPr lang="en-US" sz="1600" dirty="0"/>
          </a:p>
        </p:txBody>
      </p:sp>
      <p:sp>
        <p:nvSpPr>
          <p:cNvPr id="24" name="Text 19"/>
          <p:cNvSpPr txBox="1"/>
          <p:nvPr/>
        </p:nvSpPr>
        <p:spPr>
          <a:xfrm>
            <a:off x="4638751" y="3433572"/>
            <a:ext cx="2915107" cy="6858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按分計算やシステム連携は、入力データと事前に設定されたルール（知識）で自動実行</a:t>
            </a:r>
            <a:endParaRPr lang="en-US" sz="1200" dirty="0"/>
          </a:p>
        </p:txBody>
      </p:sp>
      <p:sp>
        <p:nvSpPr>
          <p:cNvPr id="25" name="Shape 20"/>
          <p:cNvSpPr/>
          <p:nvPr/>
        </p:nvSpPr>
        <p:spPr>
          <a:xfrm>
            <a:off x="4677156" y="4310482"/>
            <a:ext cx="2838298" cy="1171346"/>
          </a:xfrm>
          <a:prstGeom prst="roundRect">
            <a:avLst>
              <a:gd name="adj" fmla="val 3808"/>
            </a:avLst>
          </a:prstGeom>
          <a:solidFill>
            <a:srgbClr val="F3F4F6"/>
          </a:solidFill>
          <a:ln w="12700">
            <a:solidFill>
              <a:srgbClr val="FFFFFF">
                <a:alpha val="0"/>
              </a:srgbClr>
            </a:solidFill>
            <a:prstDash val="solid"/>
          </a:ln>
        </p:spPr>
      </p:sp>
      <p:sp>
        <p:nvSpPr>
          <p:cNvPr id="26" name="Text 21"/>
          <p:cNvSpPr txBox="1"/>
          <p:nvPr/>
        </p:nvSpPr>
        <p:spPr>
          <a:xfrm>
            <a:off x="4791456" y="44247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System Process</a:t>
            </a:r>
            <a:endParaRPr lang="en-US" sz="900" dirty="0"/>
          </a:p>
        </p:txBody>
      </p:sp>
      <p:pic>
        <p:nvPicPr>
          <p:cNvPr id="27" name="Image 3" descr="preencoded.png">    </p:cNvPr>
          <p:cNvPicPr>
            <a:picLocks noChangeAspect="1"/>
          </p:cNvPicPr>
          <p:nvPr/>
        </p:nvPicPr>
        <p:blipFill>
          <a:blip r:embed="rId4"/>
          <a:srcRect l="0" r="0" t="0" b="0"/>
          <a:stretch/>
        </p:blipFill>
        <p:spPr>
          <a:xfrm>
            <a:off x="5810098" y="2243023"/>
            <a:ext cx="571500" cy="457200"/>
          </a:xfrm>
          <a:prstGeom prst="rect">
            <a:avLst/>
          </a:prstGeom>
        </p:spPr>
      </p:pic>
      <p:sp>
        <p:nvSpPr>
          <p:cNvPr id="28" name="Shape 22"/>
          <p:cNvSpPr/>
          <p:nvPr/>
        </p:nvSpPr>
        <p:spPr>
          <a:xfrm>
            <a:off x="5905195" y="1528877"/>
            <a:ext cx="381305" cy="381305"/>
          </a:xfrm>
          <a:prstGeom prst="ellipse">
            <a:avLst/>
          </a:prstGeom>
          <a:solidFill>
            <a:srgbClr val="8B5CF6"/>
          </a:solidFill>
          <a:ln w="12700">
            <a:solidFill>
              <a:srgbClr val="FFFFFF">
                <a:alpha val="0"/>
              </a:srgbClr>
            </a:solidFill>
            <a:prstDash val="solid"/>
          </a:ln>
        </p:spPr>
      </p:sp>
      <p:sp>
        <p:nvSpPr>
          <p:cNvPr id="29" name="Text 23"/>
          <p:cNvSpPr txBox="1"/>
          <p:nvPr/>
        </p:nvSpPr>
        <p:spPr>
          <a:xfrm>
            <a:off x="5867705"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0" name="Text 24"/>
          <p:cNvSpPr txBox="1"/>
          <p:nvPr/>
        </p:nvSpPr>
        <p:spPr>
          <a:xfrm>
            <a:off x="4791456" y="4653382"/>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費用を各部門へ自動按分</a:t>
            </a:r>
            <a:endParaRPr lang="en-US" sz="1000" dirty="0"/>
          </a:p>
        </p:txBody>
      </p:sp>
      <p:sp>
        <p:nvSpPr>
          <p:cNvPr id="31" name="Text 25"/>
          <p:cNvSpPr txBox="1"/>
          <p:nvPr/>
        </p:nvSpPr>
        <p:spPr>
          <a:xfrm>
            <a:off x="4791456" y="4891126"/>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会計・給与へデータ連携</a:t>
            </a:r>
            <a:endParaRPr lang="en-US" sz="1000" dirty="0"/>
          </a:p>
        </p:txBody>
      </p:sp>
      <p:sp>
        <p:nvSpPr>
          <p:cNvPr id="32" name="Text 26"/>
          <p:cNvSpPr txBox="1"/>
          <p:nvPr/>
        </p:nvSpPr>
        <p:spPr>
          <a:xfrm>
            <a:off x="4791456" y="5128870"/>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次工程へ通知を送信</a:t>
            </a:r>
            <a:endParaRPr lang="en-US" sz="1000" dirty="0"/>
          </a:p>
        </p:txBody>
      </p:sp>
      <p:sp>
        <p:nvSpPr>
          <p:cNvPr id="33" name="Shape 27"/>
          <p:cNvSpPr/>
          <p:nvPr/>
        </p:nvSpPr>
        <p:spPr>
          <a:xfrm>
            <a:off x="8305495" y="1662379"/>
            <a:ext cx="3314700" cy="3619195"/>
          </a:xfrm>
          <a:prstGeom prst="roundRect">
            <a:avLst>
              <a:gd name="adj" fmla="val 951"/>
            </a:avLst>
          </a:prstGeom>
          <a:solidFill>
            <a:srgbClr val="FFFFFF"/>
          </a:solidFill>
          <a:ln w="12700">
            <a:solidFill>
              <a:srgbClr val="E2E8F0"/>
            </a:solidFill>
            <a:prstDash val="solid"/>
          </a:ln>
          <a:effectLst>
            <a:outerShdw sx="100000" sy="100000" kx="0" ky="0" algn="bl" rotWithShape="0" blurRad="101600" dist="38100" dir="16200000">
              <a:srgbClr val="000000">
                <a:alpha val="5000"/>
              </a:srgbClr>
            </a:outerShdw>
          </a:effectLst>
        </p:spPr>
      </p:sp>
      <p:sp>
        <p:nvSpPr>
          <p:cNvPr id="34" name="Shape 28"/>
          <p:cNvSpPr/>
          <p:nvPr/>
        </p:nvSpPr>
        <p:spPr>
          <a:xfrm>
            <a:off x="8305495" y="1662379"/>
            <a:ext cx="3314700" cy="57607"/>
          </a:xfrm>
          <a:prstGeom prst="roundRect">
            <a:avLst>
              <a:gd name="adj" fmla="val 54735"/>
            </a:avLst>
          </a:prstGeom>
          <a:solidFill>
            <a:srgbClr val="EC4899"/>
          </a:solidFill>
          <a:ln w="12700">
            <a:solidFill>
              <a:srgbClr val="EC4899">
                <a:alpha val="0"/>
              </a:srgbClr>
            </a:solidFill>
            <a:prstDash val="solid"/>
          </a:ln>
        </p:spPr>
      </p:sp>
      <p:sp>
        <p:nvSpPr>
          <p:cNvPr id="35" name="Text 29"/>
          <p:cNvSpPr txBox="1"/>
          <p:nvPr/>
        </p:nvSpPr>
        <p:spPr>
          <a:xfrm>
            <a:off x="8220456" y="2976372"/>
            <a:ext cx="3486607" cy="314554"/>
          </a:xfrm>
          <a:prstGeom prst="rect">
            <a:avLst/>
          </a:prstGeom>
          <a:noFill/>
          <a:ln/>
        </p:spPr>
        <p:txBody>
          <a:bodyPr wrap="square" lIns="0" tIns="0" rIns="0" bIns="0" rtlCol="0" anchor="ctr"/>
          <a:lstStyle/>
          <a:p>
            <a:pPr algn="ctr" indent="0" marL="0">
              <a:buNone/>
            </a:pPr>
            <a:r>
              <a:rPr lang="en-US" sz="1600" b="1" dirty="0">
                <a:solidFill>
                  <a:srgbClr val="1F2937"/>
                </a:solidFill>
                <a:latin typeface="Noto Sans JP" pitchFamily="34" charset="0"/>
                <a:ea typeface="Noto Sans JP" pitchFamily="34" charset="-122"/>
                <a:cs typeface="Noto Sans JP" pitchFamily="34" charset="-120"/>
              </a:rPr>
              <a:t>整合性の維持</a:t>
            </a:r>
            <a:endParaRPr lang="en-US" sz="1600" dirty="0"/>
          </a:p>
        </p:txBody>
      </p:sp>
      <p:sp>
        <p:nvSpPr>
          <p:cNvPr id="36" name="Text 30"/>
          <p:cNvSpPr txBox="1"/>
          <p:nvPr/>
        </p:nvSpPr>
        <p:spPr>
          <a:xfrm>
            <a:off x="8505749" y="3433572"/>
            <a:ext cx="2915107" cy="457200"/>
          </a:xfrm>
          <a:prstGeom prst="rect">
            <a:avLst/>
          </a:prstGeom>
          <a:noFill/>
          <a:ln/>
        </p:spPr>
        <p:txBody>
          <a:bodyPr wrap="square" lIns="0" tIns="0" rIns="0" bIns="0" rtlCol="0" anchor="t"/>
          <a:lstStyle/>
          <a:p>
            <a:pPr algn="ctr" indent="0" marL="0">
              <a:buNone/>
            </a:pPr>
            <a:r>
              <a:rPr lang="en-US" sz="1200" dirty="0">
                <a:solidFill>
                  <a:srgbClr val="4B5563"/>
                </a:solidFill>
                <a:latin typeface="Noto Sans JP" pitchFamily="34" charset="0"/>
                <a:ea typeface="Noto Sans JP" pitchFamily="34" charset="-122"/>
                <a:cs typeface="Noto Sans JP" pitchFamily="34" charset="-120"/>
              </a:rPr>
              <a:t>現場と本部は電卓から解放され、数値は法人全体で常に整合性が保たれる</a:t>
            </a:r>
            <a:endParaRPr lang="en-US" sz="1200" dirty="0"/>
          </a:p>
        </p:txBody>
      </p:sp>
      <p:sp>
        <p:nvSpPr>
          <p:cNvPr id="37" name="Shape 31"/>
          <p:cNvSpPr/>
          <p:nvPr/>
        </p:nvSpPr>
        <p:spPr>
          <a:xfrm>
            <a:off x="8544154" y="4081882"/>
            <a:ext cx="2838298" cy="1171346"/>
          </a:xfrm>
          <a:prstGeom prst="roundRect">
            <a:avLst>
              <a:gd name="adj" fmla="val 3808"/>
            </a:avLst>
          </a:prstGeom>
          <a:solidFill>
            <a:srgbClr val="F3F4F6"/>
          </a:solidFill>
          <a:ln w="12700">
            <a:solidFill>
              <a:srgbClr val="FFFFFF">
                <a:alpha val="0"/>
              </a:srgbClr>
            </a:solidFill>
            <a:prstDash val="solid"/>
          </a:ln>
        </p:spPr>
      </p:sp>
      <p:sp>
        <p:nvSpPr>
          <p:cNvPr id="38" name="Text 32"/>
          <p:cNvSpPr txBox="1"/>
          <p:nvPr/>
        </p:nvSpPr>
        <p:spPr>
          <a:xfrm>
            <a:off x="8658454" y="4196182"/>
            <a:ext cx="2714854" cy="171907"/>
          </a:xfrm>
          <a:prstGeom prst="rect">
            <a:avLst/>
          </a:prstGeom>
          <a:noFill/>
          <a:ln/>
        </p:spPr>
        <p:txBody>
          <a:bodyPr wrap="square" lIns="0" tIns="0" rIns="0" bIns="0" rtlCol="0" anchor="ctr"/>
          <a:lstStyle/>
          <a:p>
            <a:pPr algn="l" indent="0" marL="0">
              <a:buNone/>
            </a:pPr>
            <a:r>
              <a:rPr lang="en-US" sz="900" b="1" spc="45" kern="0" dirty="0">
                <a:solidFill>
                  <a:srgbClr val="374151"/>
                </a:solidFill>
                <a:latin typeface="Noto Sans JP" pitchFamily="34" charset="0"/>
                <a:ea typeface="Noto Sans JP" pitchFamily="34" charset="-122"/>
                <a:cs typeface="Noto Sans JP" pitchFamily="34" charset="-120"/>
              </a:rPr>
              <a:t>Result</a:t>
            </a:r>
            <a:endParaRPr lang="en-US" sz="900" dirty="0"/>
          </a:p>
        </p:txBody>
      </p:sp>
      <p:pic>
        <p:nvPicPr>
          <p:cNvPr id="39" name="Image 4" descr="preencoded.png">    </p:cNvPr>
          <p:cNvPicPr>
            <a:picLocks noChangeAspect="1"/>
          </p:cNvPicPr>
          <p:nvPr/>
        </p:nvPicPr>
        <p:blipFill>
          <a:blip r:embed="rId5"/>
          <a:srcRect l="-57" r="-57" t="0" b="0"/>
          <a:stretch/>
        </p:blipFill>
        <p:spPr>
          <a:xfrm>
            <a:off x="9763049" y="2243023"/>
            <a:ext cx="400507" cy="457200"/>
          </a:xfrm>
          <a:prstGeom prst="rect">
            <a:avLst/>
          </a:prstGeom>
        </p:spPr>
      </p:pic>
      <p:sp>
        <p:nvSpPr>
          <p:cNvPr id="40" name="Shape 33"/>
          <p:cNvSpPr/>
          <p:nvPr/>
        </p:nvSpPr>
        <p:spPr>
          <a:xfrm>
            <a:off x="9773107" y="1528877"/>
            <a:ext cx="381305" cy="381305"/>
          </a:xfrm>
          <a:prstGeom prst="ellipse">
            <a:avLst/>
          </a:prstGeom>
          <a:solidFill>
            <a:srgbClr val="EC4899"/>
          </a:solidFill>
          <a:ln w="12700">
            <a:solidFill>
              <a:srgbClr val="FFFFFF">
                <a:alpha val="0"/>
              </a:srgbClr>
            </a:solidFill>
            <a:prstDash val="solid"/>
          </a:ln>
        </p:spPr>
      </p:sp>
      <p:sp>
        <p:nvSpPr>
          <p:cNvPr id="41" name="Text 34"/>
          <p:cNvSpPr txBox="1"/>
          <p:nvPr/>
        </p:nvSpPr>
        <p:spPr>
          <a:xfrm>
            <a:off x="9734702" y="1528877"/>
            <a:ext cx="457200" cy="3813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42" name="Text 35"/>
          <p:cNvSpPr txBox="1"/>
          <p:nvPr/>
        </p:nvSpPr>
        <p:spPr>
          <a:xfrm>
            <a:off x="8658454" y="4424782"/>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電卓計算ゼロへ</a:t>
            </a:r>
            <a:endParaRPr lang="en-US" sz="1000" dirty="0"/>
          </a:p>
        </p:txBody>
      </p:sp>
      <p:sp>
        <p:nvSpPr>
          <p:cNvPr id="43" name="Text 36"/>
          <p:cNvSpPr txBox="1"/>
          <p:nvPr/>
        </p:nvSpPr>
        <p:spPr>
          <a:xfrm>
            <a:off x="8658454" y="4662526"/>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転記ミス・計算ミスゼロ</a:t>
            </a:r>
            <a:endParaRPr lang="en-US" sz="1000" dirty="0"/>
          </a:p>
        </p:txBody>
      </p:sp>
      <p:sp>
        <p:nvSpPr>
          <p:cNvPr id="44" name="Text 37"/>
          <p:cNvSpPr txBox="1"/>
          <p:nvPr/>
        </p:nvSpPr>
        <p:spPr>
          <a:xfrm>
            <a:off x="8658454" y="4900270"/>
            <a:ext cx="2800807" cy="200254"/>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リアルタイムな数値確定</a:t>
            </a:r>
            <a:endParaRPr lang="en-US" sz="1000" dirty="0"/>
          </a:p>
        </p:txBody>
      </p:sp>
      <p:pic>
        <p:nvPicPr>
          <p:cNvPr id="45" name="Image 5" descr="preencoded.png">    </p:cNvPr>
          <p:cNvPicPr>
            <a:picLocks noChangeAspect="1"/>
          </p:cNvPicPr>
          <p:nvPr/>
        </p:nvPicPr>
        <p:blipFill>
          <a:blip r:embed="rId6"/>
          <a:srcRect l="0" r="0" t="-30" b="-30"/>
          <a:stretch/>
        </p:blipFill>
        <p:spPr>
          <a:xfrm>
            <a:off x="4107485" y="2910535"/>
            <a:ext cx="190195" cy="304495"/>
          </a:xfrm>
          <a:prstGeom prst="rect">
            <a:avLst/>
          </a:prstGeom>
        </p:spPr>
      </p:pic>
      <p:pic>
        <p:nvPicPr>
          <p:cNvPr id="46" name="Image 6" descr="preencoded.png">    </p:cNvPr>
          <p:cNvPicPr>
            <a:picLocks noChangeAspect="1"/>
          </p:cNvPicPr>
          <p:nvPr/>
        </p:nvPicPr>
        <p:blipFill>
          <a:blip r:embed="rId7"/>
          <a:srcRect l="0" r="0" t="-30" b="-30"/>
          <a:stretch/>
        </p:blipFill>
        <p:spPr>
          <a:xfrm>
            <a:off x="7753198" y="2910535"/>
            <a:ext cx="190195" cy="304495"/>
          </a:xfrm>
          <a:prstGeom prst="rect">
            <a:avLst/>
          </a:prstGeom>
        </p:spPr>
      </p:pic>
      <p:sp>
        <p:nvSpPr>
          <p:cNvPr id="47" name="Shape 38"/>
          <p:cNvSpPr/>
          <p:nvPr/>
        </p:nvSpPr>
        <p:spPr>
          <a:xfrm>
            <a:off x="0" y="0"/>
            <a:ext cx="12191695" cy="952805"/>
          </a:xfrm>
          <a:prstGeom prst="rect">
            <a:avLst/>
          </a:prstGeom>
          <a:solidFill>
            <a:srgbClr val="FFFFFF"/>
          </a:solidFill>
          <a:ln/>
        </p:spPr>
      </p:sp>
      <p:sp>
        <p:nvSpPr>
          <p:cNvPr id="48" name="Shape 39"/>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9" name="Shape 40"/>
          <p:cNvSpPr/>
          <p:nvPr/>
        </p:nvSpPr>
        <p:spPr>
          <a:xfrm>
            <a:off x="571500" y="333756"/>
            <a:ext cx="2781605" cy="362102"/>
          </a:xfrm>
          <a:prstGeom prst="roundRect">
            <a:avLst>
              <a:gd name="adj" fmla="val 26582"/>
            </a:avLst>
          </a:prstGeom>
          <a:solidFill>
            <a:srgbClr val="3B82F6"/>
          </a:solidFill>
          <a:ln w="12700">
            <a:solidFill>
              <a:srgbClr val="FFFFFF">
                <a:alpha val="0"/>
              </a:srgbClr>
            </a:solidFill>
            <a:prstDash val="solid"/>
          </a:ln>
        </p:spPr>
      </p:sp>
      <p:sp>
        <p:nvSpPr>
          <p:cNvPr id="50" name="Text 41"/>
          <p:cNvSpPr txBox="1"/>
          <p:nvPr/>
        </p:nvSpPr>
        <p:spPr>
          <a:xfrm>
            <a:off x="571500" y="333756"/>
            <a:ext cx="2971800"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仕事ナビの動作メカニズム③</a:t>
            </a:r>
            <a:endParaRPr lang="en-US" sz="1500" dirty="0"/>
          </a:p>
        </p:txBody>
      </p:sp>
      <p:sp>
        <p:nvSpPr>
          <p:cNvPr id="51" name="Text 42"/>
          <p:cNvSpPr txBox="1"/>
          <p:nvPr/>
        </p:nvSpPr>
        <p:spPr>
          <a:xfrm>
            <a:off x="3543300" y="286207"/>
            <a:ext cx="6268212"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「実績」を入れると、あとはシステムが走る</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8FAFC"/>
          </a:solidFill>
          <a:ln w="12700">
            <a:solidFill>
              <a:srgbClr val="FFFFFF">
                <a:alpha val="0"/>
              </a:srgbClr>
            </a:solidFill>
            <a:prstDash val="solid"/>
          </a:ln>
        </p:spPr>
      </p:sp>
      <p:sp>
        <p:nvSpPr>
          <p:cNvPr id="5" name="Shape 3"/>
          <p:cNvSpPr/>
          <p:nvPr/>
        </p:nvSpPr>
        <p:spPr>
          <a:xfrm>
            <a:off x="571500" y="1238098"/>
            <a:ext cx="1495044" cy="276149"/>
          </a:xfrm>
          <a:prstGeom prst="roundRect">
            <a:avLst>
              <a:gd name="adj" fmla="val 228362"/>
            </a:avLst>
          </a:prstGeom>
          <a:solidFill>
            <a:srgbClr val="FEE2E2"/>
          </a:solidFill>
          <a:ln w="12700">
            <a:solidFill>
              <a:srgbClr val="FFFFFF">
                <a:alpha val="0"/>
              </a:srgbClr>
            </a:solidFill>
            <a:prstDash val="solid"/>
          </a:ln>
        </p:spPr>
      </p:sp>
      <p:sp>
        <p:nvSpPr>
          <p:cNvPr id="6" name="Text 4"/>
          <p:cNvSpPr txBox="1"/>
          <p:nvPr/>
        </p:nvSpPr>
        <p:spPr>
          <a:xfrm>
            <a:off x="571500" y="1238098"/>
            <a:ext cx="1555394" cy="27706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000" b="1" dirty="0">
                <a:solidFill>
                  <a:srgbClr val="991B1B"/>
                </a:solidFill>
                <a:latin typeface="Noto Sans JP" pitchFamily="34" charset="0"/>
                <a:ea typeface="Noto Sans JP" pitchFamily="34" charset="-122"/>
                <a:cs typeface="Noto Sans JP" pitchFamily="34" charset="-120"/>
              </a:rPr>
              <a:t>Customer (依頼者)</a:t>
            </a:r>
            <a:endParaRPr lang="en-US" sz="1000" dirty="0"/>
          </a:p>
        </p:txBody>
      </p:sp>
      <p:sp>
        <p:nvSpPr>
          <p:cNvPr id="7" name="Shape 5"/>
          <p:cNvSpPr/>
          <p:nvPr/>
        </p:nvSpPr>
        <p:spPr>
          <a:xfrm>
            <a:off x="6021324" y="1238098"/>
            <a:ext cx="1580998" cy="276149"/>
          </a:xfrm>
          <a:prstGeom prst="roundRect">
            <a:avLst>
              <a:gd name="adj" fmla="val 228362"/>
            </a:avLst>
          </a:prstGeom>
          <a:solidFill>
            <a:srgbClr val="DBEAFE"/>
          </a:solidFill>
          <a:ln w="12700">
            <a:solidFill>
              <a:srgbClr val="FFFFFF">
                <a:alpha val="0"/>
              </a:srgbClr>
            </a:solidFill>
            <a:prstDash val="solid"/>
          </a:ln>
        </p:spPr>
      </p:sp>
      <p:sp>
        <p:nvSpPr>
          <p:cNvPr id="8" name="Text 6"/>
          <p:cNvSpPr txBox="1"/>
          <p:nvPr/>
        </p:nvSpPr>
        <p:spPr>
          <a:xfrm>
            <a:off x="6021324" y="1238098"/>
            <a:ext cx="1645006" cy="27706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000" b="1" dirty="0">
                <a:solidFill>
                  <a:srgbClr val="1E40AF"/>
                </a:solidFill>
                <a:latin typeface="Noto Sans JP" pitchFamily="34" charset="0"/>
                <a:ea typeface="Noto Sans JP" pitchFamily="34" charset="-122"/>
                <a:cs typeface="Noto Sans JP" pitchFamily="34" charset="-120"/>
              </a:rPr>
              <a:t>Performer (実行者)</a:t>
            </a:r>
            <a:endParaRPr lang="en-US" sz="1000" dirty="0"/>
          </a:p>
        </p:txBody>
      </p:sp>
      <p:sp>
        <p:nvSpPr>
          <p:cNvPr id="9" name="Shape 7"/>
          <p:cNvSpPr/>
          <p:nvPr/>
        </p:nvSpPr>
        <p:spPr>
          <a:xfrm>
            <a:off x="10131552" y="1238098"/>
            <a:ext cx="1495044" cy="276149"/>
          </a:xfrm>
          <a:prstGeom prst="roundRect">
            <a:avLst>
              <a:gd name="adj" fmla="val 228362"/>
            </a:avLst>
          </a:prstGeom>
          <a:solidFill>
            <a:srgbClr val="FEE2E2"/>
          </a:solidFill>
          <a:ln w="12700">
            <a:solidFill>
              <a:srgbClr val="FFFFFF">
                <a:alpha val="0"/>
              </a:srgbClr>
            </a:solidFill>
            <a:prstDash val="solid"/>
          </a:ln>
        </p:spPr>
      </p:sp>
      <p:sp>
        <p:nvSpPr>
          <p:cNvPr id="10" name="Text 8"/>
          <p:cNvSpPr txBox="1"/>
          <p:nvPr/>
        </p:nvSpPr>
        <p:spPr>
          <a:xfrm>
            <a:off x="10131552" y="1238098"/>
            <a:ext cx="1555394" cy="27706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000" b="1" dirty="0">
                <a:solidFill>
                  <a:srgbClr val="991B1B"/>
                </a:solidFill>
                <a:latin typeface="Noto Sans JP" pitchFamily="34" charset="0"/>
                <a:ea typeface="Noto Sans JP" pitchFamily="34" charset="-122"/>
                <a:cs typeface="Noto Sans JP" pitchFamily="34" charset="-120"/>
              </a:rPr>
              <a:t>Customer (依頼者)</a:t>
            </a:r>
            <a:endParaRPr lang="en-US" sz="1000" dirty="0"/>
          </a:p>
        </p:txBody>
      </p:sp>
      <p:pic>
        <p:nvPicPr>
          <p:cNvPr id="11" name="Image 0" descr="preencoded.png">    </p:cNvPr>
          <p:cNvPicPr>
            <a:picLocks noChangeAspect="1"/>
          </p:cNvPicPr>
          <p:nvPr/>
        </p:nvPicPr>
        <p:blipFill>
          <a:blip r:embed="rId1"/>
          <a:srcRect l="0" r="0" t="-398" b="-398"/>
          <a:stretch/>
        </p:blipFill>
        <p:spPr>
          <a:xfrm>
            <a:off x="1047902" y="2276856"/>
            <a:ext cx="10096805" cy="38405"/>
          </a:xfrm>
          <a:prstGeom prst="rect">
            <a:avLst/>
          </a:prstGeom>
        </p:spPr>
      </p:pic>
      <p:sp>
        <p:nvSpPr>
          <p:cNvPr id="12" name="Shape 9"/>
          <p:cNvSpPr/>
          <p:nvPr/>
        </p:nvSpPr>
        <p:spPr>
          <a:xfrm>
            <a:off x="571500" y="3766414"/>
            <a:ext cx="5429707" cy="2809951"/>
          </a:xfrm>
          <a:prstGeom prst="roundRect">
            <a:avLst>
              <a:gd name="adj" fmla="val 882"/>
            </a:avLst>
          </a:prstGeom>
          <a:solidFill>
            <a:srgbClr val="FFFFFF"/>
          </a:solidFill>
          <a:ln w="12700">
            <a:solidFill>
              <a:srgbClr val="E5E7EB"/>
            </a:solidFill>
            <a:prstDash val="solid"/>
          </a:ln>
        </p:spPr>
      </p:sp>
      <p:sp>
        <p:nvSpPr>
          <p:cNvPr id="13" name="Text 10"/>
          <p:cNvSpPr txBox="1"/>
          <p:nvPr/>
        </p:nvSpPr>
        <p:spPr>
          <a:xfrm>
            <a:off x="1038758" y="3966667"/>
            <a:ext cx="4953305" cy="257861"/>
          </a:xfrm>
          <a:prstGeom prst="rect">
            <a:avLst/>
          </a:prstGeom>
          <a:noFill/>
          <a:ln/>
        </p:spPr>
        <p:txBody>
          <a:bodyPr wrap="square" lIns="0" tIns="0" rIns="0" bIns="0" rtlCol="0" anchor="ctr"/>
          <a:lstStyle/>
          <a:p>
            <a:pPr algn="l" indent="0" marL="0">
              <a:buNone/>
            </a:pPr>
            <a:r>
              <a:rPr lang="en-US" sz="1300" b="1" dirty="0">
                <a:solidFill>
                  <a:srgbClr val="111827"/>
                </a:solidFill>
                <a:latin typeface="Noto Sans JP" pitchFamily="34" charset="0"/>
                <a:ea typeface="Noto Sans JP" pitchFamily="34" charset="-122"/>
                <a:cs typeface="Noto Sans JP" pitchFamily="34" charset="-120"/>
              </a:rPr>
              <a:t> 重要ポイント </a:t>
            </a:r>
            <a:endParaRPr lang="en-US" sz="1300" dirty="0"/>
          </a:p>
        </p:txBody>
      </p:sp>
      <p:pic>
        <p:nvPicPr>
          <p:cNvPr id="14" name="Image 1" descr="preencoded.png">    </p:cNvPr>
          <p:cNvPicPr>
            <a:picLocks noChangeAspect="1"/>
          </p:cNvPicPr>
          <p:nvPr/>
        </p:nvPicPr>
        <p:blipFill>
          <a:blip r:embed="rId2"/>
          <a:srcRect l="0" r="0" t="0" b="0"/>
          <a:stretch/>
        </p:blipFill>
        <p:spPr>
          <a:xfrm>
            <a:off x="771754" y="4008730"/>
            <a:ext cx="171907" cy="171907"/>
          </a:xfrm>
          <a:prstGeom prst="rect">
            <a:avLst/>
          </a:prstGeom>
        </p:spPr>
      </p:pic>
      <p:sp>
        <p:nvSpPr>
          <p:cNvPr id="15" name="Text 11"/>
          <p:cNvSpPr txBox="1"/>
          <p:nvPr/>
        </p:nvSpPr>
        <p:spPr>
          <a:xfrm>
            <a:off x="961949" y="4337914"/>
            <a:ext cx="4914900" cy="457200"/>
          </a:xfrm>
          <a:prstGeom prst="rect">
            <a:avLst/>
          </a:prstGeom>
          <a:noFill/>
          <a:ln/>
        </p:spPr>
        <p:txBody>
          <a:bodyPr wrap="square" lIns="0" tIns="0" rIns="0" bIns="0" rtlCol="0" anchor="t"/>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依頼要件の明確化：</a:t>
            </a:r>
            <a:pPr algn="l" indent="0" marL="0">
              <a:buNone/>
            </a:pPr>
            <a:r>
              <a:rPr lang="en-US" sz="1100" dirty="0">
                <a:solidFill>
                  <a:srgbClr val="374151"/>
                </a:solidFill>
                <a:latin typeface="Noto Sans JP" pitchFamily="34" charset="0"/>
                <a:ea typeface="Noto Sans JP" pitchFamily="34" charset="-122"/>
                <a:cs typeface="Noto Sans JP" pitchFamily="34" charset="-120"/>
              </a:rPr>
              <a:t>「何を」「いつまでに」「どのような状態」にするか定義する</a:t>
            </a:r>
            <a:endParaRPr lang="en-US" sz="1100" dirty="0"/>
          </a:p>
        </p:txBody>
      </p:sp>
      <p:sp>
        <p:nvSpPr>
          <p:cNvPr id="16" name="Text 12"/>
          <p:cNvSpPr txBox="1"/>
          <p:nvPr/>
        </p:nvSpPr>
        <p:spPr>
          <a:xfrm>
            <a:off x="961949" y="4871009"/>
            <a:ext cx="4914900" cy="457200"/>
          </a:xfrm>
          <a:prstGeom prst="rect">
            <a:avLst/>
          </a:prstGeom>
          <a:noFill/>
          <a:ln/>
        </p:spPr>
        <p:txBody>
          <a:bodyPr wrap="square" lIns="0" tIns="0" rIns="0" bIns="0" rtlCol="0" anchor="t"/>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受託条件の合意：</a:t>
            </a:r>
            <a:pPr algn="l" indent="0" marL="0">
              <a:buNone/>
            </a:pPr>
            <a:r>
              <a:rPr lang="en-US" sz="1100" dirty="0">
                <a:solidFill>
                  <a:srgbClr val="374151"/>
                </a:solidFill>
                <a:latin typeface="Noto Sans JP" pitchFamily="34" charset="0"/>
                <a:ea typeface="Noto Sans JP" pitchFamily="34" charset="-122"/>
                <a:cs typeface="Noto Sans JP" pitchFamily="34" charset="-120"/>
              </a:rPr>
              <a:t>リソースや期限を確認し、できない約束はしない（交渉する）</a:t>
            </a:r>
            <a:endParaRPr lang="en-US" sz="1100" dirty="0"/>
          </a:p>
        </p:txBody>
      </p:sp>
      <p:sp>
        <p:nvSpPr>
          <p:cNvPr id="17" name="Text 13"/>
          <p:cNvSpPr txBox="1"/>
          <p:nvPr/>
        </p:nvSpPr>
        <p:spPr>
          <a:xfrm>
            <a:off x="961949" y="5404104"/>
            <a:ext cx="5029200" cy="228600"/>
          </a:xfrm>
          <a:prstGeom prst="rect">
            <a:avLst/>
          </a:prstGeom>
          <a:noFill/>
          <a:ln/>
        </p:spPr>
        <p:txBody>
          <a:bodyPr wrap="square" lIns="0" tIns="0" rIns="0" bIns="0" rtlCol="0" anchor="ctr"/>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完了基準の合意：</a:t>
            </a:r>
            <a:pPr algn="l" indent="0" marL="0">
              <a:buNone/>
            </a:pPr>
            <a:r>
              <a:rPr lang="en-US" sz="1100" dirty="0">
                <a:solidFill>
                  <a:srgbClr val="374151"/>
                </a:solidFill>
                <a:latin typeface="Noto Sans JP" pitchFamily="34" charset="0"/>
                <a:ea typeface="Noto Sans JP" pitchFamily="34" charset="-122"/>
                <a:cs typeface="Noto Sans JP" pitchFamily="34" charset="-120"/>
              </a:rPr>
              <a:t>何をもって「合格（検収）」とするかを事前に握る</a:t>
            </a:r>
            <a:endParaRPr lang="en-US" sz="1100" dirty="0"/>
          </a:p>
        </p:txBody>
      </p:sp>
      <p:sp>
        <p:nvSpPr>
          <p:cNvPr id="18" name="Shape 14"/>
          <p:cNvSpPr/>
          <p:nvPr/>
        </p:nvSpPr>
        <p:spPr>
          <a:xfrm>
            <a:off x="6191402" y="3766414"/>
            <a:ext cx="5429707" cy="2809951"/>
          </a:xfrm>
          <a:prstGeom prst="roundRect">
            <a:avLst>
              <a:gd name="adj" fmla="val 882"/>
            </a:avLst>
          </a:prstGeom>
          <a:solidFill>
            <a:srgbClr val="FFFFFF"/>
          </a:solidFill>
          <a:ln w="12700">
            <a:solidFill>
              <a:srgbClr val="E5E7EB"/>
            </a:solidFill>
            <a:prstDash val="solid"/>
          </a:ln>
        </p:spPr>
      </p:sp>
      <p:sp>
        <p:nvSpPr>
          <p:cNvPr id="19" name="Text 15"/>
          <p:cNvSpPr txBox="1"/>
          <p:nvPr/>
        </p:nvSpPr>
        <p:spPr>
          <a:xfrm>
            <a:off x="6658661" y="3966667"/>
            <a:ext cx="4953305" cy="257861"/>
          </a:xfrm>
          <a:prstGeom prst="rect">
            <a:avLst/>
          </a:prstGeom>
          <a:noFill/>
          <a:ln/>
        </p:spPr>
        <p:txBody>
          <a:bodyPr wrap="square" lIns="0" tIns="0" rIns="0" bIns="0" rtlCol="0" anchor="ctr"/>
          <a:lstStyle/>
          <a:p>
            <a:pPr algn="l" indent="0" marL="0">
              <a:buNone/>
            </a:pPr>
            <a:r>
              <a:rPr lang="en-US" sz="1300" b="1" dirty="0">
                <a:solidFill>
                  <a:srgbClr val="047857"/>
                </a:solidFill>
                <a:latin typeface="Noto Sans JP" pitchFamily="34" charset="0"/>
                <a:ea typeface="Noto Sans JP" pitchFamily="34" charset="-122"/>
                <a:cs typeface="Noto Sans JP" pitchFamily="34" charset="-120"/>
              </a:rPr>
              <a:t> 導入の効果 </a:t>
            </a:r>
            <a:endParaRPr lang="en-US" sz="1300" dirty="0"/>
          </a:p>
        </p:txBody>
      </p:sp>
      <p:pic>
        <p:nvPicPr>
          <p:cNvPr id="20" name="Image 2" descr="preencoded.png">    </p:cNvPr>
          <p:cNvPicPr>
            <a:picLocks noChangeAspect="1"/>
          </p:cNvPicPr>
          <p:nvPr/>
        </p:nvPicPr>
        <p:blipFill>
          <a:blip r:embed="rId3"/>
          <a:srcRect l="0" r="0" t="0" b="0"/>
          <a:stretch/>
        </p:blipFill>
        <p:spPr>
          <a:xfrm>
            <a:off x="6391656" y="4008730"/>
            <a:ext cx="171907" cy="171907"/>
          </a:xfrm>
          <a:prstGeom prst="rect">
            <a:avLst/>
          </a:prstGeom>
        </p:spPr>
      </p:pic>
      <p:sp>
        <p:nvSpPr>
          <p:cNvPr id="21" name="Text 16"/>
          <p:cNvSpPr txBox="1"/>
          <p:nvPr/>
        </p:nvSpPr>
        <p:spPr>
          <a:xfrm>
            <a:off x="6581851" y="4337914"/>
            <a:ext cx="5029200" cy="228600"/>
          </a:xfrm>
          <a:prstGeom prst="rect">
            <a:avLst/>
          </a:prstGeom>
          <a:noFill/>
          <a:ln/>
        </p:spPr>
        <p:txBody>
          <a:bodyPr wrap="square" lIns="0" tIns="0" rIns="0" bIns="0" rtlCol="0" anchor="ctr"/>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手戻りの激減：</a:t>
            </a:r>
            <a:pPr algn="l" indent="0" marL="0">
              <a:buNone/>
            </a:pPr>
            <a:r>
              <a:rPr lang="en-US" sz="1100" dirty="0">
                <a:solidFill>
                  <a:srgbClr val="374151"/>
                </a:solidFill>
                <a:latin typeface="Noto Sans JP" pitchFamily="34" charset="0"/>
                <a:ea typeface="Noto Sans JP" pitchFamily="34" charset="-122"/>
                <a:cs typeface="Noto Sans JP" pitchFamily="34" charset="-120"/>
              </a:rPr>
              <a:t>「思っていたのと違う」という認識齟齬がなくなる</a:t>
            </a:r>
            <a:endParaRPr lang="en-US" sz="1100" dirty="0"/>
          </a:p>
        </p:txBody>
      </p:sp>
      <p:sp>
        <p:nvSpPr>
          <p:cNvPr id="22" name="Text 17"/>
          <p:cNvSpPr txBox="1"/>
          <p:nvPr/>
        </p:nvSpPr>
        <p:spPr>
          <a:xfrm>
            <a:off x="6581851" y="4642409"/>
            <a:ext cx="5029200" cy="228600"/>
          </a:xfrm>
          <a:prstGeom prst="rect">
            <a:avLst/>
          </a:prstGeom>
          <a:noFill/>
          <a:ln/>
        </p:spPr>
        <p:txBody>
          <a:bodyPr wrap="square" lIns="0" tIns="0" rIns="0" bIns="0" rtlCol="0" anchor="ctr"/>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責任所在の明確化：</a:t>
            </a:r>
            <a:pPr algn="l" indent="0" marL="0">
              <a:buNone/>
            </a:pPr>
            <a:r>
              <a:rPr lang="en-US" sz="1100" dirty="0">
                <a:solidFill>
                  <a:srgbClr val="374151"/>
                </a:solidFill>
                <a:latin typeface="Noto Sans JP" pitchFamily="34" charset="0"/>
                <a:ea typeface="Noto Sans JP" pitchFamily="34" charset="-122"/>
                <a:cs typeface="Noto Sans JP" pitchFamily="34" charset="-120"/>
              </a:rPr>
              <a:t>「誰のボールか」が常に明確になり、放置がなくなる</a:t>
            </a:r>
            <a:endParaRPr lang="en-US" sz="1100" dirty="0"/>
          </a:p>
        </p:txBody>
      </p:sp>
      <p:sp>
        <p:nvSpPr>
          <p:cNvPr id="23" name="Text 18"/>
          <p:cNvSpPr txBox="1"/>
          <p:nvPr/>
        </p:nvSpPr>
        <p:spPr>
          <a:xfrm>
            <a:off x="6581851" y="4946904"/>
            <a:ext cx="4914900" cy="457200"/>
          </a:xfrm>
          <a:prstGeom prst="rect">
            <a:avLst/>
          </a:prstGeom>
          <a:noFill/>
          <a:ln/>
        </p:spPr>
        <p:txBody>
          <a:bodyPr wrap="square" lIns="0" tIns="0" rIns="0" bIns="0" rtlCol="0" anchor="t"/>
          <a:lstStyle/>
          <a:p>
            <a:pPr algn="l" indent="0" marL="0">
              <a:buNone/>
            </a:pPr>
            <a:r>
              <a:rPr lang="en-US" sz="1100" b="1" dirty="0">
                <a:solidFill>
                  <a:srgbClr val="374151"/>
                </a:solidFill>
                <a:latin typeface="Noto Sans JP" pitchFamily="34" charset="0"/>
                <a:ea typeface="Noto Sans JP" pitchFamily="34" charset="-122"/>
                <a:cs typeface="Noto Sans JP" pitchFamily="34" charset="-120"/>
              </a:rPr>
              <a:t>優先順位の正当化：</a:t>
            </a:r>
            <a:pPr algn="l" indent="0" marL="0">
              <a:buNone/>
            </a:pPr>
            <a:r>
              <a:rPr lang="en-US" sz="1100" dirty="0">
                <a:solidFill>
                  <a:srgbClr val="374151"/>
                </a:solidFill>
                <a:latin typeface="Noto Sans JP" pitchFamily="34" charset="0"/>
                <a:ea typeface="Noto Sans JP" pitchFamily="34" charset="-122"/>
                <a:cs typeface="Noto Sans JP" pitchFamily="34" charset="-120"/>
              </a:rPr>
              <a:t>正式なオーダー（約束）に基づき、堂々と優先順位を判断できる</a:t>
            </a:r>
            <a:endParaRPr lang="en-US" sz="1100" dirty="0"/>
          </a:p>
        </p:txBody>
      </p:sp>
      <p:pic>
        <p:nvPicPr>
          <p:cNvPr id="24" name="Image 3" descr="preencoded.png">    </p:cNvPr>
          <p:cNvPicPr>
            <a:picLocks noChangeAspect="1"/>
          </p:cNvPicPr>
          <p:nvPr/>
        </p:nvPicPr>
        <p:blipFill>
          <a:blip r:embed="rId4"/>
          <a:srcRect l="0" r="0" t="0" b="0"/>
          <a:stretch/>
        </p:blipFill>
        <p:spPr>
          <a:xfrm>
            <a:off x="952805" y="1895551"/>
            <a:ext cx="761695" cy="761695"/>
          </a:xfrm>
          <a:prstGeom prst="rect">
            <a:avLst/>
          </a:prstGeom>
        </p:spPr>
      </p:pic>
      <p:pic>
        <p:nvPicPr>
          <p:cNvPr id="25" name="Image 4" descr="preencoded.png">    </p:cNvPr>
          <p:cNvPicPr>
            <a:picLocks noChangeAspect="1"/>
          </p:cNvPicPr>
          <p:nvPr/>
        </p:nvPicPr>
        <p:blipFill>
          <a:blip r:embed="rId5"/>
          <a:srcRect l="0" r="0" t="0" b="0"/>
          <a:stretch/>
        </p:blipFill>
        <p:spPr>
          <a:xfrm>
            <a:off x="1181405" y="2124151"/>
            <a:ext cx="304495" cy="304495"/>
          </a:xfrm>
          <a:prstGeom prst="rect">
            <a:avLst/>
          </a:prstGeom>
        </p:spPr>
      </p:pic>
      <p:sp>
        <p:nvSpPr>
          <p:cNvPr id="26" name="Text 19"/>
          <p:cNvSpPr txBox="1"/>
          <p:nvPr/>
        </p:nvSpPr>
        <p:spPr>
          <a:xfrm>
            <a:off x="1012241" y="2800807"/>
            <a:ext cx="64648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1. 依頼</a:t>
            </a:r>
            <a:endParaRPr lang="en-US" sz="1300" dirty="0"/>
          </a:p>
        </p:txBody>
      </p:sp>
      <p:sp>
        <p:nvSpPr>
          <p:cNvPr id="27" name="Text 20"/>
          <p:cNvSpPr txBox="1"/>
          <p:nvPr/>
        </p:nvSpPr>
        <p:spPr>
          <a:xfrm>
            <a:off x="747979" y="3133649"/>
            <a:ext cx="1181405" cy="352958"/>
          </a:xfrm>
          <a:prstGeom prst="rect">
            <a:avLst/>
          </a:prstGeom>
          <a:noFill/>
          <a:ln/>
        </p:spPr>
        <p:txBody>
          <a:bodyPr wrap="square" lIns="0" tIns="0" rIns="0" bIns="0" rtlCol="0" anchor="t"/>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要件を明確にして</a:t>
            </a:r>
            <a:pPr algn="ctr" indent="0" marL="0">
              <a:buNone/>
            </a:pPr>
            <a:endParaRPr lang="en-US" sz="900" dirty="0"/>
          </a:p>
          <a:p>
            <a:pPr algn="ctr" indent="0" marL="0">
              <a:buNone/>
            </a:pPr>
            <a:r>
              <a:rPr lang="en-US" sz="900" dirty="0">
                <a:solidFill>
                  <a:srgbClr val="4B5563"/>
                </a:solidFill>
                <a:latin typeface="Noto Sans JP" pitchFamily="34" charset="0"/>
                <a:ea typeface="Noto Sans JP" pitchFamily="34" charset="-122"/>
                <a:cs typeface="Noto Sans JP" pitchFamily="34" charset="-120"/>
              </a:rPr>
              <a:t>業務をオーダーする</a:t>
            </a:r>
            <a:endParaRPr lang="en-US" sz="900" dirty="0"/>
          </a:p>
        </p:txBody>
      </p:sp>
      <p:pic>
        <p:nvPicPr>
          <p:cNvPr id="28" name="Image 5" descr="preencoded.png">    </p:cNvPr>
          <p:cNvPicPr>
            <a:picLocks noChangeAspect="1"/>
          </p:cNvPicPr>
          <p:nvPr/>
        </p:nvPicPr>
        <p:blipFill>
          <a:blip r:embed="rId6"/>
          <a:srcRect l="0" r="0" t="-80" b="-80"/>
          <a:stretch/>
        </p:blipFill>
        <p:spPr>
          <a:xfrm>
            <a:off x="2190902" y="2133295"/>
            <a:ext cx="142646" cy="228600"/>
          </a:xfrm>
          <a:prstGeom prst="rect">
            <a:avLst/>
          </a:prstGeom>
        </p:spPr>
      </p:pic>
      <p:pic>
        <p:nvPicPr>
          <p:cNvPr id="29" name="Image 6" descr="preencoded.png">    </p:cNvPr>
          <p:cNvPicPr>
            <a:picLocks noChangeAspect="1"/>
          </p:cNvPicPr>
          <p:nvPr/>
        </p:nvPicPr>
        <p:blipFill>
          <a:blip r:embed="rId7"/>
          <a:srcRect l="0" r="0" t="0" b="0"/>
          <a:stretch/>
        </p:blipFill>
        <p:spPr>
          <a:xfrm>
            <a:off x="3333902" y="1895551"/>
            <a:ext cx="761695" cy="761695"/>
          </a:xfrm>
          <a:prstGeom prst="rect">
            <a:avLst/>
          </a:prstGeom>
        </p:spPr>
      </p:pic>
      <p:pic>
        <p:nvPicPr>
          <p:cNvPr id="30" name="Image 7" descr="preencoded.png">    </p:cNvPr>
          <p:cNvPicPr>
            <a:picLocks noChangeAspect="1"/>
          </p:cNvPicPr>
          <p:nvPr/>
        </p:nvPicPr>
        <p:blipFill>
          <a:blip r:embed="rId8"/>
          <a:srcRect l="-90" r="-90" t="0" b="0"/>
          <a:stretch/>
        </p:blipFill>
        <p:spPr>
          <a:xfrm>
            <a:off x="3524098" y="2124151"/>
            <a:ext cx="381305" cy="304495"/>
          </a:xfrm>
          <a:prstGeom prst="rect">
            <a:avLst/>
          </a:prstGeom>
        </p:spPr>
      </p:pic>
      <p:sp>
        <p:nvSpPr>
          <p:cNvPr id="31" name="Text 21"/>
          <p:cNvSpPr txBox="1"/>
          <p:nvPr/>
        </p:nvSpPr>
        <p:spPr>
          <a:xfrm>
            <a:off x="3393338" y="2800807"/>
            <a:ext cx="64648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2. 約束</a:t>
            </a:r>
            <a:endParaRPr lang="en-US" sz="1300" dirty="0"/>
          </a:p>
        </p:txBody>
      </p:sp>
      <p:sp>
        <p:nvSpPr>
          <p:cNvPr id="32" name="Text 22"/>
          <p:cNvSpPr txBox="1"/>
          <p:nvPr/>
        </p:nvSpPr>
        <p:spPr>
          <a:xfrm>
            <a:off x="3066898" y="3133649"/>
            <a:ext cx="1305763" cy="352958"/>
          </a:xfrm>
          <a:prstGeom prst="rect">
            <a:avLst/>
          </a:prstGeom>
          <a:noFill/>
          <a:ln/>
        </p:spPr>
        <p:txBody>
          <a:bodyPr wrap="square" lIns="0" tIns="0" rIns="0" bIns="0" rtlCol="0" anchor="t"/>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受託条件を確認し</a:t>
            </a:r>
            <a:pPr algn="ctr" indent="0" marL="0">
              <a:buNone/>
            </a:pPr>
            <a:endParaRPr lang="en-US" sz="900" dirty="0"/>
          </a:p>
          <a:p>
            <a:pPr algn="ctr" indent="0" marL="0">
              <a:buNone/>
            </a:pPr>
            <a:r>
              <a:rPr lang="en-US" sz="900" dirty="0">
                <a:solidFill>
                  <a:srgbClr val="4B5563"/>
                </a:solidFill>
                <a:latin typeface="Noto Sans JP" pitchFamily="34" charset="0"/>
                <a:ea typeface="Noto Sans JP" pitchFamily="34" charset="-122"/>
                <a:cs typeface="Noto Sans JP" pitchFamily="34" charset="-120"/>
              </a:rPr>
              <a:t>合意（コミット）する</a:t>
            </a:r>
            <a:endParaRPr lang="en-US" sz="900" dirty="0"/>
          </a:p>
        </p:txBody>
      </p:sp>
      <p:pic>
        <p:nvPicPr>
          <p:cNvPr id="33" name="Image 8" descr="preencoded.png">    </p:cNvPr>
          <p:cNvPicPr>
            <a:picLocks noChangeAspect="1"/>
          </p:cNvPicPr>
          <p:nvPr/>
        </p:nvPicPr>
        <p:blipFill>
          <a:blip r:embed="rId9"/>
          <a:srcRect l="0" r="0" t="-80" b="-80"/>
          <a:stretch/>
        </p:blipFill>
        <p:spPr>
          <a:xfrm>
            <a:off x="4572000" y="2133295"/>
            <a:ext cx="142646" cy="228600"/>
          </a:xfrm>
          <a:prstGeom prst="rect">
            <a:avLst/>
          </a:prstGeom>
        </p:spPr>
      </p:pic>
      <p:pic>
        <p:nvPicPr>
          <p:cNvPr id="34" name="Image 9" descr="preencoded.png">    </p:cNvPr>
          <p:cNvPicPr>
            <a:picLocks noChangeAspect="1"/>
          </p:cNvPicPr>
          <p:nvPr/>
        </p:nvPicPr>
        <p:blipFill>
          <a:blip r:embed="rId10"/>
          <a:srcRect l="0" r="0" t="0" b="0"/>
          <a:stretch/>
        </p:blipFill>
        <p:spPr>
          <a:xfrm>
            <a:off x="5715000" y="1895551"/>
            <a:ext cx="761695" cy="761695"/>
          </a:xfrm>
          <a:prstGeom prst="rect">
            <a:avLst/>
          </a:prstGeom>
        </p:spPr>
      </p:pic>
      <p:pic>
        <p:nvPicPr>
          <p:cNvPr id="35" name="Image 10" descr="preencoded.png">    </p:cNvPr>
          <p:cNvPicPr>
            <a:picLocks noChangeAspect="1"/>
          </p:cNvPicPr>
          <p:nvPr/>
        </p:nvPicPr>
        <p:blipFill>
          <a:blip r:embed="rId11"/>
          <a:srcRect l="0" r="0" t="0" b="0"/>
          <a:stretch/>
        </p:blipFill>
        <p:spPr>
          <a:xfrm>
            <a:off x="5943600" y="2124151"/>
            <a:ext cx="304495" cy="304495"/>
          </a:xfrm>
          <a:prstGeom prst="rect">
            <a:avLst/>
          </a:prstGeom>
        </p:spPr>
      </p:pic>
      <p:sp>
        <p:nvSpPr>
          <p:cNvPr id="36" name="Text 23"/>
          <p:cNvSpPr txBox="1"/>
          <p:nvPr/>
        </p:nvSpPr>
        <p:spPr>
          <a:xfrm>
            <a:off x="5775350" y="2800807"/>
            <a:ext cx="64648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3. 実行</a:t>
            </a:r>
            <a:endParaRPr lang="en-US" sz="1300" dirty="0"/>
          </a:p>
        </p:txBody>
      </p:sp>
      <p:sp>
        <p:nvSpPr>
          <p:cNvPr id="37" name="Text 24"/>
          <p:cNvSpPr txBox="1"/>
          <p:nvPr/>
        </p:nvSpPr>
        <p:spPr>
          <a:xfrm>
            <a:off x="5572354" y="3133649"/>
            <a:ext cx="1057961" cy="352958"/>
          </a:xfrm>
          <a:prstGeom prst="rect">
            <a:avLst/>
          </a:prstGeom>
          <a:noFill/>
          <a:ln/>
        </p:spPr>
        <p:txBody>
          <a:bodyPr wrap="square" lIns="0" tIns="0" rIns="0" bIns="0" rtlCol="0" anchor="t"/>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依頼内容に基づき</a:t>
            </a:r>
            <a:pPr algn="ctr" indent="0" marL="0">
              <a:buNone/>
            </a:pPr>
            <a:endParaRPr lang="en-US" sz="900" dirty="0"/>
          </a:p>
          <a:p>
            <a:pPr algn="ctr" indent="0" marL="0">
              <a:buNone/>
            </a:pPr>
            <a:r>
              <a:rPr lang="en-US" sz="900" dirty="0">
                <a:solidFill>
                  <a:srgbClr val="4B5563"/>
                </a:solidFill>
                <a:latin typeface="Noto Sans JP" pitchFamily="34" charset="0"/>
                <a:ea typeface="Noto Sans JP" pitchFamily="34" charset="-122"/>
                <a:cs typeface="Noto Sans JP" pitchFamily="34" charset="-120"/>
              </a:rPr>
              <a:t>業務を遂行する</a:t>
            </a:r>
            <a:endParaRPr lang="en-US" sz="900" dirty="0"/>
          </a:p>
        </p:txBody>
      </p:sp>
      <p:pic>
        <p:nvPicPr>
          <p:cNvPr id="38" name="Image 11" descr="preencoded.png">    </p:cNvPr>
          <p:cNvPicPr>
            <a:picLocks noChangeAspect="1"/>
          </p:cNvPicPr>
          <p:nvPr/>
        </p:nvPicPr>
        <p:blipFill>
          <a:blip r:embed="rId12"/>
          <a:srcRect l="0" r="0" t="-80" b="-80"/>
          <a:stretch/>
        </p:blipFill>
        <p:spPr>
          <a:xfrm>
            <a:off x="6953098" y="2133295"/>
            <a:ext cx="142646" cy="228600"/>
          </a:xfrm>
          <a:prstGeom prst="rect">
            <a:avLst/>
          </a:prstGeom>
        </p:spPr>
      </p:pic>
      <p:pic>
        <p:nvPicPr>
          <p:cNvPr id="39" name="Image 12" descr="preencoded.png">    </p:cNvPr>
          <p:cNvPicPr>
            <a:picLocks noChangeAspect="1"/>
          </p:cNvPicPr>
          <p:nvPr/>
        </p:nvPicPr>
        <p:blipFill>
          <a:blip r:embed="rId13"/>
          <a:srcRect l="0" r="0" t="0" b="0"/>
          <a:stretch/>
        </p:blipFill>
        <p:spPr>
          <a:xfrm>
            <a:off x="8096098" y="1895551"/>
            <a:ext cx="761695" cy="761695"/>
          </a:xfrm>
          <a:prstGeom prst="rect">
            <a:avLst/>
          </a:prstGeom>
        </p:spPr>
      </p:pic>
      <p:pic>
        <p:nvPicPr>
          <p:cNvPr id="40" name="Image 13" descr="preencoded.png">    </p:cNvPr>
          <p:cNvPicPr>
            <a:picLocks noChangeAspect="1"/>
          </p:cNvPicPr>
          <p:nvPr/>
        </p:nvPicPr>
        <p:blipFill>
          <a:blip r:embed="rId14"/>
          <a:srcRect l="-50" r="-50" t="0" b="0"/>
          <a:stretch/>
        </p:blipFill>
        <p:spPr>
          <a:xfrm>
            <a:off x="8363102" y="2124151"/>
            <a:ext cx="228600" cy="304495"/>
          </a:xfrm>
          <a:prstGeom prst="rect">
            <a:avLst/>
          </a:prstGeom>
        </p:spPr>
      </p:pic>
      <p:sp>
        <p:nvSpPr>
          <p:cNvPr id="41" name="Text 25"/>
          <p:cNvSpPr txBox="1"/>
          <p:nvPr/>
        </p:nvSpPr>
        <p:spPr>
          <a:xfrm>
            <a:off x="8156448" y="2800807"/>
            <a:ext cx="64648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4. 報告</a:t>
            </a:r>
            <a:endParaRPr lang="en-US" sz="1300" dirty="0"/>
          </a:p>
        </p:txBody>
      </p:sp>
      <p:sp>
        <p:nvSpPr>
          <p:cNvPr id="42" name="Text 26"/>
          <p:cNvSpPr txBox="1"/>
          <p:nvPr/>
        </p:nvSpPr>
        <p:spPr>
          <a:xfrm>
            <a:off x="8014716" y="3133649"/>
            <a:ext cx="933602" cy="352958"/>
          </a:xfrm>
          <a:prstGeom prst="rect">
            <a:avLst/>
          </a:prstGeom>
          <a:noFill/>
          <a:ln/>
        </p:spPr>
        <p:txBody>
          <a:bodyPr wrap="square" lIns="0" tIns="0" rIns="0" bIns="0" rtlCol="0" anchor="t"/>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完了結果を</a:t>
            </a:r>
            <a:pPr algn="ctr" indent="0" marL="0">
              <a:buNone/>
            </a:pPr>
            <a:endParaRPr lang="en-US" sz="900" dirty="0"/>
          </a:p>
          <a:p>
            <a:pPr algn="ctr" indent="0" marL="0">
              <a:buNone/>
            </a:pPr>
            <a:r>
              <a:rPr lang="en-US" sz="900" dirty="0">
                <a:solidFill>
                  <a:srgbClr val="4B5563"/>
                </a:solidFill>
                <a:latin typeface="Noto Sans JP" pitchFamily="34" charset="0"/>
                <a:ea typeface="Noto Sans JP" pitchFamily="34" charset="-122"/>
                <a:cs typeface="Noto Sans JP" pitchFamily="34" charset="-120"/>
              </a:rPr>
              <a:t>提出・通知する</a:t>
            </a:r>
            <a:endParaRPr lang="en-US" sz="900" dirty="0"/>
          </a:p>
        </p:txBody>
      </p:sp>
      <p:pic>
        <p:nvPicPr>
          <p:cNvPr id="43" name="Image 14" descr="preencoded.png">    </p:cNvPr>
          <p:cNvPicPr>
            <a:picLocks noChangeAspect="1"/>
          </p:cNvPicPr>
          <p:nvPr/>
        </p:nvPicPr>
        <p:blipFill>
          <a:blip r:embed="rId15"/>
          <a:srcRect l="0" r="0" t="-80" b="-80"/>
          <a:stretch/>
        </p:blipFill>
        <p:spPr>
          <a:xfrm>
            <a:off x="9334195" y="2133295"/>
            <a:ext cx="142646" cy="228600"/>
          </a:xfrm>
          <a:prstGeom prst="rect">
            <a:avLst/>
          </a:prstGeom>
        </p:spPr>
      </p:pic>
      <p:pic>
        <p:nvPicPr>
          <p:cNvPr id="44" name="Image 15" descr="preencoded.png">    </p:cNvPr>
          <p:cNvPicPr>
            <a:picLocks noChangeAspect="1"/>
          </p:cNvPicPr>
          <p:nvPr/>
        </p:nvPicPr>
        <p:blipFill>
          <a:blip r:embed="rId16"/>
          <a:srcRect l="0" r="0" t="0" b="0"/>
          <a:stretch/>
        </p:blipFill>
        <p:spPr>
          <a:xfrm>
            <a:off x="10477195" y="1895551"/>
            <a:ext cx="761695" cy="761695"/>
          </a:xfrm>
          <a:prstGeom prst="rect">
            <a:avLst/>
          </a:prstGeom>
        </p:spPr>
      </p:pic>
      <p:pic>
        <p:nvPicPr>
          <p:cNvPr id="45" name="Image 16" descr="preencoded.png">    </p:cNvPr>
          <p:cNvPicPr>
            <a:picLocks noChangeAspect="1"/>
          </p:cNvPicPr>
          <p:nvPr/>
        </p:nvPicPr>
        <p:blipFill>
          <a:blip r:embed="rId17"/>
          <a:srcRect l="-107" r="-107" t="0" b="0"/>
          <a:stretch/>
        </p:blipFill>
        <p:spPr>
          <a:xfrm>
            <a:off x="10724998" y="2124151"/>
            <a:ext cx="267005" cy="304495"/>
          </a:xfrm>
          <a:prstGeom prst="rect">
            <a:avLst/>
          </a:prstGeom>
        </p:spPr>
      </p:pic>
      <p:sp>
        <p:nvSpPr>
          <p:cNvPr id="46" name="Text 27"/>
          <p:cNvSpPr txBox="1"/>
          <p:nvPr/>
        </p:nvSpPr>
        <p:spPr>
          <a:xfrm>
            <a:off x="10537546" y="2800807"/>
            <a:ext cx="646481"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5. 検収</a:t>
            </a:r>
            <a:endParaRPr lang="en-US" sz="1300" dirty="0"/>
          </a:p>
        </p:txBody>
      </p:sp>
      <p:sp>
        <p:nvSpPr>
          <p:cNvPr id="47" name="Text 28"/>
          <p:cNvSpPr txBox="1"/>
          <p:nvPr/>
        </p:nvSpPr>
        <p:spPr>
          <a:xfrm>
            <a:off x="10457993" y="3133649"/>
            <a:ext cx="810158" cy="352958"/>
          </a:xfrm>
          <a:prstGeom prst="rect">
            <a:avLst/>
          </a:prstGeom>
          <a:noFill/>
          <a:ln/>
        </p:spPr>
        <p:txBody>
          <a:bodyPr wrap="square" lIns="0" tIns="0" rIns="0" bIns="0" rtlCol="0" anchor="t"/>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結果を確認し</a:t>
            </a:r>
            <a:pPr algn="ctr" indent="0" marL="0">
              <a:buNone/>
            </a:pPr>
            <a:endParaRPr lang="en-US" sz="900" dirty="0"/>
          </a:p>
          <a:p>
            <a:pPr algn="ctr" indent="0" marL="0">
              <a:buNone/>
            </a:pPr>
            <a:r>
              <a:rPr lang="en-US" sz="900" dirty="0">
                <a:solidFill>
                  <a:srgbClr val="4B5563"/>
                </a:solidFill>
                <a:latin typeface="Noto Sans JP" pitchFamily="34" charset="0"/>
                <a:ea typeface="Noto Sans JP" pitchFamily="34" charset="-122"/>
                <a:cs typeface="Noto Sans JP" pitchFamily="34" charset="-120"/>
              </a:rPr>
              <a:t>完了承認する</a:t>
            </a:r>
            <a:endParaRPr lang="en-US" sz="900" dirty="0"/>
          </a:p>
        </p:txBody>
      </p:sp>
      <p:sp>
        <p:nvSpPr>
          <p:cNvPr id="48" name="Shape 29"/>
          <p:cNvSpPr/>
          <p:nvPr/>
        </p:nvSpPr>
        <p:spPr>
          <a:xfrm>
            <a:off x="0" y="0"/>
            <a:ext cx="12191695" cy="952805"/>
          </a:xfrm>
          <a:prstGeom prst="rect">
            <a:avLst/>
          </a:prstGeom>
          <a:solidFill>
            <a:srgbClr val="FFFFFF"/>
          </a:solidFill>
          <a:ln/>
        </p:spPr>
      </p:sp>
      <p:sp>
        <p:nvSpPr>
          <p:cNvPr id="49" name="Shape 30"/>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50" name="Shape 31"/>
          <p:cNvSpPr/>
          <p:nvPr/>
        </p:nvSpPr>
        <p:spPr>
          <a:xfrm>
            <a:off x="571500" y="333756"/>
            <a:ext cx="2210105" cy="362102"/>
          </a:xfrm>
          <a:prstGeom prst="roundRect">
            <a:avLst>
              <a:gd name="adj" fmla="val 26582"/>
            </a:avLst>
          </a:prstGeom>
          <a:solidFill>
            <a:srgbClr val="3B82F6"/>
          </a:solidFill>
          <a:ln w="12700">
            <a:solidFill>
              <a:srgbClr val="FFFFFF">
                <a:alpha val="0"/>
              </a:srgbClr>
            </a:solidFill>
            <a:prstDash val="solid"/>
          </a:ln>
        </p:spPr>
      </p:sp>
      <p:sp>
        <p:nvSpPr>
          <p:cNvPr id="51" name="Text 32"/>
          <p:cNvSpPr txBox="1"/>
          <p:nvPr/>
        </p:nvSpPr>
        <p:spPr>
          <a:xfrm>
            <a:off x="571500" y="333756"/>
            <a:ext cx="2386584"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業務委託の基本モデル</a:t>
            </a:r>
            <a:endParaRPr lang="en-US" sz="1500" dirty="0"/>
          </a:p>
        </p:txBody>
      </p:sp>
      <p:sp>
        <p:nvSpPr>
          <p:cNvPr id="52" name="Text 33"/>
          <p:cNvSpPr txBox="1"/>
          <p:nvPr/>
        </p:nvSpPr>
        <p:spPr>
          <a:xfrm>
            <a:off x="2971800" y="286207"/>
            <a:ext cx="4423867"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Customer-Performerの原則</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6391656"/>
          </a:xfrm>
          <a:prstGeom prst="rect">
            <a:avLst/>
          </a:prstGeom>
          <a:solidFill>
            <a:srgbClr val="F9FAFB"/>
          </a:solidFill>
          <a:ln w="12700">
            <a:solidFill>
              <a:srgbClr val="FFFFFF">
                <a:alpha val="0"/>
              </a:srgbClr>
            </a:solidFill>
            <a:prstDash val="solid"/>
          </a:ln>
        </p:spPr>
      </p:sp>
      <p:sp>
        <p:nvSpPr>
          <p:cNvPr id="5" name="Shape 3"/>
          <p:cNvSpPr/>
          <p:nvPr/>
        </p:nvSpPr>
        <p:spPr>
          <a:xfrm>
            <a:off x="571500" y="1333195"/>
            <a:ext cx="6953098" cy="1505102"/>
          </a:xfrm>
          <a:prstGeom prst="roundRect">
            <a:avLst>
              <a:gd name="adj" fmla="val 4614"/>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7607" cy="1505102"/>
          </a:xfrm>
          <a:prstGeom prst="roundRect">
            <a:avLst>
              <a:gd name="adj" fmla="val 120555"/>
            </a:avLst>
          </a:prstGeom>
          <a:solidFill>
            <a:srgbClr val="3B82F6"/>
          </a:solidFill>
          <a:ln w="12700">
            <a:solidFill>
              <a:srgbClr val="3B82F6">
                <a:alpha val="0"/>
              </a:srgbClr>
            </a:solidFill>
            <a:prstDash val="solid"/>
          </a:ln>
        </p:spPr>
      </p:sp>
      <p:sp>
        <p:nvSpPr>
          <p:cNvPr id="7" name="Shape 5"/>
          <p:cNvSpPr/>
          <p:nvPr/>
        </p:nvSpPr>
        <p:spPr>
          <a:xfrm>
            <a:off x="933602" y="1561795"/>
            <a:ext cx="381305" cy="381305"/>
          </a:xfrm>
          <a:prstGeom prst="ellipse">
            <a:avLst/>
          </a:prstGeom>
          <a:solidFill>
            <a:srgbClr val="DBEAFE"/>
          </a:solidFill>
          <a:ln w="12700">
            <a:solidFill>
              <a:srgbClr val="FFFFFF">
                <a:alpha val="0"/>
              </a:srgbClr>
            </a:solidFill>
            <a:prstDash val="solid"/>
          </a:ln>
        </p:spPr>
      </p:sp>
      <p:pic>
        <p:nvPicPr>
          <p:cNvPr id="8" name="Image 0" descr="preencoded.png">    </p:cNvPr>
          <p:cNvPicPr>
            <a:picLocks noChangeAspect="1"/>
          </p:cNvPicPr>
          <p:nvPr/>
        </p:nvPicPr>
        <p:blipFill>
          <a:blip r:embed="rId1"/>
          <a:srcRect l="-80" r="-80" t="0" b="0"/>
          <a:stretch/>
        </p:blipFill>
        <p:spPr>
          <a:xfrm>
            <a:off x="981151" y="1638605"/>
            <a:ext cx="286207" cy="228600"/>
          </a:xfrm>
          <a:prstGeom prst="rect">
            <a:avLst/>
          </a:prstGeom>
        </p:spPr>
      </p:pic>
      <p:sp>
        <p:nvSpPr>
          <p:cNvPr id="9" name="Text 6"/>
          <p:cNvSpPr txBox="1"/>
          <p:nvPr/>
        </p:nvSpPr>
        <p:spPr>
          <a:xfrm>
            <a:off x="1466698" y="1595628"/>
            <a:ext cx="924458"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基本原則</a:t>
            </a:r>
            <a:endParaRPr lang="en-US" sz="1600" dirty="0"/>
          </a:p>
        </p:txBody>
      </p:sp>
      <p:sp>
        <p:nvSpPr>
          <p:cNvPr id="10" name="Text 7"/>
          <p:cNvSpPr txBox="1"/>
          <p:nvPr/>
        </p:nvSpPr>
        <p:spPr>
          <a:xfrm>
            <a:off x="933602" y="2057400"/>
            <a:ext cx="6363310" cy="553212"/>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業務は連鎖しており、</a:t>
            </a:r>
            <a:pPr algn="l" indent="0" marL="0">
              <a:buNone/>
            </a:pPr>
            <a:r>
              <a:rPr lang="en-US" sz="1300" b="1" dirty="0">
                <a:solidFill>
                  <a:srgbClr val="111827"/>
                </a:solidFill>
                <a:latin typeface="Noto Sans JP" pitchFamily="34" charset="0"/>
                <a:ea typeface="Noto Sans JP" pitchFamily="34" charset="-122"/>
                <a:cs typeface="Noto Sans JP" pitchFamily="34" charset="-120"/>
              </a:rPr>
              <a:t>「前の人の出力」が「自分の入力」となり、「自分の出力」が「次の人の入力」</a:t>
            </a:r>
            <a:pPr algn="l" indent="0" marL="0">
              <a:buNone/>
            </a:pPr>
            <a:r>
              <a:rPr lang="en-US" sz="1300" dirty="0">
                <a:solidFill>
                  <a:srgbClr val="4B5563"/>
                </a:solidFill>
                <a:latin typeface="Noto Sans JP" pitchFamily="34" charset="0"/>
                <a:ea typeface="Noto Sans JP" pitchFamily="34" charset="-122"/>
                <a:cs typeface="Noto Sans JP" pitchFamily="34" charset="-120"/>
              </a:rPr>
              <a:t>となります。 </a:t>
            </a:r>
            <a:endParaRPr lang="en-US" sz="1300" dirty="0"/>
          </a:p>
        </p:txBody>
      </p:sp>
      <p:sp>
        <p:nvSpPr>
          <p:cNvPr id="11" name="Shape 8"/>
          <p:cNvSpPr/>
          <p:nvPr/>
        </p:nvSpPr>
        <p:spPr>
          <a:xfrm>
            <a:off x="571500" y="3119933"/>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2" name="Shape 9"/>
          <p:cNvSpPr/>
          <p:nvPr/>
        </p:nvSpPr>
        <p:spPr>
          <a:xfrm>
            <a:off x="571500" y="3119933"/>
            <a:ext cx="57607" cy="1781251"/>
          </a:xfrm>
          <a:prstGeom prst="roundRect">
            <a:avLst>
              <a:gd name="adj" fmla="val 101859"/>
            </a:avLst>
          </a:prstGeom>
          <a:solidFill>
            <a:srgbClr val="EF4444"/>
          </a:solidFill>
          <a:ln w="12700">
            <a:solidFill>
              <a:srgbClr val="EF4444">
                <a:alpha val="0"/>
              </a:srgbClr>
            </a:solidFill>
            <a:prstDash val="solid"/>
          </a:ln>
        </p:spPr>
      </p:sp>
      <p:sp>
        <p:nvSpPr>
          <p:cNvPr id="13" name="Shape 10"/>
          <p:cNvSpPr/>
          <p:nvPr/>
        </p:nvSpPr>
        <p:spPr>
          <a:xfrm>
            <a:off x="933602" y="3348533"/>
            <a:ext cx="381305" cy="381305"/>
          </a:xfrm>
          <a:prstGeom prst="ellipse">
            <a:avLst/>
          </a:prstGeom>
          <a:solidFill>
            <a:srgbClr val="FEE2E2"/>
          </a:solidFill>
          <a:ln w="12700">
            <a:solidFill>
              <a:srgbClr val="FFFFFF">
                <a:alpha val="0"/>
              </a:srgbClr>
            </a:solidFill>
            <a:prstDash val="solid"/>
          </a:ln>
        </p:spPr>
      </p:sp>
      <p:pic>
        <p:nvPicPr>
          <p:cNvPr id="14" name="Image 1" descr="preencoded.png">    </p:cNvPr>
          <p:cNvPicPr>
            <a:picLocks noChangeAspect="1"/>
          </p:cNvPicPr>
          <p:nvPr/>
        </p:nvPicPr>
        <p:blipFill>
          <a:blip r:embed="rId2"/>
          <a:srcRect l="-80" r="-80" t="0" b="0"/>
          <a:stretch/>
        </p:blipFill>
        <p:spPr>
          <a:xfrm>
            <a:off x="981151" y="3425342"/>
            <a:ext cx="286207" cy="228600"/>
          </a:xfrm>
          <a:prstGeom prst="rect">
            <a:avLst/>
          </a:prstGeom>
        </p:spPr>
      </p:pic>
      <p:sp>
        <p:nvSpPr>
          <p:cNvPr id="15" name="Text 11"/>
          <p:cNvSpPr txBox="1"/>
          <p:nvPr/>
        </p:nvSpPr>
        <p:spPr>
          <a:xfrm>
            <a:off x="1466698" y="3382366"/>
            <a:ext cx="1142086"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現状の課題</a:t>
            </a:r>
            <a:endParaRPr lang="en-US" sz="1600" dirty="0"/>
          </a:p>
        </p:txBody>
      </p:sp>
      <p:sp>
        <p:nvSpPr>
          <p:cNvPr id="16" name="Text 12"/>
          <p:cNvSpPr txBox="1"/>
          <p:nvPr/>
        </p:nvSpPr>
        <p:spPr>
          <a:xfrm>
            <a:off x="933602" y="3844138"/>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実際には、他者の状況は見えません。自分の仕事が全体にどう影響するか分からず、部分最適に陥りがちです。見えないことで連携が破綻しやすくなります。</a:t>
            </a:r>
            <a:endParaRPr lang="en-US" sz="1300" dirty="0"/>
          </a:p>
        </p:txBody>
      </p:sp>
      <p:sp>
        <p:nvSpPr>
          <p:cNvPr id="17" name="Shape 13"/>
          <p:cNvSpPr/>
          <p:nvPr/>
        </p:nvSpPr>
        <p:spPr>
          <a:xfrm>
            <a:off x="571500" y="5181905"/>
            <a:ext cx="6953098" cy="1781251"/>
          </a:xfrm>
          <a:prstGeom prst="roundRect">
            <a:avLst>
              <a:gd name="adj" fmla="val 3294"/>
            </a:avLst>
          </a:prstGeom>
          <a:solidFill>
            <a:srgbClr val="FFFFFF"/>
          </a:solidFill>
          <a:ln/>
          <a:effectLst>
            <a:outerShdw sx="100000" sy="100000" kx="0" ky="0" algn="bl" rotWithShape="0" blurRad="63500" dist="38100" dir="16200000">
              <a:srgbClr val="000000">
                <a:alpha val="5000"/>
              </a:srgbClr>
            </a:outerShdw>
          </a:effectLst>
        </p:spPr>
      </p:sp>
      <p:sp>
        <p:nvSpPr>
          <p:cNvPr id="18" name="Shape 14"/>
          <p:cNvSpPr/>
          <p:nvPr/>
        </p:nvSpPr>
        <p:spPr>
          <a:xfrm>
            <a:off x="571500" y="5181905"/>
            <a:ext cx="57607" cy="1781251"/>
          </a:xfrm>
          <a:prstGeom prst="roundRect">
            <a:avLst>
              <a:gd name="adj" fmla="val 101859"/>
            </a:avLst>
          </a:prstGeom>
          <a:solidFill>
            <a:srgbClr val="10B981"/>
          </a:solidFill>
          <a:ln w="12700">
            <a:solidFill>
              <a:srgbClr val="10B981">
                <a:alpha val="0"/>
              </a:srgbClr>
            </a:solidFill>
            <a:prstDash val="solid"/>
          </a:ln>
        </p:spPr>
      </p:sp>
      <p:sp>
        <p:nvSpPr>
          <p:cNvPr id="19" name="Shape 15"/>
          <p:cNvSpPr/>
          <p:nvPr/>
        </p:nvSpPr>
        <p:spPr>
          <a:xfrm>
            <a:off x="933602" y="5410505"/>
            <a:ext cx="381305" cy="381305"/>
          </a:xfrm>
          <a:prstGeom prst="ellipse">
            <a:avLst/>
          </a:prstGeom>
          <a:solidFill>
            <a:srgbClr val="D1FAE5"/>
          </a:solidFill>
          <a:ln w="12700">
            <a:solidFill>
              <a:srgbClr val="FFFFFF">
                <a:alpha val="0"/>
              </a:srgbClr>
            </a:solidFill>
            <a:prstDash val="solid"/>
          </a:ln>
        </p:spPr>
      </p:sp>
      <p:pic>
        <p:nvPicPr>
          <p:cNvPr id="20" name="Image 2" descr="preencoded.png">    </p:cNvPr>
          <p:cNvPicPr>
            <a:picLocks noChangeAspect="1"/>
          </p:cNvPicPr>
          <p:nvPr/>
        </p:nvPicPr>
        <p:blipFill>
          <a:blip r:embed="rId3"/>
          <a:srcRect l="0" r="0" t="0" b="0"/>
          <a:stretch/>
        </p:blipFill>
        <p:spPr>
          <a:xfrm>
            <a:off x="1009498" y="5486400"/>
            <a:ext cx="228600" cy="228600"/>
          </a:xfrm>
          <a:prstGeom prst="rect">
            <a:avLst/>
          </a:prstGeom>
        </p:spPr>
      </p:pic>
      <p:sp>
        <p:nvSpPr>
          <p:cNvPr id="21" name="Text 16"/>
          <p:cNvSpPr txBox="1"/>
          <p:nvPr/>
        </p:nvSpPr>
        <p:spPr>
          <a:xfrm>
            <a:off x="1466698" y="5443423"/>
            <a:ext cx="1368857"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解決策と効果</a:t>
            </a:r>
            <a:endParaRPr lang="en-US" sz="1600" dirty="0"/>
          </a:p>
        </p:txBody>
      </p:sp>
      <p:sp>
        <p:nvSpPr>
          <p:cNvPr id="22" name="Text 17"/>
          <p:cNvSpPr txBox="1"/>
          <p:nvPr/>
        </p:nvSpPr>
        <p:spPr>
          <a:xfrm>
            <a:off x="933602" y="5905195"/>
            <a:ext cx="6363310" cy="829361"/>
          </a:xfrm>
          <a:prstGeom prst="rect">
            <a:avLst/>
          </a:prstGeom>
          <a:noFill/>
          <a:ln/>
        </p:spPr>
        <p:txBody>
          <a:bodyPr wrap="square" lIns="0" tIns="0" rIns="0" bIns="0" rtlCol="0" anchor="t"/>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 「仕組みを信頼して仕事が進む（オーケストレーション）」設計にします。つながることで</a:t>
            </a:r>
            <a:pPr algn="l" indent="0" marL="0">
              <a:buNone/>
            </a:pPr>
            <a:r>
              <a:rPr lang="en-US" sz="1300" b="1" dirty="0">
                <a:solidFill>
                  <a:srgbClr val="111827"/>
                </a:solidFill>
                <a:latin typeface="Noto Sans JP" pitchFamily="34" charset="0"/>
                <a:ea typeface="Noto Sans JP" pitchFamily="34" charset="-122"/>
                <a:cs typeface="Noto Sans JP" pitchFamily="34" charset="-120"/>
              </a:rPr>
              <a:t>全体でPDCAが効き、継続的な改善が回る</a:t>
            </a:r>
            <a:pPr algn="l" indent="0" marL="0">
              <a:buNone/>
            </a:pPr>
            <a:r>
              <a:rPr lang="en-US" sz="1300" dirty="0">
                <a:solidFill>
                  <a:srgbClr val="4B5563"/>
                </a:solidFill>
                <a:latin typeface="Noto Sans JP" pitchFamily="34" charset="0"/>
                <a:ea typeface="Noto Sans JP" pitchFamily="34" charset="-122"/>
                <a:cs typeface="Noto Sans JP" pitchFamily="34" charset="-120"/>
              </a:rPr>
              <a:t>ようになります。 </a:t>
            </a:r>
            <a:endParaRPr lang="en-US" sz="1300" dirty="0"/>
          </a:p>
        </p:txBody>
      </p:sp>
      <p:pic>
        <p:nvPicPr>
          <p:cNvPr id="23" name="Image 3" descr="preencoded.png">    </p:cNvPr>
          <p:cNvPicPr>
            <a:picLocks noChangeAspect="1"/>
          </p:cNvPicPr>
          <p:nvPr/>
        </p:nvPicPr>
        <p:blipFill>
          <a:blip r:embed="rId4"/>
          <a:srcRect l="-320" r="-320" t="0" b="0"/>
          <a:stretch/>
        </p:blipFill>
        <p:spPr>
          <a:xfrm>
            <a:off x="9791395" y="2906878"/>
            <a:ext cx="38405" cy="258775"/>
          </a:xfrm>
          <a:prstGeom prst="rect">
            <a:avLst/>
          </a:prstGeom>
        </p:spPr>
      </p:pic>
      <p:pic>
        <p:nvPicPr>
          <p:cNvPr id="24" name="Image 4" descr="preencoded.png">    </p:cNvPr>
          <p:cNvPicPr>
            <a:picLocks noChangeAspect="1"/>
          </p:cNvPicPr>
          <p:nvPr/>
        </p:nvPicPr>
        <p:blipFill>
          <a:blip r:embed="rId5"/>
          <a:srcRect l="-320" r="-320" t="0" b="0"/>
          <a:stretch/>
        </p:blipFill>
        <p:spPr>
          <a:xfrm>
            <a:off x="9791395" y="3237890"/>
            <a:ext cx="38405" cy="258775"/>
          </a:xfrm>
          <a:prstGeom prst="rect">
            <a:avLst/>
          </a:prstGeom>
        </p:spPr>
      </p:pic>
      <p:pic>
        <p:nvPicPr>
          <p:cNvPr id="25" name="Image 5" descr="preencoded.png">    </p:cNvPr>
          <p:cNvPicPr>
            <a:picLocks noChangeAspect="1"/>
          </p:cNvPicPr>
          <p:nvPr/>
        </p:nvPicPr>
        <p:blipFill>
          <a:blip r:embed="rId6"/>
          <a:srcRect l="-320" r="-320" t="0" b="0"/>
          <a:stretch/>
        </p:blipFill>
        <p:spPr>
          <a:xfrm>
            <a:off x="9791395" y="4515307"/>
            <a:ext cx="38405" cy="258775"/>
          </a:xfrm>
          <a:prstGeom prst="rect">
            <a:avLst/>
          </a:prstGeom>
        </p:spPr>
      </p:pic>
      <p:sp>
        <p:nvSpPr>
          <p:cNvPr id="26" name="Text 18"/>
          <p:cNvSpPr txBox="1"/>
          <p:nvPr/>
        </p:nvSpPr>
        <p:spPr>
          <a:xfrm>
            <a:off x="9315907" y="5936285"/>
            <a:ext cx="1472184" cy="419710"/>
          </a:xfrm>
          <a:prstGeom prst="rect">
            <a:avLst/>
          </a:prstGeom>
          <a:solidFill>
            <a:srgbClr val="FFFBEB"/>
          </a:solidFill>
          <a:ln w="25400">
            <a:solidFill>
              <a:srgbClr val="FBBF24"/>
            </a:solidFill>
          </a:ln>
        </p:spPr>
        <p:txBody>
          <a:bodyPr wrap="square" lIns="0" tIns="0" rIns="0" bIns="0" rtlCol="0" anchor="ctr"/>
          <a:lstStyle/>
          <a:p>
            <a:pPr algn="l" indent="0" marL="0">
              <a:buNone/>
            </a:pPr>
            <a:r>
              <a:rPr lang="en-US" sz="1200" b="1" dirty="0">
                <a:solidFill>
                  <a:srgbClr val="B45309"/>
                </a:solidFill>
                <a:latin typeface="Noto Sans JP" pitchFamily="34" charset="0"/>
                <a:ea typeface="Noto Sans JP" pitchFamily="34" charset="-122"/>
                <a:cs typeface="Noto Sans JP" pitchFamily="34" charset="-120"/>
              </a:rPr>
              <a:t> 信頼に基づく連携 </a:t>
            </a:r>
            <a:endParaRPr lang="en-US" sz="1200" dirty="0"/>
          </a:p>
        </p:txBody>
      </p:sp>
      <p:pic>
        <p:nvPicPr>
          <p:cNvPr id="27" name="Image 6" descr="preencoded.png">    </p:cNvPr>
          <p:cNvPicPr>
            <a:picLocks noChangeAspect="1"/>
          </p:cNvPicPr>
          <p:nvPr/>
        </p:nvPicPr>
        <p:blipFill>
          <a:blip r:embed="rId7"/>
          <a:srcRect l="0" r="0" t="0" b="0"/>
          <a:stretch/>
        </p:blipFill>
        <p:spPr>
          <a:xfrm>
            <a:off x="9086393" y="6068873"/>
            <a:ext cx="152705" cy="152705"/>
          </a:xfrm>
          <a:prstGeom prst="rect">
            <a:avLst/>
          </a:prstGeom>
        </p:spPr>
      </p:pic>
      <p:sp>
        <p:nvSpPr>
          <p:cNvPr id="28" name="Shape 19"/>
          <p:cNvSpPr/>
          <p:nvPr/>
        </p:nvSpPr>
        <p:spPr>
          <a:xfrm>
            <a:off x="8572500" y="1935785"/>
            <a:ext cx="2476195" cy="923544"/>
          </a:xfrm>
          <a:prstGeom prst="roundRect">
            <a:avLst>
              <a:gd name="adj" fmla="val 10207"/>
            </a:avLst>
          </a:prstGeom>
          <a:solidFill>
            <a:srgbClr val="FFFFFF"/>
          </a:solidFill>
          <a:ln w="25400">
            <a:solidFill>
              <a:srgbClr val="E5E7EB"/>
            </a:solidFill>
            <a:prstDash val="solid"/>
          </a:ln>
          <a:effectLst>
            <a:outerShdw sx="100000" sy="100000" kx="0" ky="0" algn="bl" rotWithShape="0" blurRad="63500" dist="38100" dir="16200000">
              <a:srgbClr val="000000">
                <a:alpha val="10000"/>
              </a:srgbClr>
            </a:outerShdw>
          </a:effectLst>
        </p:spPr>
      </p:sp>
      <p:sp>
        <p:nvSpPr>
          <p:cNvPr id="29" name="Text 20"/>
          <p:cNvSpPr txBox="1"/>
          <p:nvPr/>
        </p:nvSpPr>
        <p:spPr>
          <a:xfrm>
            <a:off x="8699602" y="2145182"/>
            <a:ext cx="2221992"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前工程（他者）</a:t>
            </a:r>
            <a:endParaRPr lang="en-US" sz="1300" dirty="0"/>
          </a:p>
        </p:txBody>
      </p:sp>
      <p:sp>
        <p:nvSpPr>
          <p:cNvPr id="30" name="Text 21"/>
          <p:cNvSpPr txBox="1"/>
          <p:nvPr/>
        </p:nvSpPr>
        <p:spPr>
          <a:xfrm>
            <a:off x="8740750" y="2449678"/>
            <a:ext cx="2139696"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Output: 入力データの作成</a:t>
            </a:r>
            <a:endParaRPr lang="en-US" sz="1000" dirty="0"/>
          </a:p>
        </p:txBody>
      </p:sp>
      <p:sp>
        <p:nvSpPr>
          <p:cNvPr id="31" name="Shape 22"/>
          <p:cNvSpPr/>
          <p:nvPr/>
        </p:nvSpPr>
        <p:spPr>
          <a:xfrm>
            <a:off x="8572500" y="3543300"/>
            <a:ext cx="2476195" cy="923544"/>
          </a:xfrm>
          <a:prstGeom prst="roundRect">
            <a:avLst>
              <a:gd name="adj" fmla="val 10207"/>
            </a:avLst>
          </a:prstGeom>
          <a:solidFill>
            <a:srgbClr val="EFF6FF"/>
          </a:solidFill>
          <a:ln w="25400">
            <a:solidFill>
              <a:srgbClr val="3B82F6"/>
            </a:solidFill>
            <a:prstDash val="solid"/>
          </a:ln>
          <a:effectLst>
            <a:outerShdw sx="100000" sy="100000" kx="0" ky="0" algn="bl" rotWithShape="0" blurRad="63500" dist="38100" dir="16200000">
              <a:srgbClr val="000000">
                <a:alpha val="10000"/>
              </a:srgbClr>
            </a:outerShdw>
          </a:effectLst>
        </p:spPr>
      </p:sp>
      <p:sp>
        <p:nvSpPr>
          <p:cNvPr id="32" name="Text 23"/>
          <p:cNvSpPr txBox="1"/>
          <p:nvPr/>
        </p:nvSpPr>
        <p:spPr>
          <a:xfrm>
            <a:off x="8699602" y="3753612"/>
            <a:ext cx="2221992" cy="257861"/>
          </a:xfrm>
          <a:prstGeom prst="rect">
            <a:avLst/>
          </a:prstGeom>
          <a:noFill/>
          <a:ln/>
        </p:spPr>
        <p:txBody>
          <a:bodyPr wrap="square" lIns="0" tIns="0" rIns="0" bIns="0" rtlCol="0" anchor="ctr"/>
          <a:lstStyle/>
          <a:p>
            <a:pPr algn="ctr" indent="0" marL="0">
              <a:buNone/>
            </a:pPr>
            <a:r>
              <a:rPr lang="en-US" sz="1300" b="1" dirty="0">
                <a:solidFill>
                  <a:srgbClr val="1D4ED8"/>
                </a:solidFill>
                <a:latin typeface="Noto Sans JP" pitchFamily="34" charset="0"/>
                <a:ea typeface="Noto Sans JP" pitchFamily="34" charset="-122"/>
                <a:cs typeface="Noto Sans JP" pitchFamily="34" charset="-120"/>
              </a:rPr>
              <a:t>自工程（自分）</a:t>
            </a:r>
            <a:endParaRPr lang="en-US" sz="1300" dirty="0"/>
          </a:p>
        </p:txBody>
      </p:sp>
      <p:sp>
        <p:nvSpPr>
          <p:cNvPr id="33" name="Text 24"/>
          <p:cNvSpPr txBox="1"/>
          <p:nvPr/>
        </p:nvSpPr>
        <p:spPr>
          <a:xfrm>
            <a:off x="8740750" y="4058107"/>
            <a:ext cx="2139696"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Input → Process → Output</a:t>
            </a:r>
            <a:endParaRPr lang="en-US" sz="1000" dirty="0"/>
          </a:p>
        </p:txBody>
      </p:sp>
      <p:sp>
        <p:nvSpPr>
          <p:cNvPr id="34" name="Shape 25"/>
          <p:cNvSpPr/>
          <p:nvPr/>
        </p:nvSpPr>
        <p:spPr>
          <a:xfrm>
            <a:off x="8572500" y="4821631"/>
            <a:ext cx="2476195" cy="923544"/>
          </a:xfrm>
          <a:prstGeom prst="roundRect">
            <a:avLst>
              <a:gd name="adj" fmla="val 10207"/>
            </a:avLst>
          </a:prstGeom>
          <a:solidFill>
            <a:srgbClr val="FFFFFF"/>
          </a:solidFill>
          <a:ln w="25400">
            <a:solidFill>
              <a:srgbClr val="E5E7EB"/>
            </a:solidFill>
            <a:prstDash val="solid"/>
          </a:ln>
          <a:effectLst>
            <a:outerShdw sx="100000" sy="100000" kx="0" ky="0" algn="bl" rotWithShape="0" blurRad="63500" dist="38100" dir="16200000">
              <a:srgbClr val="000000">
                <a:alpha val="10000"/>
              </a:srgbClr>
            </a:outerShdw>
          </a:effectLst>
        </p:spPr>
      </p:sp>
      <p:sp>
        <p:nvSpPr>
          <p:cNvPr id="35" name="Text 26"/>
          <p:cNvSpPr txBox="1"/>
          <p:nvPr/>
        </p:nvSpPr>
        <p:spPr>
          <a:xfrm>
            <a:off x="8699602" y="5031029"/>
            <a:ext cx="2221992" cy="257861"/>
          </a:xfrm>
          <a:prstGeom prst="rect">
            <a:avLst/>
          </a:prstGeom>
          <a:noFill/>
          <a:ln/>
        </p:spPr>
        <p:txBody>
          <a:bodyPr wrap="square" lIns="0" tIns="0" rIns="0" bIns="0" rtlCol="0" anchor="ctr"/>
          <a:lstStyle/>
          <a:p>
            <a:pPr algn="ctr" indent="0" marL="0">
              <a:buNone/>
            </a:pPr>
            <a:r>
              <a:rPr lang="en-US" sz="1300" b="1" dirty="0">
                <a:solidFill>
                  <a:srgbClr val="1F2937"/>
                </a:solidFill>
                <a:latin typeface="Noto Sans JP" pitchFamily="34" charset="0"/>
                <a:ea typeface="Noto Sans JP" pitchFamily="34" charset="-122"/>
                <a:cs typeface="Noto Sans JP" pitchFamily="34" charset="-120"/>
              </a:rPr>
              <a:t>次工程（他者）</a:t>
            </a:r>
            <a:endParaRPr lang="en-US" sz="1300" dirty="0"/>
          </a:p>
        </p:txBody>
      </p:sp>
      <p:sp>
        <p:nvSpPr>
          <p:cNvPr id="36" name="Text 27"/>
          <p:cNvSpPr txBox="1"/>
          <p:nvPr/>
        </p:nvSpPr>
        <p:spPr>
          <a:xfrm>
            <a:off x="8740750" y="5335524"/>
            <a:ext cx="2139696" cy="200254"/>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Input: 成果物の受領</a:t>
            </a:r>
            <a:endParaRPr lang="en-US" sz="1000" dirty="0"/>
          </a:p>
        </p:txBody>
      </p:sp>
      <p:sp>
        <p:nvSpPr>
          <p:cNvPr id="37" name="Shape 28"/>
          <p:cNvSpPr/>
          <p:nvPr/>
        </p:nvSpPr>
        <p:spPr>
          <a:xfrm>
            <a:off x="9572854" y="2974543"/>
            <a:ext cx="476402" cy="219456"/>
          </a:xfrm>
          <a:prstGeom prst="roundRect">
            <a:avLst>
              <a:gd name="adj" fmla="val 208333"/>
            </a:avLst>
          </a:prstGeom>
          <a:solidFill>
            <a:srgbClr val="3B82F6"/>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pic>
        <p:nvPicPr>
          <p:cNvPr id="38" name="Image 7" descr="preencoded.png">    </p:cNvPr>
          <p:cNvPicPr>
            <a:picLocks noChangeAspect="1"/>
          </p:cNvPicPr>
          <p:nvPr/>
        </p:nvPicPr>
        <p:blipFill>
          <a:blip r:embed="rId8"/>
          <a:srcRect l="0" r="0" t="0" b="0"/>
          <a:stretch/>
        </p:blipFill>
        <p:spPr>
          <a:xfrm>
            <a:off x="9691726" y="2987345"/>
            <a:ext cx="237744" cy="190195"/>
          </a:xfrm>
          <a:prstGeom prst="rect">
            <a:avLst/>
          </a:prstGeom>
        </p:spPr>
      </p:pic>
      <p:sp>
        <p:nvSpPr>
          <p:cNvPr id="39" name="Shape 29"/>
          <p:cNvSpPr/>
          <p:nvPr/>
        </p:nvSpPr>
        <p:spPr>
          <a:xfrm>
            <a:off x="0" y="0"/>
            <a:ext cx="12191695" cy="952805"/>
          </a:xfrm>
          <a:prstGeom prst="rect">
            <a:avLst/>
          </a:prstGeom>
          <a:solidFill>
            <a:srgbClr val="FFFFFF"/>
          </a:solidFill>
          <a:ln/>
        </p:spPr>
      </p:sp>
      <p:sp>
        <p:nvSpPr>
          <p:cNvPr id="40" name="Shape 30"/>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41" name="Shape 31"/>
          <p:cNvSpPr/>
          <p:nvPr/>
        </p:nvSpPr>
        <p:spPr>
          <a:xfrm>
            <a:off x="571500" y="304495"/>
            <a:ext cx="761695" cy="418795"/>
          </a:xfrm>
          <a:prstGeom prst="roundRect">
            <a:avLst>
              <a:gd name="adj" fmla="val 19849"/>
            </a:avLst>
          </a:prstGeom>
          <a:solidFill>
            <a:srgbClr val="3B82F6"/>
          </a:solidFill>
          <a:ln w="12700">
            <a:solidFill>
              <a:srgbClr val="FFFFFF">
                <a:alpha val="0"/>
              </a:srgbClr>
            </a:solidFill>
            <a:prstDash val="solid"/>
          </a:ln>
        </p:spPr>
      </p:sp>
      <p:sp>
        <p:nvSpPr>
          <p:cNvPr id="42" name="Text 32"/>
          <p:cNvSpPr txBox="1"/>
          <p:nvPr/>
        </p:nvSpPr>
        <p:spPr>
          <a:xfrm>
            <a:off x="571500" y="304495"/>
            <a:ext cx="838505"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連携</a:t>
            </a:r>
            <a:endParaRPr lang="en-US" sz="1800" dirty="0"/>
          </a:p>
        </p:txBody>
      </p:sp>
      <p:sp>
        <p:nvSpPr>
          <p:cNvPr id="43" name="Text 33"/>
          <p:cNvSpPr txBox="1"/>
          <p:nvPr/>
        </p:nvSpPr>
        <p:spPr>
          <a:xfrm>
            <a:off x="1524305" y="286207"/>
            <a:ext cx="3238805"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つながることの重要性</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14400"/>
            <a:ext cx="12191695" cy="19202"/>
          </a:xfrm>
          <a:prstGeom prst="rect">
            <a:avLst/>
          </a:prstGeom>
          <a:solidFill>
            <a:srgbClr val="E5E7EB"/>
          </a:solidFill>
          <a:ln w="12700">
            <a:solidFill>
              <a:srgbClr val="E5E7EB">
                <a:alpha val="0"/>
              </a:srgbClr>
            </a:solidFill>
            <a:prstDash val="solid"/>
          </a:ln>
        </p:spPr>
      </p:sp>
      <p:sp>
        <p:nvSpPr>
          <p:cNvPr id="5" name="Text 3"/>
          <p:cNvSpPr txBox="1"/>
          <p:nvPr/>
        </p:nvSpPr>
        <p:spPr>
          <a:xfrm>
            <a:off x="571500" y="286207"/>
            <a:ext cx="5639105" cy="486461"/>
          </a:xfrm>
          <a:prstGeom prst="rect">
            <a:avLst/>
          </a:prstGeom>
          <a:noFill/>
          <a:ln/>
        </p:spPr>
        <p:txBody>
          <a:bodyPr wrap="square" lIns="0" tIns="0" rIns="0" bIns="0" rtlCol="0" anchor="ctr"/>
          <a:lstStyle/>
          <a:p>
            <a:pPr algn="l" indent="0" marL="0">
              <a:buNone/>
            </a:pPr>
            <a:r>
              <a:rPr lang="en-US" sz="2500" b="1" dirty="0">
                <a:solidFill>
                  <a:srgbClr val="111827"/>
                </a:solidFill>
                <a:latin typeface="Noto Sans JP" pitchFamily="34" charset="0"/>
                <a:ea typeface="Noto Sans JP" pitchFamily="34" charset="-122"/>
                <a:cs typeface="Noto Sans JP" pitchFamily="34" charset="-120"/>
              </a:rPr>
              <a:t>「できること」の二階層（再確認）</a:t>
            </a:r>
            <a:endParaRPr lang="en-US" sz="2500" dirty="0"/>
          </a:p>
        </p:txBody>
      </p:sp>
      <p:sp>
        <p:nvSpPr>
          <p:cNvPr id="6" name="Shape 4"/>
          <p:cNvSpPr/>
          <p:nvPr/>
        </p:nvSpPr>
        <p:spPr>
          <a:xfrm>
            <a:off x="571500" y="286207"/>
            <a:ext cx="75895" cy="323698"/>
          </a:xfrm>
          <a:prstGeom prst="rect">
            <a:avLst/>
          </a:prstGeom>
          <a:solidFill>
            <a:srgbClr val="2563EB"/>
          </a:solidFill>
          <a:ln w="12700">
            <a:solidFill>
              <a:srgbClr val="FFFFFF">
                <a:alpha val="0"/>
              </a:srgbClr>
            </a:solidFill>
            <a:prstDash val="solid"/>
          </a:ln>
        </p:spPr>
      </p:sp>
      <p:sp>
        <p:nvSpPr>
          <p:cNvPr id="7" name="Text 5"/>
          <p:cNvSpPr txBox="1"/>
          <p:nvPr/>
        </p:nvSpPr>
        <p:spPr>
          <a:xfrm>
            <a:off x="10763402" y="395021"/>
            <a:ext cx="933602" cy="267005"/>
          </a:xfrm>
          <a:prstGeom prst="rect">
            <a:avLst/>
          </a:prstGeom>
          <a:noFill/>
          <a:ln/>
        </p:spPr>
        <p:txBody>
          <a:bodyPr wrap="square" lIns="0" tIns="0" rIns="0" bIns="0" rtlCol="0" anchor="ctr"/>
          <a:lstStyle/>
          <a:p>
            <a:pPr algn="l" indent="0" marL="0">
              <a:buNone/>
            </a:pPr>
            <a:r>
              <a:rPr lang="en-US" sz="1300" dirty="0">
                <a:solidFill>
                  <a:srgbClr val="6B7280"/>
                </a:solidFill>
                <a:latin typeface="Noto Sans JP" pitchFamily="34" charset="0"/>
                <a:ea typeface="Noto Sans JP" pitchFamily="34" charset="-122"/>
                <a:cs typeface="Noto Sans JP" pitchFamily="34" charset="-120"/>
              </a:rPr>
              <a:t>整理・結論</a:t>
            </a:r>
            <a:endParaRPr lang="en-US" sz="1300" dirty="0"/>
          </a:p>
        </p:txBody>
      </p:sp>
      <p:sp>
        <p:nvSpPr>
          <p:cNvPr id="8" name="Shape 6"/>
          <p:cNvSpPr/>
          <p:nvPr/>
        </p:nvSpPr>
        <p:spPr>
          <a:xfrm>
            <a:off x="571500" y="1218895"/>
            <a:ext cx="5333695" cy="5000854"/>
          </a:xfrm>
          <a:prstGeom prst="roundRect">
            <a:avLst>
              <a:gd name="adj" fmla="val 557"/>
            </a:avLst>
          </a:prstGeom>
          <a:solidFill>
            <a:srgbClr val="F8FAFC"/>
          </a:solidFill>
          <a:ln w="25400">
            <a:solidFill>
              <a:srgbClr val="CBD5E1"/>
            </a:solidFill>
            <a:prstDash val="solid"/>
          </a:ln>
          <a:effectLst>
            <a:outerShdw sx="100000" sy="100000" kx="0" ky="0" algn="bl" rotWithShape="0" blurRad="139700" dist="38100" dir="16200000">
              <a:srgbClr val="000000">
                <a:alpha val="8000"/>
              </a:srgbClr>
            </a:outerShdw>
          </a:effectLst>
        </p:spPr>
      </p:sp>
      <p:sp>
        <p:nvSpPr>
          <p:cNvPr id="9" name="Shape 7"/>
          <p:cNvSpPr/>
          <p:nvPr/>
        </p:nvSpPr>
        <p:spPr>
          <a:xfrm>
            <a:off x="590702" y="1238098"/>
            <a:ext cx="5296205" cy="724205"/>
          </a:xfrm>
          <a:prstGeom prst="rect">
            <a:avLst/>
          </a:prstGeom>
          <a:solidFill>
            <a:srgbClr val="64748B"/>
          </a:solidFill>
          <a:ln w="12700">
            <a:solidFill>
              <a:srgbClr val="FFFFFF">
                <a:alpha val="0"/>
              </a:srgbClr>
            </a:solidFill>
            <a:prstDash val="solid"/>
          </a:ln>
        </p:spPr>
      </p:sp>
      <p:sp>
        <p:nvSpPr>
          <p:cNvPr id="10" name="Text 8"/>
          <p:cNvSpPr txBox="1"/>
          <p:nvPr/>
        </p:nvSpPr>
        <p:spPr>
          <a:xfrm>
            <a:off x="685800" y="1429207"/>
            <a:ext cx="5106010" cy="3429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 個人の作業で「できること」</a:t>
            </a:r>
            <a:endParaRPr lang="en-US" sz="1800" dirty="0"/>
          </a:p>
        </p:txBody>
      </p:sp>
      <p:pic>
        <p:nvPicPr>
          <p:cNvPr id="11" name="Image 0" descr="preencoded.png">    </p:cNvPr>
          <p:cNvPicPr>
            <a:picLocks noChangeAspect="1"/>
          </p:cNvPicPr>
          <p:nvPr/>
        </p:nvPicPr>
        <p:blipFill>
          <a:blip r:embed="rId1"/>
          <a:srcRect l="-57" r="-57" t="0" b="0"/>
          <a:stretch/>
        </p:blipFill>
        <p:spPr>
          <a:xfrm>
            <a:off x="1597457" y="1485900"/>
            <a:ext cx="200254" cy="228600"/>
          </a:xfrm>
          <a:prstGeom prst="rect">
            <a:avLst/>
          </a:prstGeom>
        </p:spPr>
      </p:pic>
      <p:pic>
        <p:nvPicPr>
          <p:cNvPr id="12" name="Image 1" descr="preencoded.png">    </p:cNvPr>
          <p:cNvPicPr>
            <a:picLocks noChangeAspect="1"/>
          </p:cNvPicPr>
          <p:nvPr/>
        </p:nvPicPr>
        <p:blipFill>
          <a:blip r:embed="rId2"/>
          <a:srcRect l="0" r="0" t="0" b="0"/>
          <a:stretch/>
        </p:blipFill>
        <p:spPr>
          <a:xfrm>
            <a:off x="2952598" y="2200046"/>
            <a:ext cx="571500" cy="457200"/>
          </a:xfrm>
          <a:prstGeom prst="rect">
            <a:avLst/>
          </a:prstGeom>
        </p:spPr>
      </p:pic>
      <p:sp>
        <p:nvSpPr>
          <p:cNvPr id="13" name="Shape 9"/>
          <p:cNvSpPr/>
          <p:nvPr/>
        </p:nvSpPr>
        <p:spPr>
          <a:xfrm>
            <a:off x="828446" y="2848356"/>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14" name="Image 2" descr="preencoded.png">    </p:cNvPr>
          <p:cNvPicPr>
            <a:picLocks noChangeAspect="1"/>
          </p:cNvPicPr>
          <p:nvPr/>
        </p:nvPicPr>
        <p:blipFill>
          <a:blip r:embed="rId3"/>
          <a:srcRect l="-1064" r="-1064" t="0" b="0"/>
          <a:stretch/>
        </p:blipFill>
        <p:spPr>
          <a:xfrm>
            <a:off x="923544" y="2943454"/>
            <a:ext cx="219456" cy="171907"/>
          </a:xfrm>
          <a:prstGeom prst="rect">
            <a:avLst/>
          </a:prstGeom>
        </p:spPr>
      </p:pic>
      <p:sp>
        <p:nvSpPr>
          <p:cNvPr id="15" name="Text 10"/>
          <p:cNvSpPr txBox="1"/>
          <p:nvPr/>
        </p:nvSpPr>
        <p:spPr>
          <a:xfrm>
            <a:off x="1143000" y="2943454"/>
            <a:ext cx="1526134"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AIチャットボット</a:t>
            </a:r>
            <a:pPr algn="l" indent="0" marL="0">
              <a:buNone/>
            </a:pPr>
            <a:endParaRPr lang="en-US" sz="1300" dirty="0"/>
          </a:p>
          <a:p>
            <a:pPr algn="l" indent="0" marL="0">
              <a:buNone/>
            </a:pPr>
            <a:r>
              <a:rPr lang="en-US" sz="1000" dirty="0">
                <a:solidFill>
                  <a:srgbClr val="6B7280"/>
                </a:solidFill>
                <a:latin typeface="Noto Sans JP" pitchFamily="34" charset="0"/>
                <a:ea typeface="Noto Sans JP" pitchFamily="34" charset="-122"/>
                <a:cs typeface="Noto Sans JP" pitchFamily="34" charset="-120"/>
              </a:rPr>
              <a:t>問い合わせ対応の自動化</a:t>
            </a:r>
            <a:endParaRPr lang="en-US" sz="1300" dirty="0"/>
          </a:p>
        </p:txBody>
      </p:sp>
      <p:sp>
        <p:nvSpPr>
          <p:cNvPr id="16" name="Shape 11"/>
          <p:cNvSpPr/>
          <p:nvPr/>
        </p:nvSpPr>
        <p:spPr>
          <a:xfrm>
            <a:off x="828446" y="3696005"/>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17" name="Image 3" descr="preencoded.png">    </p:cNvPr>
          <p:cNvPicPr>
            <a:picLocks noChangeAspect="1"/>
          </p:cNvPicPr>
          <p:nvPr/>
        </p:nvPicPr>
        <p:blipFill>
          <a:blip r:embed="rId4"/>
          <a:srcRect l="0" r="0" t="-842" b="-842"/>
          <a:stretch/>
        </p:blipFill>
        <p:spPr>
          <a:xfrm>
            <a:off x="923544" y="3791102"/>
            <a:ext cx="190195" cy="171907"/>
          </a:xfrm>
          <a:prstGeom prst="rect">
            <a:avLst/>
          </a:prstGeom>
        </p:spPr>
      </p:pic>
      <p:sp>
        <p:nvSpPr>
          <p:cNvPr id="18" name="Text 12"/>
          <p:cNvSpPr txBox="1"/>
          <p:nvPr/>
        </p:nvSpPr>
        <p:spPr>
          <a:xfrm>
            <a:off x="1114654" y="3791102"/>
            <a:ext cx="1526134"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申請ワークフロー</a:t>
            </a:r>
            <a:pPr algn="l" indent="0" marL="0">
              <a:buNone/>
            </a:pPr>
            <a:endParaRPr lang="en-US" sz="1300" dirty="0"/>
          </a:p>
          <a:p>
            <a:pPr algn="l" indent="0" marL="0">
              <a:buNone/>
            </a:pPr>
            <a:r>
              <a:rPr lang="en-US" sz="1000" dirty="0">
                <a:solidFill>
                  <a:srgbClr val="6B7280"/>
                </a:solidFill>
                <a:latin typeface="Noto Sans JP" pitchFamily="34" charset="0"/>
                <a:ea typeface="Noto Sans JP" pitchFamily="34" charset="-122"/>
                <a:cs typeface="Noto Sans JP" pitchFamily="34" charset="-120"/>
              </a:rPr>
              <a:t>紙の申請書のデジタル化</a:t>
            </a:r>
            <a:endParaRPr lang="en-US" sz="1300" dirty="0"/>
          </a:p>
        </p:txBody>
      </p:sp>
      <p:sp>
        <p:nvSpPr>
          <p:cNvPr id="19" name="Shape 13"/>
          <p:cNvSpPr/>
          <p:nvPr/>
        </p:nvSpPr>
        <p:spPr>
          <a:xfrm>
            <a:off x="828446" y="4543654"/>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20" name="Image 4" descr="preencoded.png">    </p:cNvPr>
          <p:cNvPicPr>
            <a:picLocks noChangeAspect="1"/>
          </p:cNvPicPr>
          <p:nvPr/>
        </p:nvPicPr>
        <p:blipFill>
          <a:blip r:embed="rId5"/>
          <a:srcRect l="0" r="0" t="0" b="0"/>
          <a:stretch/>
        </p:blipFill>
        <p:spPr>
          <a:xfrm>
            <a:off x="923544" y="4638751"/>
            <a:ext cx="171907" cy="171907"/>
          </a:xfrm>
          <a:prstGeom prst="rect">
            <a:avLst/>
          </a:prstGeom>
        </p:spPr>
      </p:pic>
      <p:sp>
        <p:nvSpPr>
          <p:cNvPr id="21" name="Text 14"/>
          <p:cNvSpPr txBox="1"/>
          <p:nvPr/>
        </p:nvSpPr>
        <p:spPr>
          <a:xfrm>
            <a:off x="1095451" y="4638751"/>
            <a:ext cx="1773936"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ノーコード活用・RPA</a:t>
            </a:r>
            <a:pPr algn="l" indent="0" marL="0">
              <a:buNone/>
            </a:pPr>
            <a:endParaRPr lang="en-US" sz="1300" dirty="0"/>
          </a:p>
          <a:p>
            <a:pPr algn="l" indent="0" marL="0">
              <a:buNone/>
            </a:pPr>
            <a:r>
              <a:rPr lang="en-US" sz="1000" dirty="0">
                <a:solidFill>
                  <a:srgbClr val="6B7280"/>
                </a:solidFill>
                <a:latin typeface="Noto Sans JP" pitchFamily="34" charset="0"/>
                <a:ea typeface="Noto Sans JP" pitchFamily="34" charset="-122"/>
                <a:cs typeface="Noto Sans JP" pitchFamily="34" charset="-120"/>
              </a:rPr>
              <a:t>定型作業の自動化</a:t>
            </a:r>
            <a:endParaRPr lang="en-US" sz="1300" dirty="0"/>
          </a:p>
        </p:txBody>
      </p:sp>
      <p:sp>
        <p:nvSpPr>
          <p:cNvPr id="22" name="Shape 15"/>
          <p:cNvSpPr/>
          <p:nvPr/>
        </p:nvSpPr>
        <p:spPr>
          <a:xfrm>
            <a:off x="828446" y="5544007"/>
            <a:ext cx="4819802" cy="418795"/>
          </a:xfrm>
          <a:prstGeom prst="roundRect">
            <a:avLst>
              <a:gd name="adj" fmla="val 39698"/>
            </a:avLst>
          </a:prstGeom>
          <a:solidFill>
            <a:srgbClr val="F3F4F6"/>
          </a:solidFill>
          <a:ln w="12700">
            <a:solidFill>
              <a:srgbClr val="FFFFFF">
                <a:alpha val="0"/>
              </a:srgbClr>
            </a:solidFill>
            <a:prstDash val="solid"/>
          </a:ln>
        </p:spPr>
      </p:sp>
      <p:sp>
        <p:nvSpPr>
          <p:cNvPr id="23" name="Text 16"/>
          <p:cNvSpPr txBox="1"/>
          <p:nvPr/>
        </p:nvSpPr>
        <p:spPr>
          <a:xfrm>
            <a:off x="790956" y="5544007"/>
            <a:ext cx="4896612"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000" b="1" dirty="0">
                <a:solidFill>
                  <a:srgbClr val="4B5563"/>
                </a:solidFill>
                <a:latin typeface="Noto Sans JP" pitchFamily="34" charset="0"/>
                <a:ea typeface="Noto Sans JP" pitchFamily="34" charset="-122"/>
                <a:cs typeface="Noto Sans JP" pitchFamily="34" charset="-120"/>
              </a:rPr>
              <a:t>部分最適（個人の効率化）に留まる </a:t>
            </a:r>
            <a:endParaRPr lang="en-US" sz="1000" dirty="0"/>
          </a:p>
        </p:txBody>
      </p:sp>
      <p:pic>
        <p:nvPicPr>
          <p:cNvPr id="24" name="Image 5" descr="preencoded.png">    </p:cNvPr>
          <p:cNvPicPr>
            <a:picLocks noChangeAspect="1"/>
          </p:cNvPicPr>
          <p:nvPr/>
        </p:nvPicPr>
        <p:blipFill>
          <a:blip r:embed="rId6"/>
          <a:srcRect l="0" r="0" t="0" b="0"/>
          <a:stretch/>
        </p:blipFill>
        <p:spPr>
          <a:xfrm>
            <a:off x="2066544" y="5693969"/>
            <a:ext cx="133502" cy="133502"/>
          </a:xfrm>
          <a:prstGeom prst="rect">
            <a:avLst/>
          </a:prstGeom>
        </p:spPr>
      </p:pic>
      <p:sp>
        <p:nvSpPr>
          <p:cNvPr id="25" name="Shape 17"/>
          <p:cNvSpPr/>
          <p:nvPr/>
        </p:nvSpPr>
        <p:spPr>
          <a:xfrm>
            <a:off x="6286500" y="1218895"/>
            <a:ext cx="5333695" cy="5000854"/>
          </a:xfrm>
          <a:prstGeom prst="roundRect">
            <a:avLst>
              <a:gd name="adj" fmla="val 557"/>
            </a:avLst>
          </a:prstGeom>
          <a:solidFill>
            <a:srgbClr val="FFFBEB"/>
          </a:solidFill>
          <a:ln w="25400">
            <a:solidFill>
              <a:srgbClr val="F59E0B"/>
            </a:solidFill>
            <a:prstDash val="solid"/>
          </a:ln>
          <a:effectLst>
            <a:outerShdw sx="100000" sy="100000" kx="0" ky="0" algn="bl" rotWithShape="0" blurRad="139700" dist="38100" dir="16200000">
              <a:srgbClr val="000000">
                <a:alpha val="8000"/>
              </a:srgbClr>
            </a:outerShdw>
          </a:effectLst>
        </p:spPr>
      </p:sp>
      <p:sp>
        <p:nvSpPr>
          <p:cNvPr id="26" name="Shape 18"/>
          <p:cNvSpPr/>
          <p:nvPr/>
        </p:nvSpPr>
        <p:spPr>
          <a:xfrm>
            <a:off x="6305702" y="1238098"/>
            <a:ext cx="5296205" cy="724205"/>
          </a:xfrm>
          <a:prstGeom prst="rect">
            <a:avLst/>
          </a:prstGeom>
          <a:solidFill>
            <a:srgbClr val="D97706"/>
          </a:solidFill>
          <a:ln w="12700">
            <a:solidFill>
              <a:srgbClr val="FFFFFF">
                <a:alpha val="0"/>
              </a:srgbClr>
            </a:solidFill>
            <a:prstDash val="solid"/>
          </a:ln>
        </p:spPr>
      </p:sp>
      <p:sp>
        <p:nvSpPr>
          <p:cNvPr id="27" name="Text 19"/>
          <p:cNvSpPr txBox="1"/>
          <p:nvPr/>
        </p:nvSpPr>
        <p:spPr>
          <a:xfrm>
            <a:off x="6400800" y="1429207"/>
            <a:ext cx="5106010" cy="3429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 組織として「できること」</a:t>
            </a:r>
            <a:endParaRPr lang="en-US" sz="1800" dirty="0"/>
          </a:p>
        </p:txBody>
      </p:sp>
      <p:pic>
        <p:nvPicPr>
          <p:cNvPr id="28" name="Image 6" descr="preencoded.png">    </p:cNvPr>
          <p:cNvPicPr>
            <a:picLocks noChangeAspect="1"/>
          </p:cNvPicPr>
          <p:nvPr/>
        </p:nvPicPr>
        <p:blipFill>
          <a:blip r:embed="rId7"/>
          <a:srcRect l="-80" r="-80" t="0" b="0"/>
          <a:stretch/>
        </p:blipFill>
        <p:spPr>
          <a:xfrm>
            <a:off x="7387438" y="1485900"/>
            <a:ext cx="286207" cy="228600"/>
          </a:xfrm>
          <a:prstGeom prst="rect">
            <a:avLst/>
          </a:prstGeom>
        </p:spPr>
      </p:pic>
      <p:pic>
        <p:nvPicPr>
          <p:cNvPr id="29" name="Image 7" descr="preencoded.png">    </p:cNvPr>
          <p:cNvPicPr>
            <a:picLocks noChangeAspect="1"/>
          </p:cNvPicPr>
          <p:nvPr/>
        </p:nvPicPr>
        <p:blipFill>
          <a:blip r:embed="rId8"/>
          <a:srcRect l="0" r="0" t="0" b="0"/>
          <a:stretch/>
        </p:blipFill>
        <p:spPr>
          <a:xfrm>
            <a:off x="8667598" y="2200046"/>
            <a:ext cx="571500" cy="457200"/>
          </a:xfrm>
          <a:prstGeom prst="rect">
            <a:avLst/>
          </a:prstGeom>
        </p:spPr>
      </p:pic>
      <p:sp>
        <p:nvSpPr>
          <p:cNvPr id="30" name="Shape 20"/>
          <p:cNvSpPr/>
          <p:nvPr/>
        </p:nvSpPr>
        <p:spPr>
          <a:xfrm>
            <a:off x="6543446" y="2848356"/>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31" name="Image 8" descr="preencoded.png">    </p:cNvPr>
          <p:cNvPicPr>
            <a:picLocks noChangeAspect="1"/>
          </p:cNvPicPr>
          <p:nvPr/>
        </p:nvPicPr>
        <p:blipFill>
          <a:blip r:embed="rId9"/>
          <a:srcRect l="0" r="0" t="-842" b="-842"/>
          <a:stretch/>
        </p:blipFill>
        <p:spPr>
          <a:xfrm>
            <a:off x="6638544" y="2943454"/>
            <a:ext cx="190195" cy="171907"/>
          </a:xfrm>
          <a:prstGeom prst="rect">
            <a:avLst/>
          </a:prstGeom>
        </p:spPr>
      </p:pic>
      <p:sp>
        <p:nvSpPr>
          <p:cNvPr id="32" name="Text 21"/>
          <p:cNvSpPr txBox="1"/>
          <p:nvPr/>
        </p:nvSpPr>
        <p:spPr>
          <a:xfrm>
            <a:off x="6829654" y="2943454"/>
            <a:ext cx="1932127"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依頼と実行の可視化</a:t>
            </a:r>
            <a:pPr algn="l" indent="0" marL="0">
              <a:buNone/>
            </a:pPr>
            <a:endParaRPr lang="en-US" sz="1300" dirty="0"/>
          </a:p>
          <a:p>
            <a:pPr algn="l" indent="0" marL="0">
              <a:buNone/>
            </a:pPr>
            <a:r>
              <a:rPr lang="en-US" sz="1000" dirty="0">
                <a:solidFill>
                  <a:srgbClr val="4B5563"/>
                </a:solidFill>
                <a:latin typeface="Noto Sans JP" pitchFamily="34" charset="0"/>
                <a:ea typeface="Noto Sans JP" pitchFamily="34" charset="-122"/>
                <a:cs typeface="Noto Sans JP" pitchFamily="34" charset="-120"/>
              </a:rPr>
              <a:t>誰が何を抱えているか見える化</a:t>
            </a:r>
            <a:endParaRPr lang="en-US" sz="1300" dirty="0"/>
          </a:p>
        </p:txBody>
      </p:sp>
      <p:sp>
        <p:nvSpPr>
          <p:cNvPr id="33" name="Shape 22"/>
          <p:cNvSpPr/>
          <p:nvPr/>
        </p:nvSpPr>
        <p:spPr>
          <a:xfrm>
            <a:off x="6543446" y="3696005"/>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34" name="Image 9" descr="preencoded.png">    </p:cNvPr>
          <p:cNvPicPr>
            <a:picLocks noChangeAspect="1"/>
          </p:cNvPicPr>
          <p:nvPr/>
        </p:nvPicPr>
        <p:blipFill>
          <a:blip r:embed="rId10"/>
          <a:srcRect l="0" r="0" t="-842" b="-842"/>
          <a:stretch/>
        </p:blipFill>
        <p:spPr>
          <a:xfrm>
            <a:off x="6638544" y="3791102"/>
            <a:ext cx="190195" cy="171907"/>
          </a:xfrm>
          <a:prstGeom prst="rect">
            <a:avLst/>
          </a:prstGeom>
        </p:spPr>
      </p:pic>
      <p:sp>
        <p:nvSpPr>
          <p:cNvPr id="35" name="Text 23"/>
          <p:cNvSpPr txBox="1"/>
          <p:nvPr/>
        </p:nvSpPr>
        <p:spPr>
          <a:xfrm>
            <a:off x="6829654" y="3791102"/>
            <a:ext cx="2210105"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源流入力・一個流し</a:t>
            </a:r>
            <a:pPr algn="l" indent="0" marL="0">
              <a:buNone/>
            </a:pPr>
            <a:endParaRPr lang="en-US" sz="1300" dirty="0"/>
          </a:p>
          <a:p>
            <a:pPr algn="l" indent="0" marL="0">
              <a:buNone/>
            </a:pPr>
            <a:r>
              <a:rPr lang="en-US" sz="1000" dirty="0">
                <a:solidFill>
                  <a:srgbClr val="4B5563"/>
                </a:solidFill>
                <a:latin typeface="Noto Sans JP" pitchFamily="34" charset="0"/>
                <a:ea typeface="Noto Sans JP" pitchFamily="34" charset="-122"/>
                <a:cs typeface="Noto Sans JP" pitchFamily="34" charset="-120"/>
              </a:rPr>
              <a:t>発生源での確定とリアルタイム処理</a:t>
            </a:r>
            <a:endParaRPr lang="en-US" sz="1300" dirty="0"/>
          </a:p>
        </p:txBody>
      </p:sp>
      <p:sp>
        <p:nvSpPr>
          <p:cNvPr id="36" name="Shape 24"/>
          <p:cNvSpPr/>
          <p:nvPr/>
        </p:nvSpPr>
        <p:spPr>
          <a:xfrm>
            <a:off x="6543446" y="4543654"/>
            <a:ext cx="4819802" cy="705002"/>
          </a:xfrm>
          <a:prstGeom prst="roundRect">
            <a:avLst>
              <a:gd name="adj" fmla="val 14022"/>
            </a:avLst>
          </a:prstGeom>
          <a:solidFill>
            <a:srgbClr val="FFFFFF">
              <a:alpha val="60000"/>
            </a:srgbClr>
          </a:solidFill>
          <a:ln w="12700">
            <a:solidFill>
              <a:srgbClr val="FFFFFF">
                <a:alpha val="0"/>
              </a:srgbClr>
            </a:solidFill>
            <a:prstDash val="solid"/>
          </a:ln>
        </p:spPr>
      </p:sp>
      <p:pic>
        <p:nvPicPr>
          <p:cNvPr id="37" name="Image 10" descr="preencoded.png">    </p:cNvPr>
          <p:cNvPicPr>
            <a:picLocks noChangeAspect="1"/>
          </p:cNvPicPr>
          <p:nvPr/>
        </p:nvPicPr>
        <p:blipFill>
          <a:blip r:embed="rId11"/>
          <a:srcRect l="0" r="0" t="-842" b="-842"/>
          <a:stretch/>
        </p:blipFill>
        <p:spPr>
          <a:xfrm>
            <a:off x="6638544" y="4638751"/>
            <a:ext cx="190195" cy="171907"/>
          </a:xfrm>
          <a:prstGeom prst="rect">
            <a:avLst/>
          </a:prstGeom>
        </p:spPr>
      </p:pic>
      <p:sp>
        <p:nvSpPr>
          <p:cNvPr id="38" name="Text 25"/>
          <p:cNvSpPr txBox="1"/>
          <p:nvPr/>
        </p:nvSpPr>
        <p:spPr>
          <a:xfrm>
            <a:off x="6829654" y="4638751"/>
            <a:ext cx="1664208" cy="514807"/>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ナレッジの一元化</a:t>
            </a:r>
            <a:pPr algn="l" indent="0" marL="0">
              <a:buNone/>
            </a:pPr>
            <a:endParaRPr lang="en-US" sz="1300" dirty="0"/>
          </a:p>
          <a:p>
            <a:pPr algn="l" indent="0" marL="0">
              <a:buNone/>
            </a:pPr>
            <a:r>
              <a:rPr lang="en-US" sz="1000" dirty="0">
                <a:solidFill>
                  <a:srgbClr val="4B5563"/>
                </a:solidFill>
                <a:latin typeface="Noto Sans JP" pitchFamily="34" charset="0"/>
                <a:ea typeface="Noto Sans JP" pitchFamily="34" charset="-122"/>
                <a:cs typeface="Noto Sans JP" pitchFamily="34" charset="-120"/>
              </a:rPr>
              <a:t>知識と作業の分離・標準化</a:t>
            </a:r>
            <a:endParaRPr lang="en-US" sz="1300" dirty="0"/>
          </a:p>
        </p:txBody>
      </p:sp>
      <p:sp>
        <p:nvSpPr>
          <p:cNvPr id="39" name="Text 26"/>
          <p:cNvSpPr txBox="1"/>
          <p:nvPr/>
        </p:nvSpPr>
        <p:spPr>
          <a:xfrm>
            <a:off x="6505956" y="5544007"/>
            <a:ext cx="4896612" cy="419710"/>
          </a:xfrm>
          <a:prstGeom prst="rect">
            <a:avLst/>
          </a:prstGeom>
          <a:noFill/>
          <a:ln/>
        </p:spPr>
        <p:txBody>
          <a:bodyPr wrap="square" lIns="0" tIns="0" rIns="0" bIns="0" rtlCol="0" anchor="ctr"/>
          <a:lstStyle/>
          <a:p>
            <a:pPr algn="ctr" indent="0" marL="0">
              <a:buNone/>
            </a:pPr>
            <a:r>
              <a:rPr lang="en-US" sz="1000" b="1" dirty="0">
                <a:solidFill>
                  <a:srgbClr val="333333"/>
                </a:solidFill>
                <a:latin typeface="Noto Sans JP" pitchFamily="34" charset="0"/>
                <a:ea typeface="Noto Sans JP" pitchFamily="34" charset="-122"/>
                <a:cs typeface="Noto Sans JP" pitchFamily="34" charset="-120"/>
              </a:rPr>
              <a:t>全体最適（経営スピードと質の向上） </a:t>
            </a:r>
            <a:endParaRPr lang="en-US" sz="1000" dirty="0"/>
          </a:p>
        </p:txBody>
      </p:sp>
      <p:pic>
        <p:nvPicPr>
          <p:cNvPr id="40" name="Image 11" descr="preencoded.png">    </p:cNvPr>
          <p:cNvPicPr>
            <a:picLocks noChangeAspect="1"/>
          </p:cNvPicPr>
          <p:nvPr/>
        </p:nvPicPr>
        <p:blipFill>
          <a:blip r:embed="rId12"/>
          <a:srcRect l="0" r="0" t="0" b="0"/>
          <a:stretch/>
        </p:blipFill>
        <p:spPr>
          <a:xfrm>
            <a:off x="7715707" y="5693969"/>
            <a:ext cx="133502" cy="133502"/>
          </a:xfrm>
          <a:prstGeom prst="rect">
            <a:avLst/>
          </a:prstGeom>
        </p:spPr>
      </p:pic>
      <p:pic>
        <p:nvPicPr>
          <p:cNvPr id="41" name="Image 12" descr="preencoded.png">    </p:cNvPr>
          <p:cNvPicPr>
            <a:picLocks noChangeAspect="1"/>
          </p:cNvPicPr>
          <p:nvPr/>
        </p:nvPicPr>
        <p:blipFill>
          <a:blip r:embed="rId13"/>
          <a:srcRect l="0" r="0" t="0" b="0"/>
          <a:stretch/>
        </p:blipFill>
        <p:spPr>
          <a:xfrm>
            <a:off x="5810098" y="3155594"/>
            <a:ext cx="571500" cy="571500"/>
          </a:xfrm>
          <a:prstGeom prst="rect">
            <a:avLst/>
          </a:prstGeom>
        </p:spPr>
      </p:pic>
      <p:pic>
        <p:nvPicPr>
          <p:cNvPr id="42" name="Image 13" descr="preencoded.png">    </p:cNvPr>
          <p:cNvPicPr>
            <a:picLocks noChangeAspect="1"/>
          </p:cNvPicPr>
          <p:nvPr/>
        </p:nvPicPr>
        <p:blipFill>
          <a:blip r:embed="rId14"/>
          <a:srcRect l="-57" r="-57" t="0" b="0"/>
          <a:stretch/>
        </p:blipFill>
        <p:spPr>
          <a:xfrm>
            <a:off x="5995721" y="3326587"/>
            <a:ext cx="200254" cy="228600"/>
          </a:xfrm>
          <a:prstGeom prst="rect">
            <a:avLst/>
          </a:prstGeom>
        </p:spPr>
      </p:pic>
      <p:sp>
        <p:nvSpPr>
          <p:cNvPr id="43" name="Shape 27"/>
          <p:cNvSpPr/>
          <p:nvPr/>
        </p:nvSpPr>
        <p:spPr>
          <a:xfrm>
            <a:off x="0" y="6505956"/>
            <a:ext cx="12191695" cy="1028700"/>
          </a:xfrm>
          <a:prstGeom prst="rect">
            <a:avLst/>
          </a:prstGeom>
          <a:solidFill>
            <a:srgbClr val="1F2937"/>
          </a:solidFill>
          <a:ln w="12700">
            <a:solidFill>
              <a:srgbClr val="FFFFFF">
                <a:alpha val="0"/>
              </a:srgbClr>
            </a:solidFill>
            <a:prstDash val="solid"/>
          </a:ln>
        </p:spPr>
      </p:sp>
      <p:pic>
        <p:nvPicPr>
          <p:cNvPr id="44" name="Image 14" descr="preencoded.png">    </p:cNvPr>
          <p:cNvPicPr>
            <a:picLocks noChangeAspect="1"/>
          </p:cNvPicPr>
          <p:nvPr/>
        </p:nvPicPr>
        <p:blipFill>
          <a:blip r:embed="rId15"/>
          <a:srcRect l="-743" r="-743" t="0" b="0"/>
          <a:stretch/>
        </p:blipFill>
        <p:spPr>
          <a:xfrm>
            <a:off x="2052828" y="6844284"/>
            <a:ext cx="304495" cy="342900"/>
          </a:xfrm>
          <a:prstGeom prst="rect">
            <a:avLst/>
          </a:prstGeom>
        </p:spPr>
      </p:pic>
      <p:sp>
        <p:nvSpPr>
          <p:cNvPr id="45" name="Text 28"/>
          <p:cNvSpPr txBox="1"/>
          <p:nvPr/>
        </p:nvSpPr>
        <p:spPr>
          <a:xfrm>
            <a:off x="2553005" y="6696151"/>
            <a:ext cx="7629754" cy="648310"/>
          </a:xfrm>
          <a:prstGeom prst="rect">
            <a:avLst/>
          </a:prstGeom>
          <a:noFill/>
          <a:ln/>
        </p:spPr>
        <p:txBody>
          <a:bodyPr wrap="square" lIns="0" tIns="0" rIns="0" bIns="0" rtlCol="0" anchor="t"/>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 まず「組織としてのマネジメント」のバックボーンを設計し、</a:t>
            </a:r>
            <a:pPr algn="ctr" indent="0" marL="0">
              <a:buNone/>
            </a:pPr>
            <a:endParaRPr lang="en-US" sz="1800" dirty="0"/>
          </a:p>
          <a:p>
            <a:pPr algn="ctr" indent="0" marL="0">
              <a:buNone/>
            </a:pPr>
            <a:r>
              <a:rPr lang="en-US" sz="1800" b="1" dirty="0">
                <a:solidFill>
                  <a:srgbClr val="FFFFFF"/>
                </a:solidFill>
                <a:latin typeface="Noto Sans JP" pitchFamily="34" charset="0"/>
                <a:ea typeface="Noto Sans JP" pitchFamily="34" charset="-122"/>
                <a:cs typeface="Noto Sans JP" pitchFamily="34" charset="-120"/>
              </a:rPr>
              <a:t> その上で個人の「機能」を適材適所に配置する二階層のアプローチが必要 </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952805"/>
          </a:xfrm>
          <a:prstGeom prst="rect">
            <a:avLst/>
          </a:prstGeom>
          <a:solidFill>
            <a:srgbClr val="FFFFFF"/>
          </a:solidFill>
          <a:ln/>
        </p:spPr>
      </p:sp>
      <p:sp>
        <p:nvSpPr>
          <p:cNvPr id="5" name="Shape 3"/>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6" name="Shape 4"/>
          <p:cNvSpPr/>
          <p:nvPr/>
        </p:nvSpPr>
        <p:spPr>
          <a:xfrm>
            <a:off x="571500" y="304495"/>
            <a:ext cx="761695" cy="418795"/>
          </a:xfrm>
          <a:prstGeom prst="roundRect">
            <a:avLst>
              <a:gd name="adj" fmla="val 19849"/>
            </a:avLst>
          </a:prstGeom>
          <a:solidFill>
            <a:srgbClr val="2563EB"/>
          </a:solidFill>
          <a:ln w="12700">
            <a:solidFill>
              <a:srgbClr val="FFFFFF">
                <a:alpha val="0"/>
              </a:srgbClr>
            </a:solidFill>
            <a:prstDash val="solid"/>
          </a:ln>
        </p:spPr>
      </p:sp>
      <p:sp>
        <p:nvSpPr>
          <p:cNvPr id="7" name="Text 5"/>
          <p:cNvSpPr txBox="1"/>
          <p:nvPr/>
        </p:nvSpPr>
        <p:spPr>
          <a:xfrm>
            <a:off x="571500" y="304495"/>
            <a:ext cx="838505"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本質</a:t>
            </a:r>
            <a:endParaRPr lang="en-US" sz="1800" dirty="0"/>
          </a:p>
        </p:txBody>
      </p:sp>
      <p:sp>
        <p:nvSpPr>
          <p:cNvPr id="8" name="Text 6"/>
          <p:cNvSpPr txBox="1"/>
          <p:nvPr/>
        </p:nvSpPr>
        <p:spPr>
          <a:xfrm>
            <a:off x="1524305" y="286207"/>
            <a:ext cx="5248656"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三原則がもたらす本質的な5つの効果</a:t>
            </a:r>
            <a:endParaRPr lang="en-US" sz="2400" dirty="0"/>
          </a:p>
        </p:txBody>
      </p:sp>
      <p:sp>
        <p:nvSpPr>
          <p:cNvPr id="9" name="Shape 7"/>
          <p:cNvSpPr/>
          <p:nvPr/>
        </p:nvSpPr>
        <p:spPr>
          <a:xfrm>
            <a:off x="0" y="952805"/>
            <a:ext cx="12191695" cy="5905195"/>
          </a:xfrm>
          <a:prstGeom prst="rect">
            <a:avLst/>
          </a:prstGeom>
          <a:solidFill>
            <a:srgbClr val="F9FAFB"/>
          </a:solidFill>
          <a:ln w="12700">
            <a:solidFill>
              <a:srgbClr val="FFFFFF">
                <a:alpha val="0"/>
              </a:srgbClr>
            </a:solidFill>
            <a:prstDash val="solid"/>
          </a:ln>
        </p:spPr>
      </p:sp>
      <p:sp>
        <p:nvSpPr>
          <p:cNvPr id="10" name="Shape 8"/>
          <p:cNvSpPr/>
          <p:nvPr/>
        </p:nvSpPr>
        <p:spPr>
          <a:xfrm>
            <a:off x="571500" y="1333195"/>
            <a:ext cx="5333695" cy="1591056"/>
          </a:xfrm>
          <a:prstGeom prst="roundRect">
            <a:avLst>
              <a:gd name="adj" fmla="val 3441"/>
            </a:avLst>
          </a:prstGeom>
          <a:solidFill>
            <a:srgbClr val="FFFFFF"/>
          </a:solidFill>
          <a:ln/>
        </p:spPr>
      </p:sp>
      <p:sp>
        <p:nvSpPr>
          <p:cNvPr id="11" name="Shape 9"/>
          <p:cNvSpPr/>
          <p:nvPr/>
        </p:nvSpPr>
        <p:spPr>
          <a:xfrm>
            <a:off x="571500" y="1333195"/>
            <a:ext cx="57607" cy="1591056"/>
          </a:xfrm>
          <a:prstGeom prst="roundRect">
            <a:avLst>
              <a:gd name="adj" fmla="val 95048"/>
            </a:avLst>
          </a:prstGeom>
          <a:solidFill>
            <a:srgbClr val="3B82F6"/>
          </a:solidFill>
          <a:ln w="12700">
            <a:solidFill>
              <a:srgbClr val="3B82F6">
                <a:alpha val="0"/>
              </a:srgbClr>
            </a:solidFill>
            <a:prstDash val="solid"/>
          </a:ln>
        </p:spPr>
      </p:sp>
      <p:sp>
        <p:nvSpPr>
          <p:cNvPr id="12" name="Text 10"/>
          <p:cNvSpPr txBox="1"/>
          <p:nvPr/>
        </p:nvSpPr>
        <p:spPr>
          <a:xfrm>
            <a:off x="819302" y="1600200"/>
            <a:ext cx="534010" cy="457200"/>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800" b="1" dirty="0">
                <a:solidFill>
                  <a:srgbClr val="3B82F6"/>
                </a:solidFill>
                <a:latin typeface="Noto Sans JP" pitchFamily="34" charset="0"/>
                <a:ea typeface="Noto Sans JP" pitchFamily="34" charset="-122"/>
                <a:cs typeface="Noto Sans JP" pitchFamily="34" charset="-120"/>
              </a:rPr>
              <a:t>1</a:t>
            </a:r>
            <a:endParaRPr lang="en-US" sz="1800" dirty="0"/>
          </a:p>
        </p:txBody>
      </p:sp>
      <p:sp>
        <p:nvSpPr>
          <p:cNvPr id="13" name="Text 11"/>
          <p:cNvSpPr txBox="1"/>
          <p:nvPr/>
        </p:nvSpPr>
        <p:spPr>
          <a:xfrm>
            <a:off x="1800454" y="1561795"/>
            <a:ext cx="4067251"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リードタイムの短縮</a:t>
            </a:r>
            <a:endParaRPr lang="en-US" sz="1600" dirty="0"/>
          </a:p>
        </p:txBody>
      </p:sp>
      <p:pic>
        <p:nvPicPr>
          <p:cNvPr id="14" name="Image 0" descr="preencoded.png">    </p:cNvPr>
          <p:cNvPicPr>
            <a:picLocks noChangeAspect="1"/>
          </p:cNvPicPr>
          <p:nvPr/>
        </p:nvPicPr>
        <p:blipFill>
          <a:blip r:embed="rId1"/>
          <a:srcRect l="0" r="0" t="-600" b="-600"/>
          <a:stretch/>
        </p:blipFill>
        <p:spPr>
          <a:xfrm>
            <a:off x="1505102" y="1614830"/>
            <a:ext cx="181051" cy="209398"/>
          </a:xfrm>
          <a:prstGeom prst="rect">
            <a:avLst/>
          </a:prstGeom>
        </p:spPr>
      </p:pic>
      <p:sp>
        <p:nvSpPr>
          <p:cNvPr id="15" name="Text 12"/>
          <p:cNvSpPr txBox="1"/>
          <p:nvPr/>
        </p:nvSpPr>
        <p:spPr>
          <a:xfrm>
            <a:off x="1505102" y="1952244"/>
            <a:ext cx="4248302" cy="523951"/>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源流入力と一個流しにより、確認・修正・再入力の待ち時間が消滅。業務のスピードが劇的に向上します。</a:t>
            </a:r>
            <a:endParaRPr lang="en-US" sz="1200" dirty="0"/>
          </a:p>
        </p:txBody>
      </p:sp>
      <p:sp>
        <p:nvSpPr>
          <p:cNvPr id="16" name="Shape 13"/>
          <p:cNvSpPr/>
          <p:nvPr/>
        </p:nvSpPr>
        <p:spPr>
          <a:xfrm>
            <a:off x="571500" y="3111703"/>
            <a:ext cx="5333695" cy="1591056"/>
          </a:xfrm>
          <a:prstGeom prst="roundRect">
            <a:avLst>
              <a:gd name="adj" fmla="val 3441"/>
            </a:avLst>
          </a:prstGeom>
          <a:solidFill>
            <a:srgbClr val="FFFFFF"/>
          </a:solidFill>
          <a:ln/>
        </p:spPr>
      </p:sp>
      <p:sp>
        <p:nvSpPr>
          <p:cNvPr id="17" name="Shape 14"/>
          <p:cNvSpPr/>
          <p:nvPr/>
        </p:nvSpPr>
        <p:spPr>
          <a:xfrm>
            <a:off x="571500" y="3111703"/>
            <a:ext cx="57607" cy="1591056"/>
          </a:xfrm>
          <a:prstGeom prst="roundRect">
            <a:avLst>
              <a:gd name="adj" fmla="val 95048"/>
            </a:avLst>
          </a:prstGeom>
          <a:solidFill>
            <a:srgbClr val="3B82F6"/>
          </a:solidFill>
          <a:ln w="12700">
            <a:solidFill>
              <a:srgbClr val="3B82F6">
                <a:alpha val="0"/>
              </a:srgbClr>
            </a:solidFill>
            <a:prstDash val="solid"/>
          </a:ln>
        </p:spPr>
      </p:sp>
      <p:sp>
        <p:nvSpPr>
          <p:cNvPr id="18" name="Text 15"/>
          <p:cNvSpPr txBox="1"/>
          <p:nvPr/>
        </p:nvSpPr>
        <p:spPr>
          <a:xfrm>
            <a:off x="819302" y="3377794"/>
            <a:ext cx="534010" cy="457200"/>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800" b="1" dirty="0">
                <a:solidFill>
                  <a:srgbClr val="3B82F6"/>
                </a:solidFill>
                <a:latin typeface="Noto Sans JP" pitchFamily="34" charset="0"/>
                <a:ea typeface="Noto Sans JP" pitchFamily="34" charset="-122"/>
                <a:cs typeface="Noto Sans JP" pitchFamily="34" charset="-120"/>
              </a:rPr>
              <a:t>2</a:t>
            </a:r>
            <a:endParaRPr lang="en-US" sz="1800" dirty="0"/>
          </a:p>
        </p:txBody>
      </p:sp>
      <p:sp>
        <p:nvSpPr>
          <p:cNvPr id="19" name="Text 16"/>
          <p:cNvSpPr txBox="1"/>
          <p:nvPr/>
        </p:nvSpPr>
        <p:spPr>
          <a:xfrm>
            <a:off x="1857146" y="3340303"/>
            <a:ext cx="4010558"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仕事の可視化（見える化）</a:t>
            </a:r>
            <a:endParaRPr lang="en-US" sz="1600" dirty="0"/>
          </a:p>
        </p:txBody>
      </p:sp>
      <p:pic>
        <p:nvPicPr>
          <p:cNvPr id="20" name="Image 1" descr="preencoded.png">    </p:cNvPr>
          <p:cNvPicPr>
            <a:picLocks noChangeAspect="1"/>
          </p:cNvPicPr>
          <p:nvPr/>
        </p:nvPicPr>
        <p:blipFill>
          <a:blip r:embed="rId2"/>
          <a:srcRect l="-461" r="-461" t="0" b="0"/>
          <a:stretch/>
        </p:blipFill>
        <p:spPr>
          <a:xfrm>
            <a:off x="1505102" y="3392424"/>
            <a:ext cx="237744" cy="209398"/>
          </a:xfrm>
          <a:prstGeom prst="rect">
            <a:avLst/>
          </a:prstGeom>
        </p:spPr>
      </p:pic>
      <p:sp>
        <p:nvSpPr>
          <p:cNvPr id="21" name="Text 17"/>
          <p:cNvSpPr txBox="1"/>
          <p:nvPr/>
        </p:nvSpPr>
        <p:spPr>
          <a:xfrm>
            <a:off x="1505102" y="3730752"/>
            <a:ext cx="4248302" cy="523951"/>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ブラックボックスだった業務量や進捗が、リアルタイムに地図のように広がります。</a:t>
            </a:r>
            <a:endParaRPr lang="en-US" sz="1200" dirty="0"/>
          </a:p>
        </p:txBody>
      </p:sp>
      <p:sp>
        <p:nvSpPr>
          <p:cNvPr id="22" name="Shape 18"/>
          <p:cNvSpPr/>
          <p:nvPr/>
        </p:nvSpPr>
        <p:spPr>
          <a:xfrm>
            <a:off x="571500" y="4889297"/>
            <a:ext cx="5333695" cy="1591056"/>
          </a:xfrm>
          <a:prstGeom prst="roundRect">
            <a:avLst>
              <a:gd name="adj" fmla="val 3441"/>
            </a:avLst>
          </a:prstGeom>
          <a:solidFill>
            <a:srgbClr val="FFFFFF"/>
          </a:solidFill>
          <a:ln/>
        </p:spPr>
      </p:sp>
      <p:sp>
        <p:nvSpPr>
          <p:cNvPr id="23" name="Shape 19"/>
          <p:cNvSpPr/>
          <p:nvPr/>
        </p:nvSpPr>
        <p:spPr>
          <a:xfrm>
            <a:off x="571500" y="4889297"/>
            <a:ext cx="57607" cy="1591056"/>
          </a:xfrm>
          <a:prstGeom prst="roundRect">
            <a:avLst>
              <a:gd name="adj" fmla="val 95048"/>
            </a:avLst>
          </a:prstGeom>
          <a:solidFill>
            <a:srgbClr val="3B82F6"/>
          </a:solidFill>
          <a:ln w="12700">
            <a:solidFill>
              <a:srgbClr val="3B82F6">
                <a:alpha val="0"/>
              </a:srgbClr>
            </a:solidFill>
            <a:prstDash val="solid"/>
          </a:ln>
        </p:spPr>
      </p:sp>
      <p:sp>
        <p:nvSpPr>
          <p:cNvPr id="24" name="Text 20"/>
          <p:cNvSpPr txBox="1"/>
          <p:nvPr/>
        </p:nvSpPr>
        <p:spPr>
          <a:xfrm>
            <a:off x="819302" y="5156302"/>
            <a:ext cx="534010" cy="457200"/>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800" b="1" dirty="0">
                <a:solidFill>
                  <a:srgbClr val="3B82F6"/>
                </a:solidFill>
                <a:latin typeface="Noto Sans JP" pitchFamily="34" charset="0"/>
                <a:ea typeface="Noto Sans JP" pitchFamily="34" charset="-122"/>
                <a:cs typeface="Noto Sans JP" pitchFamily="34" charset="-120"/>
              </a:rPr>
              <a:t>3</a:t>
            </a:r>
            <a:endParaRPr lang="en-US" sz="1800" dirty="0"/>
          </a:p>
        </p:txBody>
      </p:sp>
      <p:sp>
        <p:nvSpPr>
          <p:cNvPr id="25" name="Text 21"/>
          <p:cNvSpPr txBox="1"/>
          <p:nvPr/>
        </p:nvSpPr>
        <p:spPr>
          <a:xfrm>
            <a:off x="1857146" y="5117897"/>
            <a:ext cx="4010558"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知識の組織化（ナレッジ化）</a:t>
            </a:r>
            <a:endParaRPr lang="en-US" sz="1600" dirty="0"/>
          </a:p>
        </p:txBody>
      </p:sp>
      <p:pic>
        <p:nvPicPr>
          <p:cNvPr id="26" name="Image 2" descr="preencoded.png">    </p:cNvPr>
          <p:cNvPicPr>
            <a:picLocks noChangeAspect="1"/>
          </p:cNvPicPr>
          <p:nvPr/>
        </p:nvPicPr>
        <p:blipFill>
          <a:blip r:embed="rId3"/>
          <a:srcRect l="-461" r="-461" t="0" b="0"/>
          <a:stretch/>
        </p:blipFill>
        <p:spPr>
          <a:xfrm>
            <a:off x="1505102" y="5170932"/>
            <a:ext cx="237744" cy="209398"/>
          </a:xfrm>
          <a:prstGeom prst="rect">
            <a:avLst/>
          </a:prstGeom>
        </p:spPr>
      </p:pic>
      <p:sp>
        <p:nvSpPr>
          <p:cNvPr id="27" name="Text 22"/>
          <p:cNvSpPr txBox="1"/>
          <p:nvPr/>
        </p:nvSpPr>
        <p:spPr>
          <a:xfrm>
            <a:off x="1505102" y="5508346"/>
            <a:ext cx="4248302" cy="523951"/>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個人の頭の中にあったノウハウが、システム上の共有資産として蓄積・活用されます。</a:t>
            </a:r>
            <a:endParaRPr lang="en-US" sz="1200" dirty="0"/>
          </a:p>
        </p:txBody>
      </p:sp>
      <p:sp>
        <p:nvSpPr>
          <p:cNvPr id="28" name="Shape 23"/>
          <p:cNvSpPr/>
          <p:nvPr/>
        </p:nvSpPr>
        <p:spPr>
          <a:xfrm>
            <a:off x="6286500" y="1333195"/>
            <a:ext cx="5333695" cy="1638605"/>
          </a:xfrm>
          <a:prstGeom prst="roundRect">
            <a:avLst>
              <a:gd name="adj" fmla="val 3244"/>
            </a:avLst>
          </a:prstGeom>
          <a:solidFill>
            <a:srgbClr val="FFFFFF"/>
          </a:solidFill>
          <a:ln/>
        </p:spPr>
      </p:sp>
      <p:sp>
        <p:nvSpPr>
          <p:cNvPr id="29" name="Shape 24"/>
          <p:cNvSpPr/>
          <p:nvPr/>
        </p:nvSpPr>
        <p:spPr>
          <a:xfrm>
            <a:off x="6286500" y="1333195"/>
            <a:ext cx="57607" cy="1638605"/>
          </a:xfrm>
          <a:prstGeom prst="roundRect">
            <a:avLst>
              <a:gd name="adj" fmla="val 92285"/>
            </a:avLst>
          </a:prstGeom>
          <a:solidFill>
            <a:srgbClr val="10B981"/>
          </a:solidFill>
          <a:ln w="12700">
            <a:solidFill>
              <a:srgbClr val="10B981">
                <a:alpha val="0"/>
              </a:srgbClr>
            </a:solidFill>
            <a:prstDash val="solid"/>
          </a:ln>
        </p:spPr>
      </p:sp>
      <p:sp>
        <p:nvSpPr>
          <p:cNvPr id="30" name="Text 25"/>
          <p:cNvSpPr txBox="1"/>
          <p:nvPr/>
        </p:nvSpPr>
        <p:spPr>
          <a:xfrm>
            <a:off x="6534302" y="1600200"/>
            <a:ext cx="534010" cy="457200"/>
          </a:xfrm>
          <a:prstGeom prst="rect">
            <a:avLst/>
          </a:prstGeom>
          <a:solidFill>
            <a:srgbClr val="ECFDF5"/>
          </a:solidFill>
          <a:ln w="12700">
            <a:solidFill>
              <a:srgbClr val="A7F3D0"/>
            </a:solidFill>
          </a:ln>
        </p:spPr>
        <p:txBody>
          <a:bodyPr wrap="square" lIns="0" tIns="0" rIns="0" bIns="0" rtlCol="0" anchor="ctr"/>
          <a:lstStyle/>
          <a:p>
            <a:pPr algn="ctr" indent="0" marL="0">
              <a:buNone/>
            </a:pPr>
            <a:r>
              <a:rPr lang="en-US" sz="1800" b="1" dirty="0">
                <a:solidFill>
                  <a:srgbClr val="10B981"/>
                </a:solidFill>
                <a:latin typeface="Noto Sans JP" pitchFamily="34" charset="0"/>
                <a:ea typeface="Noto Sans JP" pitchFamily="34" charset="-122"/>
                <a:cs typeface="Noto Sans JP" pitchFamily="34" charset="-120"/>
              </a:rPr>
              <a:t>4</a:t>
            </a:r>
            <a:endParaRPr lang="en-US" sz="1800" dirty="0"/>
          </a:p>
        </p:txBody>
      </p:sp>
      <p:sp>
        <p:nvSpPr>
          <p:cNvPr id="31" name="Text 26"/>
          <p:cNvSpPr txBox="1"/>
          <p:nvPr/>
        </p:nvSpPr>
        <p:spPr>
          <a:xfrm>
            <a:off x="7601407" y="1561795"/>
            <a:ext cx="3981298"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判断の自動化（標準化）</a:t>
            </a:r>
            <a:endParaRPr lang="en-US" sz="1600" dirty="0"/>
          </a:p>
        </p:txBody>
      </p:sp>
      <p:pic>
        <p:nvPicPr>
          <p:cNvPr id="32" name="Image 3" descr="preencoded.png">    </p:cNvPr>
          <p:cNvPicPr>
            <a:picLocks noChangeAspect="1"/>
          </p:cNvPicPr>
          <p:nvPr/>
        </p:nvPicPr>
        <p:blipFill>
          <a:blip r:embed="rId4"/>
          <a:srcRect l="-1004" r="-1004" t="0" b="0"/>
          <a:stretch/>
        </p:blipFill>
        <p:spPr>
          <a:xfrm>
            <a:off x="7220102" y="1614830"/>
            <a:ext cx="267005" cy="209398"/>
          </a:xfrm>
          <a:prstGeom prst="rect">
            <a:avLst/>
          </a:prstGeom>
        </p:spPr>
      </p:pic>
      <p:sp>
        <p:nvSpPr>
          <p:cNvPr id="33" name="Text 27"/>
          <p:cNvSpPr txBox="1"/>
          <p:nvPr/>
        </p:nvSpPr>
        <p:spPr>
          <a:xfrm>
            <a:off x="7220102" y="1952244"/>
            <a:ext cx="4248302" cy="781812"/>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「知識」がシステムに組み込まれることで、複雑な計算やルールの適用が自動化され、誰でも同じ結果が出せるようになります。</a:t>
            </a:r>
            <a:endParaRPr lang="en-US" sz="1200" dirty="0"/>
          </a:p>
        </p:txBody>
      </p:sp>
      <p:sp>
        <p:nvSpPr>
          <p:cNvPr id="34" name="Shape 28"/>
          <p:cNvSpPr/>
          <p:nvPr/>
        </p:nvSpPr>
        <p:spPr>
          <a:xfrm>
            <a:off x="6286500" y="3157423"/>
            <a:ext cx="5333695" cy="1638605"/>
          </a:xfrm>
          <a:prstGeom prst="roundRect">
            <a:avLst>
              <a:gd name="adj" fmla="val 3244"/>
            </a:avLst>
          </a:prstGeom>
          <a:solidFill>
            <a:srgbClr val="FFFFFF"/>
          </a:solidFill>
          <a:ln/>
        </p:spPr>
      </p:sp>
      <p:sp>
        <p:nvSpPr>
          <p:cNvPr id="35" name="Shape 29"/>
          <p:cNvSpPr/>
          <p:nvPr/>
        </p:nvSpPr>
        <p:spPr>
          <a:xfrm>
            <a:off x="6286500" y="3157423"/>
            <a:ext cx="57607" cy="1638605"/>
          </a:xfrm>
          <a:prstGeom prst="roundRect">
            <a:avLst>
              <a:gd name="adj" fmla="val 92285"/>
            </a:avLst>
          </a:prstGeom>
          <a:solidFill>
            <a:srgbClr val="10B981"/>
          </a:solidFill>
          <a:ln w="12700">
            <a:solidFill>
              <a:srgbClr val="10B981">
                <a:alpha val="0"/>
              </a:srgbClr>
            </a:solidFill>
            <a:prstDash val="solid"/>
          </a:ln>
        </p:spPr>
      </p:sp>
      <p:sp>
        <p:nvSpPr>
          <p:cNvPr id="36" name="Text 30"/>
          <p:cNvSpPr txBox="1"/>
          <p:nvPr/>
        </p:nvSpPr>
        <p:spPr>
          <a:xfrm>
            <a:off x="6534302" y="3424428"/>
            <a:ext cx="534010" cy="457200"/>
          </a:xfrm>
          <a:prstGeom prst="rect">
            <a:avLst/>
          </a:prstGeom>
          <a:solidFill>
            <a:srgbClr val="ECFDF5"/>
          </a:solidFill>
          <a:ln w="12700">
            <a:solidFill>
              <a:srgbClr val="A7F3D0"/>
            </a:solidFill>
          </a:ln>
        </p:spPr>
        <p:txBody>
          <a:bodyPr wrap="square" lIns="0" tIns="0" rIns="0" bIns="0" rtlCol="0" anchor="ctr"/>
          <a:lstStyle/>
          <a:p>
            <a:pPr algn="ctr" indent="0" marL="0">
              <a:buNone/>
            </a:pPr>
            <a:r>
              <a:rPr lang="en-US" sz="1800" b="1" dirty="0">
                <a:solidFill>
                  <a:srgbClr val="10B981"/>
                </a:solidFill>
                <a:latin typeface="Noto Sans JP" pitchFamily="34" charset="0"/>
                <a:ea typeface="Noto Sans JP" pitchFamily="34" charset="-122"/>
                <a:cs typeface="Noto Sans JP" pitchFamily="34" charset="-120"/>
              </a:rPr>
              <a:t>5</a:t>
            </a:r>
            <a:endParaRPr lang="en-US" sz="1800" dirty="0"/>
          </a:p>
        </p:txBody>
      </p:sp>
      <p:sp>
        <p:nvSpPr>
          <p:cNvPr id="37" name="Text 31"/>
          <p:cNvSpPr txBox="1"/>
          <p:nvPr/>
        </p:nvSpPr>
        <p:spPr>
          <a:xfrm>
            <a:off x="7543800" y="3386023"/>
            <a:ext cx="4038905" cy="314554"/>
          </a:xfrm>
          <a:prstGeom prst="rect">
            <a:avLst/>
          </a:prstGeom>
          <a:noFill/>
          <a:ln/>
        </p:spPr>
        <p:txBody>
          <a:bodyPr wrap="square" lIns="0" tIns="0" rIns="0" bIns="0" rtlCol="0" anchor="ctr"/>
          <a:lstStyle/>
          <a:p>
            <a:pPr algn="l" indent="0" marL="0">
              <a:buNone/>
            </a:pPr>
            <a:r>
              <a:rPr lang="en-US" sz="1600" b="1" dirty="0">
                <a:solidFill>
                  <a:srgbClr val="1F2937"/>
                </a:solidFill>
                <a:latin typeface="Noto Sans JP" pitchFamily="34" charset="0"/>
                <a:ea typeface="Noto Sans JP" pitchFamily="34" charset="-122"/>
                <a:cs typeface="Noto Sans JP" pitchFamily="34" charset="-120"/>
              </a:rPr>
              <a:t>フィードバックの仕組み化</a:t>
            </a:r>
            <a:endParaRPr lang="en-US" sz="1600" dirty="0"/>
          </a:p>
        </p:txBody>
      </p:sp>
      <p:pic>
        <p:nvPicPr>
          <p:cNvPr id="38" name="Image 4" descr="preencoded.png">    </p:cNvPr>
          <p:cNvPicPr>
            <a:picLocks noChangeAspect="1"/>
          </p:cNvPicPr>
          <p:nvPr/>
        </p:nvPicPr>
        <p:blipFill>
          <a:blip r:embed="rId5"/>
          <a:srcRect l="0" r="0" t="0" b="0"/>
          <a:stretch/>
        </p:blipFill>
        <p:spPr>
          <a:xfrm>
            <a:off x="7220102" y="3438144"/>
            <a:ext cx="209398" cy="209398"/>
          </a:xfrm>
          <a:prstGeom prst="rect">
            <a:avLst/>
          </a:prstGeom>
        </p:spPr>
      </p:pic>
      <p:sp>
        <p:nvSpPr>
          <p:cNvPr id="39" name="Text 32"/>
          <p:cNvSpPr txBox="1"/>
          <p:nvPr/>
        </p:nvSpPr>
        <p:spPr>
          <a:xfrm>
            <a:off x="7220102" y="3776472"/>
            <a:ext cx="4248302" cy="781812"/>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失敗やトラブルが個人のミスで終わらず、システムの改善（再発防止）としてフィードバックされるPDCAが回ります。</a:t>
            </a:r>
            <a:endParaRPr lang="en-US" sz="1200" dirty="0"/>
          </a:p>
        </p:txBody>
      </p:sp>
      <p:sp>
        <p:nvSpPr>
          <p:cNvPr id="40" name="Shape 33"/>
          <p:cNvSpPr/>
          <p:nvPr/>
        </p:nvSpPr>
        <p:spPr>
          <a:xfrm>
            <a:off x="6286500" y="4981651"/>
            <a:ext cx="5333695" cy="1495044"/>
          </a:xfrm>
          <a:prstGeom prst="roundRect">
            <a:avLst>
              <a:gd name="adj" fmla="val 3117"/>
            </a:avLst>
          </a:prstGeom>
          <a:solidFill>
            <a:srgbClr val="F0F9FF"/>
          </a:solidFill>
          <a:ln w="12700">
            <a:solidFill>
              <a:srgbClr val="BAE6FD"/>
            </a:solidFill>
            <a:prstDash val="solid"/>
          </a:ln>
        </p:spPr>
      </p:sp>
      <p:sp>
        <p:nvSpPr>
          <p:cNvPr id="41" name="Text 34"/>
          <p:cNvSpPr txBox="1"/>
          <p:nvPr/>
        </p:nvSpPr>
        <p:spPr>
          <a:xfrm>
            <a:off x="6752844" y="5219395"/>
            <a:ext cx="4819802" cy="257861"/>
          </a:xfrm>
          <a:prstGeom prst="rect">
            <a:avLst/>
          </a:prstGeom>
          <a:noFill/>
          <a:ln/>
        </p:spPr>
        <p:txBody>
          <a:bodyPr wrap="square" lIns="0" tIns="0" rIns="0" bIns="0" rtlCol="0" anchor="ctr"/>
          <a:lstStyle/>
          <a:p>
            <a:pPr algn="l" indent="0" marL="0">
              <a:buNone/>
            </a:pPr>
            <a:r>
              <a:rPr lang="en-US" sz="1300" b="1" dirty="0">
                <a:solidFill>
                  <a:srgbClr val="0369A1"/>
                </a:solidFill>
                <a:latin typeface="Noto Sans JP" pitchFamily="34" charset="0"/>
                <a:ea typeface="Noto Sans JP" pitchFamily="34" charset="-122"/>
                <a:cs typeface="Noto Sans JP" pitchFamily="34" charset="-120"/>
              </a:rPr>
              <a:t>結論</a:t>
            </a:r>
            <a:endParaRPr lang="en-US" sz="1300" dirty="0"/>
          </a:p>
        </p:txBody>
      </p:sp>
      <p:pic>
        <p:nvPicPr>
          <p:cNvPr id="42" name="Image 5" descr="preencoded.png">    </p:cNvPr>
          <p:cNvPicPr>
            <a:picLocks noChangeAspect="1"/>
          </p:cNvPicPr>
          <p:nvPr/>
        </p:nvPicPr>
        <p:blipFill>
          <a:blip r:embed="rId6"/>
          <a:srcRect l="-760" r="-760" t="0" b="0"/>
          <a:stretch/>
        </p:blipFill>
        <p:spPr>
          <a:xfrm>
            <a:off x="6524244" y="5262372"/>
            <a:ext cx="152705" cy="171907"/>
          </a:xfrm>
          <a:prstGeom prst="rect">
            <a:avLst/>
          </a:prstGeom>
        </p:spPr>
      </p:pic>
      <p:sp>
        <p:nvSpPr>
          <p:cNvPr id="43" name="Text 35"/>
          <p:cNvSpPr txBox="1"/>
          <p:nvPr/>
        </p:nvSpPr>
        <p:spPr>
          <a:xfrm>
            <a:off x="6524244" y="5553151"/>
            <a:ext cx="4934102" cy="685800"/>
          </a:xfrm>
          <a:prstGeom prst="rect">
            <a:avLst/>
          </a:prstGeom>
          <a:noFill/>
          <a:ln/>
        </p:spPr>
        <p:txBody>
          <a:bodyPr wrap="square" lIns="0" tIns="0" rIns="0" bIns="0" rtlCol="0" anchor="t"/>
          <a:lstStyle/>
          <a:p>
            <a:pPr algn="l" indent="0" marL="0">
              <a:buNone/>
            </a:pPr>
            <a:r>
              <a:rPr lang="en-US" sz="1200" dirty="0">
                <a:solidFill>
                  <a:srgbClr val="0C4A6E"/>
                </a:solidFill>
                <a:latin typeface="Noto Sans JP" pitchFamily="34" charset="0"/>
                <a:ea typeface="Noto Sans JP" pitchFamily="34" charset="-122"/>
                <a:cs typeface="Noto Sans JP" pitchFamily="34" charset="-120"/>
              </a:rPr>
              <a:t>これら5つの本質的な効果を、「仕事ナビ」という単一のバックボーン（仕組み）として実現します。個別の便利ツール導入では得られない、組織全体の体質改善効果です。</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952805"/>
          </a:xfrm>
          <a:prstGeom prst="rect">
            <a:avLst/>
          </a:prstGeom>
          <a:solidFill>
            <a:srgbClr val="FFFFFF"/>
          </a:solidFill>
          <a:ln/>
        </p:spPr>
      </p:sp>
      <p:sp>
        <p:nvSpPr>
          <p:cNvPr id="5" name="Shape 3"/>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6" name="Shape 4"/>
          <p:cNvSpPr/>
          <p:nvPr/>
        </p:nvSpPr>
        <p:spPr>
          <a:xfrm>
            <a:off x="571500" y="309982"/>
            <a:ext cx="1257300" cy="362102"/>
          </a:xfrm>
          <a:prstGeom prst="roundRect">
            <a:avLst>
              <a:gd name="adj" fmla="val 26582"/>
            </a:avLst>
          </a:prstGeom>
          <a:solidFill>
            <a:srgbClr val="3B82F6"/>
          </a:solidFill>
          <a:ln w="12700">
            <a:solidFill>
              <a:srgbClr val="FFFFFF">
                <a:alpha val="0"/>
              </a:srgbClr>
            </a:solidFill>
            <a:prstDash val="solid"/>
          </a:ln>
        </p:spPr>
      </p:sp>
      <p:sp>
        <p:nvSpPr>
          <p:cNvPr id="7" name="Text 5"/>
          <p:cNvSpPr txBox="1"/>
          <p:nvPr/>
        </p:nvSpPr>
        <p:spPr>
          <a:xfrm>
            <a:off x="571500" y="309982"/>
            <a:ext cx="1357884"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具体的効果</a:t>
            </a:r>
            <a:endParaRPr lang="en-US" sz="1500" dirty="0"/>
          </a:p>
        </p:txBody>
      </p:sp>
      <p:sp>
        <p:nvSpPr>
          <p:cNvPr id="8" name="Text 6"/>
          <p:cNvSpPr txBox="1"/>
          <p:nvPr/>
        </p:nvSpPr>
        <p:spPr>
          <a:xfrm>
            <a:off x="2018995" y="261518"/>
            <a:ext cx="5382158"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具体的な効果（仕事の可視化・管理）</a:t>
            </a:r>
            <a:endParaRPr lang="en-US" sz="2400" dirty="0"/>
          </a:p>
        </p:txBody>
      </p:sp>
      <p:sp>
        <p:nvSpPr>
          <p:cNvPr id="9" name="Shape 7"/>
          <p:cNvSpPr/>
          <p:nvPr/>
        </p:nvSpPr>
        <p:spPr>
          <a:xfrm>
            <a:off x="0" y="952805"/>
            <a:ext cx="12191695" cy="5905195"/>
          </a:xfrm>
          <a:prstGeom prst="rect">
            <a:avLst/>
          </a:prstGeom>
          <a:solidFill>
            <a:srgbClr val="F9FAFB"/>
          </a:solidFill>
          <a:ln w="12700">
            <a:solidFill>
              <a:srgbClr val="FFFFFF">
                <a:alpha val="0"/>
              </a:srgbClr>
            </a:solidFill>
            <a:prstDash val="solid"/>
          </a:ln>
        </p:spPr>
      </p:sp>
      <p:sp>
        <p:nvSpPr>
          <p:cNvPr id="10" name="Text 8"/>
          <p:cNvSpPr txBox="1"/>
          <p:nvPr/>
        </p:nvSpPr>
        <p:spPr>
          <a:xfrm>
            <a:off x="724205" y="1238098"/>
            <a:ext cx="5419649" cy="200254"/>
          </a:xfrm>
          <a:prstGeom prst="rect">
            <a:avLst/>
          </a:prstGeom>
          <a:noFill/>
          <a:ln/>
        </p:spPr>
        <p:txBody>
          <a:bodyPr wrap="square" lIns="0" tIns="0" rIns="0" bIns="0" rtlCol="0" anchor="ctr"/>
          <a:lstStyle/>
          <a:p>
            <a:pPr algn="l" indent="0" marL="0">
              <a:buNone/>
            </a:pPr>
            <a:r>
              <a:rPr lang="en-US" sz="1000" b="1" spc="52" kern="0" dirty="0">
                <a:solidFill>
                  <a:srgbClr val="6B7280"/>
                </a:solidFill>
                <a:latin typeface="Noto Sans JP" pitchFamily="34" charset="0"/>
                <a:ea typeface="Noto Sans JP" pitchFamily="34" charset="-122"/>
                <a:cs typeface="Noto Sans JP" pitchFamily="34" charset="-120"/>
              </a:rPr>
              <a:t>可視化と予測</a:t>
            </a:r>
            <a:endParaRPr lang="en-US" sz="1000" dirty="0"/>
          </a:p>
        </p:txBody>
      </p:sp>
      <p:pic>
        <p:nvPicPr>
          <p:cNvPr id="11" name="Image 0" descr="preencoded.png">    </p:cNvPr>
          <p:cNvPicPr>
            <a:picLocks noChangeAspect="1"/>
          </p:cNvPicPr>
          <p:nvPr/>
        </p:nvPicPr>
        <p:blipFill>
          <a:blip r:embed="rId1"/>
          <a:srcRect l="-837" r="-837" t="0" b="0"/>
          <a:stretch/>
        </p:blipFill>
        <p:spPr>
          <a:xfrm>
            <a:off x="571500" y="1271930"/>
            <a:ext cx="152705" cy="133502"/>
          </a:xfrm>
          <a:prstGeom prst="rect">
            <a:avLst/>
          </a:prstGeom>
        </p:spPr>
      </p:pic>
      <p:sp>
        <p:nvSpPr>
          <p:cNvPr id="12" name="Shape 9"/>
          <p:cNvSpPr/>
          <p:nvPr/>
        </p:nvSpPr>
        <p:spPr>
          <a:xfrm>
            <a:off x="571500" y="1676095"/>
            <a:ext cx="5381244" cy="961949"/>
          </a:xfrm>
          <a:prstGeom prst="roundRect">
            <a:avLst>
              <a:gd name="adj" fmla="val 7529"/>
            </a:avLst>
          </a:prstGeom>
          <a:solidFill>
            <a:srgbClr val="FFFFFF"/>
          </a:solidFill>
          <a:ln/>
        </p:spPr>
      </p:sp>
      <p:sp>
        <p:nvSpPr>
          <p:cNvPr id="13" name="Shape 10"/>
          <p:cNvSpPr/>
          <p:nvPr/>
        </p:nvSpPr>
        <p:spPr>
          <a:xfrm>
            <a:off x="571500" y="1676095"/>
            <a:ext cx="47549" cy="961949"/>
          </a:xfrm>
          <a:prstGeom prst="roundRect">
            <a:avLst>
              <a:gd name="adj" fmla="val 152322"/>
            </a:avLst>
          </a:prstGeom>
          <a:solidFill>
            <a:srgbClr val="3B82F6"/>
          </a:solidFill>
          <a:ln w="12700">
            <a:solidFill>
              <a:srgbClr val="3B82F6">
                <a:alpha val="0"/>
              </a:srgbClr>
            </a:solidFill>
            <a:prstDash val="solid"/>
          </a:ln>
        </p:spPr>
      </p:sp>
      <p:sp>
        <p:nvSpPr>
          <p:cNvPr id="14" name="Text 11"/>
          <p:cNvSpPr txBox="1"/>
          <p:nvPr/>
        </p:nvSpPr>
        <p:spPr>
          <a:xfrm>
            <a:off x="752551" y="1837944"/>
            <a:ext cx="419710" cy="342900"/>
          </a:xfrm>
          <a:prstGeom prst="rect">
            <a:avLst/>
          </a:prstGeom>
          <a:solidFill>
            <a:srgbClr val="EFF6FF"/>
          </a:solidFill>
          <a:ln w="12700">
            <a:solidFill>
              <a:srgbClr val="DBEAFE"/>
            </a:solidFill>
          </a:ln>
        </p:spPr>
        <p:txBody>
          <a:bodyPr wrap="square" lIns="0" tIns="0" rIns="0" bIns="0" rtlCol="0" anchor="ctr"/>
          <a:lstStyle/>
          <a:p>
            <a:pPr algn="ctr" indent="0" marL="0">
              <a:buNone/>
            </a:pPr>
            <a:r>
              <a:rPr lang="en-US" sz="1300" b="1" dirty="0">
                <a:solidFill>
                  <a:srgbClr val="3B82F6"/>
                </a:solidFill>
                <a:latin typeface="Noto Sans JP" pitchFamily="34" charset="0"/>
                <a:ea typeface="Noto Sans JP" pitchFamily="34" charset="-122"/>
                <a:cs typeface="Noto Sans JP" pitchFamily="34" charset="-120"/>
              </a:rPr>
              <a:t>1</a:t>
            </a:r>
            <a:endParaRPr lang="en-US" sz="1300" dirty="0"/>
          </a:p>
        </p:txBody>
      </p:sp>
      <p:sp>
        <p:nvSpPr>
          <p:cNvPr id="15" name="Text 12"/>
          <p:cNvSpPr txBox="1"/>
          <p:nvPr/>
        </p:nvSpPr>
        <p:spPr>
          <a:xfrm>
            <a:off x="1266444" y="1819656"/>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仕事が「見える」ようになる</a:t>
            </a:r>
            <a:endParaRPr lang="en-US" sz="1300" dirty="0"/>
          </a:p>
        </p:txBody>
      </p:sp>
      <p:sp>
        <p:nvSpPr>
          <p:cNvPr id="16" name="Text 13"/>
          <p:cNvSpPr txBox="1"/>
          <p:nvPr/>
        </p:nvSpPr>
        <p:spPr>
          <a:xfrm>
            <a:off x="1266444" y="2115007"/>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誰が何をいつやるか、どこまで進んでいるかが可視化され、進捗管理工数が削減される。</a:t>
            </a:r>
            <a:endParaRPr lang="en-US" sz="1000" dirty="0"/>
          </a:p>
        </p:txBody>
      </p:sp>
      <p:sp>
        <p:nvSpPr>
          <p:cNvPr id="17" name="Shape 14"/>
          <p:cNvSpPr/>
          <p:nvPr/>
        </p:nvSpPr>
        <p:spPr>
          <a:xfrm>
            <a:off x="571500" y="2773375"/>
            <a:ext cx="5381244" cy="961949"/>
          </a:xfrm>
          <a:prstGeom prst="roundRect">
            <a:avLst>
              <a:gd name="adj" fmla="val 7529"/>
            </a:avLst>
          </a:prstGeom>
          <a:solidFill>
            <a:srgbClr val="FFFFFF"/>
          </a:solidFill>
          <a:ln/>
        </p:spPr>
      </p:sp>
      <p:sp>
        <p:nvSpPr>
          <p:cNvPr id="18" name="Shape 15"/>
          <p:cNvSpPr/>
          <p:nvPr/>
        </p:nvSpPr>
        <p:spPr>
          <a:xfrm>
            <a:off x="571500" y="2773375"/>
            <a:ext cx="47549" cy="961949"/>
          </a:xfrm>
          <a:prstGeom prst="roundRect">
            <a:avLst>
              <a:gd name="adj" fmla="val 152322"/>
            </a:avLst>
          </a:prstGeom>
          <a:solidFill>
            <a:srgbClr val="3B82F6"/>
          </a:solidFill>
          <a:ln w="12700">
            <a:solidFill>
              <a:srgbClr val="3B82F6">
                <a:alpha val="0"/>
              </a:srgbClr>
            </a:solidFill>
            <a:prstDash val="solid"/>
          </a:ln>
        </p:spPr>
      </p:sp>
      <p:sp>
        <p:nvSpPr>
          <p:cNvPr id="19" name="Text 16"/>
          <p:cNvSpPr txBox="1"/>
          <p:nvPr/>
        </p:nvSpPr>
        <p:spPr>
          <a:xfrm>
            <a:off x="752551" y="2935224"/>
            <a:ext cx="419710" cy="342900"/>
          </a:xfrm>
          <a:prstGeom prst="rect">
            <a:avLst/>
          </a:prstGeom>
          <a:solidFill>
            <a:srgbClr val="EFF6FF"/>
          </a:solidFill>
          <a:ln w="12700">
            <a:solidFill>
              <a:srgbClr val="DBEAFE"/>
            </a:solidFill>
          </a:ln>
        </p:spPr>
        <p:txBody>
          <a:bodyPr wrap="square" lIns="0" tIns="0" rIns="0" bIns="0" rtlCol="0" anchor="ctr"/>
          <a:lstStyle/>
          <a:p>
            <a:pPr algn="ctr" indent="0" marL="0">
              <a:buNone/>
            </a:pPr>
            <a:r>
              <a:rPr lang="en-US" sz="1300" b="1" dirty="0">
                <a:solidFill>
                  <a:srgbClr val="3B82F6"/>
                </a:solidFill>
                <a:latin typeface="Noto Sans JP" pitchFamily="34" charset="0"/>
                <a:ea typeface="Noto Sans JP" pitchFamily="34" charset="-122"/>
                <a:cs typeface="Noto Sans JP" pitchFamily="34" charset="-120"/>
              </a:rPr>
              <a:t>2</a:t>
            </a:r>
            <a:endParaRPr lang="en-US" sz="1300" dirty="0"/>
          </a:p>
        </p:txBody>
      </p:sp>
      <p:sp>
        <p:nvSpPr>
          <p:cNvPr id="20" name="Text 17"/>
          <p:cNvSpPr txBox="1"/>
          <p:nvPr/>
        </p:nvSpPr>
        <p:spPr>
          <a:xfrm>
            <a:off x="1266444" y="2916022"/>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業務の偏りが事前にわかる</a:t>
            </a:r>
            <a:endParaRPr lang="en-US" sz="1300" dirty="0"/>
          </a:p>
        </p:txBody>
      </p:sp>
      <p:sp>
        <p:nvSpPr>
          <p:cNvPr id="21" name="Text 18"/>
          <p:cNvSpPr txBox="1"/>
          <p:nvPr/>
        </p:nvSpPr>
        <p:spPr>
          <a:xfrm>
            <a:off x="1266444" y="3211373"/>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特定の人に仕事が集中しているかが一目瞭然となり、負荷分散を「事前に」実施できる。</a:t>
            </a:r>
            <a:endParaRPr lang="en-US" sz="1000" dirty="0"/>
          </a:p>
        </p:txBody>
      </p:sp>
      <p:sp>
        <p:nvSpPr>
          <p:cNvPr id="22" name="Shape 19"/>
          <p:cNvSpPr/>
          <p:nvPr/>
        </p:nvSpPr>
        <p:spPr>
          <a:xfrm>
            <a:off x="571500" y="3870655"/>
            <a:ext cx="5381244" cy="771754"/>
          </a:xfrm>
          <a:prstGeom prst="roundRect">
            <a:avLst>
              <a:gd name="adj" fmla="val 11702"/>
            </a:avLst>
          </a:prstGeom>
          <a:solidFill>
            <a:srgbClr val="FFFFFF"/>
          </a:solidFill>
          <a:ln/>
        </p:spPr>
      </p:sp>
      <p:sp>
        <p:nvSpPr>
          <p:cNvPr id="23" name="Shape 20"/>
          <p:cNvSpPr/>
          <p:nvPr/>
        </p:nvSpPr>
        <p:spPr>
          <a:xfrm>
            <a:off x="571500" y="3870655"/>
            <a:ext cx="47549" cy="771754"/>
          </a:xfrm>
          <a:prstGeom prst="roundRect">
            <a:avLst>
              <a:gd name="adj" fmla="val 189933"/>
            </a:avLst>
          </a:prstGeom>
          <a:solidFill>
            <a:srgbClr val="3B82F6"/>
          </a:solidFill>
          <a:ln w="12700">
            <a:solidFill>
              <a:srgbClr val="3B82F6">
                <a:alpha val="0"/>
              </a:srgbClr>
            </a:solidFill>
            <a:prstDash val="solid"/>
          </a:ln>
        </p:spPr>
      </p:sp>
      <p:sp>
        <p:nvSpPr>
          <p:cNvPr id="24" name="Text 21"/>
          <p:cNvSpPr txBox="1"/>
          <p:nvPr/>
        </p:nvSpPr>
        <p:spPr>
          <a:xfrm>
            <a:off x="752551" y="4032504"/>
            <a:ext cx="419710" cy="342900"/>
          </a:xfrm>
          <a:prstGeom prst="rect">
            <a:avLst/>
          </a:prstGeom>
          <a:solidFill>
            <a:srgbClr val="EFF6FF"/>
          </a:solidFill>
          <a:ln w="12700">
            <a:solidFill>
              <a:srgbClr val="DBEAFE"/>
            </a:solidFill>
          </a:ln>
        </p:spPr>
        <p:txBody>
          <a:bodyPr wrap="square" lIns="0" tIns="0" rIns="0" bIns="0" rtlCol="0" anchor="ctr"/>
          <a:lstStyle/>
          <a:p>
            <a:pPr algn="ctr" indent="0" marL="0">
              <a:buNone/>
            </a:pPr>
            <a:r>
              <a:rPr lang="en-US" sz="1300" b="1" dirty="0">
                <a:solidFill>
                  <a:srgbClr val="3B82F6"/>
                </a:solidFill>
                <a:latin typeface="Noto Sans JP" pitchFamily="34" charset="0"/>
                <a:ea typeface="Noto Sans JP" pitchFamily="34" charset="-122"/>
                <a:cs typeface="Noto Sans JP" pitchFamily="34" charset="-120"/>
              </a:rPr>
              <a:t>3</a:t>
            </a:r>
            <a:endParaRPr lang="en-US" sz="1300" dirty="0"/>
          </a:p>
        </p:txBody>
      </p:sp>
      <p:sp>
        <p:nvSpPr>
          <p:cNvPr id="25" name="Text 22"/>
          <p:cNvSpPr txBox="1"/>
          <p:nvPr/>
        </p:nvSpPr>
        <p:spPr>
          <a:xfrm>
            <a:off x="1266444" y="4013302"/>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遅れやトラブルを先に察知できる</a:t>
            </a:r>
            <a:endParaRPr lang="en-US" sz="1300" dirty="0"/>
          </a:p>
        </p:txBody>
      </p:sp>
      <p:sp>
        <p:nvSpPr>
          <p:cNvPr id="26" name="Text 23"/>
          <p:cNvSpPr txBox="1"/>
          <p:nvPr/>
        </p:nvSpPr>
        <p:spPr>
          <a:xfrm>
            <a:off x="1266444" y="4308653"/>
            <a:ext cx="470550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予実差異をリアルタイムで把握し、問題が大きくなる前に手が打てる。</a:t>
            </a:r>
            <a:endParaRPr lang="en-US" sz="1000" dirty="0"/>
          </a:p>
        </p:txBody>
      </p:sp>
      <p:sp>
        <p:nvSpPr>
          <p:cNvPr id="27" name="Shape 24"/>
          <p:cNvSpPr/>
          <p:nvPr/>
        </p:nvSpPr>
        <p:spPr>
          <a:xfrm>
            <a:off x="571500" y="4781398"/>
            <a:ext cx="5381244" cy="961949"/>
          </a:xfrm>
          <a:prstGeom prst="roundRect">
            <a:avLst>
              <a:gd name="adj" fmla="val 7529"/>
            </a:avLst>
          </a:prstGeom>
          <a:solidFill>
            <a:srgbClr val="FFFFFF"/>
          </a:solidFill>
          <a:ln/>
        </p:spPr>
      </p:sp>
      <p:sp>
        <p:nvSpPr>
          <p:cNvPr id="28" name="Shape 25"/>
          <p:cNvSpPr/>
          <p:nvPr/>
        </p:nvSpPr>
        <p:spPr>
          <a:xfrm>
            <a:off x="571500" y="4781398"/>
            <a:ext cx="47549" cy="961949"/>
          </a:xfrm>
          <a:prstGeom prst="roundRect">
            <a:avLst>
              <a:gd name="adj" fmla="val 152322"/>
            </a:avLst>
          </a:prstGeom>
          <a:solidFill>
            <a:srgbClr val="3B82F6"/>
          </a:solidFill>
          <a:ln w="12700">
            <a:solidFill>
              <a:srgbClr val="3B82F6">
                <a:alpha val="0"/>
              </a:srgbClr>
            </a:solidFill>
            <a:prstDash val="solid"/>
          </a:ln>
        </p:spPr>
      </p:sp>
      <p:sp>
        <p:nvSpPr>
          <p:cNvPr id="29" name="Text 26"/>
          <p:cNvSpPr txBox="1"/>
          <p:nvPr/>
        </p:nvSpPr>
        <p:spPr>
          <a:xfrm>
            <a:off x="752551" y="4943246"/>
            <a:ext cx="419710" cy="342900"/>
          </a:xfrm>
          <a:prstGeom prst="rect">
            <a:avLst/>
          </a:prstGeom>
          <a:solidFill>
            <a:srgbClr val="EFF6FF"/>
          </a:solidFill>
          <a:ln w="12700">
            <a:solidFill>
              <a:srgbClr val="DBEAFE"/>
            </a:solidFill>
          </a:ln>
        </p:spPr>
        <p:txBody>
          <a:bodyPr wrap="square" lIns="0" tIns="0" rIns="0" bIns="0" rtlCol="0" anchor="ctr"/>
          <a:lstStyle/>
          <a:p>
            <a:pPr algn="ctr" indent="0" marL="0">
              <a:buNone/>
            </a:pPr>
            <a:r>
              <a:rPr lang="en-US" sz="1300" b="1" dirty="0">
                <a:solidFill>
                  <a:srgbClr val="3B82F6"/>
                </a:solidFill>
                <a:latin typeface="Noto Sans JP" pitchFamily="34" charset="0"/>
                <a:ea typeface="Noto Sans JP" pitchFamily="34" charset="-122"/>
                <a:cs typeface="Noto Sans JP" pitchFamily="34" charset="-120"/>
              </a:rPr>
              <a:t>4</a:t>
            </a:r>
            <a:endParaRPr lang="en-US" sz="1300" dirty="0"/>
          </a:p>
        </p:txBody>
      </p:sp>
      <p:sp>
        <p:nvSpPr>
          <p:cNvPr id="30" name="Text 27"/>
          <p:cNvSpPr txBox="1"/>
          <p:nvPr/>
        </p:nvSpPr>
        <p:spPr>
          <a:xfrm>
            <a:off x="1266444" y="492404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優先順位が明確になる</a:t>
            </a:r>
            <a:endParaRPr lang="en-US" sz="1300" dirty="0"/>
          </a:p>
        </p:txBody>
      </p:sp>
      <p:sp>
        <p:nvSpPr>
          <p:cNvPr id="31" name="Text 28"/>
          <p:cNvSpPr txBox="1"/>
          <p:nvPr/>
        </p:nvSpPr>
        <p:spPr>
          <a:xfrm>
            <a:off x="1266444" y="5219395"/>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「何から手をつけるか」が組織として決まり、「声の大きい人優先」から脱却できる。</a:t>
            </a:r>
            <a:endParaRPr lang="en-US" sz="1000" dirty="0"/>
          </a:p>
        </p:txBody>
      </p:sp>
      <p:sp>
        <p:nvSpPr>
          <p:cNvPr id="32" name="Shape 29"/>
          <p:cNvSpPr/>
          <p:nvPr/>
        </p:nvSpPr>
        <p:spPr>
          <a:xfrm>
            <a:off x="571500" y="5878678"/>
            <a:ext cx="5381244" cy="771754"/>
          </a:xfrm>
          <a:prstGeom prst="roundRect">
            <a:avLst>
              <a:gd name="adj" fmla="val 11702"/>
            </a:avLst>
          </a:prstGeom>
          <a:solidFill>
            <a:srgbClr val="FFFFFF"/>
          </a:solidFill>
          <a:ln/>
        </p:spPr>
      </p:sp>
      <p:sp>
        <p:nvSpPr>
          <p:cNvPr id="33" name="Shape 30"/>
          <p:cNvSpPr/>
          <p:nvPr/>
        </p:nvSpPr>
        <p:spPr>
          <a:xfrm>
            <a:off x="571500" y="5878678"/>
            <a:ext cx="47549" cy="771754"/>
          </a:xfrm>
          <a:prstGeom prst="roundRect">
            <a:avLst>
              <a:gd name="adj" fmla="val 189933"/>
            </a:avLst>
          </a:prstGeom>
          <a:solidFill>
            <a:srgbClr val="3B82F6"/>
          </a:solidFill>
          <a:ln w="12700">
            <a:solidFill>
              <a:srgbClr val="3B82F6">
                <a:alpha val="0"/>
              </a:srgbClr>
            </a:solidFill>
            <a:prstDash val="solid"/>
          </a:ln>
        </p:spPr>
      </p:sp>
      <p:sp>
        <p:nvSpPr>
          <p:cNvPr id="34" name="Text 31"/>
          <p:cNvSpPr txBox="1"/>
          <p:nvPr/>
        </p:nvSpPr>
        <p:spPr>
          <a:xfrm>
            <a:off x="752551" y="6040526"/>
            <a:ext cx="419710" cy="342900"/>
          </a:xfrm>
          <a:prstGeom prst="rect">
            <a:avLst/>
          </a:prstGeom>
          <a:solidFill>
            <a:srgbClr val="EFF6FF"/>
          </a:solidFill>
          <a:ln w="12700">
            <a:solidFill>
              <a:srgbClr val="DBEAFE"/>
            </a:solidFill>
          </a:ln>
        </p:spPr>
        <p:txBody>
          <a:bodyPr wrap="square" lIns="0" tIns="0" rIns="0" bIns="0" rtlCol="0" anchor="ctr"/>
          <a:lstStyle/>
          <a:p>
            <a:pPr algn="ctr" indent="0" marL="0">
              <a:buNone/>
            </a:pPr>
            <a:r>
              <a:rPr lang="en-US" sz="1300" b="1" dirty="0">
                <a:solidFill>
                  <a:srgbClr val="3B82F6"/>
                </a:solidFill>
                <a:latin typeface="Noto Sans JP" pitchFamily="34" charset="0"/>
                <a:ea typeface="Noto Sans JP" pitchFamily="34" charset="-122"/>
                <a:cs typeface="Noto Sans JP" pitchFamily="34" charset="-120"/>
              </a:rPr>
              <a:t>5</a:t>
            </a:r>
            <a:endParaRPr lang="en-US" sz="1300" dirty="0"/>
          </a:p>
        </p:txBody>
      </p:sp>
      <p:sp>
        <p:nvSpPr>
          <p:cNvPr id="35" name="Text 32"/>
          <p:cNvSpPr txBox="1"/>
          <p:nvPr/>
        </p:nvSpPr>
        <p:spPr>
          <a:xfrm>
            <a:off x="1266444" y="602132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「待ち」の時間が減る</a:t>
            </a:r>
            <a:endParaRPr lang="en-US" sz="1300" dirty="0"/>
          </a:p>
        </p:txBody>
      </p:sp>
      <p:sp>
        <p:nvSpPr>
          <p:cNvPr id="36" name="Text 33"/>
          <p:cNvSpPr txBox="1"/>
          <p:nvPr/>
        </p:nvSpPr>
        <p:spPr>
          <a:xfrm>
            <a:off x="1266444" y="6316675"/>
            <a:ext cx="470550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前工程が終わったら自動で次へ。「あの人待ち」で仕事が止まらない。</a:t>
            </a:r>
            <a:endParaRPr lang="en-US" sz="1000" dirty="0"/>
          </a:p>
        </p:txBody>
      </p:sp>
      <p:sp>
        <p:nvSpPr>
          <p:cNvPr id="37" name="Text 34"/>
          <p:cNvSpPr txBox="1"/>
          <p:nvPr/>
        </p:nvSpPr>
        <p:spPr>
          <a:xfrm>
            <a:off x="6381598" y="1238098"/>
            <a:ext cx="5429707" cy="200254"/>
          </a:xfrm>
          <a:prstGeom prst="rect">
            <a:avLst/>
          </a:prstGeom>
          <a:noFill/>
          <a:ln/>
        </p:spPr>
        <p:txBody>
          <a:bodyPr wrap="square" lIns="0" tIns="0" rIns="0" bIns="0" rtlCol="0" anchor="ctr"/>
          <a:lstStyle/>
          <a:p>
            <a:pPr algn="l" indent="0" marL="0">
              <a:buNone/>
            </a:pPr>
            <a:r>
              <a:rPr lang="en-US" sz="1000" b="1" spc="52" kern="0" dirty="0">
                <a:solidFill>
                  <a:srgbClr val="6B7280"/>
                </a:solidFill>
                <a:latin typeface="Noto Sans JP" pitchFamily="34" charset="0"/>
                <a:ea typeface="Noto Sans JP" pitchFamily="34" charset="-122"/>
                <a:cs typeface="Noto Sans JP" pitchFamily="34" charset="-120"/>
              </a:rPr>
              <a:t>効率化と品質</a:t>
            </a:r>
            <a:endParaRPr lang="en-US" sz="1000" dirty="0"/>
          </a:p>
        </p:txBody>
      </p:sp>
      <p:pic>
        <p:nvPicPr>
          <p:cNvPr id="38" name="Image 1" descr="preencoded.png">    </p:cNvPr>
          <p:cNvPicPr>
            <a:picLocks noChangeAspect="1"/>
          </p:cNvPicPr>
          <p:nvPr/>
        </p:nvPicPr>
        <p:blipFill>
          <a:blip r:embed="rId2"/>
          <a:srcRect l="-3425" r="-3425" t="0" b="0"/>
          <a:stretch/>
        </p:blipFill>
        <p:spPr>
          <a:xfrm>
            <a:off x="6238951" y="1271930"/>
            <a:ext cx="142646" cy="133502"/>
          </a:xfrm>
          <a:prstGeom prst="rect">
            <a:avLst/>
          </a:prstGeom>
        </p:spPr>
      </p:pic>
      <p:sp>
        <p:nvSpPr>
          <p:cNvPr id="39" name="Shape 35"/>
          <p:cNvSpPr/>
          <p:nvPr/>
        </p:nvSpPr>
        <p:spPr>
          <a:xfrm>
            <a:off x="6238951" y="1676095"/>
            <a:ext cx="5381244" cy="771754"/>
          </a:xfrm>
          <a:prstGeom prst="roundRect">
            <a:avLst>
              <a:gd name="adj" fmla="val 11702"/>
            </a:avLst>
          </a:prstGeom>
          <a:solidFill>
            <a:srgbClr val="FFFFFF"/>
          </a:solidFill>
          <a:ln/>
        </p:spPr>
      </p:sp>
      <p:sp>
        <p:nvSpPr>
          <p:cNvPr id="40" name="Shape 36"/>
          <p:cNvSpPr/>
          <p:nvPr/>
        </p:nvSpPr>
        <p:spPr>
          <a:xfrm>
            <a:off x="6238951" y="1676095"/>
            <a:ext cx="47549" cy="771754"/>
          </a:xfrm>
          <a:prstGeom prst="roundRect">
            <a:avLst>
              <a:gd name="adj" fmla="val 189933"/>
            </a:avLst>
          </a:prstGeom>
          <a:solidFill>
            <a:srgbClr val="10B981"/>
          </a:solidFill>
          <a:ln w="12700">
            <a:solidFill>
              <a:srgbClr val="10B981">
                <a:alpha val="0"/>
              </a:srgbClr>
            </a:solidFill>
            <a:prstDash val="solid"/>
          </a:ln>
        </p:spPr>
      </p:sp>
      <p:sp>
        <p:nvSpPr>
          <p:cNvPr id="41" name="Text 37"/>
          <p:cNvSpPr txBox="1"/>
          <p:nvPr/>
        </p:nvSpPr>
        <p:spPr>
          <a:xfrm>
            <a:off x="6420002" y="1837944"/>
            <a:ext cx="419710" cy="342900"/>
          </a:xfrm>
          <a:prstGeom prst="rect">
            <a:avLst/>
          </a:prstGeom>
          <a:solidFill>
            <a:srgbClr val="ECFDF5"/>
          </a:solidFill>
          <a:ln w="12700">
            <a:solidFill>
              <a:srgbClr val="D1FAE5"/>
            </a:solidFill>
          </a:ln>
        </p:spPr>
        <p:txBody>
          <a:bodyPr wrap="square" lIns="0" tIns="0" rIns="0" bIns="0" rtlCol="0" anchor="ctr"/>
          <a:lstStyle/>
          <a:p>
            <a:pPr algn="ctr" indent="0" marL="0">
              <a:buNone/>
            </a:pPr>
            <a:r>
              <a:rPr lang="en-US" sz="1300" b="1" dirty="0">
                <a:solidFill>
                  <a:srgbClr val="10B981"/>
                </a:solidFill>
                <a:latin typeface="Noto Sans JP" pitchFamily="34" charset="0"/>
                <a:ea typeface="Noto Sans JP" pitchFamily="34" charset="-122"/>
                <a:cs typeface="Noto Sans JP" pitchFamily="34" charset="-120"/>
              </a:rPr>
              <a:t>6</a:t>
            </a:r>
            <a:endParaRPr lang="en-US" sz="1300" dirty="0"/>
          </a:p>
        </p:txBody>
      </p:sp>
      <p:sp>
        <p:nvSpPr>
          <p:cNvPr id="42" name="Text 38"/>
          <p:cNvSpPr txBox="1"/>
          <p:nvPr/>
        </p:nvSpPr>
        <p:spPr>
          <a:xfrm>
            <a:off x="6933895" y="1819656"/>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会議が減る</a:t>
            </a:r>
            <a:endParaRPr lang="en-US" sz="1300" dirty="0"/>
          </a:p>
        </p:txBody>
      </p:sp>
      <p:sp>
        <p:nvSpPr>
          <p:cNvPr id="43" name="Text 39"/>
          <p:cNvSpPr txBox="1"/>
          <p:nvPr/>
        </p:nvSpPr>
        <p:spPr>
          <a:xfrm>
            <a:off x="6933895" y="2115007"/>
            <a:ext cx="470550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「状況確認のための会議」が不要になる。集まらなくても状況がわかる。</a:t>
            </a:r>
            <a:endParaRPr lang="en-US" sz="1000" dirty="0"/>
          </a:p>
        </p:txBody>
      </p:sp>
      <p:sp>
        <p:nvSpPr>
          <p:cNvPr id="44" name="Shape 40"/>
          <p:cNvSpPr/>
          <p:nvPr/>
        </p:nvSpPr>
        <p:spPr>
          <a:xfrm>
            <a:off x="6238951" y="2586838"/>
            <a:ext cx="5381244" cy="961949"/>
          </a:xfrm>
          <a:prstGeom prst="roundRect">
            <a:avLst>
              <a:gd name="adj" fmla="val 7529"/>
            </a:avLst>
          </a:prstGeom>
          <a:solidFill>
            <a:srgbClr val="FFFFFF"/>
          </a:solidFill>
          <a:ln/>
        </p:spPr>
      </p:sp>
      <p:sp>
        <p:nvSpPr>
          <p:cNvPr id="45" name="Shape 41"/>
          <p:cNvSpPr/>
          <p:nvPr/>
        </p:nvSpPr>
        <p:spPr>
          <a:xfrm>
            <a:off x="6238951" y="2586838"/>
            <a:ext cx="47549" cy="961949"/>
          </a:xfrm>
          <a:prstGeom prst="roundRect">
            <a:avLst>
              <a:gd name="adj" fmla="val 152322"/>
            </a:avLst>
          </a:prstGeom>
          <a:solidFill>
            <a:srgbClr val="10B981"/>
          </a:solidFill>
          <a:ln w="12700">
            <a:solidFill>
              <a:srgbClr val="10B981">
                <a:alpha val="0"/>
              </a:srgbClr>
            </a:solidFill>
            <a:prstDash val="solid"/>
          </a:ln>
        </p:spPr>
      </p:sp>
      <p:sp>
        <p:nvSpPr>
          <p:cNvPr id="46" name="Text 42"/>
          <p:cNvSpPr txBox="1"/>
          <p:nvPr/>
        </p:nvSpPr>
        <p:spPr>
          <a:xfrm>
            <a:off x="6420002" y="2748686"/>
            <a:ext cx="419710" cy="342900"/>
          </a:xfrm>
          <a:prstGeom prst="rect">
            <a:avLst/>
          </a:prstGeom>
          <a:solidFill>
            <a:srgbClr val="ECFDF5"/>
          </a:solidFill>
          <a:ln w="12700">
            <a:solidFill>
              <a:srgbClr val="D1FAE5"/>
            </a:solidFill>
          </a:ln>
        </p:spPr>
        <p:txBody>
          <a:bodyPr wrap="square" lIns="0" tIns="0" rIns="0" bIns="0" rtlCol="0" anchor="ctr"/>
          <a:lstStyle/>
          <a:p>
            <a:pPr algn="ctr" indent="0" marL="0">
              <a:buNone/>
            </a:pPr>
            <a:r>
              <a:rPr lang="en-US" sz="1300" b="1" dirty="0">
                <a:solidFill>
                  <a:srgbClr val="10B981"/>
                </a:solidFill>
                <a:latin typeface="Noto Sans JP" pitchFamily="34" charset="0"/>
                <a:ea typeface="Noto Sans JP" pitchFamily="34" charset="-122"/>
                <a:cs typeface="Noto Sans JP" pitchFamily="34" charset="-120"/>
              </a:rPr>
              <a:t>7</a:t>
            </a:r>
            <a:endParaRPr lang="en-US" sz="1300" dirty="0"/>
          </a:p>
        </p:txBody>
      </p:sp>
      <p:sp>
        <p:nvSpPr>
          <p:cNvPr id="47" name="Text 43"/>
          <p:cNvSpPr txBox="1"/>
          <p:nvPr/>
        </p:nvSpPr>
        <p:spPr>
          <a:xfrm>
            <a:off x="6933895" y="272948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報告書作成の手間が減る</a:t>
            </a:r>
            <a:endParaRPr lang="en-US" sz="1300" dirty="0"/>
          </a:p>
        </p:txBody>
      </p:sp>
      <p:sp>
        <p:nvSpPr>
          <p:cNvPr id="48" name="Text 44"/>
          <p:cNvSpPr txBox="1"/>
          <p:nvPr/>
        </p:nvSpPr>
        <p:spPr>
          <a:xfrm>
            <a:off x="6933895" y="3024835"/>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データが蓄積されているので、報告書は「作る」のではなく「出力する」だけ。</a:t>
            </a:r>
            <a:endParaRPr lang="en-US" sz="1000" dirty="0"/>
          </a:p>
        </p:txBody>
      </p:sp>
      <p:sp>
        <p:nvSpPr>
          <p:cNvPr id="49" name="Shape 45"/>
          <p:cNvSpPr/>
          <p:nvPr/>
        </p:nvSpPr>
        <p:spPr>
          <a:xfrm>
            <a:off x="6238951" y="3684118"/>
            <a:ext cx="5381244" cy="961949"/>
          </a:xfrm>
          <a:prstGeom prst="roundRect">
            <a:avLst>
              <a:gd name="adj" fmla="val 7529"/>
            </a:avLst>
          </a:prstGeom>
          <a:solidFill>
            <a:srgbClr val="FFFFFF"/>
          </a:solidFill>
          <a:ln/>
        </p:spPr>
      </p:sp>
      <p:sp>
        <p:nvSpPr>
          <p:cNvPr id="50" name="Shape 46"/>
          <p:cNvSpPr/>
          <p:nvPr/>
        </p:nvSpPr>
        <p:spPr>
          <a:xfrm>
            <a:off x="6238951" y="3684118"/>
            <a:ext cx="47549" cy="961949"/>
          </a:xfrm>
          <a:prstGeom prst="roundRect">
            <a:avLst>
              <a:gd name="adj" fmla="val 152322"/>
            </a:avLst>
          </a:prstGeom>
          <a:solidFill>
            <a:srgbClr val="10B981"/>
          </a:solidFill>
          <a:ln w="12700">
            <a:solidFill>
              <a:srgbClr val="10B981">
                <a:alpha val="0"/>
              </a:srgbClr>
            </a:solidFill>
            <a:prstDash val="solid"/>
          </a:ln>
        </p:spPr>
      </p:sp>
      <p:sp>
        <p:nvSpPr>
          <p:cNvPr id="51" name="Text 47"/>
          <p:cNvSpPr txBox="1"/>
          <p:nvPr/>
        </p:nvSpPr>
        <p:spPr>
          <a:xfrm>
            <a:off x="6420002" y="3845966"/>
            <a:ext cx="419710" cy="342900"/>
          </a:xfrm>
          <a:prstGeom prst="rect">
            <a:avLst/>
          </a:prstGeom>
          <a:solidFill>
            <a:srgbClr val="ECFDF5"/>
          </a:solidFill>
          <a:ln w="12700">
            <a:solidFill>
              <a:srgbClr val="D1FAE5"/>
            </a:solidFill>
          </a:ln>
        </p:spPr>
        <p:txBody>
          <a:bodyPr wrap="square" lIns="0" tIns="0" rIns="0" bIns="0" rtlCol="0" anchor="ctr"/>
          <a:lstStyle/>
          <a:p>
            <a:pPr algn="ctr" indent="0" marL="0">
              <a:buNone/>
            </a:pPr>
            <a:r>
              <a:rPr lang="en-US" sz="1300" b="1" dirty="0">
                <a:solidFill>
                  <a:srgbClr val="10B981"/>
                </a:solidFill>
                <a:latin typeface="Noto Sans JP" pitchFamily="34" charset="0"/>
                <a:ea typeface="Noto Sans JP" pitchFamily="34" charset="-122"/>
                <a:cs typeface="Noto Sans JP" pitchFamily="34" charset="-120"/>
              </a:rPr>
              <a:t>8</a:t>
            </a:r>
            <a:endParaRPr lang="en-US" sz="1300" dirty="0"/>
          </a:p>
        </p:txBody>
      </p:sp>
      <p:sp>
        <p:nvSpPr>
          <p:cNvPr id="52" name="Text 48"/>
          <p:cNvSpPr txBox="1"/>
          <p:nvPr/>
        </p:nvSpPr>
        <p:spPr>
          <a:xfrm>
            <a:off x="6933895" y="382676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進捗報告を求めなくていい</a:t>
            </a:r>
            <a:endParaRPr lang="en-US" sz="1300" dirty="0"/>
          </a:p>
        </p:txBody>
      </p:sp>
      <p:sp>
        <p:nvSpPr>
          <p:cNvPr id="53" name="Text 49"/>
          <p:cNvSpPr txBox="1"/>
          <p:nvPr/>
        </p:nvSpPr>
        <p:spPr>
          <a:xfrm>
            <a:off x="6933895" y="4122115"/>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管理者による「どうなってる？」という確認が不要。システムで常時確認可能。</a:t>
            </a:r>
            <a:endParaRPr lang="en-US" sz="1000" dirty="0"/>
          </a:p>
        </p:txBody>
      </p:sp>
      <p:sp>
        <p:nvSpPr>
          <p:cNvPr id="54" name="Shape 50"/>
          <p:cNvSpPr/>
          <p:nvPr/>
        </p:nvSpPr>
        <p:spPr>
          <a:xfrm>
            <a:off x="6238951" y="4781398"/>
            <a:ext cx="5381244" cy="961949"/>
          </a:xfrm>
          <a:prstGeom prst="roundRect">
            <a:avLst>
              <a:gd name="adj" fmla="val 7529"/>
            </a:avLst>
          </a:prstGeom>
          <a:solidFill>
            <a:srgbClr val="FFFFFF"/>
          </a:solidFill>
          <a:ln/>
        </p:spPr>
      </p:sp>
      <p:sp>
        <p:nvSpPr>
          <p:cNvPr id="55" name="Shape 51"/>
          <p:cNvSpPr/>
          <p:nvPr/>
        </p:nvSpPr>
        <p:spPr>
          <a:xfrm>
            <a:off x="6238951" y="4781398"/>
            <a:ext cx="47549" cy="961949"/>
          </a:xfrm>
          <a:prstGeom prst="roundRect">
            <a:avLst>
              <a:gd name="adj" fmla="val 152322"/>
            </a:avLst>
          </a:prstGeom>
          <a:solidFill>
            <a:srgbClr val="10B981"/>
          </a:solidFill>
          <a:ln w="12700">
            <a:solidFill>
              <a:srgbClr val="10B981">
                <a:alpha val="0"/>
              </a:srgbClr>
            </a:solidFill>
            <a:prstDash val="solid"/>
          </a:ln>
        </p:spPr>
      </p:sp>
      <p:sp>
        <p:nvSpPr>
          <p:cNvPr id="56" name="Text 52"/>
          <p:cNvSpPr txBox="1"/>
          <p:nvPr/>
        </p:nvSpPr>
        <p:spPr>
          <a:xfrm>
            <a:off x="6420002" y="4943246"/>
            <a:ext cx="419710" cy="342900"/>
          </a:xfrm>
          <a:prstGeom prst="rect">
            <a:avLst/>
          </a:prstGeom>
          <a:solidFill>
            <a:srgbClr val="ECFDF5"/>
          </a:solidFill>
          <a:ln w="12700">
            <a:solidFill>
              <a:srgbClr val="D1FAE5"/>
            </a:solidFill>
          </a:ln>
        </p:spPr>
        <p:txBody>
          <a:bodyPr wrap="square" lIns="0" tIns="0" rIns="0" bIns="0" rtlCol="0" anchor="ctr"/>
          <a:lstStyle/>
          <a:p>
            <a:pPr algn="ctr" indent="0" marL="0">
              <a:buNone/>
            </a:pPr>
            <a:r>
              <a:rPr lang="en-US" sz="1300" b="1" dirty="0">
                <a:solidFill>
                  <a:srgbClr val="10B981"/>
                </a:solidFill>
                <a:latin typeface="Noto Sans JP" pitchFamily="34" charset="0"/>
                <a:ea typeface="Noto Sans JP" pitchFamily="34" charset="-122"/>
                <a:cs typeface="Noto Sans JP" pitchFamily="34" charset="-120"/>
              </a:rPr>
              <a:t>9</a:t>
            </a:r>
            <a:endParaRPr lang="en-US" sz="1300" dirty="0"/>
          </a:p>
        </p:txBody>
      </p:sp>
      <p:sp>
        <p:nvSpPr>
          <p:cNvPr id="57" name="Text 53"/>
          <p:cNvSpPr txBox="1"/>
          <p:nvPr/>
        </p:nvSpPr>
        <p:spPr>
          <a:xfrm>
            <a:off x="6933895" y="492404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仕事の「抜け漏れ」がなくなる</a:t>
            </a:r>
            <a:endParaRPr lang="en-US" sz="1300" dirty="0"/>
          </a:p>
        </p:txBody>
      </p:sp>
      <p:sp>
        <p:nvSpPr>
          <p:cNvPr id="58" name="Text 54"/>
          <p:cNvSpPr txBox="1"/>
          <p:nvPr/>
        </p:nvSpPr>
        <p:spPr>
          <a:xfrm>
            <a:off x="6933895" y="5219395"/>
            <a:ext cx="4591202" cy="381305"/>
          </a:xfrm>
          <a:prstGeom prst="rect">
            <a:avLst/>
          </a:prstGeom>
          <a:noFill/>
          <a:ln/>
        </p:spPr>
        <p:txBody>
          <a:bodyPr wrap="square" lIns="0" tIns="0" rIns="0" bIns="0" rtlCol="0" anchor="t"/>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計画として登録されているため、「忘れてた」「聞いてない」の発生を防止。</a:t>
            </a:r>
            <a:endParaRPr lang="en-US" sz="1000" dirty="0"/>
          </a:p>
        </p:txBody>
      </p:sp>
      <p:sp>
        <p:nvSpPr>
          <p:cNvPr id="59" name="Shape 55"/>
          <p:cNvSpPr/>
          <p:nvPr/>
        </p:nvSpPr>
        <p:spPr>
          <a:xfrm>
            <a:off x="6238951" y="5878678"/>
            <a:ext cx="5381244" cy="771754"/>
          </a:xfrm>
          <a:prstGeom prst="roundRect">
            <a:avLst>
              <a:gd name="adj" fmla="val 11702"/>
            </a:avLst>
          </a:prstGeom>
          <a:solidFill>
            <a:srgbClr val="FFFFFF"/>
          </a:solidFill>
          <a:ln/>
        </p:spPr>
      </p:sp>
      <p:sp>
        <p:nvSpPr>
          <p:cNvPr id="60" name="Shape 56"/>
          <p:cNvSpPr/>
          <p:nvPr/>
        </p:nvSpPr>
        <p:spPr>
          <a:xfrm>
            <a:off x="6238951" y="5878678"/>
            <a:ext cx="47549" cy="771754"/>
          </a:xfrm>
          <a:prstGeom prst="roundRect">
            <a:avLst>
              <a:gd name="adj" fmla="val 189933"/>
            </a:avLst>
          </a:prstGeom>
          <a:solidFill>
            <a:srgbClr val="10B981"/>
          </a:solidFill>
          <a:ln w="12700">
            <a:solidFill>
              <a:srgbClr val="10B981">
                <a:alpha val="0"/>
              </a:srgbClr>
            </a:solidFill>
            <a:prstDash val="solid"/>
          </a:ln>
        </p:spPr>
      </p:sp>
      <p:sp>
        <p:nvSpPr>
          <p:cNvPr id="61" name="Text 57"/>
          <p:cNvSpPr txBox="1"/>
          <p:nvPr/>
        </p:nvSpPr>
        <p:spPr>
          <a:xfrm>
            <a:off x="6420002" y="6040526"/>
            <a:ext cx="419710" cy="342900"/>
          </a:xfrm>
          <a:prstGeom prst="rect">
            <a:avLst/>
          </a:prstGeom>
          <a:solidFill>
            <a:srgbClr val="ECFDF5"/>
          </a:solidFill>
          <a:ln w="12700">
            <a:solidFill>
              <a:srgbClr val="D1FAE5"/>
            </a:solidFill>
          </a:ln>
        </p:spPr>
        <p:txBody>
          <a:bodyPr wrap="square" lIns="0" tIns="0" rIns="0" bIns="0" rtlCol="0" anchor="ctr"/>
          <a:lstStyle/>
          <a:p>
            <a:pPr algn="ctr" indent="0" marL="0">
              <a:buNone/>
            </a:pPr>
            <a:r>
              <a:rPr lang="en-US" sz="1300" b="1" dirty="0">
                <a:solidFill>
                  <a:srgbClr val="10B981"/>
                </a:solidFill>
                <a:latin typeface="Noto Sans JP" pitchFamily="34" charset="0"/>
                <a:ea typeface="Noto Sans JP" pitchFamily="34" charset="-122"/>
                <a:cs typeface="Noto Sans JP" pitchFamily="34" charset="-120"/>
              </a:rPr>
              <a:t>10</a:t>
            </a:r>
            <a:endParaRPr lang="en-US" sz="1300" dirty="0"/>
          </a:p>
        </p:txBody>
      </p:sp>
      <p:sp>
        <p:nvSpPr>
          <p:cNvPr id="62" name="Text 58"/>
          <p:cNvSpPr txBox="1"/>
          <p:nvPr/>
        </p:nvSpPr>
        <p:spPr>
          <a:xfrm>
            <a:off x="6933895" y="6021324"/>
            <a:ext cx="4705502" cy="257861"/>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期限管理が自動化される</a:t>
            </a:r>
            <a:endParaRPr lang="en-US" sz="1300" dirty="0"/>
          </a:p>
        </p:txBody>
      </p:sp>
      <p:sp>
        <p:nvSpPr>
          <p:cNvPr id="63" name="Text 59"/>
          <p:cNvSpPr txBox="1"/>
          <p:nvPr/>
        </p:nvSpPr>
        <p:spPr>
          <a:xfrm>
            <a:off x="6933895" y="6316675"/>
            <a:ext cx="470550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期限が近づくとアラートが出る仕組みにより、期限遵守率が向上する。</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0"/>
            <a:ext cx="12191695" cy="952805"/>
          </a:xfrm>
          <a:prstGeom prst="rect">
            <a:avLst/>
          </a:prstGeom>
          <a:solidFill>
            <a:srgbClr val="FFFFFF"/>
          </a:solidFill>
          <a:ln/>
        </p:spPr>
      </p:sp>
      <p:sp>
        <p:nvSpPr>
          <p:cNvPr id="5" name="Shape 3"/>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6" name="Shape 4"/>
          <p:cNvSpPr/>
          <p:nvPr/>
        </p:nvSpPr>
        <p:spPr>
          <a:xfrm>
            <a:off x="571500" y="304495"/>
            <a:ext cx="761695" cy="418795"/>
          </a:xfrm>
          <a:prstGeom prst="roundRect">
            <a:avLst>
              <a:gd name="adj" fmla="val 19849"/>
            </a:avLst>
          </a:prstGeom>
          <a:solidFill>
            <a:srgbClr val="10B981"/>
          </a:solidFill>
          <a:ln w="12700">
            <a:solidFill>
              <a:srgbClr val="FFFFFF">
                <a:alpha val="0"/>
              </a:srgbClr>
            </a:solidFill>
            <a:prstDash val="solid"/>
          </a:ln>
        </p:spPr>
      </p:sp>
      <p:sp>
        <p:nvSpPr>
          <p:cNvPr id="7" name="Text 5"/>
          <p:cNvSpPr txBox="1"/>
          <p:nvPr/>
        </p:nvSpPr>
        <p:spPr>
          <a:xfrm>
            <a:off x="571500" y="304495"/>
            <a:ext cx="838505"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効果</a:t>
            </a:r>
            <a:endParaRPr lang="en-US" sz="1800" dirty="0"/>
          </a:p>
        </p:txBody>
      </p:sp>
      <p:sp>
        <p:nvSpPr>
          <p:cNvPr id="8" name="Text 6"/>
          <p:cNvSpPr txBox="1"/>
          <p:nvPr/>
        </p:nvSpPr>
        <p:spPr>
          <a:xfrm>
            <a:off x="1524305" y="286207"/>
            <a:ext cx="5382158"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具体的な効果（現場の負担軽減ほか）</a:t>
            </a:r>
            <a:endParaRPr lang="en-US" sz="2400" dirty="0"/>
          </a:p>
        </p:txBody>
      </p:sp>
      <p:sp>
        <p:nvSpPr>
          <p:cNvPr id="9" name="Shape 7"/>
          <p:cNvSpPr/>
          <p:nvPr/>
        </p:nvSpPr>
        <p:spPr>
          <a:xfrm>
            <a:off x="0" y="952805"/>
            <a:ext cx="12191695" cy="6534302"/>
          </a:xfrm>
          <a:prstGeom prst="rect">
            <a:avLst/>
          </a:prstGeom>
          <a:solidFill>
            <a:srgbClr val="F9FAFB"/>
          </a:solidFill>
          <a:ln w="12700">
            <a:solidFill>
              <a:srgbClr val="FFFFFF">
                <a:alpha val="0"/>
              </a:srgbClr>
            </a:solidFill>
            <a:prstDash val="solid"/>
          </a:ln>
        </p:spPr>
      </p:sp>
      <p:sp>
        <p:nvSpPr>
          <p:cNvPr id="10" name="Shape 8"/>
          <p:cNvSpPr/>
          <p:nvPr/>
        </p:nvSpPr>
        <p:spPr>
          <a:xfrm>
            <a:off x="571500" y="1333195"/>
            <a:ext cx="28346" cy="200254"/>
          </a:xfrm>
          <a:prstGeom prst="rect">
            <a:avLst/>
          </a:prstGeom>
          <a:solidFill>
            <a:srgbClr val="D1D5DB"/>
          </a:solidFill>
          <a:ln w="12700">
            <a:solidFill>
              <a:srgbClr val="D1D5DB">
                <a:alpha val="0"/>
              </a:srgbClr>
            </a:solidFill>
            <a:prstDash val="solid"/>
          </a:ln>
        </p:spPr>
      </p:sp>
      <p:sp>
        <p:nvSpPr>
          <p:cNvPr id="11" name="Text 9"/>
          <p:cNvSpPr txBox="1"/>
          <p:nvPr/>
        </p:nvSpPr>
        <p:spPr>
          <a:xfrm>
            <a:off x="647395" y="1333195"/>
            <a:ext cx="5448910" cy="20025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000" b="1" spc="52" kern="0" dirty="0">
                <a:solidFill>
                  <a:srgbClr val="6B7280"/>
                </a:solidFill>
                <a:latin typeface="Noto Sans JP" pitchFamily="34" charset="0"/>
                <a:ea typeface="Noto Sans JP" pitchFamily="34" charset="-122"/>
                <a:cs typeface="Noto Sans JP" pitchFamily="34" charset="-120"/>
              </a:rPr>
              <a:t>現場の負担軽減</a:t>
            </a:r>
            <a:endParaRPr lang="en-US" sz="1000" dirty="0"/>
          </a:p>
        </p:txBody>
      </p:sp>
      <p:sp>
        <p:nvSpPr>
          <p:cNvPr id="12" name="Shape 10"/>
          <p:cNvSpPr/>
          <p:nvPr/>
        </p:nvSpPr>
        <p:spPr>
          <a:xfrm>
            <a:off x="571500" y="1819656"/>
            <a:ext cx="5333695" cy="1133856"/>
          </a:xfrm>
          <a:prstGeom prst="roundRect">
            <a:avLst>
              <a:gd name="adj" fmla="val 6777"/>
            </a:avLst>
          </a:prstGeom>
          <a:solidFill>
            <a:srgbClr val="FFFFFF"/>
          </a:solidFill>
          <a:ln/>
        </p:spPr>
      </p:sp>
      <p:sp>
        <p:nvSpPr>
          <p:cNvPr id="13" name="Shape 11"/>
          <p:cNvSpPr/>
          <p:nvPr/>
        </p:nvSpPr>
        <p:spPr>
          <a:xfrm>
            <a:off x="571500" y="1819656"/>
            <a:ext cx="47549" cy="1133856"/>
          </a:xfrm>
          <a:prstGeom prst="roundRect">
            <a:avLst>
              <a:gd name="adj" fmla="val 161602"/>
            </a:avLst>
          </a:prstGeom>
          <a:solidFill>
            <a:srgbClr val="10B981"/>
          </a:solidFill>
          <a:ln w="12700">
            <a:solidFill>
              <a:srgbClr val="10B981">
                <a:alpha val="0"/>
              </a:srgbClr>
            </a:solidFill>
            <a:prstDash val="solid"/>
          </a:ln>
        </p:spPr>
      </p:sp>
      <p:sp>
        <p:nvSpPr>
          <p:cNvPr id="14" name="Text 12"/>
          <p:cNvSpPr txBox="1"/>
          <p:nvPr/>
        </p:nvSpPr>
        <p:spPr>
          <a:xfrm>
            <a:off x="780898" y="2029054"/>
            <a:ext cx="486461" cy="428854"/>
          </a:xfrm>
          <a:prstGeom prst="rect">
            <a:avLst/>
          </a:prstGeom>
          <a:solidFill>
            <a:srgbClr val="ECFDF5"/>
          </a:solidFill>
          <a:ln w="12700">
            <a:solidFill>
              <a:srgbClr val="A7F3D0"/>
            </a:solidFill>
          </a:ln>
        </p:spPr>
        <p:txBody>
          <a:bodyPr wrap="square" lIns="0" tIns="0" rIns="0" bIns="0" rtlCol="0" anchor="ctr"/>
          <a:lstStyle/>
          <a:p>
            <a:pPr algn="ctr" indent="0" marL="0">
              <a:buNone/>
            </a:pPr>
            <a:r>
              <a:rPr lang="en-US" sz="1500" b="1" dirty="0">
                <a:solidFill>
                  <a:srgbClr val="059669"/>
                </a:solidFill>
                <a:latin typeface="Noto Sans JP" pitchFamily="34" charset="0"/>
                <a:ea typeface="Noto Sans JP" pitchFamily="34" charset="-122"/>
                <a:cs typeface="Noto Sans JP" pitchFamily="34" charset="-120"/>
              </a:rPr>
              <a:t>11</a:t>
            </a:r>
            <a:endParaRPr lang="en-US" sz="1500" dirty="0"/>
          </a:p>
        </p:txBody>
      </p:sp>
      <p:sp>
        <p:nvSpPr>
          <p:cNvPr id="15" name="Text 13"/>
          <p:cNvSpPr txBox="1"/>
          <p:nvPr/>
        </p:nvSpPr>
        <p:spPr>
          <a:xfrm>
            <a:off x="1390802" y="2009851"/>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月末・期末の「修羅場」がなくなる</a:t>
            </a:r>
            <a:endParaRPr lang="en-US" sz="1500" dirty="0"/>
          </a:p>
        </p:txBody>
      </p:sp>
      <p:sp>
        <p:nvSpPr>
          <p:cNvPr id="16" name="Text 14"/>
          <p:cNvSpPr txBox="1"/>
          <p:nvPr/>
        </p:nvSpPr>
        <p:spPr>
          <a:xfrm>
            <a:off x="1390802" y="2333549"/>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一個流しで日々処理が完了するため、月末にまとめて作業する必要がなくなり、残業の偏在が解消される。</a:t>
            </a:r>
            <a:endParaRPr lang="en-US" sz="1200" dirty="0"/>
          </a:p>
        </p:txBody>
      </p:sp>
      <p:sp>
        <p:nvSpPr>
          <p:cNvPr id="17" name="Shape 15"/>
          <p:cNvSpPr/>
          <p:nvPr/>
        </p:nvSpPr>
        <p:spPr>
          <a:xfrm>
            <a:off x="571500" y="3141878"/>
            <a:ext cx="5333695" cy="1133856"/>
          </a:xfrm>
          <a:prstGeom prst="roundRect">
            <a:avLst>
              <a:gd name="adj" fmla="val 6777"/>
            </a:avLst>
          </a:prstGeom>
          <a:solidFill>
            <a:srgbClr val="FFFFFF"/>
          </a:solidFill>
          <a:ln/>
        </p:spPr>
      </p:sp>
      <p:sp>
        <p:nvSpPr>
          <p:cNvPr id="18" name="Shape 16"/>
          <p:cNvSpPr/>
          <p:nvPr/>
        </p:nvSpPr>
        <p:spPr>
          <a:xfrm>
            <a:off x="571500" y="3141878"/>
            <a:ext cx="47549" cy="1133856"/>
          </a:xfrm>
          <a:prstGeom prst="roundRect">
            <a:avLst>
              <a:gd name="adj" fmla="val 161602"/>
            </a:avLst>
          </a:prstGeom>
          <a:solidFill>
            <a:srgbClr val="10B981"/>
          </a:solidFill>
          <a:ln w="12700">
            <a:solidFill>
              <a:srgbClr val="10B981">
                <a:alpha val="0"/>
              </a:srgbClr>
            </a:solidFill>
            <a:prstDash val="solid"/>
          </a:ln>
        </p:spPr>
      </p:sp>
      <p:sp>
        <p:nvSpPr>
          <p:cNvPr id="19" name="Text 17"/>
          <p:cNvSpPr txBox="1"/>
          <p:nvPr/>
        </p:nvSpPr>
        <p:spPr>
          <a:xfrm>
            <a:off x="780898" y="3351276"/>
            <a:ext cx="486461" cy="428854"/>
          </a:xfrm>
          <a:prstGeom prst="rect">
            <a:avLst/>
          </a:prstGeom>
          <a:solidFill>
            <a:srgbClr val="ECFDF5"/>
          </a:solidFill>
          <a:ln w="12700">
            <a:solidFill>
              <a:srgbClr val="A7F3D0"/>
            </a:solidFill>
          </a:ln>
        </p:spPr>
        <p:txBody>
          <a:bodyPr wrap="square" lIns="0" tIns="0" rIns="0" bIns="0" rtlCol="0" anchor="ctr"/>
          <a:lstStyle/>
          <a:p>
            <a:pPr algn="ctr" indent="0" marL="0">
              <a:buNone/>
            </a:pPr>
            <a:r>
              <a:rPr lang="en-US" sz="1500" b="1" dirty="0">
                <a:solidFill>
                  <a:srgbClr val="059669"/>
                </a:solidFill>
                <a:latin typeface="Noto Sans JP" pitchFamily="34" charset="0"/>
                <a:ea typeface="Noto Sans JP" pitchFamily="34" charset="-122"/>
                <a:cs typeface="Noto Sans JP" pitchFamily="34" charset="-120"/>
              </a:rPr>
              <a:t>12</a:t>
            </a:r>
            <a:endParaRPr lang="en-US" sz="1500" dirty="0"/>
          </a:p>
        </p:txBody>
      </p:sp>
      <p:sp>
        <p:nvSpPr>
          <p:cNvPr id="20" name="Text 18"/>
          <p:cNvSpPr txBox="1"/>
          <p:nvPr/>
        </p:nvSpPr>
        <p:spPr>
          <a:xfrm>
            <a:off x="1390802" y="3332074"/>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問い合わせが激減する</a:t>
            </a:r>
            <a:endParaRPr lang="en-US" sz="1500" dirty="0"/>
          </a:p>
        </p:txBody>
      </p:sp>
      <p:sp>
        <p:nvSpPr>
          <p:cNvPr id="21" name="Text 19"/>
          <p:cNvSpPr txBox="1"/>
          <p:nvPr/>
        </p:nvSpPr>
        <p:spPr>
          <a:xfrm>
            <a:off x="1390802" y="3655771"/>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ルールの確認などをシステム（ナレッジベース）で自己完結できるため、管理部門への電話が劇的に減少する。</a:t>
            </a:r>
            <a:endParaRPr lang="en-US" sz="1200" dirty="0"/>
          </a:p>
        </p:txBody>
      </p:sp>
      <p:sp>
        <p:nvSpPr>
          <p:cNvPr id="22" name="Shape 20"/>
          <p:cNvSpPr/>
          <p:nvPr/>
        </p:nvSpPr>
        <p:spPr>
          <a:xfrm>
            <a:off x="571500" y="4464101"/>
            <a:ext cx="5333695" cy="1133856"/>
          </a:xfrm>
          <a:prstGeom prst="roundRect">
            <a:avLst>
              <a:gd name="adj" fmla="val 6777"/>
            </a:avLst>
          </a:prstGeom>
          <a:solidFill>
            <a:srgbClr val="FFFFFF"/>
          </a:solidFill>
          <a:ln/>
        </p:spPr>
      </p:sp>
      <p:sp>
        <p:nvSpPr>
          <p:cNvPr id="23" name="Shape 21"/>
          <p:cNvSpPr/>
          <p:nvPr/>
        </p:nvSpPr>
        <p:spPr>
          <a:xfrm>
            <a:off x="571500" y="4464101"/>
            <a:ext cx="47549" cy="1133856"/>
          </a:xfrm>
          <a:prstGeom prst="roundRect">
            <a:avLst>
              <a:gd name="adj" fmla="val 161602"/>
            </a:avLst>
          </a:prstGeom>
          <a:solidFill>
            <a:srgbClr val="10B981"/>
          </a:solidFill>
          <a:ln w="12700">
            <a:solidFill>
              <a:srgbClr val="10B981">
                <a:alpha val="0"/>
              </a:srgbClr>
            </a:solidFill>
            <a:prstDash val="solid"/>
          </a:ln>
        </p:spPr>
      </p:sp>
      <p:sp>
        <p:nvSpPr>
          <p:cNvPr id="24" name="Text 22"/>
          <p:cNvSpPr txBox="1"/>
          <p:nvPr/>
        </p:nvSpPr>
        <p:spPr>
          <a:xfrm>
            <a:off x="780898" y="4673498"/>
            <a:ext cx="486461" cy="428854"/>
          </a:xfrm>
          <a:prstGeom prst="rect">
            <a:avLst/>
          </a:prstGeom>
          <a:solidFill>
            <a:srgbClr val="ECFDF5"/>
          </a:solidFill>
          <a:ln w="12700">
            <a:solidFill>
              <a:srgbClr val="A7F3D0"/>
            </a:solidFill>
          </a:ln>
        </p:spPr>
        <p:txBody>
          <a:bodyPr wrap="square" lIns="0" tIns="0" rIns="0" bIns="0" rtlCol="0" anchor="ctr"/>
          <a:lstStyle/>
          <a:p>
            <a:pPr algn="ctr" indent="0" marL="0">
              <a:buNone/>
            </a:pPr>
            <a:r>
              <a:rPr lang="en-US" sz="1500" b="1" dirty="0">
                <a:solidFill>
                  <a:srgbClr val="059669"/>
                </a:solidFill>
                <a:latin typeface="Noto Sans JP" pitchFamily="34" charset="0"/>
                <a:ea typeface="Noto Sans JP" pitchFamily="34" charset="-122"/>
                <a:cs typeface="Noto Sans JP" pitchFamily="34" charset="-120"/>
              </a:rPr>
              <a:t>13</a:t>
            </a:r>
            <a:endParaRPr lang="en-US" sz="1500" dirty="0"/>
          </a:p>
        </p:txBody>
      </p:sp>
      <p:sp>
        <p:nvSpPr>
          <p:cNvPr id="25" name="Text 23"/>
          <p:cNvSpPr txBox="1"/>
          <p:nvPr/>
        </p:nvSpPr>
        <p:spPr>
          <a:xfrm>
            <a:off x="1390802" y="4654296"/>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按分や転記から解放される</a:t>
            </a:r>
            <a:endParaRPr lang="en-US" sz="1500" dirty="0"/>
          </a:p>
        </p:txBody>
      </p:sp>
      <p:sp>
        <p:nvSpPr>
          <p:cNvPr id="26" name="Text 24"/>
          <p:cNvSpPr txBox="1"/>
          <p:nvPr/>
        </p:nvSpPr>
        <p:spPr>
          <a:xfrm>
            <a:off x="1390802" y="4977994"/>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実務データに基づき自動計算・紐付けされるため、電卓での計算やシステム間の転記作業が不要になる。</a:t>
            </a:r>
            <a:endParaRPr lang="en-US" sz="1200" dirty="0"/>
          </a:p>
        </p:txBody>
      </p:sp>
      <p:sp>
        <p:nvSpPr>
          <p:cNvPr id="27" name="Shape 25"/>
          <p:cNvSpPr/>
          <p:nvPr/>
        </p:nvSpPr>
        <p:spPr>
          <a:xfrm>
            <a:off x="6286500" y="1333195"/>
            <a:ext cx="28346" cy="200254"/>
          </a:xfrm>
          <a:prstGeom prst="rect">
            <a:avLst/>
          </a:prstGeom>
          <a:solidFill>
            <a:srgbClr val="D1D5DB"/>
          </a:solidFill>
          <a:ln w="12700">
            <a:solidFill>
              <a:srgbClr val="D1D5DB">
                <a:alpha val="0"/>
              </a:srgbClr>
            </a:solidFill>
            <a:prstDash val="solid"/>
          </a:ln>
        </p:spPr>
      </p:sp>
      <p:sp>
        <p:nvSpPr>
          <p:cNvPr id="28" name="Text 26"/>
          <p:cNvSpPr txBox="1"/>
          <p:nvPr/>
        </p:nvSpPr>
        <p:spPr>
          <a:xfrm>
            <a:off x="6362395" y="1333195"/>
            <a:ext cx="5448910" cy="20025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000" b="1" spc="52" kern="0" dirty="0">
                <a:solidFill>
                  <a:srgbClr val="6B7280"/>
                </a:solidFill>
                <a:latin typeface="Noto Sans JP" pitchFamily="34" charset="0"/>
                <a:ea typeface="Noto Sans JP" pitchFamily="34" charset="-122"/>
                <a:cs typeface="Noto Sans JP" pitchFamily="34" charset="-120"/>
              </a:rPr>
              <a:t>経営・組織力向上</a:t>
            </a:r>
            <a:endParaRPr lang="en-US" sz="1000" dirty="0"/>
          </a:p>
        </p:txBody>
      </p:sp>
      <p:sp>
        <p:nvSpPr>
          <p:cNvPr id="29" name="Shape 27"/>
          <p:cNvSpPr/>
          <p:nvPr/>
        </p:nvSpPr>
        <p:spPr>
          <a:xfrm>
            <a:off x="6286500" y="1819656"/>
            <a:ext cx="5333695" cy="1133856"/>
          </a:xfrm>
          <a:prstGeom prst="roundRect">
            <a:avLst>
              <a:gd name="adj" fmla="val 6777"/>
            </a:avLst>
          </a:prstGeom>
          <a:solidFill>
            <a:srgbClr val="FFFFFF"/>
          </a:solidFill>
          <a:ln/>
        </p:spPr>
      </p:sp>
      <p:sp>
        <p:nvSpPr>
          <p:cNvPr id="30" name="Shape 28"/>
          <p:cNvSpPr/>
          <p:nvPr/>
        </p:nvSpPr>
        <p:spPr>
          <a:xfrm>
            <a:off x="6286500" y="1819656"/>
            <a:ext cx="47549" cy="1133856"/>
          </a:xfrm>
          <a:prstGeom prst="roundRect">
            <a:avLst>
              <a:gd name="adj" fmla="val 161602"/>
            </a:avLst>
          </a:prstGeom>
          <a:solidFill>
            <a:srgbClr val="3B82F6"/>
          </a:solidFill>
          <a:ln w="12700">
            <a:solidFill>
              <a:srgbClr val="3B82F6">
                <a:alpha val="0"/>
              </a:srgbClr>
            </a:solidFill>
            <a:prstDash val="solid"/>
          </a:ln>
        </p:spPr>
      </p:sp>
      <p:sp>
        <p:nvSpPr>
          <p:cNvPr id="31" name="Text 29"/>
          <p:cNvSpPr txBox="1"/>
          <p:nvPr/>
        </p:nvSpPr>
        <p:spPr>
          <a:xfrm>
            <a:off x="6495898" y="2029054"/>
            <a:ext cx="486461" cy="428854"/>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500" b="1" dirty="0">
                <a:solidFill>
                  <a:srgbClr val="2563EB"/>
                </a:solidFill>
                <a:latin typeface="Noto Sans JP" pitchFamily="34" charset="0"/>
                <a:ea typeface="Noto Sans JP" pitchFamily="34" charset="-122"/>
                <a:cs typeface="Noto Sans JP" pitchFamily="34" charset="-120"/>
              </a:rPr>
              <a:t>14</a:t>
            </a:r>
            <a:endParaRPr lang="en-US" sz="1500" dirty="0"/>
          </a:p>
        </p:txBody>
      </p:sp>
      <p:sp>
        <p:nvSpPr>
          <p:cNvPr id="32" name="Text 30"/>
          <p:cNvSpPr txBox="1"/>
          <p:nvPr/>
        </p:nvSpPr>
        <p:spPr>
          <a:xfrm>
            <a:off x="7105802" y="2009851"/>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手戻りの減少</a:t>
            </a:r>
            <a:endParaRPr lang="en-US" sz="1500" dirty="0"/>
          </a:p>
        </p:txBody>
      </p:sp>
      <p:sp>
        <p:nvSpPr>
          <p:cNvPr id="33" name="Text 31"/>
          <p:cNvSpPr txBox="1"/>
          <p:nvPr/>
        </p:nvSpPr>
        <p:spPr>
          <a:xfrm>
            <a:off x="7105802" y="2333549"/>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入口（依頼時）で要件が明確化され、ガード機能が働くため、後工程からの差し戻しや修正工数が削減される。</a:t>
            </a:r>
            <a:endParaRPr lang="en-US" sz="1200" dirty="0"/>
          </a:p>
        </p:txBody>
      </p:sp>
      <p:sp>
        <p:nvSpPr>
          <p:cNvPr id="34" name="Shape 32"/>
          <p:cNvSpPr/>
          <p:nvPr/>
        </p:nvSpPr>
        <p:spPr>
          <a:xfrm>
            <a:off x="6286500" y="3141878"/>
            <a:ext cx="5333695" cy="1133856"/>
          </a:xfrm>
          <a:prstGeom prst="roundRect">
            <a:avLst>
              <a:gd name="adj" fmla="val 6777"/>
            </a:avLst>
          </a:prstGeom>
          <a:solidFill>
            <a:srgbClr val="FFFFFF"/>
          </a:solidFill>
          <a:ln/>
        </p:spPr>
      </p:sp>
      <p:sp>
        <p:nvSpPr>
          <p:cNvPr id="35" name="Shape 33"/>
          <p:cNvSpPr/>
          <p:nvPr/>
        </p:nvSpPr>
        <p:spPr>
          <a:xfrm>
            <a:off x="6286500" y="3141878"/>
            <a:ext cx="47549" cy="1133856"/>
          </a:xfrm>
          <a:prstGeom prst="roundRect">
            <a:avLst>
              <a:gd name="adj" fmla="val 161602"/>
            </a:avLst>
          </a:prstGeom>
          <a:solidFill>
            <a:srgbClr val="3B82F6"/>
          </a:solidFill>
          <a:ln w="12700">
            <a:solidFill>
              <a:srgbClr val="3B82F6">
                <a:alpha val="0"/>
              </a:srgbClr>
            </a:solidFill>
            <a:prstDash val="solid"/>
          </a:ln>
        </p:spPr>
      </p:sp>
      <p:sp>
        <p:nvSpPr>
          <p:cNvPr id="36" name="Text 34"/>
          <p:cNvSpPr txBox="1"/>
          <p:nvPr/>
        </p:nvSpPr>
        <p:spPr>
          <a:xfrm>
            <a:off x="6495898" y="3351276"/>
            <a:ext cx="486461" cy="428854"/>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500" b="1" dirty="0">
                <a:solidFill>
                  <a:srgbClr val="2563EB"/>
                </a:solidFill>
                <a:latin typeface="Noto Sans JP" pitchFamily="34" charset="0"/>
                <a:ea typeface="Noto Sans JP" pitchFamily="34" charset="-122"/>
                <a:cs typeface="Noto Sans JP" pitchFamily="34" charset="-120"/>
              </a:rPr>
              <a:t>15</a:t>
            </a:r>
            <a:endParaRPr lang="en-US" sz="1500" dirty="0"/>
          </a:p>
        </p:txBody>
      </p:sp>
      <p:sp>
        <p:nvSpPr>
          <p:cNvPr id="37" name="Text 35"/>
          <p:cNvSpPr txBox="1"/>
          <p:nvPr/>
        </p:nvSpPr>
        <p:spPr>
          <a:xfrm>
            <a:off x="7105802" y="3332074"/>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OJT依存の低減と早期戦力化</a:t>
            </a:r>
            <a:endParaRPr lang="en-US" sz="1500" dirty="0"/>
          </a:p>
        </p:txBody>
      </p:sp>
      <p:sp>
        <p:nvSpPr>
          <p:cNvPr id="38" name="Text 36"/>
          <p:cNvSpPr txBox="1"/>
          <p:nvPr/>
        </p:nvSpPr>
        <p:spPr>
          <a:xfrm>
            <a:off x="7105802" y="3655771"/>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システムがナビゲートするため、経験の浅い職員でも迷わず正確に業務遂行でき、教育コストが下がる。</a:t>
            </a:r>
            <a:endParaRPr lang="en-US" sz="1200" dirty="0"/>
          </a:p>
        </p:txBody>
      </p:sp>
      <p:sp>
        <p:nvSpPr>
          <p:cNvPr id="39" name="Shape 37"/>
          <p:cNvSpPr/>
          <p:nvPr/>
        </p:nvSpPr>
        <p:spPr>
          <a:xfrm>
            <a:off x="6286500" y="4464101"/>
            <a:ext cx="5333695" cy="1133856"/>
          </a:xfrm>
          <a:prstGeom prst="roundRect">
            <a:avLst>
              <a:gd name="adj" fmla="val 6777"/>
            </a:avLst>
          </a:prstGeom>
          <a:solidFill>
            <a:srgbClr val="FFFFFF"/>
          </a:solidFill>
          <a:ln/>
        </p:spPr>
      </p:sp>
      <p:sp>
        <p:nvSpPr>
          <p:cNvPr id="40" name="Shape 38"/>
          <p:cNvSpPr/>
          <p:nvPr/>
        </p:nvSpPr>
        <p:spPr>
          <a:xfrm>
            <a:off x="6286500" y="4464101"/>
            <a:ext cx="47549" cy="1133856"/>
          </a:xfrm>
          <a:prstGeom prst="roundRect">
            <a:avLst>
              <a:gd name="adj" fmla="val 161602"/>
            </a:avLst>
          </a:prstGeom>
          <a:solidFill>
            <a:srgbClr val="3B82F6"/>
          </a:solidFill>
          <a:ln w="12700">
            <a:solidFill>
              <a:srgbClr val="3B82F6">
                <a:alpha val="0"/>
              </a:srgbClr>
            </a:solidFill>
            <a:prstDash val="solid"/>
          </a:ln>
        </p:spPr>
      </p:sp>
      <p:sp>
        <p:nvSpPr>
          <p:cNvPr id="41" name="Text 39"/>
          <p:cNvSpPr txBox="1"/>
          <p:nvPr/>
        </p:nvSpPr>
        <p:spPr>
          <a:xfrm>
            <a:off x="6495898" y="4673498"/>
            <a:ext cx="486461" cy="428854"/>
          </a:xfrm>
          <a:prstGeom prst="rect">
            <a:avLst/>
          </a:prstGeom>
          <a:solidFill>
            <a:srgbClr val="EFF6FF"/>
          </a:solidFill>
          <a:ln w="12700">
            <a:solidFill>
              <a:srgbClr val="BFDBFE"/>
            </a:solidFill>
          </a:ln>
        </p:spPr>
        <p:txBody>
          <a:bodyPr wrap="square" lIns="0" tIns="0" rIns="0" bIns="0" rtlCol="0" anchor="ctr"/>
          <a:lstStyle/>
          <a:p>
            <a:pPr algn="ctr" indent="0" marL="0">
              <a:buNone/>
            </a:pPr>
            <a:r>
              <a:rPr lang="en-US" sz="1500" b="1" dirty="0">
                <a:solidFill>
                  <a:srgbClr val="2563EB"/>
                </a:solidFill>
                <a:latin typeface="Noto Sans JP" pitchFamily="34" charset="0"/>
                <a:ea typeface="Noto Sans JP" pitchFamily="34" charset="-122"/>
                <a:cs typeface="Noto Sans JP" pitchFamily="34" charset="-120"/>
              </a:rPr>
              <a:t>16</a:t>
            </a:r>
            <a:endParaRPr lang="en-US" sz="1500" dirty="0"/>
          </a:p>
        </p:txBody>
      </p:sp>
      <p:sp>
        <p:nvSpPr>
          <p:cNvPr id="42" name="Text 40"/>
          <p:cNvSpPr txBox="1"/>
          <p:nvPr/>
        </p:nvSpPr>
        <p:spPr>
          <a:xfrm>
            <a:off x="7105802" y="4654296"/>
            <a:ext cx="4515307" cy="2862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管理会計の即時化</a:t>
            </a:r>
            <a:endParaRPr lang="en-US" sz="1500" dirty="0"/>
          </a:p>
        </p:txBody>
      </p:sp>
      <p:sp>
        <p:nvSpPr>
          <p:cNvPr id="43" name="Text 41"/>
          <p:cNvSpPr txBox="1"/>
          <p:nvPr/>
        </p:nvSpPr>
        <p:spPr>
          <a:xfrm>
            <a:off x="7105802" y="4977994"/>
            <a:ext cx="4401007" cy="428854"/>
          </a:xfrm>
          <a:prstGeom prst="rect">
            <a:avLst/>
          </a:prstGeom>
          <a:noFill/>
          <a:ln/>
        </p:spPr>
        <p:txBody>
          <a:bodyPr wrap="square" lIns="0" tIns="0" rIns="0" bIns="0" rtlCol="0" anchor="t"/>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制度会計（決算）を待たずに、リアルタイムな実績データで部門別採算などの経営数値が把握可能になる。</a:t>
            </a:r>
            <a:endParaRPr lang="en-US" sz="1200" dirty="0"/>
          </a:p>
        </p:txBody>
      </p:sp>
      <p:sp>
        <p:nvSpPr>
          <p:cNvPr id="44" name="Shape 42"/>
          <p:cNvSpPr/>
          <p:nvPr/>
        </p:nvSpPr>
        <p:spPr>
          <a:xfrm>
            <a:off x="6286500" y="5785409"/>
            <a:ext cx="5333695" cy="1324051"/>
          </a:xfrm>
          <a:prstGeom prst="roundRect">
            <a:avLst>
              <a:gd name="adj" fmla="val 3975"/>
            </a:avLst>
          </a:prstGeom>
          <a:solidFill>
            <a:srgbClr val="F3F4F6"/>
          </a:solidFill>
          <a:ln w="12700">
            <a:solidFill>
              <a:srgbClr val="D1D5DB"/>
            </a:solidFill>
            <a:prstDash val="solid"/>
          </a:ln>
        </p:spPr>
      </p:sp>
      <p:sp>
        <p:nvSpPr>
          <p:cNvPr id="45" name="Text 43"/>
          <p:cNvSpPr txBox="1"/>
          <p:nvPr/>
        </p:nvSpPr>
        <p:spPr>
          <a:xfrm>
            <a:off x="6715354" y="5985662"/>
            <a:ext cx="4896612"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複合的な経営効果</a:t>
            </a:r>
            <a:endParaRPr lang="en-US" sz="1200" dirty="0"/>
          </a:p>
        </p:txBody>
      </p:sp>
      <p:pic>
        <p:nvPicPr>
          <p:cNvPr id="46" name="Image 0" descr="preencoded.png">    </p:cNvPr>
          <p:cNvPicPr>
            <a:picLocks noChangeAspect="1"/>
          </p:cNvPicPr>
          <p:nvPr/>
        </p:nvPicPr>
        <p:blipFill>
          <a:blip r:embed="rId1"/>
          <a:srcRect l="0" r="0" t="0" b="0"/>
          <a:stretch/>
        </p:blipFill>
        <p:spPr>
          <a:xfrm>
            <a:off x="6486754" y="6024067"/>
            <a:ext cx="152705" cy="152705"/>
          </a:xfrm>
          <a:prstGeom prst="rect">
            <a:avLst/>
          </a:prstGeom>
        </p:spPr>
      </p:pic>
      <p:sp>
        <p:nvSpPr>
          <p:cNvPr id="47" name="Text 44"/>
          <p:cNvSpPr txBox="1"/>
          <p:nvPr/>
        </p:nvSpPr>
        <p:spPr>
          <a:xfrm>
            <a:off x="6486754" y="6261811"/>
            <a:ext cx="5010912" cy="648310"/>
          </a:xfrm>
          <a:prstGeom prst="rect">
            <a:avLst/>
          </a:prstGeom>
          <a:noFill/>
          <a:ln/>
        </p:spPr>
        <p:txBody>
          <a:bodyPr wrap="square" lIns="0" tIns="0" rIns="0" bIns="0" rtlCol="0" anchor="t"/>
          <a:lstStyle/>
          <a:p>
            <a:pPr algn="l" indent="0" marL="0">
              <a:buNone/>
            </a:pPr>
            <a:r>
              <a:rPr lang="en-US" sz="1100" dirty="0">
                <a:solidFill>
                  <a:srgbClr val="6B7280"/>
                </a:solidFill>
                <a:latin typeface="Noto Sans JP" pitchFamily="34" charset="0"/>
                <a:ea typeface="Noto Sans JP" pitchFamily="34" charset="-122"/>
                <a:cs typeface="Noto Sans JP" pitchFamily="34" charset="-120"/>
              </a:rPr>
              <a:t>これらは単独の効果ではなく、相互に関連して「リスク・ガバナンス」「組織文化・働きがい」「外部・顧客対応」といった経営全般の質的向上に寄与します。</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0FDF4"/>
          </a:solidFill>
          <a:ln w="12700">
            <a:solidFill>
              <a:srgbClr val="FFFFFF">
                <a:alpha val="0"/>
              </a:srgbClr>
            </a:solidFill>
            <a:prstDash val="solid"/>
          </a:ln>
        </p:spPr>
      </p:sp>
      <p:sp>
        <p:nvSpPr>
          <p:cNvPr id="5" name="Shape 3"/>
          <p:cNvSpPr/>
          <p:nvPr/>
        </p:nvSpPr>
        <p:spPr>
          <a:xfrm>
            <a:off x="571500" y="1238098"/>
            <a:ext cx="6439205" cy="1524305"/>
          </a:xfrm>
          <a:prstGeom prst="roundRect">
            <a:avLst>
              <a:gd name="adj" fmla="val 2999"/>
            </a:avLst>
          </a:prstGeom>
          <a:solidFill>
            <a:srgbClr val="FFFFFF"/>
          </a:solidFill>
          <a:ln/>
        </p:spPr>
      </p:sp>
      <p:sp>
        <p:nvSpPr>
          <p:cNvPr id="6" name="Shape 4"/>
          <p:cNvSpPr/>
          <p:nvPr/>
        </p:nvSpPr>
        <p:spPr>
          <a:xfrm>
            <a:off x="571500" y="1238098"/>
            <a:ext cx="6439205" cy="47549"/>
          </a:xfrm>
          <a:prstGeom prst="roundRect">
            <a:avLst>
              <a:gd name="adj" fmla="val 96153"/>
            </a:avLst>
          </a:prstGeom>
          <a:solidFill>
            <a:srgbClr val="10B981"/>
          </a:solidFill>
          <a:ln w="12700">
            <a:solidFill>
              <a:srgbClr val="10B981">
                <a:alpha val="0"/>
              </a:srgbClr>
            </a:solidFill>
            <a:prstDash val="solid"/>
          </a:ln>
        </p:spPr>
      </p:sp>
      <p:sp>
        <p:nvSpPr>
          <p:cNvPr id="7" name="Text 5"/>
          <p:cNvSpPr txBox="1"/>
          <p:nvPr/>
        </p:nvSpPr>
        <p:spPr>
          <a:xfrm>
            <a:off x="933602" y="1476756"/>
            <a:ext cx="6077102" cy="257861"/>
          </a:xfrm>
          <a:prstGeom prst="rect">
            <a:avLst/>
          </a:prstGeom>
          <a:noFill/>
          <a:ln/>
        </p:spPr>
        <p:txBody>
          <a:bodyPr wrap="square" lIns="0" tIns="0" rIns="0" bIns="0" rtlCol="0" anchor="ctr"/>
          <a:lstStyle/>
          <a:p>
            <a:pPr algn="l" indent="0" marL="0">
              <a:buNone/>
            </a:pPr>
            <a:r>
              <a:rPr lang="en-US" sz="1300" b="1" dirty="0">
                <a:solidFill>
                  <a:srgbClr val="047857"/>
                </a:solidFill>
                <a:latin typeface="Noto Sans JP" pitchFamily="34" charset="0"/>
                <a:ea typeface="Noto Sans JP" pitchFamily="34" charset="-122"/>
                <a:cs typeface="Noto Sans JP" pitchFamily="34" charset="-120"/>
              </a:rPr>
              <a:t>目的：2つの懸念課題に直結する解決策の実証</a:t>
            </a:r>
            <a:endParaRPr lang="en-US" sz="1300" dirty="0"/>
          </a:p>
        </p:txBody>
      </p:sp>
      <p:pic>
        <p:nvPicPr>
          <p:cNvPr id="8" name="Image 0" descr="preencoded.png">    </p:cNvPr>
          <p:cNvPicPr>
            <a:picLocks noChangeAspect="1"/>
          </p:cNvPicPr>
          <p:nvPr/>
        </p:nvPicPr>
        <p:blipFill>
          <a:blip r:embed="rId1"/>
          <a:srcRect l="0" r="0" t="0" b="0"/>
          <a:stretch/>
        </p:blipFill>
        <p:spPr>
          <a:xfrm>
            <a:off x="761695" y="1518818"/>
            <a:ext cx="171907" cy="171907"/>
          </a:xfrm>
          <a:prstGeom prst="rect">
            <a:avLst/>
          </a:prstGeom>
        </p:spPr>
      </p:pic>
      <p:sp>
        <p:nvSpPr>
          <p:cNvPr id="9" name="Text 6"/>
          <p:cNvSpPr txBox="1"/>
          <p:nvPr/>
        </p:nvSpPr>
        <p:spPr>
          <a:xfrm>
            <a:off x="952805" y="1828800"/>
            <a:ext cx="5943600" cy="495605"/>
          </a:xfrm>
          <a:prstGeom prst="rect">
            <a:avLst/>
          </a:prstGeom>
          <a:noFill/>
          <a:ln/>
        </p:spPr>
        <p:txBody>
          <a:bodyPr wrap="square" lIns="0" tIns="0" rIns="0" bIns="0" rtlCol="0" anchor="t"/>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マニュアル管理の徹底（ナレッジ・セントラル化）</a:t>
            </a:r>
            <a:pPr algn="l" indent="0" marL="0">
              <a:buNone/>
            </a:pPr>
            <a:endParaRPr lang="en-US" sz="1200" dirty="0"/>
          </a:p>
          <a:p>
            <a:pPr algn="l" indent="0" marL="0">
              <a:buNone/>
            </a:pPr>
            <a:r>
              <a:rPr lang="en-US" sz="1200" dirty="0">
                <a:solidFill>
                  <a:srgbClr val="374151"/>
                </a:solidFill>
                <a:latin typeface="Noto Sans JP" pitchFamily="34" charset="0"/>
                <a:ea typeface="Noto Sans JP" pitchFamily="34" charset="-122"/>
                <a:cs typeface="Noto Sans JP" pitchFamily="34" charset="-120"/>
              </a:rPr>
              <a:t>風グラムを再設計し、システムに知識を組み込む</a:t>
            </a:r>
            <a:endParaRPr lang="en-US" sz="1200" dirty="0"/>
          </a:p>
        </p:txBody>
      </p:sp>
      <p:sp>
        <p:nvSpPr>
          <p:cNvPr id="10" name="Text 7"/>
          <p:cNvSpPr txBox="1"/>
          <p:nvPr/>
        </p:nvSpPr>
        <p:spPr>
          <a:xfrm>
            <a:off x="952805" y="2354580"/>
            <a:ext cx="5943600" cy="495605"/>
          </a:xfrm>
          <a:prstGeom prst="rect">
            <a:avLst/>
          </a:prstGeom>
          <a:noFill/>
          <a:ln/>
        </p:spPr>
        <p:txBody>
          <a:bodyPr wrap="square" lIns="0" tIns="0" rIns="0" bIns="0" rtlCol="0" anchor="t"/>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決算一気通貫PoC（源流入力）</a:t>
            </a:r>
            <a:pPr algn="l" indent="0" marL="0">
              <a:buNone/>
            </a:pPr>
            <a:endParaRPr lang="en-US" sz="1200" dirty="0"/>
          </a:p>
          <a:p>
            <a:pPr algn="l" indent="0" marL="0">
              <a:buNone/>
            </a:pPr>
            <a:r>
              <a:rPr lang="en-US" sz="1200" dirty="0">
                <a:solidFill>
                  <a:srgbClr val="374151"/>
                </a:solidFill>
                <a:latin typeface="Noto Sans JP" pitchFamily="34" charset="0"/>
                <a:ea typeface="Noto Sans JP" pitchFamily="34" charset="-122"/>
                <a:cs typeface="Noto Sans JP" pitchFamily="34" charset="-120"/>
              </a:rPr>
              <a:t>現場入力から按分・会計連携までの自動化を実証</a:t>
            </a:r>
            <a:endParaRPr lang="en-US" sz="1200" dirty="0"/>
          </a:p>
        </p:txBody>
      </p:sp>
      <p:sp>
        <p:nvSpPr>
          <p:cNvPr id="11" name="Shape 8"/>
          <p:cNvSpPr/>
          <p:nvPr/>
        </p:nvSpPr>
        <p:spPr>
          <a:xfrm>
            <a:off x="7200900" y="1238098"/>
            <a:ext cx="4419295" cy="1524305"/>
          </a:xfrm>
          <a:prstGeom prst="roundRect">
            <a:avLst>
              <a:gd name="adj" fmla="val 2999"/>
            </a:avLst>
          </a:prstGeom>
          <a:solidFill>
            <a:srgbClr val="FFFFFF"/>
          </a:solidFill>
          <a:ln/>
        </p:spPr>
      </p:sp>
      <p:sp>
        <p:nvSpPr>
          <p:cNvPr id="12" name="Shape 9"/>
          <p:cNvSpPr/>
          <p:nvPr/>
        </p:nvSpPr>
        <p:spPr>
          <a:xfrm>
            <a:off x="7200900" y="1238098"/>
            <a:ext cx="4419295" cy="47549"/>
          </a:xfrm>
          <a:prstGeom prst="roundRect">
            <a:avLst>
              <a:gd name="adj" fmla="val 96153"/>
            </a:avLst>
          </a:prstGeom>
          <a:solidFill>
            <a:srgbClr val="10B981"/>
          </a:solidFill>
          <a:ln w="12700">
            <a:solidFill>
              <a:srgbClr val="10B981">
                <a:alpha val="0"/>
              </a:srgbClr>
            </a:solidFill>
            <a:prstDash val="solid"/>
          </a:ln>
        </p:spPr>
      </p:sp>
      <p:sp>
        <p:nvSpPr>
          <p:cNvPr id="13" name="Text 10"/>
          <p:cNvSpPr txBox="1"/>
          <p:nvPr/>
        </p:nvSpPr>
        <p:spPr>
          <a:xfrm>
            <a:off x="7563002" y="1476756"/>
            <a:ext cx="4057193" cy="257861"/>
          </a:xfrm>
          <a:prstGeom prst="rect">
            <a:avLst/>
          </a:prstGeom>
          <a:noFill/>
          <a:ln/>
        </p:spPr>
        <p:txBody>
          <a:bodyPr wrap="square" lIns="0" tIns="0" rIns="0" bIns="0" rtlCol="0" anchor="ctr"/>
          <a:lstStyle/>
          <a:p>
            <a:pPr algn="l" indent="0" marL="0">
              <a:buNone/>
            </a:pPr>
            <a:r>
              <a:rPr lang="en-US" sz="1300" b="1" dirty="0">
                <a:solidFill>
                  <a:srgbClr val="047857"/>
                </a:solidFill>
                <a:latin typeface="Noto Sans JP" pitchFamily="34" charset="0"/>
                <a:ea typeface="Noto Sans JP" pitchFamily="34" charset="-122"/>
                <a:cs typeface="Noto Sans JP" pitchFamily="34" charset="-120"/>
              </a:rPr>
              <a:t>対象スコープ（最小モデル）</a:t>
            </a:r>
            <a:endParaRPr lang="en-US" sz="1300" dirty="0"/>
          </a:p>
        </p:txBody>
      </p:sp>
      <p:pic>
        <p:nvPicPr>
          <p:cNvPr id="14" name="Image 1" descr="preencoded.png">    </p:cNvPr>
          <p:cNvPicPr>
            <a:picLocks noChangeAspect="1"/>
          </p:cNvPicPr>
          <p:nvPr/>
        </p:nvPicPr>
        <p:blipFill>
          <a:blip r:embed="rId2"/>
          <a:srcRect l="0" r="0" t="0" b="0"/>
          <a:stretch/>
        </p:blipFill>
        <p:spPr>
          <a:xfrm>
            <a:off x="7391095" y="1518818"/>
            <a:ext cx="171907" cy="171907"/>
          </a:xfrm>
          <a:prstGeom prst="rect">
            <a:avLst/>
          </a:prstGeom>
        </p:spPr>
      </p:pic>
      <p:sp>
        <p:nvSpPr>
          <p:cNvPr id="15" name="Text 11"/>
          <p:cNvSpPr txBox="1"/>
          <p:nvPr/>
        </p:nvSpPr>
        <p:spPr>
          <a:xfrm>
            <a:off x="7582205" y="1828800"/>
            <a:ext cx="4038905" cy="2478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給与手当：2種（例：早遅・宿直）</a:t>
            </a:r>
            <a:endParaRPr lang="en-US" sz="1200" dirty="0"/>
          </a:p>
        </p:txBody>
      </p:sp>
      <p:sp>
        <p:nvSpPr>
          <p:cNvPr id="16" name="Text 12"/>
          <p:cNvSpPr txBox="1"/>
          <p:nvPr/>
        </p:nvSpPr>
        <p:spPr>
          <a:xfrm>
            <a:off x="7582205" y="2110435"/>
            <a:ext cx="4038905" cy="2478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経費按分：1領域（特定科目の購入）</a:t>
            </a:r>
            <a:endParaRPr lang="en-US" sz="1200" dirty="0"/>
          </a:p>
        </p:txBody>
      </p:sp>
      <p:sp>
        <p:nvSpPr>
          <p:cNvPr id="17" name="Text 13"/>
          <p:cNvSpPr txBox="1"/>
          <p:nvPr/>
        </p:nvSpPr>
        <p:spPr>
          <a:xfrm>
            <a:off x="7582205" y="2392985"/>
            <a:ext cx="4038905" cy="2478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※依頼→計画→実績→会計連携の1ループ</a:t>
            </a:r>
            <a:endParaRPr lang="en-US" sz="1200" dirty="0"/>
          </a:p>
        </p:txBody>
      </p:sp>
      <p:sp>
        <p:nvSpPr>
          <p:cNvPr id="18" name="Shape 14"/>
          <p:cNvSpPr/>
          <p:nvPr/>
        </p:nvSpPr>
        <p:spPr>
          <a:xfrm>
            <a:off x="571500" y="2952598"/>
            <a:ext cx="3552444" cy="2829154"/>
          </a:xfrm>
          <a:prstGeom prst="roundRect">
            <a:avLst>
              <a:gd name="adj" fmla="val 871"/>
            </a:avLst>
          </a:prstGeom>
          <a:solidFill>
            <a:srgbClr val="FFFFFF"/>
          </a:solidFill>
          <a:ln w="12700">
            <a:solidFill>
              <a:srgbClr val="FFFFFF">
                <a:alpha val="0"/>
              </a:srgbClr>
            </a:solidFill>
            <a:prstDash val="solid"/>
          </a:ln>
        </p:spPr>
      </p:sp>
      <p:sp>
        <p:nvSpPr>
          <p:cNvPr id="19" name="Shape 15"/>
          <p:cNvSpPr/>
          <p:nvPr/>
        </p:nvSpPr>
        <p:spPr>
          <a:xfrm>
            <a:off x="761695" y="3449117"/>
            <a:ext cx="3172054" cy="9144"/>
          </a:xfrm>
          <a:prstGeom prst="rect">
            <a:avLst/>
          </a:prstGeom>
          <a:solidFill>
            <a:srgbClr val="E5E7EB"/>
          </a:solidFill>
          <a:ln w="12700">
            <a:solidFill>
              <a:srgbClr val="E5E7EB">
                <a:alpha val="0"/>
              </a:srgbClr>
            </a:solidFill>
            <a:prstDash val="solid"/>
          </a:ln>
        </p:spPr>
      </p:sp>
      <p:sp>
        <p:nvSpPr>
          <p:cNvPr id="20" name="Text 16"/>
          <p:cNvSpPr txBox="1"/>
          <p:nvPr/>
        </p:nvSpPr>
        <p:spPr>
          <a:xfrm>
            <a:off x="914400" y="3143707"/>
            <a:ext cx="3096158" cy="2295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成果物 (Deliverables)</a:t>
            </a:r>
            <a:endParaRPr lang="en-US" sz="1200" dirty="0"/>
          </a:p>
        </p:txBody>
      </p:sp>
      <p:pic>
        <p:nvPicPr>
          <p:cNvPr id="21" name="Image 2" descr="preencoded.png">    </p:cNvPr>
          <p:cNvPicPr>
            <a:picLocks noChangeAspect="1"/>
          </p:cNvPicPr>
          <p:nvPr/>
        </p:nvPicPr>
        <p:blipFill>
          <a:blip r:embed="rId3"/>
          <a:srcRect l="0" r="0" t="0" b="0"/>
          <a:stretch/>
        </p:blipFill>
        <p:spPr>
          <a:xfrm>
            <a:off x="761695" y="3181198"/>
            <a:ext cx="152705" cy="152705"/>
          </a:xfrm>
          <a:prstGeom prst="rect">
            <a:avLst/>
          </a:prstGeom>
        </p:spPr>
      </p:pic>
      <p:sp>
        <p:nvSpPr>
          <p:cNvPr id="22" name="Text 17"/>
          <p:cNvSpPr txBox="1"/>
          <p:nvPr/>
        </p:nvSpPr>
        <p:spPr>
          <a:xfrm>
            <a:off x="761695" y="3600907"/>
            <a:ext cx="3363163"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a:t>
            </a:r>
            <a:pPr algn="l" indent="0" marL="0">
              <a:buNone/>
            </a:pPr>
            <a:r>
              <a:rPr lang="en-US" sz="1100" b="1" dirty="0">
                <a:solidFill>
                  <a:srgbClr val="4B5563"/>
                </a:solidFill>
                <a:latin typeface="Noto Sans JP" pitchFamily="34" charset="0"/>
                <a:ea typeface="Noto Sans JP" pitchFamily="34" charset="-122"/>
                <a:cs typeface="Noto Sans JP" pitchFamily="34" charset="-120"/>
              </a:rPr>
              <a:t>仕事ナビ プロトタイプ</a:t>
            </a:r>
            <a:pPr algn="l" indent="0" marL="0">
              <a:buNone/>
            </a:pPr>
            <a:r>
              <a:rPr lang="en-US" sz="1100" dirty="0">
                <a:solidFill>
                  <a:srgbClr val="4B5563"/>
                </a:solidFill>
                <a:latin typeface="Noto Sans JP" pitchFamily="34" charset="0"/>
                <a:ea typeface="Noto Sans JP" pitchFamily="34" charset="-122"/>
                <a:cs typeface="Noto Sans JP" pitchFamily="34" charset="-120"/>
              </a:rPr>
              <a:t>（実動作版）</a:t>
            </a:r>
            <a:endParaRPr lang="en-US" sz="1100" dirty="0"/>
          </a:p>
        </p:txBody>
      </p:sp>
      <p:sp>
        <p:nvSpPr>
          <p:cNvPr id="23" name="Text 18"/>
          <p:cNvSpPr txBox="1"/>
          <p:nvPr/>
        </p:nvSpPr>
        <p:spPr>
          <a:xfrm>
            <a:off x="761695" y="3905402"/>
            <a:ext cx="3363163"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a:t>
            </a:r>
            <a:pPr algn="l" indent="0" marL="0">
              <a:buNone/>
            </a:pPr>
            <a:r>
              <a:rPr lang="en-US" sz="1100" b="1" dirty="0">
                <a:solidFill>
                  <a:srgbClr val="4B5563"/>
                </a:solidFill>
                <a:latin typeface="Noto Sans JP" pitchFamily="34" charset="0"/>
                <a:ea typeface="Noto Sans JP" pitchFamily="34" charset="-122"/>
                <a:cs typeface="Noto Sans JP" pitchFamily="34" charset="-120"/>
              </a:rPr>
              <a:t>標準WBSテンプレート</a:t>
            </a:r>
            <a:pPr algn="l" indent="0" marL="0">
              <a:buNone/>
            </a:pPr>
            <a:r>
              <a:rPr lang="en-US" sz="1100" dirty="0">
                <a:solidFill>
                  <a:srgbClr val="4B5563"/>
                </a:solidFill>
                <a:latin typeface="Noto Sans JP" pitchFamily="34" charset="0"/>
                <a:ea typeface="Noto Sans JP" pitchFamily="34" charset="-122"/>
                <a:cs typeface="Noto Sans JP" pitchFamily="34" charset="-120"/>
              </a:rPr>
              <a:t>（業務計画案）</a:t>
            </a:r>
            <a:endParaRPr lang="en-US" sz="1100" dirty="0"/>
          </a:p>
        </p:txBody>
      </p:sp>
      <p:sp>
        <p:nvSpPr>
          <p:cNvPr id="24" name="Text 19"/>
          <p:cNvSpPr txBox="1"/>
          <p:nvPr/>
        </p:nvSpPr>
        <p:spPr>
          <a:xfrm>
            <a:off x="761695" y="4209898"/>
            <a:ext cx="3363163"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a:t>
            </a:r>
            <a:pPr algn="l" indent="0" marL="0">
              <a:buNone/>
            </a:pPr>
            <a:r>
              <a:rPr lang="en-US" sz="1100" b="1" dirty="0">
                <a:solidFill>
                  <a:srgbClr val="4B5563"/>
                </a:solidFill>
                <a:latin typeface="Noto Sans JP" pitchFamily="34" charset="0"/>
                <a:ea typeface="Noto Sans JP" pitchFamily="34" charset="-122"/>
                <a:cs typeface="Noto Sans JP" pitchFamily="34" charset="-120"/>
              </a:rPr>
              <a:t>ナレッジベース v0.9</a:t>
            </a:r>
            <a:pPr algn="l" indent="0" marL="0">
              <a:buNone/>
            </a:pPr>
            <a:r>
              <a:rPr lang="en-US" sz="1100" dirty="0">
                <a:solidFill>
                  <a:srgbClr val="4B5563"/>
                </a:solidFill>
                <a:latin typeface="Noto Sans JP" pitchFamily="34" charset="0"/>
                <a:ea typeface="Noto Sans JP" pitchFamily="34" charset="-122"/>
                <a:cs typeface="Noto Sans JP" pitchFamily="34" charset="-120"/>
              </a:rPr>
              <a:t>（規定・ルール集）</a:t>
            </a:r>
            <a:endParaRPr lang="en-US" sz="1100" dirty="0"/>
          </a:p>
        </p:txBody>
      </p:sp>
      <p:sp>
        <p:nvSpPr>
          <p:cNvPr id="25" name="Text 20"/>
          <p:cNvSpPr txBox="1"/>
          <p:nvPr/>
        </p:nvSpPr>
        <p:spPr>
          <a:xfrm>
            <a:off x="761695" y="4515307"/>
            <a:ext cx="3363163"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a:t>
            </a:r>
            <a:pPr algn="l" indent="0" marL="0">
              <a:buNone/>
            </a:pPr>
            <a:r>
              <a:rPr lang="en-US" sz="1100" b="1" dirty="0">
                <a:solidFill>
                  <a:srgbClr val="4B5563"/>
                </a:solidFill>
                <a:latin typeface="Noto Sans JP" pitchFamily="34" charset="0"/>
                <a:ea typeface="Noto Sans JP" pitchFamily="34" charset="-122"/>
                <a:cs typeface="Noto Sans JP" pitchFamily="34" charset="-120"/>
              </a:rPr>
              <a:t>既存システム接続仕様書</a:t>
            </a:r>
            <a:endParaRPr lang="en-US" sz="1100" dirty="0"/>
          </a:p>
        </p:txBody>
      </p:sp>
      <p:sp>
        <p:nvSpPr>
          <p:cNvPr id="26" name="Shape 21"/>
          <p:cNvSpPr/>
          <p:nvPr/>
        </p:nvSpPr>
        <p:spPr>
          <a:xfrm>
            <a:off x="4311396" y="2952598"/>
            <a:ext cx="3552444" cy="2829154"/>
          </a:xfrm>
          <a:prstGeom prst="roundRect">
            <a:avLst>
              <a:gd name="adj" fmla="val 871"/>
            </a:avLst>
          </a:prstGeom>
          <a:solidFill>
            <a:srgbClr val="FFFFFF"/>
          </a:solidFill>
          <a:ln w="12700">
            <a:solidFill>
              <a:srgbClr val="FFFFFF">
                <a:alpha val="0"/>
              </a:srgbClr>
            </a:solidFill>
            <a:prstDash val="solid"/>
          </a:ln>
        </p:spPr>
      </p:sp>
      <p:sp>
        <p:nvSpPr>
          <p:cNvPr id="27" name="Shape 22"/>
          <p:cNvSpPr/>
          <p:nvPr/>
        </p:nvSpPr>
        <p:spPr>
          <a:xfrm>
            <a:off x="4502506" y="3449117"/>
            <a:ext cx="3172054" cy="9144"/>
          </a:xfrm>
          <a:prstGeom prst="rect">
            <a:avLst/>
          </a:prstGeom>
          <a:solidFill>
            <a:srgbClr val="E5E7EB"/>
          </a:solidFill>
          <a:ln w="12700">
            <a:solidFill>
              <a:srgbClr val="E5E7EB">
                <a:alpha val="0"/>
              </a:srgbClr>
            </a:solidFill>
            <a:prstDash val="solid"/>
          </a:ln>
        </p:spPr>
      </p:sp>
      <p:sp>
        <p:nvSpPr>
          <p:cNvPr id="28" name="Text 23"/>
          <p:cNvSpPr txBox="1"/>
          <p:nvPr/>
        </p:nvSpPr>
        <p:spPr>
          <a:xfrm>
            <a:off x="4692701" y="3143707"/>
            <a:ext cx="3058668" cy="2295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推進体制 (Team)</a:t>
            </a:r>
            <a:endParaRPr lang="en-US" sz="1200" dirty="0"/>
          </a:p>
        </p:txBody>
      </p:sp>
      <p:pic>
        <p:nvPicPr>
          <p:cNvPr id="29" name="Image 3" descr="preencoded.png">    </p:cNvPr>
          <p:cNvPicPr>
            <a:picLocks noChangeAspect="1"/>
          </p:cNvPicPr>
          <p:nvPr/>
        </p:nvPicPr>
        <p:blipFill>
          <a:blip r:embed="rId4"/>
          <a:srcRect l="0" r="0" t="-180" b="-180"/>
          <a:stretch/>
        </p:blipFill>
        <p:spPr>
          <a:xfrm>
            <a:off x="4502506" y="3181198"/>
            <a:ext cx="190195" cy="152705"/>
          </a:xfrm>
          <a:prstGeom prst="rect">
            <a:avLst/>
          </a:prstGeom>
        </p:spPr>
      </p:pic>
      <p:sp>
        <p:nvSpPr>
          <p:cNvPr id="30" name="Text 24"/>
          <p:cNvSpPr txBox="1"/>
          <p:nvPr/>
        </p:nvSpPr>
        <p:spPr>
          <a:xfrm>
            <a:off x="4502506" y="3600907"/>
            <a:ext cx="3363163" cy="228600"/>
          </a:xfrm>
          <a:prstGeom prst="rect">
            <a:avLst/>
          </a:prstGeom>
          <a:noFill/>
          <a:ln/>
        </p:spPr>
        <p:txBody>
          <a:bodyPr wrap="square" lIns="0" tIns="0" rIns="0" bIns="0" rtlCol="0" anchor="ctr"/>
          <a:lstStyle/>
          <a:p>
            <a:pPr algn="l" indent="0" marL="0">
              <a:buNone/>
            </a:pPr>
            <a:r>
              <a:rPr lang="en-US" sz="1100" b="1" dirty="0">
                <a:solidFill>
                  <a:srgbClr val="4B5563"/>
                </a:solidFill>
                <a:latin typeface="Noto Sans JP" pitchFamily="34" charset="0"/>
                <a:ea typeface="Noto Sans JP" pitchFamily="34" charset="-122"/>
                <a:cs typeface="Noto Sans JP" pitchFamily="34" charset="-120"/>
              </a:rPr>
              <a:t>コアメンバー：</a:t>
            </a:r>
            <a:endParaRPr lang="en-US" sz="1100" dirty="0"/>
          </a:p>
        </p:txBody>
      </p:sp>
      <p:sp>
        <p:nvSpPr>
          <p:cNvPr id="31" name="Text 25"/>
          <p:cNvSpPr txBox="1"/>
          <p:nvPr/>
        </p:nvSpPr>
        <p:spPr>
          <a:xfrm>
            <a:off x="4502506" y="3905402"/>
            <a:ext cx="3363163"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・経営企画、総務、経理、給与から各1名</a:t>
            </a:r>
            <a:endParaRPr lang="en-US" sz="1100" dirty="0"/>
          </a:p>
        </p:txBody>
      </p:sp>
      <p:sp>
        <p:nvSpPr>
          <p:cNvPr id="32" name="Text 26"/>
          <p:cNvSpPr txBox="1"/>
          <p:nvPr/>
        </p:nvSpPr>
        <p:spPr>
          <a:xfrm>
            <a:off x="4502506" y="4209898"/>
            <a:ext cx="3286354" cy="228600"/>
          </a:xfrm>
          <a:prstGeom prst="rect">
            <a:avLst/>
          </a:prstGeom>
          <a:noFill/>
          <a:ln/>
        </p:spPr>
        <p:txBody>
          <a:bodyPr wrap="square" lIns="0" tIns="0" rIns="0" bIns="0" rtlCol="0" anchor="ctr"/>
          <a:lstStyle/>
          <a:p>
            <a:pPr algn="l" indent="0" marL="0">
              <a:buNone/>
            </a:pPr>
            <a:r>
              <a:rPr lang="en-US" sz="1100" dirty="0">
                <a:solidFill>
                  <a:srgbClr val="4B5563"/>
                </a:solidFill>
                <a:latin typeface="Noto Sans JP" pitchFamily="34" charset="0"/>
                <a:ea typeface="Noto Sans JP" pitchFamily="34" charset="-122"/>
                <a:cs typeface="Noto Sans JP" pitchFamily="34" charset="-120"/>
              </a:rPr>
              <a:t>・推進PM（PreSoft）</a:t>
            </a:r>
            <a:endParaRPr lang="en-US" sz="1100" dirty="0"/>
          </a:p>
        </p:txBody>
      </p:sp>
      <p:sp>
        <p:nvSpPr>
          <p:cNvPr id="33" name="Text 27"/>
          <p:cNvSpPr txBox="1"/>
          <p:nvPr/>
        </p:nvSpPr>
        <p:spPr>
          <a:xfrm>
            <a:off x="4502506" y="4533595"/>
            <a:ext cx="3363163" cy="2002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※週次定例（1h）での進捗確認と課題解決</a:t>
            </a:r>
            <a:endParaRPr lang="en-US" sz="900" dirty="0"/>
          </a:p>
        </p:txBody>
      </p:sp>
      <p:sp>
        <p:nvSpPr>
          <p:cNvPr id="34" name="Shape 28"/>
          <p:cNvSpPr/>
          <p:nvPr/>
        </p:nvSpPr>
        <p:spPr>
          <a:xfrm>
            <a:off x="8052206" y="2952598"/>
            <a:ext cx="3571646" cy="2829154"/>
          </a:xfrm>
          <a:prstGeom prst="roundRect">
            <a:avLst>
              <a:gd name="adj" fmla="val 871"/>
            </a:avLst>
          </a:prstGeom>
          <a:solidFill>
            <a:srgbClr val="ECFDF5"/>
          </a:solidFill>
          <a:ln w="12700">
            <a:solidFill>
              <a:srgbClr val="A7F3D0"/>
            </a:solidFill>
            <a:prstDash val="solid"/>
          </a:ln>
        </p:spPr>
      </p:sp>
      <p:sp>
        <p:nvSpPr>
          <p:cNvPr id="35" name="Shape 29"/>
          <p:cNvSpPr/>
          <p:nvPr/>
        </p:nvSpPr>
        <p:spPr>
          <a:xfrm>
            <a:off x="8251546" y="3458261"/>
            <a:ext cx="3172054" cy="9144"/>
          </a:xfrm>
          <a:prstGeom prst="rect">
            <a:avLst/>
          </a:prstGeom>
          <a:solidFill>
            <a:srgbClr val="E5E7EB"/>
          </a:solidFill>
          <a:ln w="12700">
            <a:solidFill>
              <a:srgbClr val="E5E7EB">
                <a:alpha val="0"/>
              </a:srgbClr>
            </a:solidFill>
            <a:prstDash val="solid"/>
          </a:ln>
        </p:spPr>
      </p:sp>
      <p:sp>
        <p:nvSpPr>
          <p:cNvPr id="36" name="Text 30"/>
          <p:cNvSpPr txBox="1"/>
          <p:nvPr/>
        </p:nvSpPr>
        <p:spPr>
          <a:xfrm>
            <a:off x="8404250" y="3152851"/>
            <a:ext cx="3096158" cy="2295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初期目標 (KPI)</a:t>
            </a:r>
            <a:endParaRPr lang="en-US" sz="1200" dirty="0"/>
          </a:p>
        </p:txBody>
      </p:sp>
      <p:pic>
        <p:nvPicPr>
          <p:cNvPr id="37" name="Image 4" descr="preencoded.png">    </p:cNvPr>
          <p:cNvPicPr>
            <a:picLocks noChangeAspect="1"/>
          </p:cNvPicPr>
          <p:nvPr/>
        </p:nvPicPr>
        <p:blipFill>
          <a:blip r:embed="rId5"/>
          <a:srcRect l="0" r="0" t="0" b="0"/>
          <a:stretch/>
        </p:blipFill>
        <p:spPr>
          <a:xfrm>
            <a:off x="8251546" y="3191256"/>
            <a:ext cx="152705" cy="152705"/>
          </a:xfrm>
          <a:prstGeom prst="rect">
            <a:avLst/>
          </a:prstGeom>
        </p:spPr>
      </p:pic>
      <p:sp>
        <p:nvSpPr>
          <p:cNvPr id="38" name="Shape 31"/>
          <p:cNvSpPr/>
          <p:nvPr/>
        </p:nvSpPr>
        <p:spPr>
          <a:xfrm>
            <a:off x="8251546" y="3610051"/>
            <a:ext cx="3172054" cy="409651"/>
          </a:xfrm>
          <a:prstGeom prst="roundRect">
            <a:avLst>
              <a:gd name="adj" fmla="val 20764"/>
            </a:avLst>
          </a:prstGeom>
          <a:solidFill>
            <a:srgbClr val="FFFFFF"/>
          </a:solidFill>
          <a:ln w="12700">
            <a:solidFill>
              <a:srgbClr val="FFFFFF">
                <a:alpha val="0"/>
              </a:srgbClr>
            </a:solidFill>
            <a:prstDash val="solid"/>
          </a:ln>
        </p:spPr>
      </p:sp>
      <p:sp>
        <p:nvSpPr>
          <p:cNvPr id="39" name="Text 32"/>
          <p:cNvSpPr txBox="1"/>
          <p:nvPr/>
        </p:nvSpPr>
        <p:spPr>
          <a:xfrm>
            <a:off x="8365846" y="3700577"/>
            <a:ext cx="1327709" cy="228600"/>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転記・手計算削減</a:t>
            </a:r>
            <a:endParaRPr lang="en-US" sz="1200" dirty="0"/>
          </a:p>
        </p:txBody>
      </p:sp>
      <p:sp>
        <p:nvSpPr>
          <p:cNvPr id="40" name="Text 33"/>
          <p:cNvSpPr txBox="1"/>
          <p:nvPr/>
        </p:nvSpPr>
        <p:spPr>
          <a:xfrm>
            <a:off x="10556748" y="3685946"/>
            <a:ext cx="829361" cy="257861"/>
          </a:xfrm>
          <a:prstGeom prst="rect">
            <a:avLst/>
          </a:prstGeom>
          <a:noFill/>
          <a:ln/>
        </p:spPr>
        <p:txBody>
          <a:bodyPr wrap="square" lIns="0" tIns="0" rIns="0" bIns="0" rtlCol="0" anchor="ctr"/>
          <a:lstStyle/>
          <a:p>
            <a:pPr algn="l" indent="0" marL="0">
              <a:buNone/>
            </a:pPr>
            <a:r>
              <a:rPr lang="en-US" sz="1300" b="1" dirty="0">
                <a:solidFill>
                  <a:srgbClr val="059669"/>
                </a:solidFill>
                <a:latin typeface="Noto Sans JP" pitchFamily="34" charset="0"/>
                <a:ea typeface="Noto Sans JP" pitchFamily="34" charset="-122"/>
                <a:cs typeface="Noto Sans JP" pitchFamily="34" charset="-120"/>
              </a:rPr>
              <a:t>80% 削減</a:t>
            </a:r>
            <a:endParaRPr lang="en-US" sz="1300" dirty="0"/>
          </a:p>
        </p:txBody>
      </p:sp>
      <p:sp>
        <p:nvSpPr>
          <p:cNvPr id="41" name="Shape 34"/>
          <p:cNvSpPr/>
          <p:nvPr/>
        </p:nvSpPr>
        <p:spPr>
          <a:xfrm>
            <a:off x="8251546" y="4114800"/>
            <a:ext cx="3172054" cy="409651"/>
          </a:xfrm>
          <a:prstGeom prst="roundRect">
            <a:avLst>
              <a:gd name="adj" fmla="val 20764"/>
            </a:avLst>
          </a:prstGeom>
          <a:solidFill>
            <a:srgbClr val="FFFFFF"/>
          </a:solidFill>
          <a:ln w="12700">
            <a:solidFill>
              <a:srgbClr val="FFFFFF">
                <a:alpha val="0"/>
              </a:srgbClr>
            </a:solidFill>
            <a:prstDash val="solid"/>
          </a:ln>
        </p:spPr>
      </p:sp>
      <p:sp>
        <p:nvSpPr>
          <p:cNvPr id="42" name="Text 35"/>
          <p:cNvSpPr txBox="1"/>
          <p:nvPr/>
        </p:nvSpPr>
        <p:spPr>
          <a:xfrm>
            <a:off x="8365846" y="4205326"/>
            <a:ext cx="1163117" cy="228600"/>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問い合わせ削減</a:t>
            </a:r>
            <a:endParaRPr lang="en-US" sz="1200" dirty="0"/>
          </a:p>
        </p:txBody>
      </p:sp>
      <p:sp>
        <p:nvSpPr>
          <p:cNvPr id="43" name="Text 36"/>
          <p:cNvSpPr txBox="1"/>
          <p:nvPr/>
        </p:nvSpPr>
        <p:spPr>
          <a:xfrm>
            <a:off x="10556748" y="4190695"/>
            <a:ext cx="829361" cy="257861"/>
          </a:xfrm>
          <a:prstGeom prst="rect">
            <a:avLst/>
          </a:prstGeom>
          <a:noFill/>
          <a:ln/>
        </p:spPr>
        <p:txBody>
          <a:bodyPr wrap="square" lIns="0" tIns="0" rIns="0" bIns="0" rtlCol="0" anchor="ctr"/>
          <a:lstStyle/>
          <a:p>
            <a:pPr algn="l" indent="0" marL="0">
              <a:buNone/>
            </a:pPr>
            <a:r>
              <a:rPr lang="en-US" sz="1300" b="1" dirty="0">
                <a:solidFill>
                  <a:srgbClr val="059669"/>
                </a:solidFill>
                <a:latin typeface="Noto Sans JP" pitchFamily="34" charset="0"/>
                <a:ea typeface="Noto Sans JP" pitchFamily="34" charset="-122"/>
                <a:cs typeface="Noto Sans JP" pitchFamily="34" charset="-120"/>
              </a:rPr>
              <a:t>30% 削減</a:t>
            </a:r>
            <a:endParaRPr lang="en-US" sz="1300" dirty="0"/>
          </a:p>
        </p:txBody>
      </p:sp>
      <p:sp>
        <p:nvSpPr>
          <p:cNvPr id="44" name="Shape 37"/>
          <p:cNvSpPr/>
          <p:nvPr/>
        </p:nvSpPr>
        <p:spPr>
          <a:xfrm>
            <a:off x="8251546" y="4619549"/>
            <a:ext cx="3172054" cy="409651"/>
          </a:xfrm>
          <a:prstGeom prst="roundRect">
            <a:avLst>
              <a:gd name="adj" fmla="val 20764"/>
            </a:avLst>
          </a:prstGeom>
          <a:solidFill>
            <a:srgbClr val="FFFFFF"/>
          </a:solidFill>
          <a:ln w="12700">
            <a:solidFill>
              <a:srgbClr val="FFFFFF">
                <a:alpha val="0"/>
              </a:srgbClr>
            </a:solidFill>
            <a:prstDash val="solid"/>
          </a:ln>
        </p:spPr>
      </p:sp>
      <p:sp>
        <p:nvSpPr>
          <p:cNvPr id="45" name="Text 38"/>
          <p:cNvSpPr txBox="1"/>
          <p:nvPr/>
        </p:nvSpPr>
        <p:spPr>
          <a:xfrm>
            <a:off x="8365846" y="4710074"/>
            <a:ext cx="1317650" cy="228600"/>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月次リードタイム</a:t>
            </a:r>
            <a:endParaRPr lang="en-US" sz="1200" dirty="0"/>
          </a:p>
        </p:txBody>
      </p:sp>
      <p:sp>
        <p:nvSpPr>
          <p:cNvPr id="46" name="Text 39"/>
          <p:cNvSpPr txBox="1"/>
          <p:nvPr/>
        </p:nvSpPr>
        <p:spPr>
          <a:xfrm>
            <a:off x="10651846" y="4695444"/>
            <a:ext cx="775411" cy="257861"/>
          </a:xfrm>
          <a:prstGeom prst="rect">
            <a:avLst/>
          </a:prstGeom>
          <a:noFill/>
          <a:ln/>
        </p:spPr>
        <p:txBody>
          <a:bodyPr wrap="square" lIns="0" tIns="0" rIns="0" bIns="0" rtlCol="0" anchor="ctr"/>
          <a:lstStyle/>
          <a:p>
            <a:pPr algn="l" indent="0" marL="0">
              <a:buNone/>
            </a:pPr>
            <a:r>
              <a:rPr lang="en-US" sz="1300" b="1" dirty="0">
                <a:solidFill>
                  <a:srgbClr val="059669"/>
                </a:solidFill>
                <a:latin typeface="Noto Sans JP" pitchFamily="34" charset="0"/>
                <a:ea typeface="Noto Sans JP" pitchFamily="34" charset="-122"/>
                <a:cs typeface="Noto Sans JP" pitchFamily="34" charset="-120"/>
              </a:rPr>
              <a:t>5日 短縮</a:t>
            </a:r>
            <a:endParaRPr lang="en-US" sz="1300" dirty="0"/>
          </a:p>
        </p:txBody>
      </p:sp>
      <p:sp>
        <p:nvSpPr>
          <p:cNvPr id="47" name="Shape 40"/>
          <p:cNvSpPr/>
          <p:nvPr/>
        </p:nvSpPr>
        <p:spPr>
          <a:xfrm>
            <a:off x="571500" y="5971946"/>
            <a:ext cx="11048695" cy="599846"/>
          </a:xfrm>
          <a:prstGeom prst="roundRect">
            <a:avLst>
              <a:gd name="adj" fmla="val 19357"/>
            </a:avLst>
          </a:prstGeom>
          <a:solidFill>
            <a:srgbClr val="111827"/>
          </a:solidFill>
          <a:ln w="12700">
            <a:solidFill>
              <a:srgbClr val="FFFFFF">
                <a:alpha val="0"/>
              </a:srgbClr>
            </a:solidFill>
            <a:prstDash val="solid"/>
          </a:ln>
        </p:spPr>
      </p:sp>
      <p:sp>
        <p:nvSpPr>
          <p:cNvPr id="48" name="Text 41"/>
          <p:cNvSpPr txBox="1"/>
          <p:nvPr/>
        </p:nvSpPr>
        <p:spPr>
          <a:xfrm>
            <a:off x="857707" y="6143854"/>
            <a:ext cx="5930798" cy="257861"/>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Next Action: 本日の合意に基づき、来週よりプロジェクトチームを発足</a:t>
            </a:r>
            <a:endParaRPr lang="en-US" sz="1300" dirty="0"/>
          </a:p>
        </p:txBody>
      </p:sp>
      <p:sp>
        <p:nvSpPr>
          <p:cNvPr id="49" name="Shape 42"/>
          <p:cNvSpPr/>
          <p:nvPr/>
        </p:nvSpPr>
        <p:spPr>
          <a:xfrm>
            <a:off x="10037369" y="6115507"/>
            <a:ext cx="1304849" cy="314554"/>
          </a:xfrm>
          <a:prstGeom prst="roundRect">
            <a:avLst>
              <a:gd name="adj" fmla="val 176180"/>
            </a:avLst>
          </a:prstGeom>
          <a:solidFill>
            <a:srgbClr val="10B981"/>
          </a:solidFill>
          <a:ln w="12700">
            <a:solidFill>
              <a:srgbClr val="FFFFFF">
                <a:alpha val="0"/>
              </a:srgbClr>
            </a:solidFill>
            <a:prstDash val="solid"/>
          </a:ln>
        </p:spPr>
      </p:sp>
      <p:sp>
        <p:nvSpPr>
          <p:cNvPr id="50" name="Text 43"/>
          <p:cNvSpPr txBox="1"/>
          <p:nvPr/>
        </p:nvSpPr>
        <p:spPr>
          <a:xfrm>
            <a:off x="10037369" y="6115507"/>
            <a:ext cx="1362456" cy="314554"/>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START PHASE 0</a:t>
            </a:r>
            <a:endParaRPr lang="en-US" sz="1000" dirty="0"/>
          </a:p>
        </p:txBody>
      </p:sp>
      <p:sp>
        <p:nvSpPr>
          <p:cNvPr id="51" name="Shape 44"/>
          <p:cNvSpPr/>
          <p:nvPr/>
        </p:nvSpPr>
        <p:spPr>
          <a:xfrm>
            <a:off x="0" y="0"/>
            <a:ext cx="12191695" cy="952805"/>
          </a:xfrm>
          <a:prstGeom prst="rect">
            <a:avLst/>
          </a:prstGeom>
          <a:solidFill>
            <a:srgbClr val="FFFFFF"/>
          </a:solidFill>
          <a:ln/>
        </p:spPr>
      </p:sp>
      <p:sp>
        <p:nvSpPr>
          <p:cNvPr id="52" name="Shape 45"/>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53" name="Shape 46"/>
          <p:cNvSpPr/>
          <p:nvPr/>
        </p:nvSpPr>
        <p:spPr>
          <a:xfrm>
            <a:off x="571500" y="333756"/>
            <a:ext cx="990295" cy="362102"/>
          </a:xfrm>
          <a:prstGeom prst="roundRect">
            <a:avLst>
              <a:gd name="adj" fmla="val 26582"/>
            </a:avLst>
          </a:prstGeom>
          <a:solidFill>
            <a:srgbClr val="059669"/>
          </a:solidFill>
          <a:ln w="12700">
            <a:solidFill>
              <a:srgbClr val="FFFFFF">
                <a:alpha val="0"/>
              </a:srgbClr>
            </a:solidFill>
            <a:prstDash val="solid"/>
          </a:ln>
        </p:spPr>
      </p:sp>
      <p:sp>
        <p:nvSpPr>
          <p:cNvPr id="54" name="Text 47"/>
          <p:cNvSpPr txBox="1"/>
          <p:nvPr/>
        </p:nvSpPr>
        <p:spPr>
          <a:xfrm>
            <a:off x="571500" y="333756"/>
            <a:ext cx="1067105"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Phase0</a:t>
            </a:r>
            <a:endParaRPr lang="en-US" sz="1500" dirty="0"/>
          </a:p>
        </p:txBody>
      </p:sp>
      <p:sp>
        <p:nvSpPr>
          <p:cNvPr id="55" name="Text 48"/>
          <p:cNvSpPr txBox="1"/>
          <p:nvPr/>
        </p:nvSpPr>
        <p:spPr>
          <a:xfrm>
            <a:off x="1745590" y="286207"/>
            <a:ext cx="5734202"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今後の進め方：最初の一歩（6〜8週間）</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sx="100000" sy="100000" kx="0" ky="0" algn="bl" rotWithShape="0" blurRad="63500" dist="38100" dir="16200000">
              <a:srgbClr val="000000">
                <a:alpha val="10000"/>
              </a:srgbClr>
            </a:outerShdw>
          </a:effectLst>
        </p:spPr>
      </p:sp>
      <p:sp>
        <p:nvSpPr>
          <p:cNvPr id="4" name="Shape 2"/>
          <p:cNvSpPr/>
          <p:nvPr/>
        </p:nvSpPr>
        <p:spPr>
          <a:xfrm>
            <a:off x="0" y="952805"/>
            <a:ext cx="12191695" cy="5905195"/>
          </a:xfrm>
          <a:prstGeom prst="rect">
            <a:avLst/>
          </a:prstGeom>
          <a:solidFill>
            <a:srgbClr val="F0FDF4"/>
          </a:solidFill>
          <a:ln w="12700">
            <a:solidFill>
              <a:srgbClr val="FFFFFF">
                <a:alpha val="0"/>
              </a:srgbClr>
            </a:solidFill>
            <a:prstDash val="solid"/>
          </a:ln>
        </p:spPr>
      </p:sp>
      <p:sp>
        <p:nvSpPr>
          <p:cNvPr id="5" name="Shape 3"/>
          <p:cNvSpPr/>
          <p:nvPr/>
        </p:nvSpPr>
        <p:spPr>
          <a:xfrm>
            <a:off x="571500" y="1333195"/>
            <a:ext cx="5410505" cy="3895344"/>
          </a:xfrm>
          <a:prstGeom prst="roundRect">
            <a:avLst>
              <a:gd name="adj" fmla="val 689"/>
            </a:avLst>
          </a:prstGeom>
          <a:solidFill>
            <a:srgbClr val="FFFFFF"/>
          </a:solidFill>
          <a:ln/>
          <a:effectLst>
            <a:outerShdw sx="100000" sy="100000" kx="0" ky="0" algn="bl" rotWithShape="0" blurRad="63500" dist="38100" dir="16200000">
              <a:srgbClr val="000000">
                <a:alpha val="5000"/>
              </a:srgbClr>
            </a:outerShdw>
          </a:effectLst>
        </p:spPr>
      </p:sp>
      <p:sp>
        <p:nvSpPr>
          <p:cNvPr id="6" name="Shape 4"/>
          <p:cNvSpPr/>
          <p:nvPr/>
        </p:nvSpPr>
        <p:spPr>
          <a:xfrm>
            <a:off x="571500" y="1333195"/>
            <a:ext cx="5410505" cy="57607"/>
          </a:xfrm>
          <a:prstGeom prst="roundRect">
            <a:avLst>
              <a:gd name="adj" fmla="val 46571"/>
            </a:avLst>
          </a:prstGeom>
          <a:solidFill>
            <a:srgbClr val="10B981"/>
          </a:solidFill>
          <a:ln w="12700">
            <a:solidFill>
              <a:srgbClr val="10B981">
                <a:alpha val="0"/>
              </a:srgbClr>
            </a:solidFill>
            <a:prstDash val="solid"/>
          </a:ln>
        </p:spPr>
      </p:sp>
      <p:sp>
        <p:nvSpPr>
          <p:cNvPr id="7" name="Shape 5"/>
          <p:cNvSpPr/>
          <p:nvPr/>
        </p:nvSpPr>
        <p:spPr>
          <a:xfrm>
            <a:off x="857707" y="2133295"/>
            <a:ext cx="4839005" cy="9144"/>
          </a:xfrm>
          <a:prstGeom prst="rect">
            <a:avLst/>
          </a:prstGeom>
          <a:solidFill>
            <a:srgbClr val="E5E7EB"/>
          </a:solidFill>
          <a:ln w="12700">
            <a:solidFill>
              <a:srgbClr val="E5E7EB">
                <a:alpha val="0"/>
              </a:srgbClr>
            </a:solidFill>
            <a:prstDash val="solid"/>
          </a:ln>
        </p:spPr>
      </p:sp>
      <p:sp>
        <p:nvSpPr>
          <p:cNvPr id="8" name="Text 6"/>
          <p:cNvSpPr txBox="1"/>
          <p:nvPr/>
        </p:nvSpPr>
        <p:spPr>
          <a:xfrm>
            <a:off x="1086307" y="1676095"/>
            <a:ext cx="4689043" cy="315468"/>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00" b="1" dirty="0">
                <a:solidFill>
                  <a:srgbClr val="047857"/>
                </a:solidFill>
                <a:latin typeface="Noto Sans JP" pitchFamily="34" charset="0"/>
                <a:ea typeface="Noto Sans JP" pitchFamily="34" charset="-122"/>
                <a:cs typeface="Noto Sans JP" pitchFamily="34" charset="-120"/>
              </a:rPr>
              <a:t>問題の本質と解決策</a:t>
            </a:r>
            <a:endParaRPr lang="en-US" sz="1600" dirty="0"/>
          </a:p>
        </p:txBody>
      </p:sp>
      <p:pic>
        <p:nvPicPr>
          <p:cNvPr id="9" name="Image 0" descr="preencoded.png">    </p:cNvPr>
          <p:cNvPicPr>
            <a:picLocks noChangeAspect="1"/>
          </p:cNvPicPr>
          <p:nvPr/>
        </p:nvPicPr>
        <p:blipFill>
          <a:blip r:embed="rId1"/>
          <a:srcRect l="0" r="0" t="0" b="0"/>
          <a:stretch/>
        </p:blipFill>
        <p:spPr>
          <a:xfrm>
            <a:off x="857707" y="1719072"/>
            <a:ext cx="228600" cy="228600"/>
          </a:xfrm>
          <a:prstGeom prst="rect">
            <a:avLst/>
          </a:prstGeom>
        </p:spPr>
      </p:pic>
      <p:pic>
        <p:nvPicPr>
          <p:cNvPr id="10" name="Image 1" descr="preencoded.png">    </p:cNvPr>
          <p:cNvPicPr>
            <a:picLocks noChangeAspect="1"/>
          </p:cNvPicPr>
          <p:nvPr/>
        </p:nvPicPr>
        <p:blipFill>
          <a:blip r:embed="rId2"/>
          <a:srcRect l="0" r="0" t="0" b="0"/>
          <a:stretch/>
        </p:blipFill>
        <p:spPr>
          <a:xfrm>
            <a:off x="857707" y="2333549"/>
            <a:ext cx="133502" cy="133502"/>
          </a:xfrm>
          <a:prstGeom prst="rect">
            <a:avLst/>
          </a:prstGeom>
        </p:spPr>
      </p:pic>
      <p:sp>
        <p:nvSpPr>
          <p:cNvPr id="11" name="Text 7"/>
          <p:cNvSpPr txBox="1"/>
          <p:nvPr/>
        </p:nvSpPr>
        <p:spPr>
          <a:xfrm>
            <a:off x="990295" y="2333549"/>
            <a:ext cx="3162910" cy="553212"/>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機能不足ではなくマネジメントの欠落</a:t>
            </a:r>
            <a:pPr algn="l" indent="0" marL="0">
              <a:buNone/>
            </a:pPr>
            <a:endParaRPr lang="en-US" sz="1300" dirty="0"/>
          </a:p>
          <a:p>
            <a:pPr algn="l" indent="0" marL="0">
              <a:buNone/>
            </a:pPr>
            <a:r>
              <a:rPr lang="en-US" sz="1300" dirty="0">
                <a:solidFill>
                  <a:srgbClr val="374151"/>
                </a:solidFill>
                <a:latin typeface="Noto Sans JP" pitchFamily="34" charset="0"/>
                <a:ea typeface="Noto Sans JP" pitchFamily="34" charset="-122"/>
                <a:cs typeface="Noto Sans JP" pitchFamily="34" charset="-120"/>
              </a:rPr>
              <a:t>個人の頑張りが組織の力になっていない</a:t>
            </a:r>
            <a:endParaRPr lang="en-US" sz="1300" dirty="0"/>
          </a:p>
        </p:txBody>
      </p:sp>
      <p:pic>
        <p:nvPicPr>
          <p:cNvPr id="12" name="Image 2" descr="preencoded.png">    </p:cNvPr>
          <p:cNvPicPr>
            <a:picLocks noChangeAspect="1"/>
          </p:cNvPicPr>
          <p:nvPr/>
        </p:nvPicPr>
        <p:blipFill>
          <a:blip r:embed="rId3"/>
          <a:srcRect l="0" r="0" t="0" b="0"/>
          <a:stretch/>
        </p:blipFill>
        <p:spPr>
          <a:xfrm>
            <a:off x="857707" y="3024835"/>
            <a:ext cx="133502" cy="133502"/>
          </a:xfrm>
          <a:prstGeom prst="rect">
            <a:avLst/>
          </a:prstGeom>
        </p:spPr>
      </p:pic>
      <p:sp>
        <p:nvSpPr>
          <p:cNvPr id="13" name="Text 8"/>
          <p:cNvSpPr txBox="1"/>
          <p:nvPr/>
        </p:nvSpPr>
        <p:spPr>
          <a:xfrm>
            <a:off x="990295" y="3024835"/>
            <a:ext cx="2820010" cy="553212"/>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三原則で「全体」を動かす</a:t>
            </a:r>
            <a:pPr algn="l" indent="0" marL="0">
              <a:buNone/>
            </a:pPr>
            <a:endParaRPr lang="en-US" sz="1300" dirty="0"/>
          </a:p>
          <a:p>
            <a:pPr algn="l" indent="0" marL="0">
              <a:buNone/>
            </a:pPr>
            <a:r>
              <a:rPr lang="en-US" sz="1300" dirty="0">
                <a:solidFill>
                  <a:srgbClr val="374151"/>
                </a:solidFill>
                <a:latin typeface="Noto Sans JP" pitchFamily="34" charset="0"/>
                <a:ea typeface="Noto Sans JP" pitchFamily="34" charset="-122"/>
                <a:cs typeface="Noto Sans JP" pitchFamily="34" charset="-120"/>
              </a:rPr>
              <a:t>源流入力・知識の分離・計画と実績</a:t>
            </a:r>
            <a:endParaRPr lang="en-US" sz="1300" dirty="0"/>
          </a:p>
        </p:txBody>
      </p:sp>
      <p:pic>
        <p:nvPicPr>
          <p:cNvPr id="14" name="Image 3" descr="preencoded.png">    </p:cNvPr>
          <p:cNvPicPr>
            <a:picLocks noChangeAspect="1"/>
          </p:cNvPicPr>
          <p:nvPr/>
        </p:nvPicPr>
        <p:blipFill>
          <a:blip r:embed="rId4"/>
          <a:srcRect l="0" r="0" t="0" b="0"/>
          <a:stretch/>
        </p:blipFill>
        <p:spPr>
          <a:xfrm>
            <a:off x="857707" y="3716122"/>
            <a:ext cx="133502" cy="133502"/>
          </a:xfrm>
          <a:prstGeom prst="rect">
            <a:avLst/>
          </a:prstGeom>
        </p:spPr>
      </p:pic>
      <p:sp>
        <p:nvSpPr>
          <p:cNvPr id="15" name="Text 9"/>
          <p:cNvSpPr txBox="1"/>
          <p:nvPr/>
        </p:nvSpPr>
        <p:spPr>
          <a:xfrm>
            <a:off x="990295" y="3716122"/>
            <a:ext cx="2820010" cy="553212"/>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仕事ナビがバックボーンになる</a:t>
            </a:r>
            <a:pPr algn="l" indent="0" marL="0">
              <a:buNone/>
            </a:pPr>
            <a:endParaRPr lang="en-US" sz="1300" dirty="0"/>
          </a:p>
          <a:p>
            <a:pPr algn="l" indent="0" marL="0">
              <a:buNone/>
            </a:pPr>
            <a:r>
              <a:rPr lang="en-US" sz="1300" dirty="0">
                <a:solidFill>
                  <a:srgbClr val="374151"/>
                </a:solidFill>
                <a:latin typeface="Noto Sans JP" pitchFamily="34" charset="0"/>
                <a:ea typeface="Noto Sans JP" pitchFamily="34" charset="-122"/>
                <a:cs typeface="Noto Sans JP" pitchFamily="34" charset="-120"/>
              </a:rPr>
              <a:t>既存システムは捨てずに「つなぐ」</a:t>
            </a:r>
            <a:endParaRPr lang="en-US" sz="1300" dirty="0"/>
          </a:p>
        </p:txBody>
      </p:sp>
      <p:sp>
        <p:nvSpPr>
          <p:cNvPr id="16" name="Shape 10"/>
          <p:cNvSpPr/>
          <p:nvPr/>
        </p:nvSpPr>
        <p:spPr>
          <a:xfrm>
            <a:off x="6215177" y="1333195"/>
            <a:ext cx="5410505" cy="3895344"/>
          </a:xfrm>
          <a:prstGeom prst="roundRect">
            <a:avLst>
              <a:gd name="adj" fmla="val 689"/>
            </a:avLst>
          </a:prstGeom>
          <a:solidFill>
            <a:srgbClr val="FFFFFF"/>
          </a:solidFill>
          <a:ln/>
          <a:effectLst>
            <a:outerShdw sx="100000" sy="100000" kx="0" ky="0" algn="bl" rotWithShape="0" blurRad="63500" dist="38100" dir="16200000">
              <a:srgbClr val="000000">
                <a:alpha val="5000"/>
              </a:srgbClr>
            </a:outerShdw>
          </a:effectLst>
        </p:spPr>
      </p:sp>
      <p:sp>
        <p:nvSpPr>
          <p:cNvPr id="17" name="Shape 11"/>
          <p:cNvSpPr/>
          <p:nvPr/>
        </p:nvSpPr>
        <p:spPr>
          <a:xfrm>
            <a:off x="6215177" y="1333195"/>
            <a:ext cx="5410505" cy="57607"/>
          </a:xfrm>
          <a:prstGeom prst="roundRect">
            <a:avLst>
              <a:gd name="adj" fmla="val 46571"/>
            </a:avLst>
          </a:prstGeom>
          <a:solidFill>
            <a:srgbClr val="10B981"/>
          </a:solidFill>
          <a:ln w="12700">
            <a:solidFill>
              <a:srgbClr val="10B981">
                <a:alpha val="0"/>
              </a:srgbClr>
            </a:solidFill>
            <a:prstDash val="solid"/>
          </a:ln>
        </p:spPr>
      </p:sp>
      <p:sp>
        <p:nvSpPr>
          <p:cNvPr id="18" name="Shape 12"/>
          <p:cNvSpPr/>
          <p:nvPr/>
        </p:nvSpPr>
        <p:spPr>
          <a:xfrm>
            <a:off x="6500470" y="2133295"/>
            <a:ext cx="4839005" cy="9144"/>
          </a:xfrm>
          <a:prstGeom prst="rect">
            <a:avLst/>
          </a:prstGeom>
          <a:solidFill>
            <a:srgbClr val="E5E7EB"/>
          </a:solidFill>
          <a:ln w="12700">
            <a:solidFill>
              <a:srgbClr val="E5E7EB">
                <a:alpha val="0"/>
              </a:srgbClr>
            </a:solidFill>
            <a:prstDash val="solid"/>
          </a:ln>
        </p:spPr>
      </p:sp>
      <p:sp>
        <p:nvSpPr>
          <p:cNvPr id="19" name="Text 13"/>
          <p:cNvSpPr txBox="1"/>
          <p:nvPr/>
        </p:nvSpPr>
        <p:spPr>
          <a:xfrm>
            <a:off x="6672377" y="1676095"/>
            <a:ext cx="4745736" cy="315468"/>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00" b="1" dirty="0">
                <a:solidFill>
                  <a:srgbClr val="047857"/>
                </a:solidFill>
                <a:latin typeface="Noto Sans JP" pitchFamily="34" charset="0"/>
                <a:ea typeface="Noto Sans JP" pitchFamily="34" charset="-122"/>
                <a:cs typeface="Noto Sans JP" pitchFamily="34" charset="-120"/>
              </a:rPr>
              <a:t>重要な概念の再整理</a:t>
            </a:r>
            <a:endParaRPr lang="en-US" sz="1600" dirty="0"/>
          </a:p>
        </p:txBody>
      </p:sp>
      <p:pic>
        <p:nvPicPr>
          <p:cNvPr id="20" name="Image 4" descr="preencoded.png">    </p:cNvPr>
          <p:cNvPicPr>
            <a:picLocks noChangeAspect="1"/>
          </p:cNvPicPr>
          <p:nvPr/>
        </p:nvPicPr>
        <p:blipFill>
          <a:blip r:embed="rId5"/>
          <a:srcRect l="-133" r="-133" t="0" b="0"/>
          <a:stretch/>
        </p:blipFill>
        <p:spPr>
          <a:xfrm>
            <a:off x="6500470" y="1719072"/>
            <a:ext cx="171907" cy="228600"/>
          </a:xfrm>
          <a:prstGeom prst="rect">
            <a:avLst/>
          </a:prstGeom>
        </p:spPr>
      </p:pic>
      <p:pic>
        <p:nvPicPr>
          <p:cNvPr id="21" name="Image 5" descr="preencoded.png">    </p:cNvPr>
          <p:cNvPicPr>
            <a:picLocks noChangeAspect="1"/>
          </p:cNvPicPr>
          <p:nvPr/>
        </p:nvPicPr>
        <p:blipFill>
          <a:blip r:embed="rId6"/>
          <a:srcRect l="0" r="0" t="0" b="0"/>
          <a:stretch/>
        </p:blipFill>
        <p:spPr>
          <a:xfrm>
            <a:off x="6500470" y="2333549"/>
            <a:ext cx="133502" cy="133502"/>
          </a:xfrm>
          <a:prstGeom prst="rect">
            <a:avLst/>
          </a:prstGeom>
        </p:spPr>
      </p:pic>
      <p:sp>
        <p:nvSpPr>
          <p:cNvPr id="22" name="Text 14"/>
          <p:cNvSpPr txBox="1"/>
          <p:nvPr/>
        </p:nvSpPr>
        <p:spPr>
          <a:xfrm>
            <a:off x="6633972" y="2333549"/>
            <a:ext cx="2724912" cy="553212"/>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二階層の「できること」</a:t>
            </a:r>
            <a:pPr algn="l" indent="0" marL="0">
              <a:buNone/>
            </a:pPr>
            <a:endParaRPr lang="en-US" sz="1300" dirty="0"/>
          </a:p>
          <a:p>
            <a:pPr algn="l" indent="0" marL="0">
              <a:buNone/>
            </a:pPr>
            <a:r>
              <a:rPr lang="en-US" sz="1300" dirty="0">
                <a:solidFill>
                  <a:srgbClr val="374151"/>
                </a:solidFill>
                <a:latin typeface="Noto Sans JP" pitchFamily="34" charset="0"/>
                <a:ea typeface="Noto Sans JP" pitchFamily="34" charset="-122"/>
                <a:cs typeface="Noto Sans JP" pitchFamily="34" charset="-120"/>
              </a:rPr>
              <a:t>個人の便利機能 vs 組織の運営基盤</a:t>
            </a:r>
            <a:endParaRPr lang="en-US" sz="1300" dirty="0"/>
          </a:p>
        </p:txBody>
      </p:sp>
      <p:pic>
        <p:nvPicPr>
          <p:cNvPr id="23" name="Image 6" descr="preencoded.png">    </p:cNvPr>
          <p:cNvPicPr>
            <a:picLocks noChangeAspect="1"/>
          </p:cNvPicPr>
          <p:nvPr/>
        </p:nvPicPr>
        <p:blipFill>
          <a:blip r:embed="rId7"/>
          <a:srcRect l="0" r="0" t="0" b="0"/>
          <a:stretch/>
        </p:blipFill>
        <p:spPr>
          <a:xfrm>
            <a:off x="6500470" y="3024835"/>
            <a:ext cx="133502" cy="133502"/>
          </a:xfrm>
          <a:prstGeom prst="rect">
            <a:avLst/>
          </a:prstGeom>
        </p:spPr>
      </p:pic>
      <p:sp>
        <p:nvSpPr>
          <p:cNvPr id="24" name="Text 15"/>
          <p:cNvSpPr txBox="1"/>
          <p:nvPr/>
        </p:nvSpPr>
        <p:spPr>
          <a:xfrm>
            <a:off x="6633972" y="3024835"/>
            <a:ext cx="3162910" cy="553212"/>
          </a:xfrm>
          <a:prstGeom prst="rect">
            <a:avLst/>
          </a:prstGeom>
          <a:noFill/>
          <a:ln/>
        </p:spPr>
        <p:txBody>
          <a:bodyPr wrap="square" lIns="0" tIns="0" rIns="0" bIns="0" rtlCol="0" anchor="t"/>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業務オーケストレーション</a:t>
            </a:r>
            <a:pPr algn="l" indent="0" marL="0">
              <a:buNone/>
            </a:pPr>
            <a:endParaRPr lang="en-US" sz="1300" dirty="0"/>
          </a:p>
          <a:p>
            <a:pPr algn="l" indent="0" marL="0">
              <a:buNone/>
            </a:pPr>
            <a:r>
              <a:rPr lang="en-US" sz="1300" dirty="0">
                <a:solidFill>
                  <a:srgbClr val="374151"/>
                </a:solidFill>
                <a:latin typeface="Noto Sans JP" pitchFamily="34" charset="0"/>
                <a:ea typeface="Noto Sans JP" pitchFamily="34" charset="-122"/>
                <a:cs typeface="Noto Sans JP" pitchFamily="34" charset="-120"/>
              </a:rPr>
              <a:t>バラバラな業務を全体として調和させる</a:t>
            </a:r>
            <a:endParaRPr lang="en-US" sz="1300" dirty="0"/>
          </a:p>
        </p:txBody>
      </p:sp>
      <p:sp>
        <p:nvSpPr>
          <p:cNvPr id="25" name="Shape 16"/>
          <p:cNvSpPr/>
          <p:nvPr/>
        </p:nvSpPr>
        <p:spPr>
          <a:xfrm>
            <a:off x="6500470" y="3791102"/>
            <a:ext cx="4839005" cy="1152144"/>
          </a:xfrm>
          <a:prstGeom prst="roundRect">
            <a:avLst>
              <a:gd name="adj" fmla="val 5247"/>
            </a:avLst>
          </a:prstGeom>
          <a:solidFill>
            <a:srgbClr val="ECFDF5"/>
          </a:solidFill>
          <a:ln w="12700">
            <a:solidFill>
              <a:srgbClr val="10B981"/>
            </a:solidFill>
            <a:prstDash val="solid"/>
          </a:ln>
        </p:spPr>
      </p:sp>
      <p:sp>
        <p:nvSpPr>
          <p:cNvPr id="26" name="Text 17"/>
          <p:cNvSpPr txBox="1"/>
          <p:nvPr/>
        </p:nvSpPr>
        <p:spPr>
          <a:xfrm>
            <a:off x="6700723" y="3943807"/>
            <a:ext cx="4629607" cy="200254"/>
          </a:xfrm>
          <a:prstGeom prst="rect">
            <a:avLst/>
          </a:prstGeom>
          <a:noFill/>
          <a:ln/>
        </p:spPr>
        <p:txBody>
          <a:bodyPr wrap="square" lIns="0" tIns="0" rIns="0" bIns="0" rtlCol="0" anchor="ctr"/>
          <a:lstStyle/>
          <a:p>
            <a:pPr algn="l" indent="0" marL="0">
              <a:buNone/>
            </a:pPr>
            <a:r>
              <a:rPr lang="en-US" sz="1000" b="1" dirty="0">
                <a:solidFill>
                  <a:srgbClr val="047857"/>
                </a:solidFill>
                <a:latin typeface="Noto Sans JP" pitchFamily="34" charset="0"/>
                <a:ea typeface="Noto Sans JP" pitchFamily="34" charset="-122"/>
                <a:cs typeface="Noto Sans JP" pitchFamily="34" charset="-120"/>
              </a:rPr>
              <a:t>※用語の補足：「制御」について</a:t>
            </a:r>
            <a:endParaRPr lang="en-US" sz="1000" dirty="0"/>
          </a:p>
        </p:txBody>
      </p:sp>
      <p:sp>
        <p:nvSpPr>
          <p:cNvPr id="27" name="Text 18"/>
          <p:cNvSpPr txBox="1"/>
          <p:nvPr/>
        </p:nvSpPr>
        <p:spPr>
          <a:xfrm>
            <a:off x="6700723" y="4190695"/>
            <a:ext cx="4515307" cy="600761"/>
          </a:xfrm>
          <a:prstGeom prst="rect">
            <a:avLst/>
          </a:prstGeom>
          <a:noFill/>
          <a:ln/>
        </p:spPr>
        <p:txBody>
          <a:bodyPr wrap="square" lIns="0" tIns="0" rIns="0" bIns="0" rtlCol="0" anchor="t"/>
          <a:lstStyle/>
          <a:p>
            <a:pPr algn="l" indent="0" marL="0">
              <a:buNone/>
            </a:pPr>
            <a:r>
              <a:rPr lang="en-US" sz="1000" dirty="0">
                <a:solidFill>
                  <a:srgbClr val="065F46"/>
                </a:solidFill>
                <a:latin typeface="Noto Sans JP" pitchFamily="34" charset="0"/>
                <a:ea typeface="Noto Sans JP" pitchFamily="34" charset="-122"/>
                <a:cs typeface="Noto Sans JP" pitchFamily="34" charset="-120"/>
              </a:rPr>
              <a:t>本文中の「制御」は、強制的な管理ではなく、全体のタイミングを合わせ、滞りなく流すための「業務オーケストレーション（統制と同期）」を意味します。</a:t>
            </a:r>
            <a:endParaRPr lang="en-US" sz="1000" dirty="0"/>
          </a:p>
        </p:txBody>
      </p:sp>
      <p:pic>
        <p:nvPicPr>
          <p:cNvPr id="28" name="Image 7" descr="preencoded.png">    </p:cNvPr>
          <p:cNvPicPr>
            <a:picLocks noChangeAspect="1"/>
          </p:cNvPicPr>
          <p:nvPr/>
        </p:nvPicPr>
        <p:blipFill>
          <a:blip r:embed="rId8"/>
          <a:srcRect l="-3" r="-3" t="0" b="0"/>
          <a:stretch/>
        </p:blipFill>
        <p:spPr>
          <a:xfrm>
            <a:off x="571500" y="5514746"/>
            <a:ext cx="11048695" cy="961949"/>
          </a:xfrm>
          <a:prstGeom prst="rect">
            <a:avLst/>
          </a:prstGeom>
        </p:spPr>
      </p:pic>
      <p:pic>
        <p:nvPicPr>
          <p:cNvPr id="29" name="Image 8" descr="preencoded.png">    </p:cNvPr>
          <p:cNvPicPr>
            <a:picLocks noChangeAspect="1"/>
          </p:cNvPicPr>
          <p:nvPr/>
        </p:nvPicPr>
        <p:blipFill>
          <a:blip r:embed="rId9"/>
          <a:srcRect l="-90" r="-90" t="0" b="0"/>
          <a:stretch/>
        </p:blipFill>
        <p:spPr>
          <a:xfrm>
            <a:off x="952805" y="5843930"/>
            <a:ext cx="381305" cy="304495"/>
          </a:xfrm>
          <a:prstGeom prst="rect">
            <a:avLst/>
          </a:prstGeom>
        </p:spPr>
      </p:pic>
      <p:sp>
        <p:nvSpPr>
          <p:cNvPr id="30" name="Text 19"/>
          <p:cNvSpPr txBox="1"/>
          <p:nvPr/>
        </p:nvSpPr>
        <p:spPr>
          <a:xfrm>
            <a:off x="1524305" y="5705856"/>
            <a:ext cx="4391863" cy="314554"/>
          </a:xfrm>
          <a:prstGeom prst="rect">
            <a:avLst/>
          </a:prstGeom>
          <a:noFill/>
          <a:ln/>
        </p:spPr>
        <p:txBody>
          <a:bodyPr wrap="square" lIns="0" tIns="0" rIns="0" bIns="0" rtlCol="0" anchor="ctr"/>
          <a:lstStyle/>
          <a:p>
            <a:pPr algn="l" indent="0" marL="0">
              <a:buNone/>
            </a:pPr>
            <a:r>
              <a:rPr lang="en-US" sz="1600" b="1" dirty="0">
                <a:solidFill>
                  <a:srgbClr val="FFFFFF"/>
                </a:solidFill>
                <a:latin typeface="Noto Sans JP" pitchFamily="34" charset="0"/>
                <a:ea typeface="Noto Sans JP" pitchFamily="34" charset="-122"/>
                <a:cs typeface="Noto Sans JP" pitchFamily="34" charset="-120"/>
              </a:rPr>
              <a:t>次の一歩：Phase0 プロジェクト始動</a:t>
            </a:r>
            <a:endParaRPr lang="en-US" sz="1600" dirty="0"/>
          </a:p>
        </p:txBody>
      </p:sp>
      <p:sp>
        <p:nvSpPr>
          <p:cNvPr id="31" name="Text 20"/>
          <p:cNvSpPr txBox="1"/>
          <p:nvPr/>
        </p:nvSpPr>
        <p:spPr>
          <a:xfrm>
            <a:off x="1524305" y="6057900"/>
            <a:ext cx="4391863" cy="228600"/>
          </a:xfrm>
          <a:prstGeom prst="rect">
            <a:avLst/>
          </a:prstGeom>
          <a:noFill/>
          <a:ln/>
        </p:spPr>
        <p:txBody>
          <a:bodyPr wrap="square" lIns="0" tIns="0" rIns="0" bIns="0" rtlCol="0" anchor="ctr"/>
          <a:lstStyle/>
          <a:p>
            <a:pPr algn="l" indent="0" marL="0">
              <a:buNone/>
            </a:pPr>
            <a:r>
              <a:rPr lang="en-US" sz="1200" dirty="0">
                <a:solidFill>
                  <a:srgbClr val="D1D5DB"/>
                </a:solidFill>
                <a:latin typeface="Noto Sans JP" pitchFamily="34" charset="0"/>
                <a:ea typeface="Noto Sans JP" pitchFamily="34" charset="-122"/>
                <a:cs typeface="Noto Sans JP" pitchFamily="34" charset="-120"/>
              </a:rPr>
              <a:t>ナレッジ化と一気通貫を同時に体験し、効果を測定する8週間</a:t>
            </a:r>
            <a:endParaRPr lang="en-US" sz="1200" dirty="0"/>
          </a:p>
        </p:txBody>
      </p:sp>
      <p:sp>
        <p:nvSpPr>
          <p:cNvPr id="32" name="Shape 21"/>
          <p:cNvSpPr/>
          <p:nvPr/>
        </p:nvSpPr>
        <p:spPr>
          <a:xfrm>
            <a:off x="9720986" y="5786323"/>
            <a:ext cx="1524305" cy="418795"/>
          </a:xfrm>
          <a:prstGeom prst="roundRect">
            <a:avLst>
              <a:gd name="adj" fmla="val 148869"/>
            </a:avLst>
          </a:prstGeom>
          <a:solidFill>
            <a:srgbClr val="10B981"/>
          </a:solidFill>
          <a:ln w="12700">
            <a:solidFill>
              <a:srgbClr val="FFFFFF">
                <a:alpha val="0"/>
              </a:srgbClr>
            </a:solidFill>
            <a:prstDash val="solid"/>
          </a:ln>
          <a:effectLst>
            <a:outerShdw sx="100000" sy="100000" kx="0" ky="0" algn="bl" rotWithShape="0" blurRad="63500" dist="38100" dir="16200000">
              <a:srgbClr val="000000">
                <a:alpha val="20000"/>
              </a:srgbClr>
            </a:outerShdw>
          </a:effectLst>
        </p:spPr>
      </p:sp>
      <p:sp>
        <p:nvSpPr>
          <p:cNvPr id="33" name="Text 22"/>
          <p:cNvSpPr txBox="1"/>
          <p:nvPr/>
        </p:nvSpPr>
        <p:spPr>
          <a:xfrm>
            <a:off x="9949586" y="5786323"/>
            <a:ext cx="1356970" cy="41971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LET'S START </a:t>
            </a:r>
            <a:endParaRPr lang="en-US" sz="1200" dirty="0"/>
          </a:p>
        </p:txBody>
      </p:sp>
      <p:pic>
        <p:nvPicPr>
          <p:cNvPr id="34" name="Image 9" descr="preencoded.png">    </p:cNvPr>
          <p:cNvPicPr>
            <a:picLocks noChangeAspect="1"/>
          </p:cNvPicPr>
          <p:nvPr/>
        </p:nvPicPr>
        <p:blipFill>
          <a:blip r:embed="rId10"/>
          <a:srcRect l="0" r="0" t="-43" b="-43"/>
          <a:stretch/>
        </p:blipFill>
        <p:spPr>
          <a:xfrm>
            <a:off x="10877702" y="5919826"/>
            <a:ext cx="133502" cy="152705"/>
          </a:xfrm>
          <a:prstGeom prst="rect">
            <a:avLst/>
          </a:prstGeom>
        </p:spPr>
      </p:pic>
      <p:sp>
        <p:nvSpPr>
          <p:cNvPr id="35" name="Shape 23"/>
          <p:cNvSpPr/>
          <p:nvPr/>
        </p:nvSpPr>
        <p:spPr>
          <a:xfrm>
            <a:off x="0" y="0"/>
            <a:ext cx="12191695" cy="952805"/>
          </a:xfrm>
          <a:prstGeom prst="rect">
            <a:avLst/>
          </a:prstGeom>
          <a:solidFill>
            <a:srgbClr val="FFFFFF"/>
          </a:solidFill>
          <a:ln/>
        </p:spPr>
      </p:sp>
      <p:sp>
        <p:nvSpPr>
          <p:cNvPr id="36" name="Shape 24"/>
          <p:cNvSpPr/>
          <p:nvPr/>
        </p:nvSpPr>
        <p:spPr>
          <a:xfrm>
            <a:off x="0" y="933602"/>
            <a:ext cx="12191695" cy="19202"/>
          </a:xfrm>
          <a:prstGeom prst="rect">
            <a:avLst/>
          </a:prstGeom>
          <a:solidFill>
            <a:srgbClr val="E5E7EB"/>
          </a:solidFill>
          <a:ln w="12700">
            <a:solidFill>
              <a:srgbClr val="E5E7EB">
                <a:alpha val="0"/>
              </a:srgbClr>
            </a:solidFill>
            <a:prstDash val="solid"/>
          </a:ln>
        </p:spPr>
      </p:sp>
      <p:sp>
        <p:nvSpPr>
          <p:cNvPr id="37" name="Shape 25"/>
          <p:cNvSpPr/>
          <p:nvPr/>
        </p:nvSpPr>
        <p:spPr>
          <a:xfrm>
            <a:off x="571500" y="333756"/>
            <a:ext cx="1218895" cy="362102"/>
          </a:xfrm>
          <a:prstGeom prst="roundRect">
            <a:avLst>
              <a:gd name="adj" fmla="val 26582"/>
            </a:avLst>
          </a:prstGeom>
          <a:solidFill>
            <a:srgbClr val="059669"/>
          </a:solidFill>
          <a:ln w="12700">
            <a:solidFill>
              <a:srgbClr val="FFFFFF">
                <a:alpha val="0"/>
              </a:srgbClr>
            </a:solidFill>
            <a:prstDash val="solid"/>
          </a:ln>
        </p:spPr>
      </p:sp>
      <p:sp>
        <p:nvSpPr>
          <p:cNvPr id="38" name="Text 26"/>
          <p:cNvSpPr txBox="1"/>
          <p:nvPr/>
        </p:nvSpPr>
        <p:spPr>
          <a:xfrm>
            <a:off x="571500" y="333756"/>
            <a:ext cx="1295705" cy="362102"/>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Summary</a:t>
            </a:r>
            <a:endParaRPr lang="en-US" sz="1500" dirty="0"/>
          </a:p>
        </p:txBody>
      </p:sp>
      <p:sp>
        <p:nvSpPr>
          <p:cNvPr id="39" name="Text 27"/>
          <p:cNvSpPr txBox="1"/>
          <p:nvPr/>
        </p:nvSpPr>
        <p:spPr>
          <a:xfrm>
            <a:off x="1981505" y="286207"/>
            <a:ext cx="4163263" cy="457200"/>
          </a:xfrm>
          <a:prstGeom prst="rect">
            <a:avLst/>
          </a:prstGeom>
          <a:noFill/>
          <a:ln/>
        </p:spPr>
        <p:txBody>
          <a:bodyPr wrap="square" lIns="0" tIns="0" rIns="0" bIns="0" rtlCol="0" anchor="ctr"/>
          <a:lstStyle/>
          <a:p>
            <a:pPr algn="l" indent="0" marL="0">
              <a:buNone/>
            </a:pPr>
            <a:r>
              <a:rPr lang="en-US" sz="2400" b="1" dirty="0">
                <a:solidFill>
                  <a:srgbClr val="111827"/>
                </a:solidFill>
                <a:latin typeface="Noto Sans JP" pitchFamily="34" charset="0"/>
                <a:ea typeface="Noto Sans JP" pitchFamily="34" charset="-122"/>
                <a:cs typeface="Noto Sans JP" pitchFamily="34" charset="-120"/>
              </a:rPr>
              <a:t>まとめ：本日のご提言の要点</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2026-01-29T02:43:12Z</dcterms:created>
  <dcterms:modified xsi:type="dcterms:W3CDTF">2026-01-29T02:43:12Z</dcterms:modified>
</cp:coreProperties>
</file>