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Yu Gothic"/>
              </a:defRPr>
            </a:pPr>
            <a:r>
              <a:t>Phase 0『要求設計』コンサルティング説明会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EBFD5"/>
                </a:solidFill>
                <a:latin typeface="Yu Gothic"/>
              </a:defRPr>
            </a:pPr>
            <a:r>
              <a:t>思考公開型：結果を生む考え方を共有する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EBFD5"/>
                </a:solidFill>
                <a:latin typeface="Yu Gothic"/>
              </a:defRPr>
            </a:pPr>
            <a:r>
              <a:t>2026年2月16日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AEBFD5"/>
                </a:solidFill>
                <a:latin typeface="Yu Gothic"/>
              </a:defRPr>
            </a:pPr>
            <a:r>
              <a:t>株式会社PreSoft / eMu 上田昌夫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本日の位置づけ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12月・1月で『課題』と『方向性』は共有済みです。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本日は、結果ではなく『判断の考え方』を共有します。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狙いは、幹部間で再利用可能な意思決定の物差しをそろえることです。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先に結論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今回の要点は『何をしたか』より『どう考えるか』です。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思考が違えば、同じ課題でも結論は変わります。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思考が共有されると、結果の良し悪しに関わらず次の判断に活かせます。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一般的な説明との違い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一般的な説明：What（何をしたか）/ Result（結果）中心</a:t>
            </a:r>
          </a:p>
          <a:p>
            <a:pPr>
              <a:spcAft>
                <a:spcPts val="800"/>
              </a:spcAft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今回の説明：Why（なぜ）/ How（どう判断するか）中心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『思考→活動→成果』の順でご説明します。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なぜ思考公開が必要か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結果だけの共有では、次回の再現性が低くなります。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思考手順を共有すると、組織として判断を積み上げられます。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今回のコンサルティングは、思考の共有自体が成果です。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本日の4テーマ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① 我々の基本的考え方／方法論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② 何のために何をするか（Phase 0活動）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③ 何を作って何を見せるか（成果物）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④ 幹部の皆さまにお願いしたいこと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説明40分 + 質疑20分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200" b="1">
                <a:solidFill>
                  <a:srgbClr val="2E86C1"/>
                </a:solidFill>
                <a:latin typeface="Yu Gothic"/>
              </a:defRPr>
            </a:pPr>
            <a: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Yu Gothic"/>
              </a:defRPr>
            </a:pPr>
            <a:r>
              <a:t>基本的な考え方／方法論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我々の思考OSを共有する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思考の起点：課題は個人でなく構造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多重入力・属人化・不可視化は、個人能力の問題ではありません。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構造の問題として捉えることが、改革の出発点です。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したがって解決策は、個人努力でなく業務設計に置きます。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三原理は『目標』でなく『前提』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PDマネジメント（計画と実績）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知識と作業の分離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リアルタイム一個流し</a:t>
            </a:r>
          </a:p>
          <a:p>
            <a:pPr>
              <a:spcAft>
                <a:spcPts val="800"/>
              </a:spcAft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これらは追加要件ではなく、本来あるべき業務構造です。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改革の定義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新しいことを足す改革ではありません。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本来つながっている業務を、つなぎ直す改革です。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『導入』より先に『構造を明らかにする』を置きます。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判断順序（最重要）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仕事（業務構造）→ 機能 → システム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この順序を逆にすると、部分最適と手作業が増えます。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Phase 0は、この順序を守るための設計フェーズです。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4視点で全体を捉える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業務の流れ（誰が何をいつ）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情報の流れ（どこで生まれどこへ届くか）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道具の配置（機能をどこに置くか）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基盤（運用と拡張を支える土台）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3階層で断絶を見つける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サービス提供の層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経営資源を管理する層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現場で実行する層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層間の断絶が、多重入力と遅延の根本原因です。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翻訳ルール：聴く→構造化→要件化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個別意見をそのまま要件化しません。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共通パターンを抽出して、構造課題に変換します。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その上で業務要件・運用要件へ落とし込みます。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この方法論で防げること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場当たり導入の固定化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月末集中と遅延の常態化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ブラックボックス化した運用</a:t>
            </a:r>
          </a:p>
          <a:p>
            <a:pPr>
              <a:spcAft>
                <a:spcPts val="800"/>
              </a:spcAft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判断の再現性を確保し、組織学習を可能にします。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200" b="1">
                <a:solidFill>
                  <a:srgbClr val="2E86C1"/>
                </a:solidFill>
                <a:latin typeface="Yu Gothic"/>
              </a:defRPr>
            </a:pPr>
            <a: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Yu Gothic"/>
              </a:defRPr>
            </a:pPr>
            <a:r>
              <a:t>何のために何をするか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思考を実務に落とす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Phase 0の目的（再定義）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目的は『資料を作ること』ではありません。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目的は『業務構造改革を実行できる設計』を確立することです。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何から着手し、どう展開するかを経営判断可能にします。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3か月の活動設計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ヒアリング調査：25〜30回（管理本部 + 現場）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隔週プロジェクト会議：6回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分析・設計：全期間で反復実施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なぜこの活動設計か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拠点を網羅して『偏った設計』を避けるため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つなぎ目の断絶を実地で特定するため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共通パターンを抽出して設計精度を上げるため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進め方の特徴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密室で作らず、途中共有・途中修正を前提に進めます。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隔週会議で判断論点を明示し、遅延を防ぎます。</a:t>
            </a:r>
          </a:p>
          <a:p>
            <a:pPr>
              <a:spcAft>
                <a:spcPts val="800"/>
              </a:spcAft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『見えないコンサル』にしないことを重視します。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Phase 0でやらないこと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システム導入・個別実装は行いません。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ベンダー選定の確定もこの段階では行いません。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先に設計図を確定し、次フェーズで実装判断します。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200" b="1">
                <a:solidFill>
                  <a:srgbClr val="2E86C1"/>
                </a:solidFill>
                <a:latin typeface="Yu Gothic"/>
              </a:defRPr>
            </a:pPr>
            <a: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Yu Gothic"/>
              </a:defRPr>
            </a:pPr>
            <a:r>
              <a:t>何を作って何を見せるか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思考の出力としての成果物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成果物の全体像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① マスタープラン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② 要件定義書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③ マスターデータ構造設計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3つは『読む資料』でなく『決める資料』です。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成果物① マスタープラン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全体像・優先順位・段階展開を示します。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どこから着手し、どこまでを次フェーズに送るかを判断できます。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概算観点を持ち、投資対効果の議論が可能になります。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成果物② 要件定義書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業務要件 / 運用要件 / 機能要件 / システム要件の4階層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要望を仕様に翻訳し、ベンダー比較可能性を確保します。</a:t>
            </a:r>
          </a:p>
          <a:p>
            <a:pPr>
              <a:spcAft>
                <a:spcPts val="800"/>
              </a:spcAft>
              <a:defRPr sz="2000" b="1">
                <a:solidFill>
                  <a:srgbClr val="2E86C1"/>
                </a:solidFill>
                <a:latin typeface="Yu Gothic"/>
              </a:defRPr>
            </a:pPr>
            <a:r>
              <a:t>『言った・言わない』を防ぐ共通基盤になります。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成果物③ マスターデータ構造設計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One Fact, One Place を実現するデータ設計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多重入力・不整合・転記ミスを削減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将来の連携拡張の土台を作ります。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200" b="1">
                <a:solidFill>
                  <a:srgbClr val="2E86C1"/>
                </a:solidFill>
                <a:latin typeface="Yu Gothic"/>
              </a:defRPr>
            </a:pPr>
            <a: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Yu Gothic"/>
              </a:defRPr>
            </a:pPr>
            <a:r>
              <a:t>幹部にお願いすること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EBFD5"/>
                </a:solidFill>
                <a:latin typeface="Yu Gothic"/>
              </a:defRPr>
            </a:pPr>
            <a:r>
              <a:t>思考を組織で機能させる条件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4つのお願い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ヒアリング対象者の選定と日程調整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既存資料（規程・帳票・運用資料）の提供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隔週プロジェクト会議への参加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責任者・窓口・意思決定ルートの明確化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なぜ幹部関与が必須か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前提・優先順位・範囲の判断は幹部の役割です。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ここが曖昧だと、現場は従来運用へ戻ります。</a:t>
            </a:r>
          </a:p>
          <a:p>
            <a:pPr>
              <a:spcAft>
                <a:spcPts val="800"/>
              </a:spcAft>
              <a:defRPr sz="2000" b="1">
                <a:solidFill>
                  <a:srgbClr val="E67E22"/>
                </a:solidFill>
                <a:latin typeface="Yu Gothic"/>
              </a:defRPr>
            </a:pPr>
            <a:r>
              <a:t>思考の合意が、改革実行性を決めます。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まとめ：本日の合意事項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① 結果より先に思考を共有する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② Phase 0は実行設計を作るフェーズである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③ 成果物は経営判断の道具である</a:t>
            </a:r>
          </a:p>
          <a:p>
            <a:pPr>
              <a:spcAft>
                <a:spcPts val="800"/>
              </a:spcAft>
              <a:defRPr sz="2000" b="0">
                <a:solidFill>
                  <a:srgbClr val="2C3E50"/>
                </a:solidFill>
                <a:latin typeface="Yu Gothic"/>
              </a:defRPr>
            </a:pPr>
            <a:r>
              <a:t>④ 幹部は意思決定プロセスのオーナーである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Yu Gothic"/>
              </a:defRPr>
            </a:pPr>
            <a:r>
              <a:t>ご確認後、キックオフに向けた体制確定へ進みます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Yu Gothic"/>
              </a:defRPr>
            </a:pPr>
            <a: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