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332720" cy="381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Yu Gothic"/>
              </a:defRPr>
            </a:pPr>
            <a:r>
              <a:t>Phase 0「要件設計」コンサルティングのご説明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EBFD5"/>
                </a:solidFill>
                <a:latin typeface="Yu Gothic"/>
              </a:defRPr>
            </a:pPr>
            <a:r>
              <a:t>何を、なぜ、どのように進めるか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10332720" cy="127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EBFD5"/>
                </a:solidFill>
                <a:latin typeface="Yu Gothic"/>
              </a:defRPr>
            </a:pPr>
            <a:r>
              <a:t>2026年2月16日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937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EBFD5"/>
                </a:solidFill>
                <a:latin typeface="Yu Gothic"/>
              </a:defRPr>
            </a:pPr>
            <a:r>
              <a:t>株式会社PreSoft / eMu　上田昌夫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本日のお話の位置づけ ── これまでとの違い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120640" cy="475488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これまで（12月・1月）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■ 現状の構造的課題の可視化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 → 3つの構造的要因を特定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■ 「仕事ナビ」構想の提言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 → 3原則と改革の方向性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■ 変革の方向性への合意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03520" cy="47548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7A589"/>
                </a:solidFill>
                <a:latin typeface="Yu Gothic"/>
              </a:defRPr>
            </a:pPr>
            <a:r>
              <a:t>本日（2月）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■ コンサルティングの進め方の説明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 → なぜこの方法なのか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■ Phase 0 で何をするか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 → 具体的な活動と成果物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■ 皆さまにお願いすること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今日は「何を・どう進めるか」のお話です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確認：私たちが共有した「現状認識」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ヒアリングから、3つの構造的課題が明らかになりました：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① データの「つなぎ目」の分断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  → 多重入力、月次決算が翌月25日まで確定しない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② ルール・知識の属人化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  → 按分ルール、手当計算、請求条件が担当者の頭の中に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③ 業務の不可視と「依頼-実行」関係の不全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  → 作業量が見えない、問い合わせが1日30-50件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これは「個人の問題」ではなく「仕組みの問題」です（12月報告書にて共有済み）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確認：合意いただいた改革の方向性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3つの変革原則：</a:t>
            </a: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　❶ 源流入力による一気通貫（リアルタイム・一個流し）</a:t>
            </a: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　❷ 「知識」と「作業」の分離（ナレッジ・セントラル）</a:t>
            </a: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　❸ 計画と実績による業務の可視化（PDマネジメント）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実現のロードマップ：</a:t>
            </a:r>
          </a:p>
          <a:p>
            <a:pPr>
              <a:spcAft>
                <a:spcPts val="800"/>
              </a:spcAft>
              <a:defRPr sz="2200" b="1">
                <a:solidFill>
                  <a:srgbClr val="E67E22"/>
                </a:solidFill>
                <a:latin typeface="Yu Gothic"/>
              </a:defRPr>
            </a:pPr>
            <a:r>
              <a:t>　Phase 0：都市計画の策定（3ヶ月）← 今日はここの中身です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Phase 1：業務構造の整理と「止血」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Phase 2：パイロット検証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Phase 3：全社展開と継続的進化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本日ご説明する4つのテーマ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①  なぜこの進め方なのか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── コンサルティングの基本的な考え方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②  何を・何のために行うか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── Phase 0 の具体的な活動内容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③  何が出来上がるのか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── 成果物のイメージ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④  皆さまにお願いすること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── 風の村としてのご協力事項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ご説明 約40分 ＋ 質疑応答 約20分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2E86C1"/>
                </a:solidFill>
                <a:latin typeface="Yu Gothic"/>
              </a:defRPr>
            </a:pPr>
            <a: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Yu Gothic"/>
              </a:defRPr>
            </a:pPr>
            <a:r>
              <a:t>なぜこの進め方なのか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EBFD5"/>
                </a:solidFill>
                <a:latin typeface="Yu Gothic"/>
              </a:defRPr>
            </a:pPr>
            <a:r>
              <a:t>コンサルティングの基本的な考え方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よくある失敗パターン（風の村でも起きていること）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「困った → ベンダーに相談 → パッケージ導入 → 合わない → 手作業が残る」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風の村での実例：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・「ほのぼの」── 請求書の名寄せに非対応 → 紙5,000通の発送が残った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 給与システム ── 特殊手当を計算できず、手で上書き（強制入力）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 按分処理 ── 「楽々精算」等で対応しきれず手作業が継続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 ベンダーに相談 →「膨大なコストがかかるから今のままの方がいい」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E67E22"/>
                </a:solidFill>
                <a:latin typeface="Yu Gothic"/>
              </a:defRPr>
            </a:pPr>
            <a:r>
              <a:t>なぜこうなるか：業務の設計図なしにシステムを選んでいるから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比喩：「既製服を買ってから体に合わせて切る」のではなく「まず採寸してオーダーメイドする」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私たちの考え方：「ビル建て替え」ではなく「都市計画」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120640" cy="475488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ビル建て替え（従来型）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・古いシステムを新しく置き換える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・一発勝負（失敗すると大損害）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・完成するまで効果が見えない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・終わったら「次の建て替え」まで放置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03520" cy="47548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7A589"/>
                </a:solidFill>
                <a:latin typeface="Yu Gothic"/>
              </a:defRPr>
            </a:pPr>
            <a:r>
              <a:t>都市計画（私たちのアプローチ）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・まずマスタープランを描く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・区画ごとに段階的に整備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・今の建物を使いながら進める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・終わりのない「まちづくり」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Phase 0 ＝ マスタープラン策定。「設計図なしに工事は始めません」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業務を「4つの視点」で設計する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都市計画が道路・水道・用途地域・建築基準をセットで設計するように、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業務改革も4つの視点をセットで設計します：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❶ 業務の流れ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誰が何をどの順番で行うか（＝道路計画）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❷ 情報の流れ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どのデータがどこで生まれ、どこに届くか（＝上下水道計画）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❸ 道具の配置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どのシステムがどの仕事を助けるか（＝用途地域計画）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❹ 基盤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全体を支えるインフラ（＝建築基準）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この4つをバラバラに検討すると「つなぎ目」が生まれます。だからセットで設計します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組織を「3つの階層」で捉える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風の村の活動全体を一つのシステムとして見ると、3つの階層に整理できます：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❶ サービス提供の層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利用者からの依頼を受け、サービスを提供し、記録・請求する流れ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❷ 経営資源を管理する層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人・モノ・お金・時間を配分し管理する仕事（人事給与、経理等）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❸ 現場で実行する層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日々のシフト実行、入金処理、物品発注など実世界との接点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7F8C8D"/>
                </a:solidFill>
                <a:latin typeface="Yu Gothic"/>
              </a:defRPr>
            </a:pPr>
            <a:r>
              <a:t>各階層の中に「知識（ルール）」「計画と実績」「報告」の3つの側面があります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今、風の村では層と層の「つなぎ目」で情報が途切れている。これが多重入力の根本原因です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仕事の流れを設計する3つの原則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私たちが業務の流れを設計するときの3つの原則：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❶ 計画 → 実行 → 確認（PDマネジメント）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計画を立て、実績を記録し、差を見て修正する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計画通りにいかないことが前提。リアルタイムに状況を把握する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❷ 依頼 → 約束 → 実行 → 検収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すべての仕事は「頼む → 引き受ける → やる → 確認する」の4ステップ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比喩：レストランの注文 → 厨房が受ける → 調理 → お客様が確認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❸ リアルタイム・一つずつ確実に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月末にまとめて処理するのではなく、発生のたびに完結させる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この原則がシステムに反映されていないと、途中で情報が途切れます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この原則を当てはめると何が変わるか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120640" cy="475488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現状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・月末にまとめて按分計算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→ 月末の業務集中と遅延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・紙の請求書を手作業で照合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→ 5,000通の紙が毎月発生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・シフト確定が25日ギリギリ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→ 人件費の見通しが立たない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・ベンダーに「変えられない」と言われる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03520" cy="47548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7A589"/>
                </a:solidFill>
                <a:latin typeface="Yu Gothic"/>
              </a:defRPr>
            </a:pPr>
            <a:r>
              <a:t>原則適用後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・サービス記録時点で按分が自動連携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→ リアルタイムで経営数値を把握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・請求データが日次で確定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→ 紙を大幅に削減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・計画と実績の差がリアルタイムで見える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→ 早期の軌道修正が可能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・設計図があるから要望を正確に伝えられる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原則に沿って業務を再設計するから、システムが変わった後も仕組みが崩れません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ヒアリングの方法：「聴く」から「構造化する」へ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一般的なヒアリング：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「何に困っていますか？」→ バラバラの要望リスト → 構造がない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2E86C1"/>
                </a:solidFill>
                <a:latin typeface="Yu Gothic"/>
              </a:defRPr>
            </a:pPr>
            <a:r>
              <a:t>■ 私たちのヒアリング：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 散らばった声から「共通の型（パターン）」を見つける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・質的研究手法（M-GTA等）：一人ひとりの話から組織全体の型を発見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・KJ法：バラバラの情報を構造的に整理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・生成AI：大量の聞き取り情報を高速にパターン化する道具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7F8C8D"/>
                </a:solidFill>
                <a:latin typeface="Yu Gothic"/>
              </a:defRPr>
            </a:pPr>
            <a:r>
              <a:t>11月のヒアリングで「個別の愚痴」が「3つの共通構造問題」に集約できたのは、</a:t>
            </a:r>
          </a:p>
          <a:p>
            <a:pPr>
              <a:spcAft>
                <a:spcPts val="800"/>
              </a:spcAft>
              <a:defRPr sz="1800" b="0">
                <a:solidFill>
                  <a:srgbClr val="7F8C8D"/>
                </a:solidFill>
                <a:latin typeface="Yu Gothic"/>
              </a:defRPr>
            </a:pPr>
            <a:r>
              <a:t>この手法を使ったからです。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「要件設計」とは何か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E67E22"/>
                </a:solidFill>
                <a:latin typeface="Yu Gothic"/>
              </a:defRPr>
            </a:pPr>
            <a:r>
              <a:t>「要件設計」はシステムの仕様書ではありません。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「風の村の業務が、将来どのように流れるべきか」を描いた設計図です。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4つの階層で設計します：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❶ 業務要件　── 「こういう仕事の流れにしたい」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❷ 運用要件　── 「現場ではこう使いたい」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❸ 機能要件　── 「こういうことができる道具がほしい」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❹ システム要件 ── 「その道具を動かすための条件」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比喩：注文住宅を建てるとき、施主が「どう暮らしたいか」を伝え、建築士が「間取り図」と「設備仕様書」に翻訳する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私たちの3つの約束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1B2A4A"/>
                </a:solidFill>
                <a:latin typeface="Yu Gothic"/>
              </a:defRPr>
            </a:pPr>
            <a:r>
              <a:t>❶  全体を見てから、部分を決めます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 部分最適ではなく、全体最適を設計する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1B2A4A"/>
                </a:solidFill>
                <a:latin typeface="Yu Gothic"/>
              </a:defRPr>
            </a:pPr>
            <a:r>
              <a:t>❷  現場の言葉を、設計の言葉に翻訳します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 技術ではなく、業務の視点から入る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1B2A4A"/>
                </a:solidFill>
                <a:latin typeface="Yu Gothic"/>
              </a:defRPr>
            </a:pPr>
            <a:r>
              <a:t>❸  設計図ができてから、工事を始めます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 手戻りを最小化する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2E86C1"/>
                </a:solidFill>
                <a:latin typeface="Yu Gothic"/>
              </a:defRPr>
            </a:pPr>
            <a: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Yu Gothic"/>
              </a:defRPr>
            </a:pPr>
            <a:r>
              <a:t>何を・何のために行うか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EBFD5"/>
                </a:solidFill>
                <a:latin typeface="Yu Gothic"/>
              </a:defRPr>
            </a:pPr>
            <a:r>
              <a:t>Phase 0「要件設計」の具体的な進め方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Phase 0 の全体像：3ヶ月間の活動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B2A4A"/>
                </a:solidFill>
                <a:latin typeface="Yu Gothic"/>
              </a:defRPr>
            </a:pPr>
            <a:r>
              <a:t>3つの活動を並行して進めます：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A. ヒアリング調査（約2ヶ月間）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 1日2回 × 週2日 × 約2ヶ月 ＝ 25～30セッション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B. 隔週プロジェクト会議（全期間）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 2週間に1回 × 約3ヶ月 ＝ 6回程度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C. 分析・設計作業（コンサルタント側）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 ヒアリング → 構造化 → 設計 → マスタープラン策定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3ヶ月後のアウトプット：マスタープラン ＋ 要件定義書 ＋ マスターデータ構造設計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活動① ヒアリング調査 ── 皆さまの「仕事」を丸ごと理解する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規模：約25～30回のセッション（1回 90分目安）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ペース：1日2回 × 週2日 × 約2ヶ月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対象：管理本部の各部署 ＋ 現場（事業所）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ヒアリングで聞くこと：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・今のお仕事の流れを、最初から最後まで教えてください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・困っていること、工夫していること、変えたいこと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・他の部署や現場とのやりとり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17A589"/>
                </a:solidFill>
                <a:latin typeface="Yu Gothic"/>
              </a:defRPr>
            </a:pPr>
            <a:r>
              <a:t>「技術の話はしません。仕事の話を聞かせてください」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11月に管理本部5部署で実施したヒアリングを、全部署・現場に広げるイメージです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活動② 隔週プロジェクト会議 ── 経過の共有と方向性の確認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頻度：2週間に1回（約1時間）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参加：風の村側プロジェクト責任者・主要メンバー ＋ コンサルタント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各回の内容：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・ヒアリングで見えてきたことの中間報告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・方向性の確認と軌道修正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・次の2週間の計画共有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17A589"/>
                </a:solidFill>
                <a:latin typeface="Yu Gothic"/>
              </a:defRPr>
            </a:pPr>
            <a:r>
              <a:t>「密室で分析するのではなく、進捗を常に共有します」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進め方に疑問や懸念があれば、この場でいつでも方向修正できます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活動③ 分析・設計作業 ── ヒアリングの「裏側」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コンサルタント側で、ヒアリングの合間に以下の作業を進めます：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Step 1  ヒアリング内容の文字起こし・整理（AI活用）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Step 2  業務フローの可視化（誰が・何を・いつ・どのデータで）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Step 3  課題の分類と構造化（パターンの抽出）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Step 4  あるべき業務モデルの設計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Step 5  システム要件への変換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17A589"/>
                </a:solidFill>
                <a:latin typeface="Yu Gothic"/>
              </a:defRPr>
            </a:pPr>
            <a:r>
              <a:t>1回1回のヒアリングが、設計図の一部になっていきます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なぜ25～30回もの聞き取りが必要なのか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1B2A4A"/>
                </a:solidFill>
                <a:latin typeface="Yu Gothic"/>
              </a:defRPr>
            </a:pPr>
            <a:r>
              <a:t>❶ 約50拠点の多様な業務を網羅するため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介護・保育・障害の各事業で業務が異なる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1B2A4A"/>
                </a:solidFill>
                <a:latin typeface="Yu Gothic"/>
              </a:defRPr>
            </a:pPr>
            <a:r>
              <a:t>❷ 部署間の「つなぎ目」を見つけるため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構造的な問題は、部署と部署の接点に潜んでいる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1B2A4A"/>
                </a:solidFill>
                <a:latin typeface="Yu Gothic"/>
              </a:defRPr>
            </a:pPr>
            <a:r>
              <a:t>❸ 十分な事例数で「共通の型」を抽出するため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少数の聞き取りでは、偏った設計図になってしまう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1B2A4A"/>
                </a:solidFill>
                <a:latin typeface="Yu Gothic"/>
              </a:defRPr>
            </a:pPr>
            <a:r>
              <a:t>❹ 設計の精度を上げ、後の手戻りを防ぐため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設計図が粗いと、工事段階で想定外の問題が起きる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比喩：健康診断で血液検査1項目だけでは診断できない。全身を調べるから的確な治療方針が立てられる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都市計画に例えると ── Phase 0 の位置づけ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ヒアリング ＝ 住民への聞き取り調査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今どこに住んで、どう暮らしているか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業務分析 ＝ 地質調査・交通量調査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地盤の強さや人の流れを把握する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要件設計 ＝ マスタープラン策定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ゾーニング、道路計画、優先整備エリアを決める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Phase 0 では「工事」はしません。設計図を共有し、合意してから着工します。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2E86C1"/>
                </a:solidFill>
                <a:latin typeface="Yu Gothic"/>
              </a:defRPr>
            </a:pPr>
            <a: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Yu Gothic"/>
              </a:defRPr>
            </a:pPr>
            <a:r>
              <a:t>何が出来上がるのか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EBFD5"/>
                </a:solidFill>
                <a:latin typeface="Yu Gothic"/>
              </a:defRPr>
            </a:pPr>
            <a:r>
              <a:t>Phase 0 の成果物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Phase 0 で皆さまにお渡しするもの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Yu Gothic"/>
              </a:defRPr>
            </a:pPr>
            <a:r>
              <a:t>3つの成果物：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❶  マスタープラン（基本計画 ＋ 実施計画）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「どこから・どう変えるか」の全体計画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❷  要件定義書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「仕事ナビ」に何が必要かの仕様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❸  マスターデータ構造設計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「情報の背骨」の設計図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① マスタープラン ── 「どこから・どう変えるか」の全体計画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■ 基本計画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・現状の業務構造の全体像（可視化された業務フロー）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・あるべき姿の設計（仕事ナビ構想に基づく将来モデル）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・ギャップ分析（現状と将来像のギャップ一覧）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■ 実施計画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・優先順位の提案（どの業務エリアから着手するか）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・フェーズ分けと概算スケジュール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・必要なリソースと投資規模の概算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E67E22"/>
                </a:solidFill>
                <a:latin typeface="Yu Gothic"/>
              </a:defRPr>
            </a:pPr>
            <a:r>
              <a:t>経営判断の材料として使えるものを作ります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② 要件定義書 ── 「仕事ナビ」に何が必要かの仕様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4つの階層で、業務の「設計図」を描きます：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❶ 業務要件　── 新しい業務の流れの定義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（例：請求処理はこう変わる）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❷ 運用要件　── 日常の運用ルールの定義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（例：データ入力の締め日はいつか）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❸ 機能要件　── システムに必要な機能の一覧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（例：自動按分計算、リアルタイム進捗表示）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❹ システム要件 ── 技術面の条件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比喩：注文住宅の「間取り図」と「設備仕様書」。これがあれば、ベンダーに要望を正しく伝えられます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③ マスターデータ構造設計 ── 「情報の背骨」の設計図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120640" cy="475488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現状（バラバラ）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・ほのぼの、MJS、弥生、勤怠システム…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 それぞれに職員情報・事業所情報を登録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・同じ職員が各システムで別の番号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・事業所の名称表記がシステムごとに違う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→ これが多重入力と不整合の根本原因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03520" cy="47548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7A589"/>
                </a:solidFill>
                <a:latin typeface="Yu Gothic"/>
              </a:defRPr>
            </a:pPr>
            <a:r>
              <a:t>あるべき姿（統一）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・全システム共通の「元データ」を設計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・職員マスタ、事業所マスタ、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 勘定科目マスタ、サービスマスタ等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・一箇所で更新すれば全体に反映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→ 「One Fact, One Place」の実現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比喩：住所体系の統一。番地がバラバラでは郵便も届きません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2E86C1"/>
                </a:solidFill>
                <a:latin typeface="Yu Gothic"/>
              </a:defRPr>
            </a:pPr>
            <a: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Yu Gothic"/>
              </a:defRPr>
            </a:pPr>
            <a:r>
              <a:t>皆さまにお願いすること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EBFD5"/>
                </a:solidFill>
                <a:latin typeface="Yu Gothic"/>
              </a:defRPr>
            </a:pPr>
            <a:r>
              <a:t>風の村としてのご協力事項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Phase 0 を成功させるための4つのお願い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Yu Gothic"/>
              </a:defRPr>
            </a:pPr>
            <a:r>
              <a:t>❶  ヒアリング対象者の選定と日程調整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各部署・事業所から、実務を担当されている方をご指名ください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Yu Gothic"/>
              </a:defRPr>
            </a:pPr>
            <a:r>
              <a:t>❷  既存資料・システム情報のご提供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マニュアル、帳票、システム仕様書等（完璧でなくて構いません）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Yu Gothic"/>
              </a:defRPr>
            </a:pPr>
            <a:r>
              <a:t>❸  隔週プロジェクト会議へのご参加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2週間に1回、約1時間の経過共有の場です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Yu Gothic"/>
              </a:defRPr>
            </a:pPr>
            <a:r>
              <a:t>❹  プロジェクト責任者・連絡窓口のご決定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意思決定者と日常のやりとり担当者をそれぞれ1名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なぜ「お任せ」ではなく「一緒に」なのか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コンサルタントは、業務設計の専門家です。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Yu Gothic"/>
              </a:defRPr>
            </a:pPr>
            <a:r>
              <a:t>しかし、風の村の業務の専門家は、皆さまです。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設計図は、使う人と一緒に描かなければ、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使える設計図になりません。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一緒に作った設計図だからこそ、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実行段階で「自分たちのもの」になります。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7F8C8D"/>
                </a:solidFill>
                <a:latin typeface="Yu Gothic"/>
              </a:defRPr>
            </a:pPr>
            <a:r>
              <a:t>大きな体制は不要です。少人数で機動的に進めます。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比喩：注文住宅は、打ち合わせに参加した人ほど完成後の満足度が高い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ヒアリングを受ける方へのメッセージ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1B2A4A"/>
                </a:solidFill>
                <a:latin typeface="Yu Gothic"/>
              </a:defRPr>
            </a:pPr>
            <a:r>
              <a:t>正解を答える場ではありません。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1B2A4A"/>
                </a:solidFill>
                <a:latin typeface="Yu Gothic"/>
              </a:defRPr>
            </a:pPr>
            <a:r>
              <a:t>日頃の仕事を、そのまま教えてください。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困っていること、工夫していること、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「なんでこうなってるんだろう」と感じていること。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何を言っても大丈夫です。誰が何を言ったかは報告しません。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部長の皆さまから現場の方への声掛けをお願いします。「自由に話していい」という安心感がヒアリングの質を決めます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まとめ：Phase 0 で実現すること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F7F9FC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Yu Gothic"/>
              </a:defRPr>
            </a:pPr>
            <a:r>
              <a:t>① 考え方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Yu Gothic"/>
              </a:defRPr>
            </a:pPr>
            <a:r>
              <a:t>都市計画アプローチ</a:t>
            </a:r>
            <a:br/>
            <a:r>
              <a:t>4つの視点 × 3つの階層</a:t>
            </a:r>
            <a:br/>
            <a:r>
              <a:t>3つの原則で業務プロセス設計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029200" cy="2286000"/>
          </a:xfrm>
          <a:prstGeom prst="roundRect">
            <a:avLst/>
          </a:prstGeom>
          <a:solidFill>
            <a:srgbClr val="EAF7F4"/>
          </a:solidFill>
          <a:ln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A589"/>
                </a:solidFill>
                <a:latin typeface="Yu Gothic"/>
              </a:defRPr>
            </a:pPr>
            <a:r>
              <a:t>② 活動内容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Yu Gothic"/>
              </a:defRPr>
            </a:pPr>
            <a:r>
              <a:t>ヒアリング25-30回</a:t>
            </a:r>
            <a:br/>
            <a:r>
              <a:t>隔週プロジェクト会議</a:t>
            </a:r>
            <a:br/>
            <a:r>
              <a:t>分析・設計作業（3ヶ月）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029200" cy="2286000"/>
          </a:xfrm>
          <a:prstGeom prst="roundRect">
            <a:avLst/>
          </a:prstGeom>
          <a:solidFill>
            <a:srgbClr val="F7F9FC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Yu Gothic"/>
              </a:defRPr>
            </a:pPr>
            <a:r>
              <a:t>③ 成果物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Yu Gothic"/>
              </a:defRPr>
            </a:pPr>
            <a:r>
              <a:t>マスタープラン</a:t>
            </a:r>
            <a:br/>
            <a:r>
              <a:t>要件定義書</a:t>
            </a:r>
            <a:br/>
            <a:r>
              <a:t>マスターデータ構造設計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029200" cy="2286000"/>
          </a:xfrm>
          <a:prstGeom prst="roundRect">
            <a:avLst/>
          </a:prstGeom>
          <a:solidFill>
            <a:srgbClr val="EAF7F4"/>
          </a:solidFill>
          <a:ln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A589"/>
                </a:solidFill>
                <a:latin typeface="Yu Gothic"/>
              </a:defRPr>
            </a:pPr>
            <a:r>
              <a:t>④ お願い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Yu Gothic"/>
              </a:defRPr>
            </a:pPr>
            <a:r>
              <a:t>対象者選定・日程調整</a:t>
            </a:r>
            <a:br/>
            <a:r>
              <a:t>資料提供</a:t>
            </a:r>
            <a:br/>
            <a:r>
              <a:t>会議参加・体制決定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次のステップ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2C3E50"/>
                </a:solidFill>
                <a:latin typeface="Yu Gothic"/>
              </a:defRPr>
            </a:pPr>
            <a:r>
              <a:t>☐  本日の内容に関するご質問・ご意見（この場で）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2C3E50"/>
                </a:solidFill>
                <a:latin typeface="Yu Gothic"/>
              </a:defRPr>
            </a:pPr>
            <a:r>
              <a:t>☐  プロジェクト責任者・連絡窓口のご指名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2C3E50"/>
                </a:solidFill>
                <a:latin typeface="Yu Gothic"/>
              </a:defRPr>
            </a:pPr>
            <a:r>
              <a:t>☐  ヒアリング対象部署・対象者リストの作成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2C3E50"/>
                </a:solidFill>
                <a:latin typeface="Yu Gothic"/>
              </a:defRPr>
            </a:pPr>
            <a:r>
              <a:t>☐  契約手続きの確認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2C3E50"/>
                </a:solidFill>
                <a:latin typeface="Yu Gothic"/>
              </a:defRPr>
            </a:pPr>
            <a:r>
              <a:t>☐  キックオフ会議の日程調整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スケジュール案：3月キックオフ → 4月ヒアリング本格実施 → 5月分析・設計・最終報告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33 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